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A36"/>
                </a:solidFill>
                <a:latin typeface="Cambria"/>
              </a:rPr>
              <a:t>Exp 4: forward slope against 1 at each level, and between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616D"/>
                </a:solidFill>
                <a:latin typeface="Calibri"/>
              </a:rPr>
              <a:t>Forward slope (report on true colour), experience instruction, 50 participants. Slope 1 = the report follows the colour exactly; below 1 = reports pulled toward the middle (regression to the mean).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9167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377440"/>
                <a:gridCol w="1828800"/>
                <a:gridCol w="2743200"/>
                <a:gridCol w="3044952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Mean slope [95% CI]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People below 1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vs 1: t (df), p (Holm)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 slope [95% CI], p vs 1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A36"/>
                          </a:solidFill>
                          <a:latin typeface="Calibri"/>
                        </a:rPr>
                        <a:t>SD 3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1.10 [1.03, 1.17]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20 of 50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2.8 (49), p = .016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1.09 [1.01, 1.18], p = .017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A36"/>
                          </a:solidFill>
                          <a:latin typeface="Calibri"/>
                        </a:rPr>
                        <a:t>SD 5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0.97 [0.90, 1.03]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25 of 50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−1.1 (49), p = .29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0.96 [0.88, 1.05], p = .29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A36"/>
                          </a:solidFill>
                          <a:latin typeface="Calibri"/>
                        </a:rPr>
                        <a:t>SD 7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0.85 [0.78, 0.93]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32 of 50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−4.0 (49), 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0.86 [0.77, 0.94], 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474720"/>
          <a:ext cx="7680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371600"/>
                <a:gridCol w="1645920"/>
                <a:gridCol w="1371600"/>
              </a:tblGrid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Between levels (each person's slope)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Difference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 (df)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 (Holm)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A36"/>
                          </a:solidFill>
                          <a:latin typeface="Calibri"/>
                        </a:rPr>
                        <a:t>SD 5 vs SD 3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−0.13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t(49) = −6.00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A36"/>
                          </a:solidFill>
                          <a:latin typeface="Calibri"/>
                        </a:rPr>
                        <a:t>SD 7 vs SD 3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−0.25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t(49) = −7.95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p &lt; .001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A36"/>
                          </a:solidFill>
                          <a:latin typeface="Calibri"/>
                        </a:rPr>
                        <a:t>SD 7 vs SD 5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−0.11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t(49) = −4.42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A36"/>
                          </a:solidFill>
                          <a:latin typeface="Calibri"/>
                        </a:rPr>
                        <a:t>Linear trend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t(49) = −7.95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p &lt; .001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503920" y="347472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A36"/>
                </a:solidFill>
                <a:latin typeface="Calibri"/>
              </a:rPr>
              <a:t>Level effect (repeated-measures ANOVA on each person's slope): F(1.74, 85.3) = 43.45, p &lt; .001.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616D"/>
                </a:solidFill>
                <a:latin typeface="Calibri"/>
              </a:rPr>
              <a:t>Mean slope and t-test: each person's own OLS slope at that level. Model: linked mixed model (its CIs adjusted for the three levels). Holm across the three levels.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A36"/>
                </a:solidFill>
                <a:latin typeface="Cambria"/>
              </a:rPr>
              <a:t>Exps 1–3: forward slope against 1 at every array size (experience)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11091672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868680"/>
                <a:gridCol w="2148840"/>
                <a:gridCol w="1508760"/>
                <a:gridCol w="2606040"/>
                <a:gridCol w="2953512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Experiment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 slope [95% CI]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People below 1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vs 1: t (df), p (Holm)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 slope [95% CI], p vs 1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A36"/>
                          </a:solidFill>
                          <a:latin typeface="Calibri"/>
                        </a:rPr>
                        <a:t>Exp 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2 sq.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0.89 [0.77, 1.02]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13 of 21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−1.8 (20), p = .19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0.89 [0.71, 1.06], p = .18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A3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6 sq.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0.84 [0.70, 0.98]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14 of 21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−2.3 (20), p = .095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0.83 [0.65, 1.00], p = .035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A3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8 sq.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0.76 [0.63, 0.89]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19 of 21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−3.9 (20), p = .003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0.76 [0.59, 0.93], p = .003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A3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12 sq.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0.94 [0.79, 1.10]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14 of 21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−0.8 (20), p = .45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0.92 [0.73, 1.11], p = .28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A36"/>
                          </a:solidFill>
                          <a:latin typeface="Calibri"/>
                        </a:rPr>
                        <a:t>Exp 2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2 sq.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0.92 [0.86, 0.98]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48 of 77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−2.5 (76), p = .013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0.92 [0.84, 1.00], p = .012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A3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10 sq.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0.83 [0.77, 0.89]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61 of 77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−5.8 (76), p &lt; .001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0.83 [0.76, 0.90], p &lt; .001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A3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20 sq.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0.88 [0.82, 0.93]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54 of 77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−4.4 (76), 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0.87 [0.80, 0.95], 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A36"/>
                          </a:solidFill>
                          <a:latin typeface="Calibri"/>
                        </a:rPr>
                        <a:t>Exp 3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2 sq.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0.89 [0.80, 0.97]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26 of 38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−2.6 (37), p = .025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0.88 [0.77, 1.00], p = .026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A3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10 sq.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0.80 [0.71, 0.88]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29 of 38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−4.9 (37), 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0.80 [0.69, 0.91], 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A3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20 sq.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0.88 [0.78, 0.97]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27 of 38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−2.6 (37), p = .025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0.89 [0.78, 1.00], p = .026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616D"/>
                </a:solidFill>
                <a:latin typeface="Calibri"/>
              </a:rPr>
              <a:t>Level effect on each person's slope: Exp 1: F(2.24, 44.9) = 4.99, p = .009; Exp 2: F(1.94, 147.6) = 6.34, p = .003; Exp 3: F(1.92, 71.0) = 3.71, p = .031. Mean slope and t-test: each person's own OLS slope; model: linked mixed model (CIs adjusted for the number of sizes); Holm across sizes.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A36"/>
                </a:solidFill>
                <a:latin typeface="Cambria"/>
              </a:rPr>
              <a:t>Exp 4: reverse slope against 1 at each level, and between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616D"/>
                </a:solidFill>
                <a:latin typeface="Calibri"/>
              </a:rPr>
              <a:t>Reverse slope (true colour on report), experience instruction, 50 participants. Slope 1 = the array behind a report is as extreme as the report; below 1 = arrays less extreme than the reports.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9167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377440"/>
                <a:gridCol w="1828800"/>
                <a:gridCol w="2743200"/>
                <a:gridCol w="3044952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Mean slope [95% CI]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People below 1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vs 1: t (df), p (Holm)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 slope [95% CI], p vs 1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A36"/>
                          </a:solidFill>
                          <a:latin typeface="Calibri"/>
                        </a:rPr>
                        <a:t>SD 3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0.63 [0.59, 0.67]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50 of 50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−18.1 (49), 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0.63 [0.58, 0.68], 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A36"/>
                          </a:solidFill>
                          <a:latin typeface="Calibri"/>
                        </a:rPr>
                        <a:t>SD 5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0.62 [0.58, 0.67]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50 of 50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−16.6 (49), p &lt; .001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0.62 [0.57, 0.67], p &lt; .001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A36"/>
                          </a:solidFill>
                          <a:latin typeface="Calibri"/>
                        </a:rPr>
                        <a:t>SD 7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0.60 [0.54, 0.65]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49 of 50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−14.8 (49), 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0.60 [0.54, 0.65], 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474720"/>
          <a:ext cx="7680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371600"/>
                <a:gridCol w="1645920"/>
                <a:gridCol w="1371600"/>
              </a:tblGrid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Between levels (each person's slope)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Difference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 (df)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 (Holm)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A36"/>
                          </a:solidFill>
                          <a:latin typeface="Calibri"/>
                        </a:rPr>
                        <a:t>SD 5 vs SD 3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−0.01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t(49) = −0.73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p = .47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A36"/>
                          </a:solidFill>
                          <a:latin typeface="Calibri"/>
                        </a:rPr>
                        <a:t>SD 7 vs SD 3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−0.04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t(49) = −1.68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p = .30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A36"/>
                          </a:solidFill>
                          <a:latin typeface="Calibri"/>
                        </a:rPr>
                        <a:t>SD 7 vs SD 5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−0.03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t(49) = −1.60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p = .30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A36"/>
                          </a:solidFill>
                          <a:latin typeface="Calibri"/>
                        </a:rPr>
                        <a:t>Linear trend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t(49) = −1.68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36"/>
                          </a:solidFill>
                          <a:latin typeface="Calibri"/>
                        </a:rPr>
                        <a:t>p = .099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503920" y="347472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A36"/>
                </a:solidFill>
                <a:latin typeface="Calibri"/>
              </a:rPr>
              <a:t>Level effect (repeated-measures ANOVA on each person's slope): F(1.49, 73.3) = 2.33, p = .12.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616D"/>
                </a:solidFill>
                <a:latin typeface="Calibri"/>
              </a:rPr>
              <a:t>Mean slope and t-test: each person's own OLS slope at that level. Model: linked mixed model (its CIs adjusted for the three levels). Holm across the three levels.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A36"/>
                </a:solidFill>
                <a:latin typeface="Cambria"/>
              </a:rPr>
              <a:t>Exps 1–3: reverse slope against 1 at every array size (experience)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11091672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868680"/>
                <a:gridCol w="2148840"/>
                <a:gridCol w="1508760"/>
                <a:gridCol w="2606040"/>
                <a:gridCol w="2953512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Experiment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 slope [95% CI]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People below 1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vs 1: t (df), p (Holm)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 slope [95% CI], p vs 1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A36"/>
                          </a:solidFill>
                          <a:latin typeface="Calibri"/>
                        </a:rPr>
                        <a:t>Exp 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2 sq.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0.74 [0.66, 0.83]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19 of 21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−6.3 (20), 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0.70 [0.60, 0.81], 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A3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6 sq.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0.65 [0.57, 0.72]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20 of 21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−9.6 (20), p &lt; .001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0.64 [0.54, 0.74], p &lt; .001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A3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8 sq.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0.64 [0.52, 0.75]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20 of 21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−6.7 (20), 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0.62 [0.52, 0.73], 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A3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12 sq.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0.65 [0.58, 0.73]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21 of 21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−9.9 (20), p &lt; .001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0.63 [0.53, 0.73], p &lt; .001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A36"/>
                          </a:solidFill>
                          <a:latin typeface="Calibri"/>
                        </a:rPr>
                        <a:t>Exp 2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2 sq.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0.70 [0.65, 0.75]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71 of 77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−13.1 (76), 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0.67 [0.61, 0.72], 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A3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10 sq.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0.70 [0.66, 0.75]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73 of 77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−12.0 (76), p &lt; .001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0.69 [0.64, 0.75], p &lt; .001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A3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20 sq.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0.70 [0.65, 0.75]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68 of 77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−12.6 (76), 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0.66 [0.60, 0.71], 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A36"/>
                          </a:solidFill>
                          <a:latin typeface="Calibri"/>
                        </a:rPr>
                        <a:t>Exp 3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2 sq.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0.71 [0.66, 0.77]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37 of 38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−10.7 (37), p &lt; .001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0.69 [0.62, 0.77], p &lt; .001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A3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10 sq.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0.77 [0.69, 0.85]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33 of 38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−5.9 (37), 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0.75 [0.67, 0.83], 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A3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20 sq.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0.73 [0.67, 0.79]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35 of 38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−8.7 (37), p &lt; .001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36"/>
                          </a:solidFill>
                          <a:latin typeface="Calibri"/>
                        </a:rPr>
                        <a:t>0.69 [0.62, 0.77], p &lt; .001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616D"/>
                </a:solidFill>
                <a:latin typeface="Calibri"/>
              </a:rPr>
              <a:t>Level effect on each person's slope: Exp 1: F(2.20, 44.0) = 3.47, p = .036; Exp 2: F(1.99, 151.5) = 0.07, p = .93; Exp 3: F(1.90, 70.5) = 2.16, p = .13. Mean slope and t-test: each person's own OLS slope; model: linked mixed model (CIs adjusted for the number of sizes); Holm across sizes.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A36"/>
                </a:solidFill>
                <a:latin typeface="Cambria"/>
              </a:rPr>
              <a:t>Exp 4: tracking as data ellipses, all levels together (experience)</a:t>
            </a:r>
          </a:p>
        </p:txBody>
      </p:sp>
      <p:pic>
        <p:nvPicPr>
          <p:cNvPr id="3" name="Picture 2" descr="draft_tracking_ellipses_ex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143000"/>
            <a:ext cx="46101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616D"/>
                </a:solidFill>
                <a:latin typeface="Calibri"/>
              </a:rPr>
              <a:t>Each ellipse holds about 68% of a level's trials. Thinner = closer tracking (r); shorter = reports less spread out. Slopes and r on the figure: one regression over all trials, each person centred (overall across participants).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A36"/>
                </a:solidFill>
                <a:latin typeface="Cambria"/>
              </a:rPr>
              <a:t>Exp 4: each level, with both regression lines (experience)</a:t>
            </a:r>
          </a:p>
        </p:txBody>
      </p:sp>
      <p:pic>
        <p:nvPicPr>
          <p:cNvPr id="3" name="Picture 2" descr="galton_ellipse_ex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43000"/>
            <a:ext cx="10424160" cy="51739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616D"/>
                </a:solidFill>
                <a:latin typeface="Calibri"/>
              </a:rPr>
              <a:t>Grey: every trial. Yellow: 68% ellipse. Red: forward line (report on true colour), through the leftmost and rightmost points. Blue: reverse line, through the lowest and highest points. Slopes and r on the figure: one regression over all trials, each person centred (overall across participants). The tested values are each person's own: forward 1.10 / 0.97 / 0.85, reverse 0.63 / 0.62 / 0.60.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A36"/>
                </a:solidFill>
                <a:latin typeface="Cambria"/>
              </a:rPr>
              <a:t>Exp 4, SD 3: trials, ellipse and both regression lines (experience)</a:t>
            </a:r>
          </a:p>
        </p:txBody>
      </p:sp>
      <p:pic>
        <p:nvPicPr>
          <p:cNvPr id="3" name="Picture 2" descr="galton_ellipse_exp4_S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143000"/>
            <a:ext cx="4114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616D"/>
                </a:solidFill>
                <a:latin typeface="Calibri"/>
              </a:rPr>
              <a:t>Slopes and r on the figure: one regression over all trials, each person centred (overall across participants). The tested values are each person's own: forward 1.10 / 0.97 / 0.85, reverse 0.63 / 0.62 / 0.60.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A36"/>
                </a:solidFill>
                <a:latin typeface="Cambria"/>
              </a:rPr>
              <a:t>Exp 4, SD 5: trials, ellipse and both regression lines (experience)</a:t>
            </a:r>
          </a:p>
        </p:txBody>
      </p:sp>
      <p:pic>
        <p:nvPicPr>
          <p:cNvPr id="3" name="Picture 2" descr="galton_ellipse_exp4_S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143000"/>
            <a:ext cx="4114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616D"/>
                </a:solidFill>
                <a:latin typeface="Calibri"/>
              </a:rPr>
              <a:t>Slopes and r on the figure: one regression over all trials, each person centred (overall across participants). The tested values are each person's own: forward 1.10 / 0.97 / 0.85, reverse 0.63 / 0.62 / 0.60.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A36"/>
                </a:solidFill>
                <a:latin typeface="Cambria"/>
              </a:rPr>
              <a:t>Exp 4, SD 7: trials, ellipse and both regression lines (experience)</a:t>
            </a:r>
          </a:p>
        </p:txBody>
      </p:sp>
      <p:pic>
        <p:nvPicPr>
          <p:cNvPr id="3" name="Picture 2" descr="galton_ellipse_exp4_S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143000"/>
            <a:ext cx="4114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616D"/>
                </a:solidFill>
                <a:latin typeface="Calibri"/>
              </a:rPr>
              <a:t>Slopes and r on the figure: one regression over all trials, each person centred (overall across participants). The tested values are each person's own: forward 1.10 / 0.97 / 0.85, reverse 0.63 / 0.62 / 0.60.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A36"/>
                </a:solidFill>
                <a:latin typeface="Cambria"/>
              </a:rPr>
              <a:t>Exp 4: the same slopes computed four ways (experience)</a:t>
            </a:r>
          </a:p>
        </p:txBody>
      </p:sp>
      <p:pic>
        <p:nvPicPr>
          <p:cNvPr id="3" name="Picture 2" descr="slopes_four_ways_ex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143000"/>
            <a:ext cx="1005840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616D"/>
                </a:solidFill>
                <a:latin typeface="Calibri"/>
              </a:rPr>
              <a:t>Forward: all four agree. Reverse: pooling trials across people lowers the slope (differences between people inflate the spread of the reports); the model and the per-person slopes are the ones to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