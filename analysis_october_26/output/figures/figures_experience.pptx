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Relationship Id="rId21" Type="http://schemas.openxmlformats.org/officeDocument/2006/relationships/slide" Target="slides/slide14.xml"/>
<Relationship Id="rId22" Type="http://schemas.openxmlformats.org/officeDocument/2006/relationships/slide" Target="slides/slide15.xml"/>
<Relationship Id="rId23" Type="http://schemas.openxmlformats.org/officeDocument/2006/relationships/slide" Target="slides/slide16.xml"/>
<Relationship Id="rId24" Type="http://schemas.openxmlformats.org/officeDocument/2006/relationships/slide" Target="slides/slide17.xml"/>
<Relationship Id="rId25" Type="http://schemas.openxmlformats.org/officeDocument/2006/relationships/slide" Target="slides/slide18.xml"/>
<Relationship Id="rId26" Type="http://schemas.openxmlformats.org/officeDocument/2006/relationships/slide" Target="slides/slide19.xml"/>
<Relationship Id="rId27" Type="http://schemas.openxmlformats.org/officeDocument/2006/relationships/slide" Target="slides/slide20.xml"/>
<Relationship Id="rId28" Type="http://schemas.openxmlformats.org/officeDocument/2006/relationships/slide" Target="slides/slide21.xml"/>
<Relationship Id="rId29" Type="http://schemas.openxmlformats.org/officeDocument/2006/relationships/slide" Target="slides/slide22.xml"/>
<Relationship Id="rId30" Type="http://schemas.openxmlformats.org/officeDocument/2006/relationships/slide" Target="slides/slide23.xml"/>
<Relationship Id="rId31" Type="http://schemas.openxmlformats.org/officeDocument/2006/relationships/slide" Target="slides/slide24.xml"/>
<Relationship Id="rId32" Type="http://schemas.openxmlformats.org/officeDocument/2006/relationships/slide" Target="slides/slide25.xml"/>
<Relationship Id="rId33" Type="http://schemas.openxmlformats.org/officeDocument/2006/relationships/slide" Target="slides/slide26.xml"/>
<Relationship Id="rId34" Type="http://schemas.openxmlformats.org/officeDocument/2006/relationships/slide" Target="slides/slide27.xml"/>
<Relationship Id="rId35" Type="http://schemas.openxmlformats.org/officeDocument/2006/relationships/slide" Target="slides/slide28.xml"/>
<Relationship Id="rId36" Type="http://schemas.openxmlformats.org/officeDocument/2006/relationships/slide" Target="slides/slide29.xml"/>
<Relationship Id="rId37" Type="http://schemas.openxmlformats.org/officeDocument/2006/relationships/slide" Target="slides/slide30.xml"/>
<Relationship Id="rId38" Type="http://schemas.openxmlformats.org/officeDocument/2006/relationships/slide" Target="slides/slide31.xml"/>
<Relationship Id="rId39" Type="http://schemas.openxmlformats.org/officeDocument/2006/relationships/slide" Target="slides/slide32.xml"/>
<Relationship Id="rId40" Type="http://schemas.openxmlformats.org/officeDocument/2006/relationships/slide" Target="slides/slide33.xml"/>
<Relationship Id="rId41" Type="http://schemas.openxmlformats.org/officeDocument/2006/relationships/slide" Target="slides/slide34.xml"/>
<Relationship Id="rId42" Type="http://schemas.openxmlformats.org/officeDocument/2006/relationships/slide" Target="slides/slide35.xml"/>
<Relationship Id="rId43" Type="http://schemas.openxmlformats.org/officeDocument/2006/relationships/slide" Target="slides/slide36.xml"/>
<Relationship Id="rId44" Type="http://schemas.openxmlformats.org/officeDocument/2006/relationships/slide" Target="slides/slide37.xml"/>
<Relationship Id="rId45" Type="http://schemas.openxmlformats.org/officeDocument/2006/relationships/slide" Target="slides/slide38.xml"/>
<Relationship Id="rId46" Type="http://schemas.openxmlformats.org/officeDocument/2006/relationships/slide" Target="slides/slide39.xml"/>
<Relationship Id="rId47" Type="http://schemas.openxmlformats.org/officeDocument/2006/relationships/slide" Target="slides/slide40.xml"/>
<Relationship Id="rId48" Type="http://schemas.openxmlformats.org/officeDocument/2006/relationships/slide" Target="slides/slide41.xml"/>
<Relationship Id="rId49" Type="http://schemas.openxmlformats.org/officeDocument/2006/relationships/slide" Target="slides/slide42.xml"/>
<Relationship Id="rId50" Type="http://schemas.openxmlformats.org/officeDocument/2006/relationships/slide" Target="slides/slide43.xml"/>
<Relationship Id="rId51" Type="http://schemas.openxmlformats.org/officeDocument/2006/relationships/slide" Target="slides/slide44.xml"/>
<Relationship Id="rId52" Type="http://schemas.openxmlformats.org/officeDocument/2006/relationships/slide" Target="slides/slide45.xml"/>
<Relationship Id="rId53" Type="http://schemas.openxmlformats.org/officeDocument/2006/relationships/slide" Target="slides/slide46.xml"/>
<Relationship Id="rId54" Type="http://schemas.openxmlformats.org/officeDocument/2006/relationships/slide" Target="slides/slide47.xml"/>
<Relationship Id="rId55" Type="http://schemas.openxmlformats.org/officeDocument/2006/relationships/slide" Target="slides/slide48.xml"/>
<Relationship Id="rId56" Type="http://schemas.openxmlformats.org/officeDocument/2006/relationships/slide" Target="slides/slide49.xml"/>
<Relationship Id="rId57" Type="http://schemas.openxmlformats.org/officeDocument/2006/relationships/slide" Target="slides/slide50.xml"/>
<Relationship Id="rId58" Type="http://schemas.openxmlformats.org/officeDocument/2006/relationships/slide" Target="slides/slide51.xml"/>
<Relationship Id="rId59" Type="http://schemas.openxmlformats.org/officeDocument/2006/relationships/slide" Target="slides/slide52.xml"/>
<Relationship Id="rId60" Type="http://schemas.openxmlformats.org/officeDocument/2006/relationships/slide" Target="slides/slide53.xml"/>
<Relationship Id="rId61" Type="http://schemas.openxmlformats.org/officeDocument/2006/relationships/slide" Target="slides/slide54.xml"/>
<Relationship Id="rId62" Type="http://schemas.openxmlformats.org/officeDocument/2006/relationships/slide" Target="slides/slide55.xml"/>
<Relationship Id="rId63" Type="http://schemas.openxmlformats.org/officeDocument/2006/relationships/slide" Target="slides/slide56.xml"/>
<Relationship Id="rId64" Type="http://schemas.openxmlformats.org/officeDocument/2006/relationships/slide" Target="slides/slide57.xml"/>
<Relationship Id="rId65" Type="http://schemas.openxmlformats.org/officeDocument/2006/relationships/slide" Target="slides/slide58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355080" y="1417320"/>
            <a:ext cx="5285232" cy="3566160"/>
            <a:chOff x="6355080" y="1417320"/>
            <a:chExt cx="5285232" cy="3566160"/>
          </a:xfrm>
        </p:grpSpPr>
        <p:sp>
          <p:nvSpPr>
            <p:cNvPr id="3" name="rc3"/>
            <p:cNvSpPr/>
            <p:nvPr/>
          </p:nvSpPr>
          <p:spPr>
            <a:xfrm>
              <a:off x="6355080" y="1417320"/>
              <a:ext cx="5285232" cy="3566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6883718" y="3916381"/>
              <a:ext cx="4680677" cy="0"/>
            </a:xfrm>
            <a:custGeom>
              <a:avLst/>
              <a:pathLst>
                <a:path w="4680677" h="0">
                  <a:moveTo>
                    <a:pt x="0" y="0"/>
                  </a:moveTo>
                  <a:lnTo>
                    <a:pt x="4680677" y="0"/>
                  </a:lnTo>
                  <a:lnTo>
                    <a:pt x="468067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6883718" y="3389402"/>
              <a:ext cx="4680677" cy="0"/>
            </a:xfrm>
            <a:custGeom>
              <a:avLst/>
              <a:pathLst>
                <a:path w="4680677" h="0">
                  <a:moveTo>
                    <a:pt x="0" y="0"/>
                  </a:moveTo>
                  <a:lnTo>
                    <a:pt x="4680677" y="0"/>
                  </a:lnTo>
                  <a:lnTo>
                    <a:pt x="468067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6883718" y="2862422"/>
              <a:ext cx="4680677" cy="0"/>
            </a:xfrm>
            <a:custGeom>
              <a:avLst/>
              <a:pathLst>
                <a:path w="4680677" h="0">
                  <a:moveTo>
                    <a:pt x="0" y="0"/>
                  </a:moveTo>
                  <a:lnTo>
                    <a:pt x="4680677" y="0"/>
                  </a:lnTo>
                  <a:lnTo>
                    <a:pt x="468067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6883718" y="2335443"/>
              <a:ext cx="4680677" cy="0"/>
            </a:xfrm>
            <a:custGeom>
              <a:avLst/>
              <a:pathLst>
                <a:path w="4680677" h="0">
                  <a:moveTo>
                    <a:pt x="0" y="0"/>
                  </a:moveTo>
                  <a:lnTo>
                    <a:pt x="4680677" y="0"/>
                  </a:lnTo>
                  <a:lnTo>
                    <a:pt x="468067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883718" y="1808464"/>
              <a:ext cx="4680677" cy="0"/>
            </a:xfrm>
            <a:custGeom>
              <a:avLst/>
              <a:pathLst>
                <a:path w="4680677" h="0">
                  <a:moveTo>
                    <a:pt x="0" y="0"/>
                  </a:moveTo>
                  <a:lnTo>
                    <a:pt x="4680677" y="0"/>
                  </a:lnTo>
                  <a:lnTo>
                    <a:pt x="468067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096476" y="172520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930822" y="172520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765167" y="172520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599513" y="172520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433858" y="172520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1268204" y="172520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7138194" y="3916381"/>
              <a:ext cx="83434" cy="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7221628" y="3916381"/>
              <a:ext cx="83434" cy="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7305063" y="3916381"/>
              <a:ext cx="83434" cy="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7388497" y="3916381"/>
              <a:ext cx="83434" cy="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7471932" y="3895302"/>
              <a:ext cx="83434" cy="21079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7555366" y="3916381"/>
              <a:ext cx="83434" cy="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7638801" y="3853143"/>
              <a:ext cx="83434" cy="63237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7722236" y="3768827"/>
              <a:ext cx="83434" cy="147554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7805670" y="3600193"/>
              <a:ext cx="83434" cy="316187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7889105" y="3452639"/>
              <a:ext cx="83434" cy="463741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7972539" y="3368322"/>
              <a:ext cx="83434" cy="548058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8055974" y="3241847"/>
              <a:ext cx="83434" cy="674533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8139408" y="3326164"/>
              <a:ext cx="83434" cy="59021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8222843" y="3052135"/>
              <a:ext cx="83434" cy="86424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8306277" y="2841343"/>
              <a:ext cx="83434" cy="1075037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8389712" y="2672710"/>
              <a:ext cx="83434" cy="124367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8473146" y="2398681"/>
              <a:ext cx="83434" cy="151770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8556581" y="2609472"/>
              <a:ext cx="83434" cy="1306908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8640015" y="2061414"/>
              <a:ext cx="83434" cy="185496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8723450" y="2693789"/>
              <a:ext cx="83434" cy="1222591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8806885" y="2145731"/>
              <a:ext cx="83434" cy="177065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8890319" y="2145731"/>
              <a:ext cx="83434" cy="177065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8973754" y="2103572"/>
              <a:ext cx="83434" cy="1812808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9057188" y="2230047"/>
              <a:ext cx="83434" cy="1686333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9140623" y="2546235"/>
              <a:ext cx="83434" cy="137014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9224057" y="2356522"/>
              <a:ext cx="83434" cy="1559858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9307492" y="1998176"/>
              <a:ext cx="83434" cy="1918204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9390926" y="1934939"/>
              <a:ext cx="83434" cy="1981441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9474361" y="2166810"/>
              <a:ext cx="83434" cy="174957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9557795" y="2187889"/>
              <a:ext cx="83434" cy="1728491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9641230" y="2714868"/>
              <a:ext cx="83434" cy="1201512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9724665" y="2609472"/>
              <a:ext cx="83434" cy="1306908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9808099" y="2630551"/>
              <a:ext cx="83434" cy="1285829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9891534" y="2778106"/>
              <a:ext cx="83434" cy="113827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9974968" y="2482997"/>
              <a:ext cx="83434" cy="1433383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10058403" y="2967818"/>
              <a:ext cx="83434" cy="948562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10141837" y="3326164"/>
              <a:ext cx="83434" cy="59021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10225272" y="3305085"/>
              <a:ext cx="83434" cy="61129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10308706" y="3410481"/>
              <a:ext cx="83434" cy="50590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10392141" y="3494797"/>
              <a:ext cx="83434" cy="421583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10475575" y="3515877"/>
              <a:ext cx="83434" cy="400504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10559010" y="3726668"/>
              <a:ext cx="83434" cy="189712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10642444" y="3600193"/>
              <a:ext cx="83434" cy="316187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10725879" y="3579114"/>
              <a:ext cx="83434" cy="33726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10809314" y="3684510"/>
              <a:ext cx="83434" cy="23187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10892748" y="3810985"/>
              <a:ext cx="83434" cy="10539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10976183" y="3789906"/>
              <a:ext cx="83434" cy="12647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11059617" y="3916381"/>
              <a:ext cx="83434" cy="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11143052" y="3789906"/>
              <a:ext cx="83434" cy="12647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11226486" y="3916381"/>
              <a:ext cx="83434" cy="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7138194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7221628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7305063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7388497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7471932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7555366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7638801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7722236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7805670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7889105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7972539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8055974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8139408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8222843" y="2314364"/>
              <a:ext cx="83434" cy="1602016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8306277" y="2166810"/>
              <a:ext cx="83434" cy="174957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8389712" y="2398681"/>
              <a:ext cx="83434" cy="151770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8473146" y="2166810"/>
              <a:ext cx="83434" cy="174957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8556581" y="2082493"/>
              <a:ext cx="83434" cy="1833887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8640015" y="1956018"/>
              <a:ext cx="83434" cy="1960362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8723450" y="2145731"/>
              <a:ext cx="83434" cy="177065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8806885" y="2061414"/>
              <a:ext cx="83434" cy="1854966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8890319" y="2103572"/>
              <a:ext cx="83434" cy="1812808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8973754" y="2166810"/>
              <a:ext cx="83434" cy="174957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9057188" y="2061414"/>
              <a:ext cx="83434" cy="1854966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9140623" y="2398681"/>
              <a:ext cx="83434" cy="151770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9224057" y="2335443"/>
              <a:ext cx="83434" cy="1580937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9307492" y="2166810"/>
              <a:ext cx="83434" cy="174957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9390926" y="2335443"/>
              <a:ext cx="83434" cy="1580937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9474361" y="2272206"/>
              <a:ext cx="83434" cy="1644175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9557795" y="2187889"/>
              <a:ext cx="83434" cy="1728491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9641230" y="2293285"/>
              <a:ext cx="83434" cy="1623095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9724665" y="1998176"/>
              <a:ext cx="83434" cy="1918204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9808099" y="2124651"/>
              <a:ext cx="83434" cy="1791729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9891534" y="2103572"/>
              <a:ext cx="83434" cy="1812808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9974968" y="1829543"/>
              <a:ext cx="83434" cy="2086837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10058403" y="1871701"/>
              <a:ext cx="83434" cy="2044679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10141837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10225272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10308706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10392141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10475575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10559010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10642444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10725879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10809314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10892748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10976183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11059617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11143052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11226486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15" name="tx115"/>
            <p:cNvSpPr/>
            <p:nvPr/>
          </p:nvSpPr>
          <p:spPr>
            <a:xfrm>
              <a:off x="6747588" y="3872536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6679782" y="3345438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25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6679782" y="2818578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6679782" y="2293206"/>
              <a:ext cx="135612" cy="859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75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6611976" y="1764619"/>
              <a:ext cx="203418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100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7062573" y="408892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7863016" y="408892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8697361" y="4088630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9531707" y="4088808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10366052" y="4088689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11200397" y="408892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9003717" y="4235247"/>
              <a:ext cx="440680" cy="1154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Shade</a:t>
              </a:r>
            </a:p>
          </p:txBody>
        </p:sp>
        <p:sp>
          <p:nvSpPr>
            <p:cNvPr id="127" name="tx127"/>
            <p:cNvSpPr/>
            <p:nvPr/>
          </p:nvSpPr>
          <p:spPr>
            <a:xfrm rot="-5400000">
              <a:off x="6297868" y="2816779"/>
              <a:ext cx="372516" cy="1123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Trials</a:t>
              </a:r>
            </a:p>
          </p:txBody>
        </p:sp>
        <p:sp>
          <p:nvSpPr>
            <p:cNvPr id="128" name="rc128"/>
            <p:cNvSpPr/>
            <p:nvPr/>
          </p:nvSpPr>
          <p:spPr>
            <a:xfrm>
              <a:off x="7856116" y="4621193"/>
              <a:ext cx="201455" cy="20145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8593341" y="4621193"/>
              <a:ext cx="201455" cy="201456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30" name="tx130"/>
            <p:cNvSpPr/>
            <p:nvPr/>
          </p:nvSpPr>
          <p:spPr>
            <a:xfrm>
              <a:off x="8142487" y="465277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8879712" y="4649799"/>
              <a:ext cx="1721286" cy="115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True colour (displayed average)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6883718" y="1450309"/>
              <a:ext cx="3379762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Clean trials, experience: shown and reported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417320"/>
            <a:ext cx="6035040" cy="4206240"/>
            <a:chOff x="548640" y="1417320"/>
            <a:chExt cx="6035040" cy="4206240"/>
          </a:xfrm>
        </p:grpSpPr>
        <p:sp>
          <p:nvSpPr>
            <p:cNvPr id="3" name="rc3"/>
            <p:cNvSpPr/>
            <p:nvPr/>
          </p:nvSpPr>
          <p:spPr>
            <a:xfrm>
              <a:off x="548640" y="1417320"/>
              <a:ext cx="6035040" cy="42062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43346" y="5199460"/>
              <a:ext cx="5464418" cy="0"/>
            </a:xfrm>
            <a:custGeom>
              <a:avLst/>
              <a:pathLst>
                <a:path w="5464418" h="0">
                  <a:moveTo>
                    <a:pt x="0" y="0"/>
                  </a:moveTo>
                  <a:lnTo>
                    <a:pt x="5464418" y="0"/>
                  </a:lnTo>
                  <a:lnTo>
                    <a:pt x="546441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43346" y="4096521"/>
              <a:ext cx="5464418" cy="0"/>
            </a:xfrm>
            <a:custGeom>
              <a:avLst/>
              <a:pathLst>
                <a:path w="5464418" h="0">
                  <a:moveTo>
                    <a:pt x="0" y="0"/>
                  </a:moveTo>
                  <a:lnTo>
                    <a:pt x="5464418" y="0"/>
                  </a:lnTo>
                  <a:lnTo>
                    <a:pt x="546441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43346" y="2993582"/>
              <a:ext cx="5464418" cy="0"/>
            </a:xfrm>
            <a:custGeom>
              <a:avLst/>
              <a:pathLst>
                <a:path w="5464418" h="0">
                  <a:moveTo>
                    <a:pt x="0" y="0"/>
                  </a:moveTo>
                  <a:lnTo>
                    <a:pt x="5464418" y="0"/>
                  </a:lnTo>
                  <a:lnTo>
                    <a:pt x="546441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43346" y="1890642"/>
              <a:ext cx="5464418" cy="0"/>
            </a:xfrm>
            <a:custGeom>
              <a:avLst/>
              <a:pathLst>
                <a:path w="5464418" h="0">
                  <a:moveTo>
                    <a:pt x="0" y="0"/>
                  </a:moveTo>
                  <a:lnTo>
                    <a:pt x="5464418" y="0"/>
                  </a:lnTo>
                  <a:lnTo>
                    <a:pt x="546441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23977" y="1725201"/>
              <a:ext cx="0" cy="3639700"/>
            </a:xfrm>
            <a:custGeom>
              <a:avLst/>
              <a:pathLst>
                <a:path w="0" h="3639700">
                  <a:moveTo>
                    <a:pt x="0" y="36397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25029" y="1725201"/>
              <a:ext cx="0" cy="3639700"/>
            </a:xfrm>
            <a:custGeom>
              <a:avLst/>
              <a:pathLst>
                <a:path w="0" h="3639700">
                  <a:moveTo>
                    <a:pt x="0" y="36397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426081" y="1725201"/>
              <a:ext cx="0" cy="3639700"/>
            </a:xfrm>
            <a:custGeom>
              <a:avLst/>
              <a:pathLst>
                <a:path w="0" h="3639700">
                  <a:moveTo>
                    <a:pt x="0" y="36397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727133" y="1725201"/>
              <a:ext cx="0" cy="3639700"/>
            </a:xfrm>
            <a:custGeom>
              <a:avLst/>
              <a:pathLst>
                <a:path w="0" h="3639700">
                  <a:moveTo>
                    <a:pt x="0" y="36397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758924" y="2313490"/>
              <a:ext cx="130105" cy="0"/>
            </a:xfrm>
            <a:custGeom>
              <a:avLst/>
              <a:pathLst>
                <a:path w="130105" h="0">
                  <a:moveTo>
                    <a:pt x="0" y="0"/>
                  </a:moveTo>
                  <a:lnTo>
                    <a:pt x="130105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823977" y="2313490"/>
              <a:ext cx="0" cy="1070696"/>
            </a:xfrm>
            <a:custGeom>
              <a:avLst/>
              <a:pathLst>
                <a:path w="0" h="1070696">
                  <a:moveTo>
                    <a:pt x="0" y="0"/>
                  </a:moveTo>
                  <a:lnTo>
                    <a:pt x="0" y="1070696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758924" y="3384187"/>
              <a:ext cx="130105" cy="0"/>
            </a:xfrm>
            <a:custGeom>
              <a:avLst/>
              <a:pathLst>
                <a:path w="130105" h="0">
                  <a:moveTo>
                    <a:pt x="0" y="0"/>
                  </a:moveTo>
                  <a:lnTo>
                    <a:pt x="130105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059976" y="2678306"/>
              <a:ext cx="130105" cy="0"/>
            </a:xfrm>
            <a:custGeom>
              <a:avLst/>
              <a:pathLst>
                <a:path w="130105" h="0">
                  <a:moveTo>
                    <a:pt x="0" y="0"/>
                  </a:moveTo>
                  <a:lnTo>
                    <a:pt x="130105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125029" y="2678306"/>
              <a:ext cx="0" cy="1563269"/>
            </a:xfrm>
            <a:custGeom>
              <a:avLst/>
              <a:pathLst>
                <a:path w="0" h="1563269">
                  <a:moveTo>
                    <a:pt x="0" y="0"/>
                  </a:moveTo>
                  <a:lnTo>
                    <a:pt x="0" y="1563269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059976" y="4241576"/>
              <a:ext cx="130105" cy="0"/>
            </a:xfrm>
            <a:custGeom>
              <a:avLst/>
              <a:pathLst>
                <a:path w="130105" h="0">
                  <a:moveTo>
                    <a:pt x="0" y="0"/>
                  </a:moveTo>
                  <a:lnTo>
                    <a:pt x="130105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361028" y="3112389"/>
              <a:ext cx="130105" cy="0"/>
            </a:xfrm>
            <a:custGeom>
              <a:avLst/>
              <a:pathLst>
                <a:path w="130105" h="0">
                  <a:moveTo>
                    <a:pt x="0" y="0"/>
                  </a:moveTo>
                  <a:lnTo>
                    <a:pt x="130105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426081" y="3112389"/>
              <a:ext cx="0" cy="1683404"/>
            </a:xfrm>
            <a:custGeom>
              <a:avLst/>
              <a:pathLst>
                <a:path w="0" h="1683404">
                  <a:moveTo>
                    <a:pt x="0" y="0"/>
                  </a:moveTo>
                  <a:lnTo>
                    <a:pt x="0" y="1683404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361028" y="4795793"/>
              <a:ext cx="130105" cy="0"/>
            </a:xfrm>
            <a:custGeom>
              <a:avLst/>
              <a:pathLst>
                <a:path w="130105" h="0">
                  <a:moveTo>
                    <a:pt x="0" y="0"/>
                  </a:moveTo>
                  <a:lnTo>
                    <a:pt x="130105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662080" y="2596441"/>
              <a:ext cx="130105" cy="0"/>
            </a:xfrm>
            <a:custGeom>
              <a:avLst/>
              <a:pathLst>
                <a:path w="130105" h="0">
                  <a:moveTo>
                    <a:pt x="0" y="0"/>
                  </a:moveTo>
                  <a:lnTo>
                    <a:pt x="130105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727133" y="2596441"/>
              <a:ext cx="0" cy="1139690"/>
            </a:xfrm>
            <a:custGeom>
              <a:avLst/>
              <a:pathLst>
                <a:path w="0" h="1139690">
                  <a:moveTo>
                    <a:pt x="0" y="0"/>
                  </a:moveTo>
                  <a:lnTo>
                    <a:pt x="0" y="113969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662080" y="3736132"/>
              <a:ext cx="130105" cy="0"/>
            </a:xfrm>
            <a:custGeom>
              <a:avLst/>
              <a:pathLst>
                <a:path w="130105" h="0">
                  <a:moveTo>
                    <a:pt x="0" y="0"/>
                  </a:moveTo>
                  <a:lnTo>
                    <a:pt x="130105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823977" y="2785155"/>
              <a:ext cx="3903156" cy="1073486"/>
            </a:xfrm>
            <a:custGeom>
              <a:avLst/>
              <a:pathLst>
                <a:path w="3903156" h="1073486">
                  <a:moveTo>
                    <a:pt x="0" y="0"/>
                  </a:moveTo>
                  <a:lnTo>
                    <a:pt x="1301052" y="573373"/>
                  </a:lnTo>
                  <a:lnTo>
                    <a:pt x="2602104" y="1073486"/>
                  </a:lnTo>
                  <a:lnTo>
                    <a:pt x="3903156" y="320007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784245" y="2745423"/>
              <a:ext cx="79463" cy="7946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085297" y="3318796"/>
              <a:ext cx="79463" cy="7946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386349" y="3818909"/>
              <a:ext cx="79463" cy="7946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687401" y="3065431"/>
              <a:ext cx="79463" cy="7946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805536" y="5155258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0.6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805536" y="4052676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0.7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805536" y="2949380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0.8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805536" y="1846619"/>
              <a:ext cx="169485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0.9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691817" y="540971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92869" y="5409651"/>
              <a:ext cx="264318" cy="111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6 sq.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4293922" y="5409770"/>
              <a:ext cx="264318" cy="1109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8 sq.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561071" y="540971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12 sq.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103210" y="3473353"/>
              <a:ext cx="1117922" cy="1433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Mean 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043346" y="1448163"/>
              <a:ext cx="4534636" cy="164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Tracking: correlation of report with true colour (experience)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5852160" cy="3566160"/>
            <a:chOff x="548640" y="1371600"/>
            <a:chExt cx="5852160" cy="356616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5852160" cy="3566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2519418" y="3975003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2519418" y="3515898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519418" y="3056794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519418" y="2597690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519418" y="2138586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519418" y="1679481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19418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978522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37626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896730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355835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814939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519418" y="1679481"/>
              <a:ext cx="2295521" cy="2295521"/>
            </a:xfrm>
            <a:custGeom>
              <a:avLst/>
              <a:pathLst>
                <a:path w="2295521" h="2295521">
                  <a:moveTo>
                    <a:pt x="0" y="2295521"/>
                  </a:moveTo>
                  <a:lnTo>
                    <a:pt x="2295521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162164" y="2446546"/>
              <a:ext cx="1010029" cy="894228"/>
            </a:xfrm>
            <a:custGeom>
              <a:avLst/>
              <a:pathLst>
                <a:path w="1010029" h="894228">
                  <a:moveTo>
                    <a:pt x="0" y="894228"/>
                  </a:moveTo>
                  <a:lnTo>
                    <a:pt x="34828" y="863393"/>
                  </a:lnTo>
                  <a:lnTo>
                    <a:pt x="69657" y="832557"/>
                  </a:lnTo>
                  <a:lnTo>
                    <a:pt x="104485" y="801722"/>
                  </a:lnTo>
                  <a:lnTo>
                    <a:pt x="139314" y="770886"/>
                  </a:lnTo>
                  <a:lnTo>
                    <a:pt x="174142" y="740051"/>
                  </a:lnTo>
                  <a:lnTo>
                    <a:pt x="208971" y="709215"/>
                  </a:lnTo>
                  <a:lnTo>
                    <a:pt x="243800" y="678380"/>
                  </a:lnTo>
                  <a:lnTo>
                    <a:pt x="278628" y="647544"/>
                  </a:lnTo>
                  <a:lnTo>
                    <a:pt x="313457" y="616709"/>
                  </a:lnTo>
                  <a:lnTo>
                    <a:pt x="348285" y="585873"/>
                  </a:lnTo>
                  <a:lnTo>
                    <a:pt x="383114" y="555038"/>
                  </a:lnTo>
                  <a:lnTo>
                    <a:pt x="417943" y="524202"/>
                  </a:lnTo>
                  <a:lnTo>
                    <a:pt x="452771" y="493367"/>
                  </a:lnTo>
                  <a:lnTo>
                    <a:pt x="487600" y="462532"/>
                  </a:lnTo>
                  <a:lnTo>
                    <a:pt x="522428" y="431696"/>
                  </a:lnTo>
                  <a:lnTo>
                    <a:pt x="557257" y="400861"/>
                  </a:lnTo>
                  <a:lnTo>
                    <a:pt x="592086" y="370025"/>
                  </a:lnTo>
                  <a:lnTo>
                    <a:pt x="626914" y="339190"/>
                  </a:lnTo>
                  <a:lnTo>
                    <a:pt x="661743" y="308354"/>
                  </a:lnTo>
                  <a:lnTo>
                    <a:pt x="696571" y="277519"/>
                  </a:lnTo>
                  <a:lnTo>
                    <a:pt x="731400" y="246683"/>
                  </a:lnTo>
                  <a:lnTo>
                    <a:pt x="766229" y="215848"/>
                  </a:lnTo>
                  <a:lnTo>
                    <a:pt x="801057" y="185012"/>
                  </a:lnTo>
                  <a:lnTo>
                    <a:pt x="835886" y="154177"/>
                  </a:lnTo>
                  <a:lnTo>
                    <a:pt x="870714" y="123341"/>
                  </a:lnTo>
                  <a:lnTo>
                    <a:pt x="905543" y="92506"/>
                  </a:lnTo>
                  <a:lnTo>
                    <a:pt x="940372" y="61670"/>
                  </a:lnTo>
                  <a:lnTo>
                    <a:pt x="975200" y="30835"/>
                  </a:lnTo>
                  <a:lnTo>
                    <a:pt x="1010029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162164" y="2403784"/>
              <a:ext cx="1010029" cy="834622"/>
            </a:xfrm>
            <a:custGeom>
              <a:avLst/>
              <a:pathLst>
                <a:path w="1010029" h="834622">
                  <a:moveTo>
                    <a:pt x="0" y="834622"/>
                  </a:moveTo>
                  <a:lnTo>
                    <a:pt x="34828" y="805842"/>
                  </a:lnTo>
                  <a:lnTo>
                    <a:pt x="69657" y="777062"/>
                  </a:lnTo>
                  <a:lnTo>
                    <a:pt x="104485" y="748282"/>
                  </a:lnTo>
                  <a:lnTo>
                    <a:pt x="139314" y="719502"/>
                  </a:lnTo>
                  <a:lnTo>
                    <a:pt x="174142" y="690722"/>
                  </a:lnTo>
                  <a:lnTo>
                    <a:pt x="208971" y="661941"/>
                  </a:lnTo>
                  <a:lnTo>
                    <a:pt x="243800" y="633161"/>
                  </a:lnTo>
                  <a:lnTo>
                    <a:pt x="278628" y="604381"/>
                  </a:lnTo>
                  <a:lnTo>
                    <a:pt x="313457" y="575601"/>
                  </a:lnTo>
                  <a:lnTo>
                    <a:pt x="348285" y="546821"/>
                  </a:lnTo>
                  <a:lnTo>
                    <a:pt x="383114" y="518041"/>
                  </a:lnTo>
                  <a:lnTo>
                    <a:pt x="417943" y="489261"/>
                  </a:lnTo>
                  <a:lnTo>
                    <a:pt x="452771" y="460481"/>
                  </a:lnTo>
                  <a:lnTo>
                    <a:pt x="487600" y="431701"/>
                  </a:lnTo>
                  <a:lnTo>
                    <a:pt x="522428" y="402921"/>
                  </a:lnTo>
                  <a:lnTo>
                    <a:pt x="557257" y="374141"/>
                  </a:lnTo>
                  <a:lnTo>
                    <a:pt x="592086" y="345361"/>
                  </a:lnTo>
                  <a:lnTo>
                    <a:pt x="626914" y="316580"/>
                  </a:lnTo>
                  <a:lnTo>
                    <a:pt x="661743" y="287800"/>
                  </a:lnTo>
                  <a:lnTo>
                    <a:pt x="696571" y="259020"/>
                  </a:lnTo>
                  <a:lnTo>
                    <a:pt x="731400" y="230240"/>
                  </a:lnTo>
                  <a:lnTo>
                    <a:pt x="766229" y="201460"/>
                  </a:lnTo>
                  <a:lnTo>
                    <a:pt x="801057" y="172680"/>
                  </a:lnTo>
                  <a:lnTo>
                    <a:pt x="835886" y="143900"/>
                  </a:lnTo>
                  <a:lnTo>
                    <a:pt x="870714" y="115120"/>
                  </a:lnTo>
                  <a:lnTo>
                    <a:pt x="905543" y="86340"/>
                  </a:lnTo>
                  <a:lnTo>
                    <a:pt x="940372" y="57560"/>
                  </a:lnTo>
                  <a:lnTo>
                    <a:pt x="975200" y="28780"/>
                  </a:lnTo>
                  <a:lnTo>
                    <a:pt x="1010029" y="0"/>
                  </a:lnTo>
                </a:path>
              </a:pathLst>
            </a:custGeom>
            <a:ln w="32521" cap="flat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162164" y="2404689"/>
              <a:ext cx="1010029" cy="767210"/>
            </a:xfrm>
            <a:custGeom>
              <a:avLst/>
              <a:pathLst>
                <a:path w="1010029" h="767210">
                  <a:moveTo>
                    <a:pt x="0" y="767210"/>
                  </a:moveTo>
                  <a:lnTo>
                    <a:pt x="34828" y="740754"/>
                  </a:lnTo>
                  <a:lnTo>
                    <a:pt x="69657" y="714299"/>
                  </a:lnTo>
                  <a:lnTo>
                    <a:pt x="104485" y="687843"/>
                  </a:lnTo>
                  <a:lnTo>
                    <a:pt x="139314" y="661388"/>
                  </a:lnTo>
                  <a:lnTo>
                    <a:pt x="174142" y="634932"/>
                  </a:lnTo>
                  <a:lnTo>
                    <a:pt x="208971" y="608477"/>
                  </a:lnTo>
                  <a:lnTo>
                    <a:pt x="243800" y="582021"/>
                  </a:lnTo>
                  <a:lnTo>
                    <a:pt x="278628" y="555566"/>
                  </a:lnTo>
                  <a:lnTo>
                    <a:pt x="313457" y="529110"/>
                  </a:lnTo>
                  <a:lnTo>
                    <a:pt x="348285" y="502655"/>
                  </a:lnTo>
                  <a:lnTo>
                    <a:pt x="383114" y="476199"/>
                  </a:lnTo>
                  <a:lnTo>
                    <a:pt x="417943" y="449744"/>
                  </a:lnTo>
                  <a:lnTo>
                    <a:pt x="452771" y="423288"/>
                  </a:lnTo>
                  <a:lnTo>
                    <a:pt x="487600" y="396833"/>
                  </a:lnTo>
                  <a:lnTo>
                    <a:pt x="522428" y="370377"/>
                  </a:lnTo>
                  <a:lnTo>
                    <a:pt x="557257" y="343921"/>
                  </a:lnTo>
                  <a:lnTo>
                    <a:pt x="592086" y="317466"/>
                  </a:lnTo>
                  <a:lnTo>
                    <a:pt x="626914" y="291010"/>
                  </a:lnTo>
                  <a:lnTo>
                    <a:pt x="661743" y="264555"/>
                  </a:lnTo>
                  <a:lnTo>
                    <a:pt x="696571" y="238099"/>
                  </a:lnTo>
                  <a:lnTo>
                    <a:pt x="731400" y="211644"/>
                  </a:lnTo>
                  <a:lnTo>
                    <a:pt x="766229" y="185188"/>
                  </a:lnTo>
                  <a:lnTo>
                    <a:pt x="801057" y="158733"/>
                  </a:lnTo>
                  <a:lnTo>
                    <a:pt x="835886" y="132277"/>
                  </a:lnTo>
                  <a:lnTo>
                    <a:pt x="870714" y="105822"/>
                  </a:lnTo>
                  <a:lnTo>
                    <a:pt x="905543" y="79366"/>
                  </a:lnTo>
                  <a:lnTo>
                    <a:pt x="940372" y="52911"/>
                  </a:lnTo>
                  <a:lnTo>
                    <a:pt x="975200" y="26455"/>
                  </a:lnTo>
                  <a:lnTo>
                    <a:pt x="1010029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177467" y="2259076"/>
              <a:ext cx="1010029" cy="931737"/>
            </a:xfrm>
            <a:custGeom>
              <a:avLst/>
              <a:pathLst>
                <a:path w="1010029" h="931737">
                  <a:moveTo>
                    <a:pt x="0" y="931737"/>
                  </a:moveTo>
                  <a:lnTo>
                    <a:pt x="34828" y="899608"/>
                  </a:lnTo>
                  <a:lnTo>
                    <a:pt x="69657" y="867479"/>
                  </a:lnTo>
                  <a:lnTo>
                    <a:pt x="104485" y="835350"/>
                  </a:lnTo>
                  <a:lnTo>
                    <a:pt x="139314" y="803222"/>
                  </a:lnTo>
                  <a:lnTo>
                    <a:pt x="174142" y="771093"/>
                  </a:lnTo>
                  <a:lnTo>
                    <a:pt x="208971" y="738964"/>
                  </a:lnTo>
                  <a:lnTo>
                    <a:pt x="243800" y="706835"/>
                  </a:lnTo>
                  <a:lnTo>
                    <a:pt x="278628" y="674706"/>
                  </a:lnTo>
                  <a:lnTo>
                    <a:pt x="313457" y="642577"/>
                  </a:lnTo>
                  <a:lnTo>
                    <a:pt x="348285" y="610448"/>
                  </a:lnTo>
                  <a:lnTo>
                    <a:pt x="383114" y="578319"/>
                  </a:lnTo>
                  <a:lnTo>
                    <a:pt x="417943" y="546191"/>
                  </a:lnTo>
                  <a:lnTo>
                    <a:pt x="452771" y="514062"/>
                  </a:lnTo>
                  <a:lnTo>
                    <a:pt x="487600" y="481933"/>
                  </a:lnTo>
                  <a:lnTo>
                    <a:pt x="522428" y="449804"/>
                  </a:lnTo>
                  <a:lnTo>
                    <a:pt x="557257" y="417675"/>
                  </a:lnTo>
                  <a:lnTo>
                    <a:pt x="592086" y="385546"/>
                  </a:lnTo>
                  <a:lnTo>
                    <a:pt x="626914" y="353417"/>
                  </a:lnTo>
                  <a:lnTo>
                    <a:pt x="661743" y="321288"/>
                  </a:lnTo>
                  <a:lnTo>
                    <a:pt x="696571" y="289159"/>
                  </a:lnTo>
                  <a:lnTo>
                    <a:pt x="731400" y="257031"/>
                  </a:lnTo>
                  <a:lnTo>
                    <a:pt x="766229" y="224902"/>
                  </a:lnTo>
                  <a:lnTo>
                    <a:pt x="801057" y="192773"/>
                  </a:lnTo>
                  <a:lnTo>
                    <a:pt x="835886" y="160644"/>
                  </a:lnTo>
                  <a:lnTo>
                    <a:pt x="870714" y="128515"/>
                  </a:lnTo>
                  <a:lnTo>
                    <a:pt x="905543" y="96386"/>
                  </a:lnTo>
                  <a:lnTo>
                    <a:pt x="940372" y="64257"/>
                  </a:lnTo>
                  <a:lnTo>
                    <a:pt x="975200" y="32128"/>
                  </a:lnTo>
                  <a:lnTo>
                    <a:pt x="1010029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2383288" y="3931158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315482" y="3472054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2315482" y="3012652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315482" y="2553726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315482" y="2094503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315482" y="1635636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485515" y="404320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2910716" y="404320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3369820" y="4042910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828924" y="4043088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288029" y="4042969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747133" y="404320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591374" y="4160208"/>
              <a:ext cx="2151608" cy="144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True colour (displayed average)</a:t>
              </a:r>
            </a:p>
          </p:txBody>
        </p:sp>
        <p:sp>
          <p:nvSpPr>
            <p:cNvPr id="34" name="tx34"/>
            <p:cNvSpPr/>
            <p:nvPr/>
          </p:nvSpPr>
          <p:spPr>
            <a:xfrm rot="-5400000">
              <a:off x="1630940" y="2756511"/>
              <a:ext cx="1084287" cy="1414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Predicted report</a:t>
              </a:r>
            </a:p>
          </p:txBody>
        </p:sp>
        <p:sp>
          <p:nvSpPr>
            <p:cNvPr id="35" name="pl35"/>
            <p:cNvSpPr/>
            <p:nvPr/>
          </p:nvSpPr>
          <p:spPr>
            <a:xfrm>
              <a:off x="2421968" y="46762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57573" y="46762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693178" y="46762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328784" y="46762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2695393" y="460896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330999" y="4608901"/>
              <a:ext cx="264318" cy="111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6 sq.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966604" y="4609020"/>
              <a:ext cx="264318" cy="1109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8 sq.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602210" y="460896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12 sq.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519418" y="1402443"/>
              <a:ext cx="3881170" cy="164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Regression lines: report on true colour (experience)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629400" y="1371600"/>
            <a:ext cx="5010912" cy="1828800"/>
            <a:chOff x="6629400" y="1371600"/>
            <a:chExt cx="5010912" cy="1828800"/>
          </a:xfrm>
        </p:grpSpPr>
        <p:sp>
          <p:nvSpPr>
            <p:cNvPr id="3" name="rc3"/>
            <p:cNvSpPr/>
            <p:nvPr/>
          </p:nvSpPr>
          <p:spPr>
            <a:xfrm>
              <a:off x="6629400" y="1371600"/>
              <a:ext cx="5010912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7124106" y="2855384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7124106" y="2636292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7124106" y="2417201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7124106" y="2198109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124106" y="1979018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124106" y="1759926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758433" y="1679481"/>
              <a:ext cx="0" cy="1262260"/>
            </a:xfrm>
            <a:custGeom>
              <a:avLst/>
              <a:pathLst>
                <a:path w="0" h="1262260">
                  <a:moveTo>
                    <a:pt x="0" y="12622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815645" y="1679481"/>
              <a:ext cx="0" cy="1262260"/>
            </a:xfrm>
            <a:custGeom>
              <a:avLst/>
              <a:pathLst>
                <a:path w="0" h="1262260">
                  <a:moveTo>
                    <a:pt x="0" y="12622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872857" y="1679481"/>
              <a:ext cx="0" cy="1262260"/>
            </a:xfrm>
            <a:custGeom>
              <a:avLst/>
              <a:pathLst>
                <a:path w="0" h="1262260">
                  <a:moveTo>
                    <a:pt x="0" y="12622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930069" y="1679481"/>
              <a:ext cx="0" cy="1262260"/>
            </a:xfrm>
            <a:custGeom>
              <a:avLst/>
              <a:pathLst>
                <a:path w="0" h="1262260">
                  <a:moveTo>
                    <a:pt x="0" y="12622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124106" y="1979018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05572" y="1851515"/>
              <a:ext cx="105721" cy="0"/>
            </a:xfrm>
            <a:custGeom>
              <a:avLst/>
              <a:pathLst>
                <a:path w="105721" h="0">
                  <a:moveTo>
                    <a:pt x="0" y="0"/>
                  </a:moveTo>
                  <a:lnTo>
                    <a:pt x="105721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758433" y="1851515"/>
              <a:ext cx="0" cy="757387"/>
            </a:xfrm>
            <a:custGeom>
              <a:avLst/>
              <a:pathLst>
                <a:path w="0" h="757387">
                  <a:moveTo>
                    <a:pt x="0" y="0"/>
                  </a:moveTo>
                  <a:lnTo>
                    <a:pt x="0" y="757387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705572" y="2608902"/>
              <a:ext cx="105721" cy="0"/>
            </a:xfrm>
            <a:custGeom>
              <a:avLst/>
              <a:pathLst>
                <a:path w="105721" h="0">
                  <a:moveTo>
                    <a:pt x="0" y="0"/>
                  </a:moveTo>
                  <a:lnTo>
                    <a:pt x="105721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762784" y="1982387"/>
              <a:ext cx="105721" cy="0"/>
            </a:xfrm>
            <a:custGeom>
              <a:avLst/>
              <a:pathLst>
                <a:path w="105721" h="0">
                  <a:moveTo>
                    <a:pt x="0" y="0"/>
                  </a:moveTo>
                  <a:lnTo>
                    <a:pt x="105721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815645" y="1982387"/>
              <a:ext cx="0" cy="754231"/>
            </a:xfrm>
            <a:custGeom>
              <a:avLst/>
              <a:pathLst>
                <a:path w="0" h="754231">
                  <a:moveTo>
                    <a:pt x="0" y="0"/>
                  </a:moveTo>
                  <a:lnTo>
                    <a:pt x="0" y="754231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762784" y="2736619"/>
              <a:ext cx="105721" cy="0"/>
            </a:xfrm>
            <a:custGeom>
              <a:avLst/>
              <a:pathLst>
                <a:path w="105721" h="0">
                  <a:moveTo>
                    <a:pt x="0" y="0"/>
                  </a:moveTo>
                  <a:lnTo>
                    <a:pt x="105721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819996" y="2127096"/>
              <a:ext cx="105721" cy="0"/>
            </a:xfrm>
            <a:custGeom>
              <a:avLst/>
              <a:pathLst>
                <a:path w="105721" h="0">
                  <a:moveTo>
                    <a:pt x="0" y="0"/>
                  </a:moveTo>
                  <a:lnTo>
                    <a:pt x="105721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872857" y="2127096"/>
              <a:ext cx="0" cy="757270"/>
            </a:xfrm>
            <a:custGeom>
              <a:avLst/>
              <a:pathLst>
                <a:path w="0" h="757270">
                  <a:moveTo>
                    <a:pt x="0" y="0"/>
                  </a:moveTo>
                  <a:lnTo>
                    <a:pt x="0" y="75727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819996" y="2884366"/>
              <a:ext cx="105721" cy="0"/>
            </a:xfrm>
            <a:custGeom>
              <a:avLst/>
              <a:pathLst>
                <a:path w="105721" h="0">
                  <a:moveTo>
                    <a:pt x="0" y="0"/>
                  </a:moveTo>
                  <a:lnTo>
                    <a:pt x="105721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0877208" y="1736857"/>
              <a:ext cx="105721" cy="0"/>
            </a:xfrm>
            <a:custGeom>
              <a:avLst/>
              <a:pathLst>
                <a:path w="105721" h="0">
                  <a:moveTo>
                    <a:pt x="0" y="0"/>
                  </a:moveTo>
                  <a:lnTo>
                    <a:pt x="105721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0930069" y="1736857"/>
              <a:ext cx="0" cy="823976"/>
            </a:xfrm>
            <a:custGeom>
              <a:avLst/>
              <a:pathLst>
                <a:path w="0" h="823976">
                  <a:moveTo>
                    <a:pt x="0" y="0"/>
                  </a:moveTo>
                  <a:lnTo>
                    <a:pt x="0" y="823976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0877208" y="2560834"/>
              <a:ext cx="105721" cy="0"/>
            </a:xfrm>
            <a:custGeom>
              <a:avLst/>
              <a:pathLst>
                <a:path w="105721" h="0">
                  <a:moveTo>
                    <a:pt x="0" y="0"/>
                  </a:moveTo>
                  <a:lnTo>
                    <a:pt x="105721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7758433" y="2148845"/>
              <a:ext cx="3171636" cy="356885"/>
            </a:xfrm>
            <a:custGeom>
              <a:avLst/>
              <a:pathLst>
                <a:path w="3171636" h="356885">
                  <a:moveTo>
                    <a:pt x="0" y="81363"/>
                  </a:moveTo>
                  <a:lnTo>
                    <a:pt x="1057212" y="210658"/>
                  </a:lnTo>
                  <a:lnTo>
                    <a:pt x="2114424" y="356885"/>
                  </a:lnTo>
                  <a:lnTo>
                    <a:pt x="3171636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7721411" y="2193187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8778623" y="2322482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9835835" y="2468709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10893047" y="2111824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6886296" y="2811182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0.6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86296" y="2592448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0.7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886296" y="2372999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0.8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886296" y="2154086"/>
              <a:ext cx="169485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0.9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6886296" y="1935173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886296" y="1718760"/>
              <a:ext cx="169485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626273" y="298655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683485" y="2986491"/>
              <a:ext cx="264318" cy="111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6 sq.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9740698" y="2986610"/>
              <a:ext cx="264318" cy="1109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8 sq.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0764007" y="298655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12 sq.</a:t>
              </a:r>
            </a:p>
          </p:txBody>
        </p:sp>
        <p:sp>
          <p:nvSpPr>
            <p:cNvPr id="42" name="tx42"/>
            <p:cNvSpPr/>
            <p:nvPr/>
          </p:nvSpPr>
          <p:spPr>
            <a:xfrm rot="-5400000">
              <a:off x="6225902" y="2238578"/>
              <a:ext cx="1033388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Slope (95% CI)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124106" y="1404589"/>
              <a:ext cx="2751556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Forward slope per level (experience)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629400" y="3246120"/>
            <a:ext cx="5010912" cy="3108960"/>
            <a:chOff x="6629400" y="3246120"/>
            <a:chExt cx="5010912" cy="3108960"/>
          </a:xfrm>
        </p:grpSpPr>
        <p:sp>
          <p:nvSpPr>
            <p:cNvPr id="3" name="rc3"/>
            <p:cNvSpPr/>
            <p:nvPr/>
          </p:nvSpPr>
          <p:spPr>
            <a:xfrm>
              <a:off x="6629400" y="3246120"/>
              <a:ext cx="5010912" cy="31089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7090232" y="5992925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7090232" y="5578942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7090232" y="5164959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7090232" y="4750975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090232" y="4336992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090232" y="3923009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222592" y="5383892"/>
              <a:ext cx="661797" cy="29456"/>
            </a:xfrm>
            <a:custGeom>
              <a:avLst/>
              <a:pathLst>
                <a:path w="661797" h="29456">
                  <a:moveTo>
                    <a:pt x="0" y="29456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222592" y="5371950"/>
              <a:ext cx="661797" cy="12737"/>
            </a:xfrm>
            <a:custGeom>
              <a:avLst/>
              <a:pathLst>
                <a:path w="661797" h="12737">
                  <a:moveTo>
                    <a:pt x="0" y="0"/>
                  </a:moveTo>
                  <a:lnTo>
                    <a:pt x="661797" y="12737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222592" y="5330552"/>
              <a:ext cx="661797" cy="63822"/>
            </a:xfrm>
            <a:custGeom>
              <a:avLst/>
              <a:pathLst>
                <a:path w="661797" h="63822">
                  <a:moveTo>
                    <a:pt x="0" y="0"/>
                  </a:moveTo>
                  <a:lnTo>
                    <a:pt x="661797" y="63822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222592" y="5284377"/>
              <a:ext cx="661797" cy="4776"/>
            </a:xfrm>
            <a:custGeom>
              <a:avLst/>
              <a:pathLst>
                <a:path w="661797" h="4776">
                  <a:moveTo>
                    <a:pt x="0" y="4776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222592" y="5247755"/>
              <a:ext cx="661797" cy="49160"/>
            </a:xfrm>
            <a:custGeom>
              <a:avLst/>
              <a:pathLst>
                <a:path w="661797" h="49160">
                  <a:moveTo>
                    <a:pt x="0" y="0"/>
                  </a:moveTo>
                  <a:lnTo>
                    <a:pt x="661797" y="4916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222592" y="5206357"/>
              <a:ext cx="661797" cy="73629"/>
            </a:xfrm>
            <a:custGeom>
              <a:avLst/>
              <a:pathLst>
                <a:path w="661797" h="73629">
                  <a:moveTo>
                    <a:pt x="0" y="0"/>
                  </a:moveTo>
                  <a:lnTo>
                    <a:pt x="661797" y="73629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222592" y="5164959"/>
              <a:ext cx="661797" cy="41398"/>
            </a:xfrm>
            <a:custGeom>
              <a:avLst/>
              <a:pathLst>
                <a:path w="661797" h="41398">
                  <a:moveTo>
                    <a:pt x="0" y="0"/>
                  </a:moveTo>
                  <a:lnTo>
                    <a:pt x="661797" y="41398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222592" y="5123560"/>
              <a:ext cx="661797" cy="43338"/>
            </a:xfrm>
            <a:custGeom>
              <a:avLst/>
              <a:pathLst>
                <a:path w="661797" h="43338">
                  <a:moveTo>
                    <a:pt x="0" y="0"/>
                  </a:moveTo>
                  <a:lnTo>
                    <a:pt x="661797" y="43338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222592" y="5082162"/>
              <a:ext cx="661797" cy="81416"/>
            </a:xfrm>
            <a:custGeom>
              <a:avLst/>
              <a:pathLst>
                <a:path w="661797" h="81416">
                  <a:moveTo>
                    <a:pt x="0" y="0"/>
                  </a:moveTo>
                  <a:lnTo>
                    <a:pt x="661797" y="81416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222592" y="5040764"/>
              <a:ext cx="661797" cy="54737"/>
            </a:xfrm>
            <a:custGeom>
              <a:avLst/>
              <a:pathLst>
                <a:path w="661797" h="54737">
                  <a:moveTo>
                    <a:pt x="0" y="0"/>
                  </a:moveTo>
                  <a:lnTo>
                    <a:pt x="661797" y="54737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222592" y="4951067"/>
              <a:ext cx="661797" cy="48298"/>
            </a:xfrm>
            <a:custGeom>
              <a:avLst/>
              <a:pathLst>
                <a:path w="661797" h="48298">
                  <a:moveTo>
                    <a:pt x="0" y="48298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222592" y="4957967"/>
              <a:ext cx="661797" cy="102868"/>
            </a:xfrm>
            <a:custGeom>
              <a:avLst/>
              <a:pathLst>
                <a:path w="661797" h="102868">
                  <a:moveTo>
                    <a:pt x="0" y="0"/>
                  </a:moveTo>
                  <a:lnTo>
                    <a:pt x="661797" y="102868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222592" y="4916569"/>
              <a:ext cx="661797" cy="124961"/>
            </a:xfrm>
            <a:custGeom>
              <a:avLst/>
              <a:pathLst>
                <a:path w="661797" h="124961">
                  <a:moveTo>
                    <a:pt x="0" y="0"/>
                  </a:moveTo>
                  <a:lnTo>
                    <a:pt x="661797" y="124961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222592" y="4875170"/>
              <a:ext cx="661797" cy="0"/>
            </a:xfrm>
            <a:custGeom>
              <a:avLst/>
              <a:pathLst>
                <a:path w="661797" h="0">
                  <a:moveTo>
                    <a:pt x="0" y="0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222592" y="4833772"/>
              <a:ext cx="661797" cy="88217"/>
            </a:xfrm>
            <a:custGeom>
              <a:avLst/>
              <a:pathLst>
                <a:path w="661797" h="88217">
                  <a:moveTo>
                    <a:pt x="0" y="0"/>
                  </a:moveTo>
                  <a:lnTo>
                    <a:pt x="661797" y="88217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222592" y="4792374"/>
              <a:ext cx="661797" cy="51994"/>
            </a:xfrm>
            <a:custGeom>
              <a:avLst/>
              <a:pathLst>
                <a:path w="661797" h="51994">
                  <a:moveTo>
                    <a:pt x="0" y="0"/>
                  </a:moveTo>
                  <a:lnTo>
                    <a:pt x="661797" y="51994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7222592" y="4750975"/>
              <a:ext cx="661797" cy="102633"/>
            </a:xfrm>
            <a:custGeom>
              <a:avLst/>
              <a:pathLst>
                <a:path w="661797" h="102633">
                  <a:moveTo>
                    <a:pt x="0" y="0"/>
                  </a:moveTo>
                  <a:lnTo>
                    <a:pt x="661797" y="102633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7222592" y="4709577"/>
              <a:ext cx="661797" cy="70475"/>
            </a:xfrm>
            <a:custGeom>
              <a:avLst/>
              <a:pathLst>
                <a:path w="661797" h="70475">
                  <a:moveTo>
                    <a:pt x="0" y="0"/>
                  </a:moveTo>
                  <a:lnTo>
                    <a:pt x="661797" y="70475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222592" y="4668179"/>
              <a:ext cx="661797" cy="119020"/>
            </a:xfrm>
            <a:custGeom>
              <a:avLst/>
              <a:pathLst>
                <a:path w="661797" h="119020">
                  <a:moveTo>
                    <a:pt x="0" y="0"/>
                  </a:moveTo>
                  <a:lnTo>
                    <a:pt x="661797" y="11902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222592" y="4626780"/>
              <a:ext cx="661797" cy="131094"/>
            </a:xfrm>
            <a:custGeom>
              <a:avLst/>
              <a:pathLst>
                <a:path w="661797" h="131094">
                  <a:moveTo>
                    <a:pt x="0" y="0"/>
                  </a:moveTo>
                  <a:lnTo>
                    <a:pt x="661797" y="131094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222592" y="4561233"/>
              <a:ext cx="661797" cy="24149"/>
            </a:xfrm>
            <a:custGeom>
              <a:avLst/>
              <a:pathLst>
                <a:path w="661797" h="24149">
                  <a:moveTo>
                    <a:pt x="0" y="24149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222592" y="4543984"/>
              <a:ext cx="661797" cy="131324"/>
            </a:xfrm>
            <a:custGeom>
              <a:avLst/>
              <a:pathLst>
                <a:path w="661797" h="131324">
                  <a:moveTo>
                    <a:pt x="0" y="0"/>
                  </a:moveTo>
                  <a:lnTo>
                    <a:pt x="661797" y="131324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7222592" y="4502585"/>
              <a:ext cx="661797" cy="108555"/>
            </a:xfrm>
            <a:custGeom>
              <a:avLst/>
              <a:pathLst>
                <a:path w="661797" h="108555">
                  <a:moveTo>
                    <a:pt x="0" y="0"/>
                  </a:moveTo>
                  <a:lnTo>
                    <a:pt x="661797" y="108555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7207251" y="539800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7207251" y="535661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7207251" y="531521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7207251" y="527381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7207251" y="523241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7207251" y="519101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7207251" y="514961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7207251" y="510822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7207251" y="506682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7207251" y="502542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7207251" y="498402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7207251" y="494262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7207251" y="490122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7207251" y="485983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7207251" y="481843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7207251" y="477703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7207251" y="473563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7207251" y="469423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7207251" y="465283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7207251" y="461144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7207251" y="457004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7207251" y="452864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7207251" y="448724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7869049" y="5368552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7869049" y="536934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7869049" y="537903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7869049" y="526903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7869049" y="528157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7869049" y="526464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7869049" y="519101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7869049" y="5151559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7869049" y="514823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7869049" y="508016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7869049" y="493572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7869049" y="504549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7869049" y="502619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7869049" y="485983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7869049" y="490665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7869049" y="482902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7869049" y="483826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7869049" y="4764712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7869049" y="477185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7869049" y="474253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7869049" y="454589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7869049" y="465996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7869049" y="459580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8272781" y="5992925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8272781" y="5578942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8272781" y="5164959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8272781" y="4750975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8272781" y="4336992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8272781" y="3923009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8405141" y="5285969"/>
              <a:ext cx="661797" cy="127379"/>
            </a:xfrm>
            <a:custGeom>
              <a:avLst/>
              <a:pathLst>
                <a:path w="661797" h="127379">
                  <a:moveTo>
                    <a:pt x="0" y="127379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8405141" y="5283634"/>
              <a:ext cx="661797" cy="88316"/>
            </a:xfrm>
            <a:custGeom>
              <a:avLst/>
              <a:pathLst>
                <a:path w="661797" h="88316">
                  <a:moveTo>
                    <a:pt x="0" y="88316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8405141" y="5278574"/>
              <a:ext cx="661797" cy="51977"/>
            </a:xfrm>
            <a:custGeom>
              <a:avLst/>
              <a:pathLst>
                <a:path w="661797" h="51977">
                  <a:moveTo>
                    <a:pt x="0" y="51977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8405141" y="5230161"/>
              <a:ext cx="661797" cy="58992"/>
            </a:xfrm>
            <a:custGeom>
              <a:avLst/>
              <a:pathLst>
                <a:path w="661797" h="58992">
                  <a:moveTo>
                    <a:pt x="0" y="58992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8405141" y="5233036"/>
              <a:ext cx="661797" cy="14719"/>
            </a:xfrm>
            <a:custGeom>
              <a:avLst/>
              <a:pathLst>
                <a:path w="661797" h="14719">
                  <a:moveTo>
                    <a:pt x="0" y="14719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8405141" y="5121531"/>
              <a:ext cx="661797" cy="84825"/>
            </a:xfrm>
            <a:custGeom>
              <a:avLst/>
              <a:pathLst>
                <a:path w="661797" h="84825">
                  <a:moveTo>
                    <a:pt x="0" y="84825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8405141" y="5058829"/>
              <a:ext cx="661797" cy="106130"/>
            </a:xfrm>
            <a:custGeom>
              <a:avLst/>
              <a:pathLst>
                <a:path w="661797" h="106130">
                  <a:moveTo>
                    <a:pt x="0" y="106130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8405141" y="5103354"/>
              <a:ext cx="661797" cy="20206"/>
            </a:xfrm>
            <a:custGeom>
              <a:avLst/>
              <a:pathLst>
                <a:path w="661797" h="20206">
                  <a:moveTo>
                    <a:pt x="0" y="20206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8405141" y="5082162"/>
              <a:ext cx="661797" cy="1724"/>
            </a:xfrm>
            <a:custGeom>
              <a:avLst/>
              <a:pathLst>
                <a:path w="661797" h="1724">
                  <a:moveTo>
                    <a:pt x="0" y="0"/>
                  </a:moveTo>
                  <a:lnTo>
                    <a:pt x="661797" y="1724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8405141" y="5040764"/>
              <a:ext cx="661797" cy="71461"/>
            </a:xfrm>
            <a:custGeom>
              <a:avLst/>
              <a:pathLst>
                <a:path w="661797" h="71461">
                  <a:moveTo>
                    <a:pt x="0" y="0"/>
                  </a:moveTo>
                  <a:lnTo>
                    <a:pt x="661797" y="71461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8405141" y="4999365"/>
              <a:ext cx="661797" cy="30107"/>
            </a:xfrm>
            <a:custGeom>
              <a:avLst/>
              <a:pathLst>
                <a:path w="661797" h="30107">
                  <a:moveTo>
                    <a:pt x="0" y="0"/>
                  </a:moveTo>
                  <a:lnTo>
                    <a:pt x="661797" y="30107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8405141" y="4951067"/>
              <a:ext cx="661797" cy="6899"/>
            </a:xfrm>
            <a:custGeom>
              <a:avLst/>
              <a:pathLst>
                <a:path w="661797" h="6899">
                  <a:moveTo>
                    <a:pt x="0" y="6899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8405141" y="4914729"/>
              <a:ext cx="661797" cy="1839"/>
            </a:xfrm>
            <a:custGeom>
              <a:avLst/>
              <a:pathLst>
                <a:path w="661797" h="1839">
                  <a:moveTo>
                    <a:pt x="0" y="1839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8405141" y="4867016"/>
              <a:ext cx="661797" cy="8154"/>
            </a:xfrm>
            <a:custGeom>
              <a:avLst/>
              <a:pathLst>
                <a:path w="661797" h="8154">
                  <a:moveTo>
                    <a:pt x="0" y="8154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8405141" y="4715710"/>
              <a:ext cx="661797" cy="118061"/>
            </a:xfrm>
            <a:custGeom>
              <a:avLst/>
              <a:pathLst>
                <a:path w="661797" h="118061">
                  <a:moveTo>
                    <a:pt x="0" y="118061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405141" y="4776451"/>
              <a:ext cx="661797" cy="15922"/>
            </a:xfrm>
            <a:custGeom>
              <a:avLst/>
              <a:pathLst>
                <a:path w="661797" h="15922">
                  <a:moveTo>
                    <a:pt x="0" y="15922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8405141" y="4691638"/>
              <a:ext cx="661797" cy="59337"/>
            </a:xfrm>
            <a:custGeom>
              <a:avLst/>
              <a:pathLst>
                <a:path w="661797" h="59337">
                  <a:moveTo>
                    <a:pt x="0" y="59337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8405141" y="4704800"/>
              <a:ext cx="661797" cy="4776"/>
            </a:xfrm>
            <a:custGeom>
              <a:avLst/>
              <a:pathLst>
                <a:path w="661797" h="4776">
                  <a:moveTo>
                    <a:pt x="0" y="4776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8405141" y="4668179"/>
              <a:ext cx="661797" cy="29323"/>
            </a:xfrm>
            <a:custGeom>
              <a:avLst/>
              <a:pathLst>
                <a:path w="661797" h="29323">
                  <a:moveTo>
                    <a:pt x="0" y="0"/>
                  </a:moveTo>
                  <a:lnTo>
                    <a:pt x="661797" y="29323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8405141" y="4626780"/>
              <a:ext cx="661797" cy="101339"/>
            </a:xfrm>
            <a:custGeom>
              <a:avLst/>
              <a:pathLst>
                <a:path w="661797" h="101339">
                  <a:moveTo>
                    <a:pt x="0" y="0"/>
                  </a:moveTo>
                  <a:lnTo>
                    <a:pt x="661797" y="101339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8405141" y="4585382"/>
              <a:ext cx="661797" cy="118280"/>
            </a:xfrm>
            <a:custGeom>
              <a:avLst/>
              <a:pathLst>
                <a:path w="661797" h="118280">
                  <a:moveTo>
                    <a:pt x="0" y="0"/>
                  </a:moveTo>
                  <a:lnTo>
                    <a:pt x="661797" y="11828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8405141" y="4543984"/>
              <a:ext cx="661797" cy="139965"/>
            </a:xfrm>
            <a:custGeom>
              <a:avLst/>
              <a:pathLst>
                <a:path w="661797" h="139965">
                  <a:moveTo>
                    <a:pt x="0" y="0"/>
                  </a:moveTo>
                  <a:lnTo>
                    <a:pt x="661797" y="139965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8405141" y="4502585"/>
              <a:ext cx="661797" cy="9659"/>
            </a:xfrm>
            <a:custGeom>
              <a:avLst/>
              <a:pathLst>
                <a:path w="661797" h="9659">
                  <a:moveTo>
                    <a:pt x="0" y="0"/>
                  </a:moveTo>
                  <a:lnTo>
                    <a:pt x="661797" y="9659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8389800" y="539800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8389800" y="535661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8389800" y="531521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8389800" y="527381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8389800" y="523241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8389800" y="519101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8389800" y="514961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8389800" y="510822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8389800" y="506682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8389800" y="502542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8389800" y="498402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8389800" y="494262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8389800" y="490122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8389800" y="485983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8389800" y="481843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8389800" y="477703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8389800" y="473563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8389800" y="469423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8389800" y="465283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8389800" y="461144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8389800" y="457004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8389800" y="452864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8389800" y="448724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9051598" y="5270629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9051598" y="526829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9051598" y="526323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9051598" y="521482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9051598" y="521769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9051598" y="510619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9051598" y="504348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9051598" y="508801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9051598" y="506854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9051598" y="509688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9051598" y="501413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9051598" y="493572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9051598" y="489938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9051598" y="485167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9051598" y="470037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9051598" y="476111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9051598" y="467629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9051598" y="468946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9051598" y="4682162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9051598" y="471278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9051598" y="468832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9051598" y="4668609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9051598" y="449690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9455330" y="5992925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9455330" y="5578942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9455330" y="5164959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9455330" y="4750975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9455330" y="4336992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9455330" y="3923009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9587690" y="5248817"/>
              <a:ext cx="661797" cy="164531"/>
            </a:xfrm>
            <a:custGeom>
              <a:avLst/>
              <a:pathLst>
                <a:path w="661797" h="164531">
                  <a:moveTo>
                    <a:pt x="0" y="164531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9587690" y="5237176"/>
              <a:ext cx="661797" cy="134774"/>
            </a:xfrm>
            <a:custGeom>
              <a:avLst/>
              <a:pathLst>
                <a:path w="661797" h="134774">
                  <a:moveTo>
                    <a:pt x="0" y="134774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9587690" y="5330552"/>
              <a:ext cx="661797" cy="3833"/>
            </a:xfrm>
            <a:custGeom>
              <a:avLst/>
              <a:pathLst>
                <a:path w="661797" h="3833">
                  <a:moveTo>
                    <a:pt x="0" y="0"/>
                  </a:moveTo>
                  <a:lnTo>
                    <a:pt x="661797" y="3833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9587690" y="5164959"/>
              <a:ext cx="661797" cy="124195"/>
            </a:xfrm>
            <a:custGeom>
              <a:avLst/>
              <a:pathLst>
                <a:path w="661797" h="124195">
                  <a:moveTo>
                    <a:pt x="0" y="124195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9587690" y="5112061"/>
              <a:ext cx="661797" cy="135694"/>
            </a:xfrm>
            <a:custGeom>
              <a:avLst/>
              <a:pathLst>
                <a:path w="661797" h="135694">
                  <a:moveTo>
                    <a:pt x="0" y="135694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9587690" y="5026337"/>
              <a:ext cx="661797" cy="180020"/>
            </a:xfrm>
            <a:custGeom>
              <a:avLst/>
              <a:pathLst>
                <a:path w="661797" h="180020">
                  <a:moveTo>
                    <a:pt x="0" y="180020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9587690" y="5122343"/>
              <a:ext cx="661797" cy="42615"/>
            </a:xfrm>
            <a:custGeom>
              <a:avLst/>
              <a:pathLst>
                <a:path w="661797" h="42615">
                  <a:moveTo>
                    <a:pt x="0" y="42615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9587690" y="5029724"/>
              <a:ext cx="661797" cy="93836"/>
            </a:xfrm>
            <a:custGeom>
              <a:avLst/>
              <a:pathLst>
                <a:path w="661797" h="93836">
                  <a:moveTo>
                    <a:pt x="0" y="93836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9587690" y="4959029"/>
              <a:ext cx="661797" cy="123133"/>
            </a:xfrm>
            <a:custGeom>
              <a:avLst/>
              <a:pathLst>
                <a:path w="661797" h="123133">
                  <a:moveTo>
                    <a:pt x="0" y="123133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9587690" y="5015465"/>
              <a:ext cx="661797" cy="25298"/>
            </a:xfrm>
            <a:custGeom>
              <a:avLst/>
              <a:pathLst>
                <a:path w="661797" h="25298">
                  <a:moveTo>
                    <a:pt x="0" y="25298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9587690" y="4984511"/>
              <a:ext cx="661797" cy="14854"/>
            </a:xfrm>
            <a:custGeom>
              <a:avLst/>
              <a:pathLst>
                <a:path w="661797" h="14854">
                  <a:moveTo>
                    <a:pt x="0" y="14854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9587690" y="4882070"/>
              <a:ext cx="661797" cy="75896"/>
            </a:xfrm>
            <a:custGeom>
              <a:avLst/>
              <a:pathLst>
                <a:path w="661797" h="75896">
                  <a:moveTo>
                    <a:pt x="0" y="75896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9587690" y="4912323"/>
              <a:ext cx="661797" cy="4245"/>
            </a:xfrm>
            <a:custGeom>
              <a:avLst/>
              <a:pathLst>
                <a:path w="661797" h="4245">
                  <a:moveTo>
                    <a:pt x="0" y="4245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9587690" y="4865314"/>
              <a:ext cx="661797" cy="9856"/>
            </a:xfrm>
            <a:custGeom>
              <a:avLst/>
              <a:pathLst>
                <a:path w="661797" h="9856">
                  <a:moveTo>
                    <a:pt x="0" y="9856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9587690" y="4833772"/>
              <a:ext cx="661797" cy="18399"/>
            </a:xfrm>
            <a:custGeom>
              <a:avLst/>
              <a:pathLst>
                <a:path w="661797" h="18399">
                  <a:moveTo>
                    <a:pt x="0" y="0"/>
                  </a:moveTo>
                  <a:lnTo>
                    <a:pt x="661797" y="18399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9587690" y="4729701"/>
              <a:ext cx="661797" cy="62672"/>
            </a:xfrm>
            <a:custGeom>
              <a:avLst/>
              <a:pathLst>
                <a:path w="661797" h="62672">
                  <a:moveTo>
                    <a:pt x="0" y="62672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9587690" y="4750975"/>
              <a:ext cx="661797" cy="91421"/>
            </a:xfrm>
            <a:custGeom>
              <a:avLst/>
              <a:pathLst>
                <a:path w="661797" h="91421">
                  <a:moveTo>
                    <a:pt x="0" y="0"/>
                  </a:moveTo>
                  <a:lnTo>
                    <a:pt x="661797" y="91421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9587690" y="4663349"/>
              <a:ext cx="661797" cy="46228"/>
            </a:xfrm>
            <a:custGeom>
              <a:avLst/>
              <a:pathLst>
                <a:path w="661797" h="46228">
                  <a:moveTo>
                    <a:pt x="0" y="46228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9587690" y="4646987"/>
              <a:ext cx="661797" cy="21192"/>
            </a:xfrm>
            <a:custGeom>
              <a:avLst/>
              <a:pathLst>
                <a:path w="661797" h="21192">
                  <a:moveTo>
                    <a:pt x="0" y="21192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9587690" y="4626780"/>
              <a:ext cx="661797" cy="796"/>
            </a:xfrm>
            <a:custGeom>
              <a:avLst/>
              <a:pathLst>
                <a:path w="661797" h="796">
                  <a:moveTo>
                    <a:pt x="0" y="0"/>
                  </a:moveTo>
                  <a:lnTo>
                    <a:pt x="661797" y="796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9587690" y="4570203"/>
              <a:ext cx="661797" cy="15179"/>
            </a:xfrm>
            <a:custGeom>
              <a:avLst/>
              <a:pathLst>
                <a:path w="661797" h="15179">
                  <a:moveTo>
                    <a:pt x="0" y="15179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9587690" y="4531416"/>
              <a:ext cx="661797" cy="12567"/>
            </a:xfrm>
            <a:custGeom>
              <a:avLst/>
              <a:pathLst>
                <a:path w="661797" h="12567">
                  <a:moveTo>
                    <a:pt x="0" y="12567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9587690" y="4502585"/>
              <a:ext cx="661797" cy="170495"/>
            </a:xfrm>
            <a:custGeom>
              <a:avLst/>
              <a:pathLst>
                <a:path w="661797" h="170495">
                  <a:moveTo>
                    <a:pt x="0" y="0"/>
                  </a:moveTo>
                  <a:lnTo>
                    <a:pt x="661797" y="170495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9572349" y="539800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9572349" y="535661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9572349" y="531521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9572349" y="527381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9572349" y="523241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9572349" y="519101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9572349" y="514961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9572349" y="510822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9572349" y="506682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9572349" y="502542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9572349" y="498402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9572349" y="494262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9572349" y="490122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9572349" y="485983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9572349" y="481843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9572349" y="477703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9572349" y="473563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9572349" y="469423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9572349" y="465283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9572349" y="461144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9572349" y="457004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9572349" y="452864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9572349" y="448724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10234147" y="523347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10234147" y="522183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10234147" y="531904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10234147" y="514961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10234147" y="509672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10234147" y="501099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10234147" y="5107002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10234147" y="501438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10234147" y="494368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10234147" y="500012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10234147" y="496917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10234147" y="486673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10234147" y="4896982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10234147" y="484997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10234147" y="483683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10234147" y="471436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10234147" y="482705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10234147" y="464800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10234147" y="463164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10234147" y="461223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10234147" y="4554862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10234147" y="451607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10234147" y="465774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10637879" y="5992925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10637879" y="5578942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10637879" y="5164959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10637879" y="4750975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10637879" y="4336992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10637879" y="3923009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10770239" y="5366036"/>
              <a:ext cx="661797" cy="47312"/>
            </a:xfrm>
            <a:custGeom>
              <a:avLst/>
              <a:pathLst>
                <a:path w="661797" h="47312">
                  <a:moveTo>
                    <a:pt x="0" y="47312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10770239" y="5275354"/>
              <a:ext cx="661797" cy="96596"/>
            </a:xfrm>
            <a:custGeom>
              <a:avLst/>
              <a:pathLst>
                <a:path w="661797" h="96596">
                  <a:moveTo>
                    <a:pt x="0" y="96596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10770239" y="5152022"/>
              <a:ext cx="661797" cy="178530"/>
            </a:xfrm>
            <a:custGeom>
              <a:avLst/>
              <a:pathLst>
                <a:path w="661797" h="178530">
                  <a:moveTo>
                    <a:pt x="0" y="178530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10770239" y="5189970"/>
              <a:ext cx="661797" cy="99183"/>
            </a:xfrm>
            <a:custGeom>
              <a:avLst/>
              <a:pathLst>
                <a:path w="661797" h="99183">
                  <a:moveTo>
                    <a:pt x="0" y="99183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10770239" y="4968003"/>
              <a:ext cx="661797" cy="279752"/>
            </a:xfrm>
            <a:custGeom>
              <a:avLst/>
              <a:pathLst>
                <a:path w="661797" h="279752">
                  <a:moveTo>
                    <a:pt x="0" y="279752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10770239" y="5020985"/>
              <a:ext cx="661797" cy="185372"/>
            </a:xfrm>
            <a:custGeom>
              <a:avLst/>
              <a:pathLst>
                <a:path w="661797" h="185372">
                  <a:moveTo>
                    <a:pt x="0" y="185372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10770239" y="5031564"/>
              <a:ext cx="661797" cy="133394"/>
            </a:xfrm>
            <a:custGeom>
              <a:avLst/>
              <a:pathLst>
                <a:path w="661797" h="133394">
                  <a:moveTo>
                    <a:pt x="0" y="133394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10770239" y="5006892"/>
              <a:ext cx="661797" cy="116668"/>
            </a:xfrm>
            <a:custGeom>
              <a:avLst/>
              <a:pathLst>
                <a:path w="661797" h="116668">
                  <a:moveTo>
                    <a:pt x="0" y="116668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10770239" y="5022906"/>
              <a:ext cx="661797" cy="59256"/>
            </a:xfrm>
            <a:custGeom>
              <a:avLst/>
              <a:pathLst>
                <a:path w="661797" h="59256">
                  <a:moveTo>
                    <a:pt x="0" y="59256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10770239" y="5017242"/>
              <a:ext cx="661797" cy="23521"/>
            </a:xfrm>
            <a:custGeom>
              <a:avLst/>
              <a:pathLst>
                <a:path w="661797" h="23521">
                  <a:moveTo>
                    <a:pt x="0" y="23521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10770239" y="4872296"/>
              <a:ext cx="661797" cy="127069"/>
            </a:xfrm>
            <a:custGeom>
              <a:avLst/>
              <a:pathLst>
                <a:path w="661797" h="127069">
                  <a:moveTo>
                    <a:pt x="0" y="127069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10770239" y="4886316"/>
              <a:ext cx="661797" cy="71650"/>
            </a:xfrm>
            <a:custGeom>
              <a:avLst/>
              <a:pathLst>
                <a:path w="661797" h="71650">
                  <a:moveTo>
                    <a:pt x="0" y="71650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10770239" y="4828465"/>
              <a:ext cx="661797" cy="88104"/>
            </a:xfrm>
            <a:custGeom>
              <a:avLst/>
              <a:pathLst>
                <a:path w="661797" h="88104">
                  <a:moveTo>
                    <a:pt x="0" y="88104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10770239" y="4750975"/>
              <a:ext cx="661797" cy="124195"/>
            </a:xfrm>
            <a:custGeom>
              <a:avLst/>
              <a:pathLst>
                <a:path w="661797" h="124195">
                  <a:moveTo>
                    <a:pt x="0" y="124195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10770239" y="4803873"/>
              <a:ext cx="661797" cy="29898"/>
            </a:xfrm>
            <a:custGeom>
              <a:avLst/>
              <a:pathLst>
                <a:path w="661797" h="29898">
                  <a:moveTo>
                    <a:pt x="0" y="29898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10770239" y="4741953"/>
              <a:ext cx="661797" cy="50421"/>
            </a:xfrm>
            <a:custGeom>
              <a:avLst/>
              <a:pathLst>
                <a:path w="661797" h="50421">
                  <a:moveTo>
                    <a:pt x="0" y="50421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10770239" y="4708283"/>
              <a:ext cx="661797" cy="42692"/>
            </a:xfrm>
            <a:custGeom>
              <a:avLst/>
              <a:pathLst>
                <a:path w="661797" h="42692">
                  <a:moveTo>
                    <a:pt x="0" y="42692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10770239" y="4679469"/>
              <a:ext cx="661797" cy="30107"/>
            </a:xfrm>
            <a:custGeom>
              <a:avLst/>
              <a:pathLst>
                <a:path w="661797" h="30107">
                  <a:moveTo>
                    <a:pt x="0" y="30107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10770239" y="4667532"/>
              <a:ext cx="661797" cy="646"/>
            </a:xfrm>
            <a:custGeom>
              <a:avLst/>
              <a:pathLst>
                <a:path w="661797" h="646">
                  <a:moveTo>
                    <a:pt x="0" y="646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10770239" y="4523285"/>
              <a:ext cx="661797" cy="103495"/>
            </a:xfrm>
            <a:custGeom>
              <a:avLst/>
              <a:pathLst>
                <a:path w="661797" h="103495">
                  <a:moveTo>
                    <a:pt x="0" y="103495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10770239" y="4463841"/>
              <a:ext cx="661797" cy="121541"/>
            </a:xfrm>
            <a:custGeom>
              <a:avLst/>
              <a:pathLst>
                <a:path w="661797" h="121541">
                  <a:moveTo>
                    <a:pt x="0" y="121541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10770239" y="4424389"/>
              <a:ext cx="661797" cy="119595"/>
            </a:xfrm>
            <a:custGeom>
              <a:avLst/>
              <a:pathLst>
                <a:path w="661797" h="119595">
                  <a:moveTo>
                    <a:pt x="0" y="119595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10770239" y="4468087"/>
              <a:ext cx="661797" cy="34498"/>
            </a:xfrm>
            <a:custGeom>
              <a:avLst/>
              <a:pathLst>
                <a:path w="661797" h="34498">
                  <a:moveTo>
                    <a:pt x="0" y="34498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10754898" y="539800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10754898" y="535661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10754898" y="531521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10754898" y="527381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10754898" y="523241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10754898" y="519101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10754898" y="514961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10754898" y="510822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10754898" y="506682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10754898" y="502542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10754898" y="498402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10754898" y="494262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10754898" y="490122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10754898" y="485983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10754898" y="481843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10754898" y="477703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10754898" y="473563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10754898" y="469423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10754898" y="465283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10754898" y="461144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10754898" y="457004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10754898" y="452864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10754898" y="448724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11416696" y="535069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11416696" y="526001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11416696" y="513668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11416696" y="517463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11416696" y="495266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11416696" y="500564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11416696" y="501622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11416696" y="4991552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11416696" y="500756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11416696" y="5001902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11416696" y="485695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11416696" y="487097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11416696" y="481312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11416696" y="473563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11416696" y="478853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11416696" y="4726612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11416696" y="469294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11416696" y="4664129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11416696" y="465219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11416696" y="450794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11416696" y="444850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11416696" y="440904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11416696" y="445274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tx304"/>
            <p:cNvSpPr/>
            <p:nvPr/>
          </p:nvSpPr>
          <p:spPr>
            <a:xfrm>
              <a:off x="7395452" y="3597298"/>
              <a:ext cx="316077" cy="1446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305" name="tx305"/>
            <p:cNvSpPr/>
            <p:nvPr/>
          </p:nvSpPr>
          <p:spPr>
            <a:xfrm>
              <a:off x="8575258" y="3597298"/>
              <a:ext cx="321564" cy="1446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6 sq.</a:t>
              </a:r>
            </a:p>
          </p:txBody>
        </p:sp>
        <p:sp>
          <p:nvSpPr>
            <p:cNvPr id="306" name="tx306"/>
            <p:cNvSpPr/>
            <p:nvPr/>
          </p:nvSpPr>
          <p:spPr>
            <a:xfrm>
              <a:off x="9758493" y="3597298"/>
              <a:ext cx="320192" cy="1446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8 sq.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10909418" y="3597298"/>
              <a:ext cx="383438" cy="1446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12 sq.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7097249" y="6162483"/>
              <a:ext cx="250686" cy="89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True</a:t>
              </a:r>
            </a:p>
          </p:txBody>
        </p:sp>
        <p:sp>
          <p:nvSpPr>
            <p:cNvPr id="309" name="tx309"/>
            <p:cNvSpPr/>
            <p:nvPr/>
          </p:nvSpPr>
          <p:spPr>
            <a:xfrm>
              <a:off x="7701420" y="613932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310" name="tx310"/>
            <p:cNvSpPr/>
            <p:nvPr/>
          </p:nvSpPr>
          <p:spPr>
            <a:xfrm>
              <a:off x="8279798" y="6162483"/>
              <a:ext cx="250686" cy="89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True</a:t>
              </a:r>
            </a:p>
          </p:txBody>
        </p:sp>
        <p:sp>
          <p:nvSpPr>
            <p:cNvPr id="311" name="tx311"/>
            <p:cNvSpPr/>
            <p:nvPr/>
          </p:nvSpPr>
          <p:spPr>
            <a:xfrm>
              <a:off x="8883969" y="613932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312" name="tx312"/>
            <p:cNvSpPr/>
            <p:nvPr/>
          </p:nvSpPr>
          <p:spPr>
            <a:xfrm>
              <a:off x="9462347" y="6162483"/>
              <a:ext cx="250686" cy="89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True</a:t>
              </a:r>
            </a:p>
          </p:txBody>
        </p:sp>
        <p:sp>
          <p:nvSpPr>
            <p:cNvPr id="313" name="tx313"/>
            <p:cNvSpPr/>
            <p:nvPr/>
          </p:nvSpPr>
          <p:spPr>
            <a:xfrm>
              <a:off x="10066518" y="613932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314" name="tx314"/>
            <p:cNvSpPr/>
            <p:nvPr/>
          </p:nvSpPr>
          <p:spPr>
            <a:xfrm>
              <a:off x="10644896" y="6162483"/>
              <a:ext cx="250686" cy="89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True</a:t>
              </a:r>
            </a:p>
          </p:txBody>
        </p:sp>
        <p:sp>
          <p:nvSpPr>
            <p:cNvPr id="315" name="tx315"/>
            <p:cNvSpPr/>
            <p:nvPr/>
          </p:nvSpPr>
          <p:spPr>
            <a:xfrm>
              <a:off x="11249067" y="613932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316" name="tx316"/>
            <p:cNvSpPr/>
            <p:nvPr/>
          </p:nvSpPr>
          <p:spPr>
            <a:xfrm>
              <a:off x="6954102" y="5949081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317" name="tx317"/>
            <p:cNvSpPr/>
            <p:nvPr/>
          </p:nvSpPr>
          <p:spPr>
            <a:xfrm>
              <a:off x="6886296" y="553509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318" name="tx318"/>
            <p:cNvSpPr/>
            <p:nvPr/>
          </p:nvSpPr>
          <p:spPr>
            <a:xfrm>
              <a:off x="6886296" y="5120816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319" name="tx319"/>
            <p:cNvSpPr/>
            <p:nvPr/>
          </p:nvSpPr>
          <p:spPr>
            <a:xfrm>
              <a:off x="6886296" y="4707012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320" name="tx320"/>
            <p:cNvSpPr/>
            <p:nvPr/>
          </p:nvSpPr>
          <p:spPr>
            <a:xfrm>
              <a:off x="6886296" y="4292909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321" name="tx321"/>
            <p:cNvSpPr/>
            <p:nvPr/>
          </p:nvSpPr>
          <p:spPr>
            <a:xfrm>
              <a:off x="6886296" y="3879164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322" name="tx322"/>
            <p:cNvSpPr/>
            <p:nvPr/>
          </p:nvSpPr>
          <p:spPr>
            <a:xfrm rot="-5400000">
              <a:off x="6536544" y="4900222"/>
              <a:ext cx="440680" cy="1154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Shade</a:t>
              </a:r>
            </a:p>
          </p:txBody>
        </p:sp>
        <p:sp>
          <p:nvSpPr>
            <p:cNvPr id="323" name="tx323"/>
            <p:cNvSpPr/>
            <p:nvPr/>
          </p:nvSpPr>
          <p:spPr>
            <a:xfrm>
              <a:off x="7090232" y="3279109"/>
              <a:ext cx="3587622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Galton: true colour to mean report (experience)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5852160" cy="3566160"/>
            <a:chOff x="548640" y="1371600"/>
            <a:chExt cx="5852160" cy="356616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5852160" cy="3566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2519418" y="3975003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2519418" y="3515898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519418" y="3056794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519418" y="2597690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519418" y="2138586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519418" y="1679481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19418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978522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37626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896730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355835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814939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519418" y="1679481"/>
              <a:ext cx="2295521" cy="2295521"/>
            </a:xfrm>
            <a:custGeom>
              <a:avLst/>
              <a:pathLst>
                <a:path w="2295521" h="2295521">
                  <a:moveTo>
                    <a:pt x="0" y="2295521"/>
                  </a:moveTo>
                  <a:lnTo>
                    <a:pt x="2295521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57403" y="2263358"/>
              <a:ext cx="1444342" cy="1016471"/>
            </a:xfrm>
            <a:custGeom>
              <a:avLst/>
              <a:pathLst>
                <a:path w="1444342" h="1016471">
                  <a:moveTo>
                    <a:pt x="0" y="1016471"/>
                  </a:moveTo>
                  <a:lnTo>
                    <a:pt x="49804" y="981420"/>
                  </a:lnTo>
                  <a:lnTo>
                    <a:pt x="99609" y="946369"/>
                  </a:lnTo>
                  <a:lnTo>
                    <a:pt x="149414" y="911319"/>
                  </a:lnTo>
                  <a:lnTo>
                    <a:pt x="199219" y="876268"/>
                  </a:lnTo>
                  <a:lnTo>
                    <a:pt x="249024" y="841217"/>
                  </a:lnTo>
                  <a:lnTo>
                    <a:pt x="298829" y="806166"/>
                  </a:lnTo>
                  <a:lnTo>
                    <a:pt x="348634" y="771116"/>
                  </a:lnTo>
                  <a:lnTo>
                    <a:pt x="398439" y="736065"/>
                  </a:lnTo>
                  <a:lnTo>
                    <a:pt x="448244" y="701014"/>
                  </a:lnTo>
                  <a:lnTo>
                    <a:pt x="498048" y="665964"/>
                  </a:lnTo>
                  <a:lnTo>
                    <a:pt x="547853" y="630913"/>
                  </a:lnTo>
                  <a:lnTo>
                    <a:pt x="597658" y="595862"/>
                  </a:lnTo>
                  <a:lnTo>
                    <a:pt x="647463" y="560811"/>
                  </a:lnTo>
                  <a:lnTo>
                    <a:pt x="697268" y="525761"/>
                  </a:lnTo>
                  <a:lnTo>
                    <a:pt x="747073" y="490710"/>
                  </a:lnTo>
                  <a:lnTo>
                    <a:pt x="796878" y="455659"/>
                  </a:lnTo>
                  <a:lnTo>
                    <a:pt x="846683" y="420608"/>
                  </a:lnTo>
                  <a:lnTo>
                    <a:pt x="896488" y="385558"/>
                  </a:lnTo>
                  <a:lnTo>
                    <a:pt x="946293" y="350507"/>
                  </a:lnTo>
                  <a:lnTo>
                    <a:pt x="996097" y="315456"/>
                  </a:lnTo>
                  <a:lnTo>
                    <a:pt x="1045902" y="280405"/>
                  </a:lnTo>
                  <a:lnTo>
                    <a:pt x="1095707" y="245355"/>
                  </a:lnTo>
                  <a:lnTo>
                    <a:pt x="1145512" y="210304"/>
                  </a:lnTo>
                  <a:lnTo>
                    <a:pt x="1195317" y="175253"/>
                  </a:lnTo>
                  <a:lnTo>
                    <a:pt x="1245122" y="140202"/>
                  </a:lnTo>
                  <a:lnTo>
                    <a:pt x="1294927" y="105152"/>
                  </a:lnTo>
                  <a:lnTo>
                    <a:pt x="1344732" y="70101"/>
                  </a:lnTo>
                  <a:lnTo>
                    <a:pt x="1394537" y="35050"/>
                  </a:lnTo>
                  <a:lnTo>
                    <a:pt x="1444342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14332" y="2295624"/>
              <a:ext cx="1479233" cy="946823"/>
            </a:xfrm>
            <a:custGeom>
              <a:avLst/>
              <a:pathLst>
                <a:path w="1479233" h="946823">
                  <a:moveTo>
                    <a:pt x="0" y="946823"/>
                  </a:moveTo>
                  <a:lnTo>
                    <a:pt x="51008" y="914174"/>
                  </a:lnTo>
                  <a:lnTo>
                    <a:pt x="102016" y="881525"/>
                  </a:lnTo>
                  <a:lnTo>
                    <a:pt x="153024" y="848876"/>
                  </a:lnTo>
                  <a:lnTo>
                    <a:pt x="204032" y="816227"/>
                  </a:lnTo>
                  <a:lnTo>
                    <a:pt x="255040" y="783578"/>
                  </a:lnTo>
                  <a:lnTo>
                    <a:pt x="306048" y="750928"/>
                  </a:lnTo>
                  <a:lnTo>
                    <a:pt x="357056" y="718279"/>
                  </a:lnTo>
                  <a:lnTo>
                    <a:pt x="408064" y="685630"/>
                  </a:lnTo>
                  <a:lnTo>
                    <a:pt x="459072" y="652981"/>
                  </a:lnTo>
                  <a:lnTo>
                    <a:pt x="510080" y="620332"/>
                  </a:lnTo>
                  <a:lnTo>
                    <a:pt x="561088" y="587683"/>
                  </a:lnTo>
                  <a:lnTo>
                    <a:pt x="612096" y="555034"/>
                  </a:lnTo>
                  <a:lnTo>
                    <a:pt x="663104" y="522385"/>
                  </a:lnTo>
                  <a:lnTo>
                    <a:pt x="714112" y="489736"/>
                  </a:lnTo>
                  <a:lnTo>
                    <a:pt x="765121" y="457087"/>
                  </a:lnTo>
                  <a:lnTo>
                    <a:pt x="816129" y="424438"/>
                  </a:lnTo>
                  <a:lnTo>
                    <a:pt x="867137" y="391789"/>
                  </a:lnTo>
                  <a:lnTo>
                    <a:pt x="918145" y="359139"/>
                  </a:lnTo>
                  <a:lnTo>
                    <a:pt x="969153" y="326490"/>
                  </a:lnTo>
                  <a:lnTo>
                    <a:pt x="1020161" y="293841"/>
                  </a:lnTo>
                  <a:lnTo>
                    <a:pt x="1071169" y="261192"/>
                  </a:lnTo>
                  <a:lnTo>
                    <a:pt x="1122177" y="228543"/>
                  </a:lnTo>
                  <a:lnTo>
                    <a:pt x="1173185" y="195894"/>
                  </a:lnTo>
                  <a:lnTo>
                    <a:pt x="1224193" y="163245"/>
                  </a:lnTo>
                  <a:lnTo>
                    <a:pt x="1275201" y="130596"/>
                  </a:lnTo>
                  <a:lnTo>
                    <a:pt x="1326209" y="97947"/>
                  </a:lnTo>
                  <a:lnTo>
                    <a:pt x="1377217" y="65298"/>
                  </a:lnTo>
                  <a:lnTo>
                    <a:pt x="1428225" y="32649"/>
                  </a:lnTo>
                  <a:lnTo>
                    <a:pt x="1479233" y="0"/>
                  </a:lnTo>
                </a:path>
              </a:pathLst>
            </a:custGeom>
            <a:ln w="32521" cap="flat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978522" y="2286738"/>
              <a:ext cx="1584827" cy="990087"/>
            </a:xfrm>
            <a:custGeom>
              <a:avLst/>
              <a:pathLst>
                <a:path w="1584827" h="990087">
                  <a:moveTo>
                    <a:pt x="0" y="990087"/>
                  </a:moveTo>
                  <a:lnTo>
                    <a:pt x="54649" y="955946"/>
                  </a:lnTo>
                  <a:lnTo>
                    <a:pt x="109298" y="921805"/>
                  </a:lnTo>
                  <a:lnTo>
                    <a:pt x="163947" y="887664"/>
                  </a:lnTo>
                  <a:lnTo>
                    <a:pt x="218596" y="853523"/>
                  </a:lnTo>
                  <a:lnTo>
                    <a:pt x="273246" y="819382"/>
                  </a:lnTo>
                  <a:lnTo>
                    <a:pt x="327895" y="785241"/>
                  </a:lnTo>
                  <a:lnTo>
                    <a:pt x="382544" y="751100"/>
                  </a:lnTo>
                  <a:lnTo>
                    <a:pt x="437193" y="716959"/>
                  </a:lnTo>
                  <a:lnTo>
                    <a:pt x="491843" y="682818"/>
                  </a:lnTo>
                  <a:lnTo>
                    <a:pt x="546492" y="648677"/>
                  </a:lnTo>
                  <a:lnTo>
                    <a:pt x="601141" y="614536"/>
                  </a:lnTo>
                  <a:lnTo>
                    <a:pt x="655790" y="580395"/>
                  </a:lnTo>
                  <a:lnTo>
                    <a:pt x="710440" y="546255"/>
                  </a:lnTo>
                  <a:lnTo>
                    <a:pt x="765089" y="512114"/>
                  </a:lnTo>
                  <a:lnTo>
                    <a:pt x="819738" y="477973"/>
                  </a:lnTo>
                  <a:lnTo>
                    <a:pt x="874387" y="443832"/>
                  </a:lnTo>
                  <a:lnTo>
                    <a:pt x="929037" y="409691"/>
                  </a:lnTo>
                  <a:lnTo>
                    <a:pt x="983686" y="375550"/>
                  </a:lnTo>
                  <a:lnTo>
                    <a:pt x="1038335" y="341409"/>
                  </a:lnTo>
                  <a:lnTo>
                    <a:pt x="1092984" y="307268"/>
                  </a:lnTo>
                  <a:lnTo>
                    <a:pt x="1147634" y="273127"/>
                  </a:lnTo>
                  <a:lnTo>
                    <a:pt x="1202283" y="238986"/>
                  </a:lnTo>
                  <a:lnTo>
                    <a:pt x="1256932" y="204845"/>
                  </a:lnTo>
                  <a:lnTo>
                    <a:pt x="1311581" y="170704"/>
                  </a:lnTo>
                  <a:lnTo>
                    <a:pt x="1366230" y="136563"/>
                  </a:lnTo>
                  <a:lnTo>
                    <a:pt x="1420880" y="102422"/>
                  </a:lnTo>
                  <a:lnTo>
                    <a:pt x="1475529" y="68281"/>
                  </a:lnTo>
                  <a:lnTo>
                    <a:pt x="1530178" y="34140"/>
                  </a:lnTo>
                  <a:lnTo>
                    <a:pt x="1584827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024432" y="2308383"/>
              <a:ext cx="1534326" cy="968632"/>
            </a:xfrm>
            <a:custGeom>
              <a:avLst/>
              <a:pathLst>
                <a:path w="1534326" h="968632">
                  <a:moveTo>
                    <a:pt x="0" y="968632"/>
                  </a:moveTo>
                  <a:lnTo>
                    <a:pt x="52907" y="935231"/>
                  </a:lnTo>
                  <a:lnTo>
                    <a:pt x="105815" y="901830"/>
                  </a:lnTo>
                  <a:lnTo>
                    <a:pt x="158723" y="868429"/>
                  </a:lnTo>
                  <a:lnTo>
                    <a:pt x="211631" y="835028"/>
                  </a:lnTo>
                  <a:lnTo>
                    <a:pt x="264539" y="801627"/>
                  </a:lnTo>
                  <a:lnTo>
                    <a:pt x="317446" y="768226"/>
                  </a:lnTo>
                  <a:lnTo>
                    <a:pt x="370354" y="734825"/>
                  </a:lnTo>
                  <a:lnTo>
                    <a:pt x="423262" y="701423"/>
                  </a:lnTo>
                  <a:lnTo>
                    <a:pt x="476170" y="668022"/>
                  </a:lnTo>
                  <a:lnTo>
                    <a:pt x="529078" y="634621"/>
                  </a:lnTo>
                  <a:lnTo>
                    <a:pt x="581985" y="601220"/>
                  </a:lnTo>
                  <a:lnTo>
                    <a:pt x="634893" y="567819"/>
                  </a:lnTo>
                  <a:lnTo>
                    <a:pt x="687801" y="534418"/>
                  </a:lnTo>
                  <a:lnTo>
                    <a:pt x="740709" y="501017"/>
                  </a:lnTo>
                  <a:lnTo>
                    <a:pt x="793617" y="467615"/>
                  </a:lnTo>
                  <a:lnTo>
                    <a:pt x="846524" y="434214"/>
                  </a:lnTo>
                  <a:lnTo>
                    <a:pt x="899432" y="400813"/>
                  </a:lnTo>
                  <a:lnTo>
                    <a:pt x="952340" y="367412"/>
                  </a:lnTo>
                  <a:lnTo>
                    <a:pt x="1005248" y="334011"/>
                  </a:lnTo>
                  <a:lnTo>
                    <a:pt x="1058156" y="300610"/>
                  </a:lnTo>
                  <a:lnTo>
                    <a:pt x="1111063" y="267209"/>
                  </a:lnTo>
                  <a:lnTo>
                    <a:pt x="1163971" y="233807"/>
                  </a:lnTo>
                  <a:lnTo>
                    <a:pt x="1216879" y="200406"/>
                  </a:lnTo>
                  <a:lnTo>
                    <a:pt x="1269787" y="167005"/>
                  </a:lnTo>
                  <a:lnTo>
                    <a:pt x="1322695" y="133604"/>
                  </a:lnTo>
                  <a:lnTo>
                    <a:pt x="1375603" y="100203"/>
                  </a:lnTo>
                  <a:lnTo>
                    <a:pt x="1428510" y="66802"/>
                  </a:lnTo>
                  <a:lnTo>
                    <a:pt x="1481418" y="33401"/>
                  </a:lnTo>
                  <a:lnTo>
                    <a:pt x="1534326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2383288" y="3931158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315482" y="3472054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2315482" y="3012652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315482" y="2553726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315482" y="2094503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315482" y="1635636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485515" y="404320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2910716" y="404320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3369820" y="4042910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828924" y="4043088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288029" y="4042969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747133" y="404320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3438467" y="4163928"/>
              <a:ext cx="457423" cy="141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34" name="tx34"/>
            <p:cNvSpPr/>
            <p:nvPr/>
          </p:nvSpPr>
          <p:spPr>
            <a:xfrm rot="-5400000">
              <a:off x="1484419" y="2770948"/>
              <a:ext cx="1406202" cy="1125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Predicted true colour</a:t>
              </a:r>
            </a:p>
          </p:txBody>
        </p:sp>
        <p:sp>
          <p:nvSpPr>
            <p:cNvPr id="35" name="pl35"/>
            <p:cNvSpPr/>
            <p:nvPr/>
          </p:nvSpPr>
          <p:spPr>
            <a:xfrm>
              <a:off x="2421968" y="46762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57573" y="46762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693178" y="46762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328784" y="46762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2695393" y="460896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330999" y="4608901"/>
              <a:ext cx="264318" cy="111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6 sq.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966604" y="4609020"/>
              <a:ext cx="264318" cy="1109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8 sq.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602210" y="460896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12 sq.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519418" y="1402443"/>
              <a:ext cx="3881170" cy="164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Regression lines: true colour on report (experience)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629400" y="1371600"/>
            <a:ext cx="5010912" cy="1828800"/>
            <a:chOff x="6629400" y="1371600"/>
            <a:chExt cx="5010912" cy="1828800"/>
          </a:xfrm>
        </p:grpSpPr>
        <p:sp>
          <p:nvSpPr>
            <p:cNvPr id="3" name="rc3"/>
            <p:cNvSpPr/>
            <p:nvPr/>
          </p:nvSpPr>
          <p:spPr>
            <a:xfrm>
              <a:off x="6629400" y="1371600"/>
              <a:ext cx="5010912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7124106" y="2934428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7124106" y="2694914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7124106" y="2455399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7124106" y="2215885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124106" y="1976371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124106" y="1736857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758433" y="1679481"/>
              <a:ext cx="0" cy="1262260"/>
            </a:xfrm>
            <a:custGeom>
              <a:avLst/>
              <a:pathLst>
                <a:path w="0" h="1262260">
                  <a:moveTo>
                    <a:pt x="0" y="12622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815645" y="1679481"/>
              <a:ext cx="0" cy="1262260"/>
            </a:xfrm>
            <a:custGeom>
              <a:avLst/>
              <a:pathLst>
                <a:path w="0" h="1262260">
                  <a:moveTo>
                    <a:pt x="0" y="12622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872857" y="1679481"/>
              <a:ext cx="0" cy="1262260"/>
            </a:xfrm>
            <a:custGeom>
              <a:avLst/>
              <a:pathLst>
                <a:path w="0" h="1262260">
                  <a:moveTo>
                    <a:pt x="0" y="12622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930069" y="1679481"/>
              <a:ext cx="0" cy="1262260"/>
            </a:xfrm>
            <a:custGeom>
              <a:avLst/>
              <a:pathLst>
                <a:path w="0" h="1262260">
                  <a:moveTo>
                    <a:pt x="0" y="12622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124106" y="1736857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05572" y="2198392"/>
              <a:ext cx="105721" cy="0"/>
            </a:xfrm>
            <a:custGeom>
              <a:avLst/>
              <a:pathLst>
                <a:path w="105721" h="0">
                  <a:moveTo>
                    <a:pt x="0" y="0"/>
                  </a:moveTo>
                  <a:lnTo>
                    <a:pt x="105721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758433" y="2198392"/>
              <a:ext cx="0" cy="495998"/>
            </a:xfrm>
            <a:custGeom>
              <a:avLst/>
              <a:pathLst>
                <a:path w="0" h="495998">
                  <a:moveTo>
                    <a:pt x="0" y="0"/>
                  </a:moveTo>
                  <a:lnTo>
                    <a:pt x="0" y="495998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705572" y="2694391"/>
              <a:ext cx="105721" cy="0"/>
            </a:xfrm>
            <a:custGeom>
              <a:avLst/>
              <a:pathLst>
                <a:path w="105721" h="0">
                  <a:moveTo>
                    <a:pt x="0" y="0"/>
                  </a:moveTo>
                  <a:lnTo>
                    <a:pt x="105721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762784" y="2354541"/>
              <a:ext cx="105721" cy="0"/>
            </a:xfrm>
            <a:custGeom>
              <a:avLst/>
              <a:pathLst>
                <a:path w="105721" h="0">
                  <a:moveTo>
                    <a:pt x="0" y="0"/>
                  </a:moveTo>
                  <a:lnTo>
                    <a:pt x="105721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815645" y="2354541"/>
              <a:ext cx="0" cy="488766"/>
            </a:xfrm>
            <a:custGeom>
              <a:avLst/>
              <a:pathLst>
                <a:path w="0" h="488766">
                  <a:moveTo>
                    <a:pt x="0" y="0"/>
                  </a:moveTo>
                  <a:lnTo>
                    <a:pt x="0" y="488766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762784" y="2843307"/>
              <a:ext cx="105721" cy="0"/>
            </a:xfrm>
            <a:custGeom>
              <a:avLst/>
              <a:pathLst>
                <a:path w="105721" h="0">
                  <a:moveTo>
                    <a:pt x="0" y="0"/>
                  </a:moveTo>
                  <a:lnTo>
                    <a:pt x="105721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819996" y="2387004"/>
              <a:ext cx="105721" cy="0"/>
            </a:xfrm>
            <a:custGeom>
              <a:avLst/>
              <a:pathLst>
                <a:path w="105721" h="0">
                  <a:moveTo>
                    <a:pt x="0" y="0"/>
                  </a:moveTo>
                  <a:lnTo>
                    <a:pt x="105721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872857" y="2387004"/>
              <a:ext cx="0" cy="497361"/>
            </a:xfrm>
            <a:custGeom>
              <a:avLst/>
              <a:pathLst>
                <a:path w="0" h="497361">
                  <a:moveTo>
                    <a:pt x="0" y="0"/>
                  </a:moveTo>
                  <a:lnTo>
                    <a:pt x="0" y="497361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819996" y="2884366"/>
              <a:ext cx="105721" cy="0"/>
            </a:xfrm>
            <a:custGeom>
              <a:avLst/>
              <a:pathLst>
                <a:path w="105721" h="0">
                  <a:moveTo>
                    <a:pt x="0" y="0"/>
                  </a:moveTo>
                  <a:lnTo>
                    <a:pt x="105721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0877208" y="2376828"/>
              <a:ext cx="105721" cy="0"/>
            </a:xfrm>
            <a:custGeom>
              <a:avLst/>
              <a:pathLst>
                <a:path w="105721" h="0">
                  <a:moveTo>
                    <a:pt x="0" y="0"/>
                  </a:moveTo>
                  <a:lnTo>
                    <a:pt x="105721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0930069" y="2376828"/>
              <a:ext cx="0" cy="486196"/>
            </a:xfrm>
            <a:custGeom>
              <a:avLst/>
              <a:pathLst>
                <a:path w="0" h="486196">
                  <a:moveTo>
                    <a:pt x="0" y="0"/>
                  </a:moveTo>
                  <a:lnTo>
                    <a:pt x="0" y="486196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0877208" y="2863024"/>
              <a:ext cx="105721" cy="0"/>
            </a:xfrm>
            <a:custGeom>
              <a:avLst/>
              <a:pathLst>
                <a:path w="105721" h="0">
                  <a:moveTo>
                    <a:pt x="0" y="0"/>
                  </a:moveTo>
                  <a:lnTo>
                    <a:pt x="105721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7758433" y="2446392"/>
              <a:ext cx="3171636" cy="189293"/>
            </a:xfrm>
            <a:custGeom>
              <a:avLst/>
              <a:pathLst>
                <a:path w="3171636" h="189293">
                  <a:moveTo>
                    <a:pt x="0" y="0"/>
                  </a:moveTo>
                  <a:lnTo>
                    <a:pt x="1057212" y="152532"/>
                  </a:lnTo>
                  <a:lnTo>
                    <a:pt x="2114424" y="189293"/>
                  </a:lnTo>
                  <a:lnTo>
                    <a:pt x="3171636" y="173534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7721411" y="2409370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8778623" y="2561902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9835835" y="2598664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10893047" y="2582904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6886296" y="2890583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86296" y="2650712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0.6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886296" y="2411555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0.7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886296" y="2171683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0.8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6886296" y="1932348"/>
              <a:ext cx="169485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0.9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886296" y="1693012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626273" y="298655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683485" y="2986491"/>
              <a:ext cx="264318" cy="111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6 sq.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9740698" y="2986610"/>
              <a:ext cx="264318" cy="1109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8 sq.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0764007" y="298655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12 sq.</a:t>
              </a:r>
            </a:p>
          </p:txBody>
        </p:sp>
        <p:sp>
          <p:nvSpPr>
            <p:cNvPr id="42" name="tx42"/>
            <p:cNvSpPr/>
            <p:nvPr/>
          </p:nvSpPr>
          <p:spPr>
            <a:xfrm rot="-5400000">
              <a:off x="6225902" y="2238578"/>
              <a:ext cx="1033388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Slope (95% CI)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124106" y="1404589"/>
              <a:ext cx="2722664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Reverse slope per level (experience)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629400" y="3246120"/>
            <a:ext cx="5010912" cy="3108960"/>
            <a:chOff x="6629400" y="3246120"/>
            <a:chExt cx="5010912" cy="3108960"/>
          </a:xfrm>
        </p:grpSpPr>
        <p:sp>
          <p:nvSpPr>
            <p:cNvPr id="3" name="rc3"/>
            <p:cNvSpPr/>
            <p:nvPr/>
          </p:nvSpPr>
          <p:spPr>
            <a:xfrm>
              <a:off x="6629400" y="3246120"/>
              <a:ext cx="5010912" cy="31089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7090232" y="5992925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7090232" y="5578942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7090232" y="5164959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7090232" y="4750975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090232" y="4336992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090232" y="3923009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222592" y="5305713"/>
              <a:ext cx="661797" cy="314627"/>
            </a:xfrm>
            <a:custGeom>
              <a:avLst/>
              <a:pathLst>
                <a:path w="661797" h="314627">
                  <a:moveTo>
                    <a:pt x="0" y="314627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222592" y="5380822"/>
              <a:ext cx="661797" cy="198120"/>
            </a:xfrm>
            <a:custGeom>
              <a:avLst/>
              <a:pathLst>
                <a:path w="661797" h="198120">
                  <a:moveTo>
                    <a:pt x="0" y="198120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222592" y="5324638"/>
              <a:ext cx="661797" cy="212905"/>
            </a:xfrm>
            <a:custGeom>
              <a:avLst/>
              <a:pathLst>
                <a:path w="661797" h="212905">
                  <a:moveTo>
                    <a:pt x="0" y="212905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222592" y="5182208"/>
              <a:ext cx="661797" cy="313937"/>
            </a:xfrm>
            <a:custGeom>
              <a:avLst/>
              <a:pathLst>
                <a:path w="661797" h="313937">
                  <a:moveTo>
                    <a:pt x="0" y="313937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222592" y="5256627"/>
              <a:ext cx="661797" cy="198120"/>
            </a:xfrm>
            <a:custGeom>
              <a:avLst/>
              <a:pathLst>
                <a:path w="661797" h="198120">
                  <a:moveTo>
                    <a:pt x="0" y="198120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222592" y="5133910"/>
              <a:ext cx="661797" cy="279438"/>
            </a:xfrm>
            <a:custGeom>
              <a:avLst/>
              <a:pathLst>
                <a:path w="661797" h="279438">
                  <a:moveTo>
                    <a:pt x="0" y="279438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222592" y="5193185"/>
              <a:ext cx="661797" cy="178765"/>
            </a:xfrm>
            <a:custGeom>
              <a:avLst/>
              <a:pathLst>
                <a:path w="661797" h="178765">
                  <a:moveTo>
                    <a:pt x="0" y="178765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222592" y="5190586"/>
              <a:ext cx="661797" cy="139965"/>
            </a:xfrm>
            <a:custGeom>
              <a:avLst/>
              <a:pathLst>
                <a:path w="661797" h="139965">
                  <a:moveTo>
                    <a:pt x="0" y="139965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222592" y="5177378"/>
              <a:ext cx="661797" cy="111775"/>
            </a:xfrm>
            <a:custGeom>
              <a:avLst/>
              <a:pathLst>
                <a:path w="661797" h="111775">
                  <a:moveTo>
                    <a:pt x="0" y="111775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222592" y="5114936"/>
              <a:ext cx="661797" cy="132819"/>
            </a:xfrm>
            <a:custGeom>
              <a:avLst/>
              <a:pathLst>
                <a:path w="661797" h="132819">
                  <a:moveTo>
                    <a:pt x="0" y="132819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222592" y="5109378"/>
              <a:ext cx="661797" cy="96979"/>
            </a:xfrm>
            <a:custGeom>
              <a:avLst/>
              <a:pathLst>
                <a:path w="661797" h="96979">
                  <a:moveTo>
                    <a:pt x="0" y="96979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222592" y="4948193"/>
              <a:ext cx="661797" cy="216766"/>
            </a:xfrm>
            <a:custGeom>
              <a:avLst/>
              <a:pathLst>
                <a:path w="661797" h="216766">
                  <a:moveTo>
                    <a:pt x="0" y="216766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222592" y="4990002"/>
              <a:ext cx="661797" cy="133558"/>
            </a:xfrm>
            <a:custGeom>
              <a:avLst/>
              <a:pathLst>
                <a:path w="661797" h="133558">
                  <a:moveTo>
                    <a:pt x="0" y="133558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222592" y="5057748"/>
              <a:ext cx="661797" cy="24414"/>
            </a:xfrm>
            <a:custGeom>
              <a:avLst/>
              <a:pathLst>
                <a:path w="661797" h="24414">
                  <a:moveTo>
                    <a:pt x="0" y="24414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222592" y="4993527"/>
              <a:ext cx="661797" cy="47236"/>
            </a:xfrm>
            <a:custGeom>
              <a:avLst/>
              <a:pathLst>
                <a:path w="661797" h="47236">
                  <a:moveTo>
                    <a:pt x="0" y="47236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222592" y="4836957"/>
              <a:ext cx="661797" cy="162408"/>
            </a:xfrm>
            <a:custGeom>
              <a:avLst/>
              <a:pathLst>
                <a:path w="661797" h="162408">
                  <a:moveTo>
                    <a:pt x="0" y="162408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7222592" y="4838947"/>
              <a:ext cx="661797" cy="119020"/>
            </a:xfrm>
            <a:custGeom>
              <a:avLst/>
              <a:pathLst>
                <a:path w="661797" h="119020">
                  <a:moveTo>
                    <a:pt x="0" y="119020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7222592" y="4864821"/>
              <a:ext cx="661797" cy="51747"/>
            </a:xfrm>
            <a:custGeom>
              <a:avLst/>
              <a:pathLst>
                <a:path w="661797" h="51747">
                  <a:moveTo>
                    <a:pt x="0" y="51747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222592" y="4752700"/>
              <a:ext cx="661797" cy="122470"/>
            </a:xfrm>
            <a:custGeom>
              <a:avLst/>
              <a:pathLst>
                <a:path w="661797" h="122470">
                  <a:moveTo>
                    <a:pt x="0" y="122470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222592" y="4777194"/>
              <a:ext cx="661797" cy="56577"/>
            </a:xfrm>
            <a:custGeom>
              <a:avLst/>
              <a:pathLst>
                <a:path w="661797" h="56577">
                  <a:moveTo>
                    <a:pt x="0" y="56577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222592" y="4779202"/>
              <a:ext cx="661797" cy="13172"/>
            </a:xfrm>
            <a:custGeom>
              <a:avLst/>
              <a:pathLst>
                <a:path w="661797" h="13172">
                  <a:moveTo>
                    <a:pt x="0" y="13172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222592" y="4750975"/>
              <a:ext cx="661797" cy="31738"/>
            </a:xfrm>
            <a:custGeom>
              <a:avLst/>
              <a:pathLst>
                <a:path w="661797" h="31738">
                  <a:moveTo>
                    <a:pt x="0" y="0"/>
                  </a:moveTo>
                  <a:lnTo>
                    <a:pt x="661797" y="3173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7222592" y="4709577"/>
              <a:ext cx="661797" cy="36223"/>
            </a:xfrm>
            <a:custGeom>
              <a:avLst/>
              <a:pathLst>
                <a:path w="661797" h="36223">
                  <a:moveTo>
                    <a:pt x="0" y="0"/>
                  </a:moveTo>
                  <a:lnTo>
                    <a:pt x="661797" y="3622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7222592" y="4668179"/>
              <a:ext cx="661797" cy="17249"/>
            </a:xfrm>
            <a:custGeom>
              <a:avLst/>
              <a:pathLst>
                <a:path w="661797" h="17249">
                  <a:moveTo>
                    <a:pt x="0" y="0"/>
                  </a:moveTo>
                  <a:lnTo>
                    <a:pt x="661797" y="17249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7222592" y="4626780"/>
              <a:ext cx="661797" cy="98321"/>
            </a:xfrm>
            <a:custGeom>
              <a:avLst/>
              <a:pathLst>
                <a:path w="661797" h="98321">
                  <a:moveTo>
                    <a:pt x="0" y="0"/>
                  </a:moveTo>
                  <a:lnTo>
                    <a:pt x="661797" y="98321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7222592" y="4585382"/>
              <a:ext cx="661797" cy="117295"/>
            </a:xfrm>
            <a:custGeom>
              <a:avLst/>
              <a:pathLst>
                <a:path w="661797" h="117295">
                  <a:moveTo>
                    <a:pt x="0" y="0"/>
                  </a:moveTo>
                  <a:lnTo>
                    <a:pt x="661797" y="117295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7222592" y="4543984"/>
              <a:ext cx="661797" cy="147999"/>
            </a:xfrm>
            <a:custGeom>
              <a:avLst/>
              <a:pathLst>
                <a:path w="661797" h="147999">
                  <a:moveTo>
                    <a:pt x="0" y="0"/>
                  </a:moveTo>
                  <a:lnTo>
                    <a:pt x="661797" y="147999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7222592" y="4502585"/>
              <a:ext cx="661797" cy="140754"/>
            </a:xfrm>
            <a:custGeom>
              <a:avLst/>
              <a:pathLst>
                <a:path w="661797" h="140754">
                  <a:moveTo>
                    <a:pt x="0" y="0"/>
                  </a:moveTo>
                  <a:lnTo>
                    <a:pt x="661797" y="140754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7222592" y="4378390"/>
              <a:ext cx="661797" cy="238040"/>
            </a:xfrm>
            <a:custGeom>
              <a:avLst/>
              <a:pathLst>
                <a:path w="661797" h="238040">
                  <a:moveTo>
                    <a:pt x="0" y="0"/>
                  </a:moveTo>
                  <a:lnTo>
                    <a:pt x="661797" y="23804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7207251" y="560500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7207251" y="556360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7207251" y="552220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7207251" y="548080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7207251" y="543940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7207251" y="539800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7207251" y="535661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7207251" y="531521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7207251" y="527381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7207251" y="523241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7207251" y="519101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7207251" y="514961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7207251" y="510822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7207251" y="506682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7207251" y="502542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7207251" y="498402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7207251" y="494262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7207251" y="490122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7207251" y="485983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7207251" y="481843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7207251" y="477703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7207251" y="473563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7207251" y="469423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7207251" y="465283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7207251" y="461144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7207251" y="457004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7207251" y="452864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7207251" y="448724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7207251" y="436305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7869049" y="529037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7869049" y="536548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7869049" y="530929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7869049" y="516686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7869049" y="524128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7869049" y="511857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7869049" y="517784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7869049" y="517524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7869049" y="516203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7869049" y="509959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7869049" y="509403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7869049" y="493285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7869049" y="497466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7869049" y="504240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7869049" y="497818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7869049" y="482161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7869049" y="482360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7869049" y="484948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7869049" y="473736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869049" y="476185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7869049" y="476386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7869049" y="476737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7869049" y="473046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7869049" y="467008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7869049" y="470976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7869049" y="468733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7869049" y="467664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7869049" y="462799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7869049" y="460109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8272781" y="5992925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8272781" y="5578942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8272781" y="5164959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272781" y="4750975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8272781" y="4336992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8272781" y="3923009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8405141" y="5239476"/>
              <a:ext cx="661797" cy="298068"/>
            </a:xfrm>
            <a:custGeom>
              <a:avLst/>
              <a:pathLst>
                <a:path w="661797" h="298068">
                  <a:moveTo>
                    <a:pt x="0" y="298068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8405141" y="5235927"/>
              <a:ext cx="661797" cy="260218"/>
            </a:xfrm>
            <a:custGeom>
              <a:avLst/>
              <a:pathLst>
                <a:path w="661797" h="260218">
                  <a:moveTo>
                    <a:pt x="0" y="260218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8405141" y="5257722"/>
              <a:ext cx="661797" cy="155627"/>
            </a:xfrm>
            <a:custGeom>
              <a:avLst/>
              <a:pathLst>
                <a:path w="661797" h="155627">
                  <a:moveTo>
                    <a:pt x="0" y="155627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8405141" y="5175308"/>
              <a:ext cx="661797" cy="196642"/>
            </a:xfrm>
            <a:custGeom>
              <a:avLst/>
              <a:pathLst>
                <a:path w="661797" h="196642">
                  <a:moveTo>
                    <a:pt x="0" y="196642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8405141" y="5141960"/>
              <a:ext cx="661797" cy="188592"/>
            </a:xfrm>
            <a:custGeom>
              <a:avLst/>
              <a:pathLst>
                <a:path w="661797" h="188592">
                  <a:moveTo>
                    <a:pt x="0" y="188592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8405141" y="5169099"/>
              <a:ext cx="661797" cy="120055"/>
            </a:xfrm>
            <a:custGeom>
              <a:avLst/>
              <a:pathLst>
                <a:path w="661797" h="120055">
                  <a:moveTo>
                    <a:pt x="0" y="120055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8405141" y="5075262"/>
              <a:ext cx="661797" cy="172493"/>
            </a:xfrm>
            <a:custGeom>
              <a:avLst/>
              <a:pathLst>
                <a:path w="661797" h="172493">
                  <a:moveTo>
                    <a:pt x="0" y="172493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8405141" y="5144260"/>
              <a:ext cx="661797" cy="62097"/>
            </a:xfrm>
            <a:custGeom>
              <a:avLst/>
              <a:pathLst>
                <a:path w="661797" h="62097">
                  <a:moveTo>
                    <a:pt x="0" y="62097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8405141" y="5164959"/>
              <a:ext cx="661797" cy="24839"/>
            </a:xfrm>
            <a:custGeom>
              <a:avLst/>
              <a:pathLst>
                <a:path w="661797" h="24839">
                  <a:moveTo>
                    <a:pt x="0" y="0"/>
                  </a:moveTo>
                  <a:lnTo>
                    <a:pt x="661797" y="24839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8405141" y="5116395"/>
              <a:ext cx="661797" cy="7165"/>
            </a:xfrm>
            <a:custGeom>
              <a:avLst/>
              <a:pathLst>
                <a:path w="661797" h="7165">
                  <a:moveTo>
                    <a:pt x="0" y="7165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8405141" y="5082162"/>
              <a:ext cx="661797" cy="24888"/>
            </a:xfrm>
            <a:custGeom>
              <a:avLst/>
              <a:pathLst>
                <a:path w="661797" h="24888">
                  <a:moveTo>
                    <a:pt x="0" y="0"/>
                  </a:moveTo>
                  <a:lnTo>
                    <a:pt x="661797" y="2488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8405141" y="4941408"/>
              <a:ext cx="661797" cy="99356"/>
            </a:xfrm>
            <a:custGeom>
              <a:avLst/>
              <a:pathLst>
                <a:path w="661797" h="99356">
                  <a:moveTo>
                    <a:pt x="0" y="99356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8405141" y="4979294"/>
              <a:ext cx="661797" cy="20071"/>
            </a:xfrm>
            <a:custGeom>
              <a:avLst/>
              <a:pathLst>
                <a:path w="661797" h="20071">
                  <a:moveTo>
                    <a:pt x="0" y="20071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8405141" y="4941868"/>
              <a:ext cx="661797" cy="16099"/>
            </a:xfrm>
            <a:custGeom>
              <a:avLst/>
              <a:pathLst>
                <a:path w="661797" h="16099">
                  <a:moveTo>
                    <a:pt x="0" y="16099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8405141" y="4864082"/>
              <a:ext cx="661797" cy="52487"/>
            </a:xfrm>
            <a:custGeom>
              <a:avLst/>
              <a:pathLst>
                <a:path w="661797" h="52487">
                  <a:moveTo>
                    <a:pt x="0" y="52487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8405141" y="4875170"/>
              <a:ext cx="661797" cy="84768"/>
            </a:xfrm>
            <a:custGeom>
              <a:avLst/>
              <a:pathLst>
                <a:path w="661797" h="84768">
                  <a:moveTo>
                    <a:pt x="0" y="0"/>
                  </a:moveTo>
                  <a:lnTo>
                    <a:pt x="661797" y="8476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8405141" y="4833772"/>
              <a:ext cx="661797" cy="62097"/>
            </a:xfrm>
            <a:custGeom>
              <a:avLst/>
              <a:pathLst>
                <a:path w="661797" h="62097">
                  <a:moveTo>
                    <a:pt x="0" y="0"/>
                  </a:moveTo>
                  <a:lnTo>
                    <a:pt x="661797" y="62097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8405141" y="4774632"/>
              <a:ext cx="661797" cy="17742"/>
            </a:xfrm>
            <a:custGeom>
              <a:avLst/>
              <a:pathLst>
                <a:path w="661797" h="17742">
                  <a:moveTo>
                    <a:pt x="0" y="17742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8405141" y="4750975"/>
              <a:ext cx="661797" cy="59974"/>
            </a:xfrm>
            <a:custGeom>
              <a:avLst/>
              <a:pathLst>
                <a:path w="661797" h="59974">
                  <a:moveTo>
                    <a:pt x="0" y="0"/>
                  </a:moveTo>
                  <a:lnTo>
                    <a:pt x="661797" y="59974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8405141" y="4709577"/>
              <a:ext cx="661797" cy="52897"/>
            </a:xfrm>
            <a:custGeom>
              <a:avLst/>
              <a:pathLst>
                <a:path w="661797" h="52897">
                  <a:moveTo>
                    <a:pt x="0" y="0"/>
                  </a:moveTo>
                  <a:lnTo>
                    <a:pt x="661797" y="52897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8405141" y="4668179"/>
              <a:ext cx="661797" cy="104974"/>
            </a:xfrm>
            <a:custGeom>
              <a:avLst/>
              <a:pathLst>
                <a:path w="661797" h="104974">
                  <a:moveTo>
                    <a:pt x="0" y="0"/>
                  </a:moveTo>
                  <a:lnTo>
                    <a:pt x="661797" y="104974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8405141" y="4626780"/>
              <a:ext cx="661797" cy="156811"/>
            </a:xfrm>
            <a:custGeom>
              <a:avLst/>
              <a:pathLst>
                <a:path w="661797" h="156811">
                  <a:moveTo>
                    <a:pt x="0" y="0"/>
                  </a:moveTo>
                  <a:lnTo>
                    <a:pt x="661797" y="156811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8405141" y="4585382"/>
              <a:ext cx="661797" cy="91229"/>
            </a:xfrm>
            <a:custGeom>
              <a:avLst/>
              <a:pathLst>
                <a:path w="661797" h="91229">
                  <a:moveTo>
                    <a:pt x="0" y="0"/>
                  </a:moveTo>
                  <a:lnTo>
                    <a:pt x="661797" y="91229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8405141" y="4543984"/>
              <a:ext cx="661797" cy="174217"/>
            </a:xfrm>
            <a:custGeom>
              <a:avLst/>
              <a:pathLst>
                <a:path w="661797" h="174217">
                  <a:moveTo>
                    <a:pt x="0" y="0"/>
                  </a:moveTo>
                  <a:lnTo>
                    <a:pt x="661797" y="174217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8405141" y="4502585"/>
              <a:ext cx="661797" cy="256669"/>
            </a:xfrm>
            <a:custGeom>
              <a:avLst/>
              <a:pathLst>
                <a:path w="661797" h="256669">
                  <a:moveTo>
                    <a:pt x="0" y="0"/>
                  </a:moveTo>
                  <a:lnTo>
                    <a:pt x="661797" y="256669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8405141" y="4461187"/>
              <a:ext cx="661797" cy="193192"/>
            </a:xfrm>
            <a:custGeom>
              <a:avLst/>
              <a:pathLst>
                <a:path w="661797" h="193192">
                  <a:moveTo>
                    <a:pt x="0" y="0"/>
                  </a:moveTo>
                  <a:lnTo>
                    <a:pt x="661797" y="193192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8405141" y="4419789"/>
              <a:ext cx="661797" cy="242475"/>
            </a:xfrm>
            <a:custGeom>
              <a:avLst/>
              <a:pathLst>
                <a:path w="661797" h="242475">
                  <a:moveTo>
                    <a:pt x="0" y="0"/>
                  </a:moveTo>
                  <a:lnTo>
                    <a:pt x="661797" y="242475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8405141" y="4336992"/>
              <a:ext cx="661797" cy="258739"/>
            </a:xfrm>
            <a:custGeom>
              <a:avLst/>
              <a:pathLst>
                <a:path w="661797" h="258739">
                  <a:moveTo>
                    <a:pt x="0" y="0"/>
                  </a:moveTo>
                  <a:lnTo>
                    <a:pt x="661797" y="258739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8389800" y="552220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8389800" y="548080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8389800" y="539800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8389800" y="535661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8389800" y="531521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8389800" y="527381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8389800" y="523241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8389800" y="519101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8389800" y="514961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8389800" y="510822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8389800" y="506682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8389800" y="502542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8389800" y="498402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8389800" y="494262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8389800" y="490122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8389800" y="485983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8389800" y="481843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8389800" y="477703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8389800" y="473563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8389800" y="469423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8389800" y="465283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8389800" y="461144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8389800" y="457004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8389800" y="452864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8389800" y="448724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8389800" y="444584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8389800" y="440444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8389800" y="432165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9051598" y="522413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9051598" y="522058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9051598" y="524238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9051598" y="515996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9051598" y="512661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9051598" y="515375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9051598" y="505992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9051598" y="512891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9051598" y="517445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9051598" y="510105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9051598" y="509171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9051598" y="492606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9051598" y="496395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9051598" y="492652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9051598" y="484874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9051598" y="494459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9051598" y="488052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9051598" y="475929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9051598" y="479560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9051598" y="474713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9051598" y="475781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9051598" y="476825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9051598" y="466127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9051598" y="470286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9051598" y="474391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9051598" y="463903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9051598" y="464692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9051598" y="458039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9455330" y="5992925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9455330" y="5578942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9455330" y="5164959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9455330" y="4750975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9455330" y="4336992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9455330" y="3923009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9587690" y="5176787"/>
              <a:ext cx="661797" cy="402155"/>
            </a:xfrm>
            <a:custGeom>
              <a:avLst/>
              <a:pathLst>
                <a:path w="661797" h="402155">
                  <a:moveTo>
                    <a:pt x="0" y="402155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9587690" y="5275354"/>
              <a:ext cx="661797" cy="220791"/>
            </a:xfrm>
            <a:custGeom>
              <a:avLst/>
              <a:pathLst>
                <a:path w="661797" h="220791">
                  <a:moveTo>
                    <a:pt x="0" y="220791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9587690" y="5202414"/>
              <a:ext cx="661797" cy="210934"/>
            </a:xfrm>
            <a:custGeom>
              <a:avLst/>
              <a:pathLst>
                <a:path w="661797" h="210934">
                  <a:moveTo>
                    <a:pt x="0" y="210934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9587690" y="5216707"/>
              <a:ext cx="661797" cy="155243"/>
            </a:xfrm>
            <a:custGeom>
              <a:avLst/>
              <a:pathLst>
                <a:path w="661797" h="155243">
                  <a:moveTo>
                    <a:pt x="0" y="155243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9587690" y="5143110"/>
              <a:ext cx="661797" cy="187442"/>
            </a:xfrm>
            <a:custGeom>
              <a:avLst/>
              <a:pathLst>
                <a:path w="661797" h="187442">
                  <a:moveTo>
                    <a:pt x="0" y="187442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9587690" y="5138050"/>
              <a:ext cx="661797" cy="151103"/>
            </a:xfrm>
            <a:custGeom>
              <a:avLst/>
              <a:pathLst>
                <a:path w="661797" h="151103">
                  <a:moveTo>
                    <a:pt x="0" y="151103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9587690" y="5188615"/>
              <a:ext cx="661797" cy="59140"/>
            </a:xfrm>
            <a:custGeom>
              <a:avLst/>
              <a:pathLst>
                <a:path w="661797" h="59140">
                  <a:moveTo>
                    <a:pt x="0" y="59140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9587690" y="5198077"/>
              <a:ext cx="661797" cy="8279"/>
            </a:xfrm>
            <a:custGeom>
              <a:avLst/>
              <a:pathLst>
                <a:path w="661797" h="8279">
                  <a:moveTo>
                    <a:pt x="0" y="8279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9587690" y="5116086"/>
              <a:ext cx="661797" cy="48873"/>
            </a:xfrm>
            <a:custGeom>
              <a:avLst/>
              <a:pathLst>
                <a:path w="661797" h="48873">
                  <a:moveTo>
                    <a:pt x="0" y="48873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9587690" y="5063055"/>
              <a:ext cx="661797" cy="60505"/>
            </a:xfrm>
            <a:custGeom>
              <a:avLst/>
              <a:pathLst>
                <a:path w="661797" h="60505">
                  <a:moveTo>
                    <a:pt x="0" y="60505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9587690" y="5082162"/>
              <a:ext cx="661797" cy="50597"/>
            </a:xfrm>
            <a:custGeom>
              <a:avLst/>
              <a:pathLst>
                <a:path w="661797" h="50597">
                  <a:moveTo>
                    <a:pt x="0" y="0"/>
                  </a:moveTo>
                  <a:lnTo>
                    <a:pt x="661797" y="50597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9587690" y="4993527"/>
              <a:ext cx="661797" cy="47236"/>
            </a:xfrm>
            <a:custGeom>
              <a:avLst/>
              <a:pathLst>
                <a:path w="661797" h="47236">
                  <a:moveTo>
                    <a:pt x="0" y="47236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9587690" y="4986628"/>
              <a:ext cx="661797" cy="12737"/>
            </a:xfrm>
            <a:custGeom>
              <a:avLst/>
              <a:pathLst>
                <a:path w="661797" h="12737">
                  <a:moveTo>
                    <a:pt x="0" y="12737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9587690" y="4957967"/>
              <a:ext cx="661797" cy="22769"/>
            </a:xfrm>
            <a:custGeom>
              <a:avLst/>
              <a:pathLst>
                <a:path w="661797" h="22769">
                  <a:moveTo>
                    <a:pt x="0" y="0"/>
                  </a:moveTo>
                  <a:lnTo>
                    <a:pt x="661797" y="22769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9587690" y="4893047"/>
              <a:ext cx="661797" cy="23521"/>
            </a:xfrm>
            <a:custGeom>
              <a:avLst/>
              <a:pathLst>
                <a:path w="661797" h="23521">
                  <a:moveTo>
                    <a:pt x="0" y="23521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9587690" y="4844122"/>
              <a:ext cx="661797" cy="31048"/>
            </a:xfrm>
            <a:custGeom>
              <a:avLst/>
              <a:pathLst>
                <a:path w="661797" h="31048">
                  <a:moveTo>
                    <a:pt x="0" y="31048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9587690" y="4833772"/>
              <a:ext cx="661797" cy="88316"/>
            </a:xfrm>
            <a:custGeom>
              <a:avLst/>
              <a:pathLst>
                <a:path w="661797" h="88316">
                  <a:moveTo>
                    <a:pt x="0" y="0"/>
                  </a:moveTo>
                  <a:lnTo>
                    <a:pt x="661797" y="88316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9587690" y="4792374"/>
              <a:ext cx="661797" cy="78285"/>
            </a:xfrm>
            <a:custGeom>
              <a:avLst/>
              <a:pathLst>
                <a:path w="661797" h="78285">
                  <a:moveTo>
                    <a:pt x="0" y="0"/>
                  </a:moveTo>
                  <a:lnTo>
                    <a:pt x="661797" y="78285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9587690" y="4750975"/>
              <a:ext cx="661797" cy="65547"/>
            </a:xfrm>
            <a:custGeom>
              <a:avLst/>
              <a:pathLst>
                <a:path w="661797" h="65547">
                  <a:moveTo>
                    <a:pt x="0" y="0"/>
                  </a:moveTo>
                  <a:lnTo>
                    <a:pt x="661797" y="65547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9587690" y="4709577"/>
              <a:ext cx="661797" cy="171113"/>
            </a:xfrm>
            <a:custGeom>
              <a:avLst/>
              <a:pathLst>
                <a:path w="661797" h="171113">
                  <a:moveTo>
                    <a:pt x="0" y="0"/>
                  </a:moveTo>
                  <a:lnTo>
                    <a:pt x="661797" y="17111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9587690" y="4668179"/>
              <a:ext cx="661797" cy="77046"/>
            </a:xfrm>
            <a:custGeom>
              <a:avLst/>
              <a:pathLst>
                <a:path w="661797" h="77046">
                  <a:moveTo>
                    <a:pt x="0" y="0"/>
                  </a:moveTo>
                  <a:lnTo>
                    <a:pt x="661797" y="77046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9587690" y="4626780"/>
              <a:ext cx="661797" cy="154302"/>
            </a:xfrm>
            <a:custGeom>
              <a:avLst/>
              <a:pathLst>
                <a:path w="661797" h="154302">
                  <a:moveTo>
                    <a:pt x="0" y="0"/>
                  </a:moveTo>
                  <a:lnTo>
                    <a:pt x="661797" y="154302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9587690" y="4585382"/>
              <a:ext cx="661797" cy="127299"/>
            </a:xfrm>
            <a:custGeom>
              <a:avLst/>
              <a:pathLst>
                <a:path w="661797" h="127299">
                  <a:moveTo>
                    <a:pt x="0" y="0"/>
                  </a:moveTo>
                  <a:lnTo>
                    <a:pt x="661797" y="127299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9587690" y="4543984"/>
              <a:ext cx="661797" cy="172493"/>
            </a:xfrm>
            <a:custGeom>
              <a:avLst/>
              <a:pathLst>
                <a:path w="661797" h="172493">
                  <a:moveTo>
                    <a:pt x="0" y="0"/>
                  </a:moveTo>
                  <a:lnTo>
                    <a:pt x="661797" y="17249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9587690" y="4502585"/>
              <a:ext cx="661797" cy="204034"/>
            </a:xfrm>
            <a:custGeom>
              <a:avLst/>
              <a:pathLst>
                <a:path w="661797" h="204034">
                  <a:moveTo>
                    <a:pt x="0" y="0"/>
                  </a:moveTo>
                  <a:lnTo>
                    <a:pt x="661797" y="204034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9587690" y="4461187"/>
              <a:ext cx="661797" cy="266132"/>
            </a:xfrm>
            <a:custGeom>
              <a:avLst/>
              <a:pathLst>
                <a:path w="661797" h="266132">
                  <a:moveTo>
                    <a:pt x="0" y="0"/>
                  </a:moveTo>
                  <a:lnTo>
                    <a:pt x="661797" y="266132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9587690" y="4419789"/>
              <a:ext cx="661797" cy="239518"/>
            </a:xfrm>
            <a:custGeom>
              <a:avLst/>
              <a:pathLst>
                <a:path w="661797" h="239518">
                  <a:moveTo>
                    <a:pt x="0" y="0"/>
                  </a:moveTo>
                  <a:lnTo>
                    <a:pt x="661797" y="23951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9572349" y="556360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9572349" y="548080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9572349" y="539800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9572349" y="535661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9572349" y="531521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9572349" y="527381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9572349" y="523241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9572349" y="519101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9572349" y="514961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9572349" y="510822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9572349" y="506682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9572349" y="502542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9572349" y="498402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9572349" y="494262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9572349" y="490122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9572349" y="485983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9572349" y="481843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9572349" y="477703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9572349" y="473563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9572349" y="469423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9572349" y="465283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9572349" y="461144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9572349" y="457004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9572349" y="452864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9572349" y="448724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9572349" y="444584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9572349" y="440444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10234147" y="516144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10234147" y="526001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10234147" y="518707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10234147" y="520136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10234147" y="512776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10234147" y="512270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10234147" y="517327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10234147" y="518273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10234147" y="510074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10234147" y="504771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10234147" y="511742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10234147" y="497818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10234147" y="497128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10234147" y="496539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10234147" y="487770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10234147" y="482878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10234147" y="490674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10234147" y="485531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10234147" y="480118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10234147" y="486535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10234147" y="472988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10234147" y="476574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10234147" y="469734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10234147" y="470113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10234147" y="469128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10234147" y="471197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10234147" y="464396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10637879" y="5992925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10637879" y="5578942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10637879" y="5164959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10637879" y="4750975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10637879" y="4336992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10637879" y="3923009"/>
              <a:ext cx="926516" cy="0"/>
            </a:xfrm>
            <a:custGeom>
              <a:avLst/>
              <a:pathLst>
                <a:path w="926516" h="0">
                  <a:moveTo>
                    <a:pt x="0" y="0"/>
                  </a:moveTo>
                  <a:lnTo>
                    <a:pt x="926516" y="0"/>
                  </a:lnTo>
                  <a:lnTo>
                    <a:pt x="92651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10770239" y="5371950"/>
              <a:ext cx="661797" cy="165593"/>
            </a:xfrm>
            <a:custGeom>
              <a:avLst/>
              <a:pathLst>
                <a:path w="661797" h="165593">
                  <a:moveTo>
                    <a:pt x="0" y="165593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10770239" y="5247755"/>
              <a:ext cx="661797" cy="248390"/>
            </a:xfrm>
            <a:custGeom>
              <a:avLst/>
              <a:pathLst>
                <a:path w="661797" h="248390">
                  <a:moveTo>
                    <a:pt x="0" y="248390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10770239" y="5284225"/>
              <a:ext cx="661797" cy="170521"/>
            </a:xfrm>
            <a:custGeom>
              <a:avLst/>
              <a:pathLst>
                <a:path w="661797" h="170521">
                  <a:moveTo>
                    <a:pt x="0" y="170521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10770239" y="5290139"/>
              <a:ext cx="661797" cy="123209"/>
            </a:xfrm>
            <a:custGeom>
              <a:avLst/>
              <a:pathLst>
                <a:path w="661797" h="123209">
                  <a:moveTo>
                    <a:pt x="0" y="123209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10770239" y="5262935"/>
              <a:ext cx="661797" cy="109015"/>
            </a:xfrm>
            <a:custGeom>
              <a:avLst/>
              <a:pathLst>
                <a:path w="661797" h="109015">
                  <a:moveTo>
                    <a:pt x="0" y="109015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10770239" y="5098261"/>
              <a:ext cx="661797" cy="190892"/>
            </a:xfrm>
            <a:custGeom>
              <a:avLst/>
              <a:pathLst>
                <a:path w="661797" h="190892">
                  <a:moveTo>
                    <a:pt x="0" y="190892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10770239" y="5036821"/>
              <a:ext cx="661797" cy="210934"/>
            </a:xfrm>
            <a:custGeom>
              <a:avLst/>
              <a:pathLst>
                <a:path w="661797" h="210934">
                  <a:moveTo>
                    <a:pt x="0" y="210934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10770239" y="5206357"/>
              <a:ext cx="661797" cy="2759"/>
            </a:xfrm>
            <a:custGeom>
              <a:avLst/>
              <a:pathLst>
                <a:path w="661797" h="2759">
                  <a:moveTo>
                    <a:pt x="0" y="0"/>
                  </a:moveTo>
                  <a:lnTo>
                    <a:pt x="661797" y="2759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10770239" y="5089062"/>
              <a:ext cx="661797" cy="75896"/>
            </a:xfrm>
            <a:custGeom>
              <a:avLst/>
              <a:pathLst>
                <a:path w="661797" h="75896">
                  <a:moveTo>
                    <a:pt x="0" y="75896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10770239" y="5109268"/>
              <a:ext cx="661797" cy="14292"/>
            </a:xfrm>
            <a:custGeom>
              <a:avLst/>
              <a:pathLst>
                <a:path w="661797" h="14292">
                  <a:moveTo>
                    <a:pt x="0" y="14292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10770239" y="5073192"/>
              <a:ext cx="661797" cy="8969"/>
            </a:xfrm>
            <a:custGeom>
              <a:avLst/>
              <a:pathLst>
                <a:path w="661797" h="8969">
                  <a:moveTo>
                    <a:pt x="0" y="8969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10770239" y="5018915"/>
              <a:ext cx="661797" cy="21849"/>
            </a:xfrm>
            <a:custGeom>
              <a:avLst/>
              <a:pathLst>
                <a:path w="661797" h="21849">
                  <a:moveTo>
                    <a:pt x="0" y="21849"/>
                  </a:moveTo>
                  <a:lnTo>
                    <a:pt x="66179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10770239" y="4999365"/>
              <a:ext cx="661797" cy="30783"/>
            </a:xfrm>
            <a:custGeom>
              <a:avLst/>
              <a:pathLst>
                <a:path w="661797" h="30783">
                  <a:moveTo>
                    <a:pt x="0" y="0"/>
                  </a:moveTo>
                  <a:lnTo>
                    <a:pt x="661797" y="3078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10770239" y="4957967"/>
              <a:ext cx="661797" cy="56452"/>
            </a:xfrm>
            <a:custGeom>
              <a:avLst/>
              <a:pathLst>
                <a:path w="661797" h="56452">
                  <a:moveTo>
                    <a:pt x="0" y="0"/>
                  </a:moveTo>
                  <a:lnTo>
                    <a:pt x="661797" y="56452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10770239" y="4916569"/>
              <a:ext cx="661797" cy="24641"/>
            </a:xfrm>
            <a:custGeom>
              <a:avLst/>
              <a:pathLst>
                <a:path w="661797" h="24641">
                  <a:moveTo>
                    <a:pt x="0" y="0"/>
                  </a:moveTo>
                  <a:lnTo>
                    <a:pt x="661797" y="24641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10770239" y="4875170"/>
              <a:ext cx="661797" cy="98188"/>
            </a:xfrm>
            <a:custGeom>
              <a:avLst/>
              <a:pathLst>
                <a:path w="661797" h="98188">
                  <a:moveTo>
                    <a:pt x="0" y="0"/>
                  </a:moveTo>
                  <a:lnTo>
                    <a:pt x="661797" y="9818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10770239" y="4833772"/>
              <a:ext cx="661797" cy="108424"/>
            </a:xfrm>
            <a:custGeom>
              <a:avLst/>
              <a:pathLst>
                <a:path w="661797" h="108424">
                  <a:moveTo>
                    <a:pt x="0" y="0"/>
                  </a:moveTo>
                  <a:lnTo>
                    <a:pt x="661797" y="108424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10770239" y="4792374"/>
              <a:ext cx="661797" cy="51172"/>
            </a:xfrm>
            <a:custGeom>
              <a:avLst/>
              <a:pathLst>
                <a:path w="661797" h="51172">
                  <a:moveTo>
                    <a:pt x="0" y="0"/>
                  </a:moveTo>
                  <a:lnTo>
                    <a:pt x="661797" y="51172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10770239" y="4750975"/>
              <a:ext cx="661797" cy="143514"/>
            </a:xfrm>
            <a:custGeom>
              <a:avLst/>
              <a:pathLst>
                <a:path w="661797" h="143514">
                  <a:moveTo>
                    <a:pt x="0" y="0"/>
                  </a:moveTo>
                  <a:lnTo>
                    <a:pt x="661797" y="143514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10770239" y="4709577"/>
              <a:ext cx="661797" cy="109843"/>
            </a:xfrm>
            <a:custGeom>
              <a:avLst/>
              <a:pathLst>
                <a:path w="661797" h="109843">
                  <a:moveTo>
                    <a:pt x="0" y="0"/>
                  </a:moveTo>
                  <a:lnTo>
                    <a:pt x="661797" y="10984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10770239" y="4668179"/>
              <a:ext cx="661797" cy="165593"/>
            </a:xfrm>
            <a:custGeom>
              <a:avLst/>
              <a:pathLst>
                <a:path w="661797" h="165593">
                  <a:moveTo>
                    <a:pt x="0" y="0"/>
                  </a:moveTo>
                  <a:lnTo>
                    <a:pt x="661797" y="16559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10770239" y="4626780"/>
              <a:ext cx="661797" cy="132573"/>
            </a:xfrm>
            <a:custGeom>
              <a:avLst/>
              <a:pathLst>
                <a:path w="661797" h="132573">
                  <a:moveTo>
                    <a:pt x="0" y="0"/>
                  </a:moveTo>
                  <a:lnTo>
                    <a:pt x="661797" y="13257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10770239" y="4585382"/>
              <a:ext cx="661797" cy="205266"/>
            </a:xfrm>
            <a:custGeom>
              <a:avLst/>
              <a:pathLst>
                <a:path w="661797" h="205266">
                  <a:moveTo>
                    <a:pt x="0" y="0"/>
                  </a:moveTo>
                  <a:lnTo>
                    <a:pt x="661797" y="205266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10770239" y="4543984"/>
              <a:ext cx="661797" cy="243790"/>
            </a:xfrm>
            <a:custGeom>
              <a:avLst/>
              <a:pathLst>
                <a:path w="661797" h="243790">
                  <a:moveTo>
                    <a:pt x="0" y="0"/>
                  </a:moveTo>
                  <a:lnTo>
                    <a:pt x="661797" y="24379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10770239" y="4502585"/>
              <a:ext cx="661797" cy="176208"/>
            </a:xfrm>
            <a:custGeom>
              <a:avLst/>
              <a:pathLst>
                <a:path w="661797" h="176208">
                  <a:moveTo>
                    <a:pt x="0" y="0"/>
                  </a:moveTo>
                  <a:lnTo>
                    <a:pt x="661797" y="17620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10770239" y="4461187"/>
              <a:ext cx="661797" cy="234590"/>
            </a:xfrm>
            <a:custGeom>
              <a:avLst/>
              <a:pathLst>
                <a:path w="661797" h="234590">
                  <a:moveTo>
                    <a:pt x="0" y="0"/>
                  </a:moveTo>
                  <a:lnTo>
                    <a:pt x="661797" y="23459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10770239" y="4419789"/>
              <a:ext cx="661797" cy="267117"/>
            </a:xfrm>
            <a:custGeom>
              <a:avLst/>
              <a:pathLst>
                <a:path w="661797" h="267117">
                  <a:moveTo>
                    <a:pt x="0" y="0"/>
                  </a:moveTo>
                  <a:lnTo>
                    <a:pt x="661797" y="267117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10770239" y="4378390"/>
              <a:ext cx="661797" cy="330324"/>
            </a:xfrm>
            <a:custGeom>
              <a:avLst/>
              <a:pathLst>
                <a:path w="661797" h="330324">
                  <a:moveTo>
                    <a:pt x="0" y="0"/>
                  </a:moveTo>
                  <a:lnTo>
                    <a:pt x="661797" y="330324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10770239" y="4295594"/>
              <a:ext cx="661797" cy="293238"/>
            </a:xfrm>
            <a:custGeom>
              <a:avLst/>
              <a:pathLst>
                <a:path w="661797" h="293238">
                  <a:moveTo>
                    <a:pt x="0" y="0"/>
                  </a:moveTo>
                  <a:lnTo>
                    <a:pt x="661797" y="29323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10770239" y="4212797"/>
              <a:ext cx="661797" cy="427782"/>
            </a:xfrm>
            <a:custGeom>
              <a:avLst/>
              <a:pathLst>
                <a:path w="661797" h="427782">
                  <a:moveTo>
                    <a:pt x="0" y="0"/>
                  </a:moveTo>
                  <a:lnTo>
                    <a:pt x="661797" y="427782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10770239" y="4171399"/>
              <a:ext cx="661797" cy="502299"/>
            </a:xfrm>
            <a:custGeom>
              <a:avLst/>
              <a:pathLst>
                <a:path w="661797" h="502299">
                  <a:moveTo>
                    <a:pt x="0" y="0"/>
                  </a:moveTo>
                  <a:lnTo>
                    <a:pt x="661797" y="502299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10754898" y="552220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10754898" y="548080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10754898" y="543940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10754898" y="539800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10754898" y="535661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10754898" y="527381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10754898" y="523241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10754898" y="519101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10754898" y="514961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10754898" y="510822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10754898" y="506682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10754898" y="502542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10754898" y="498402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10754898" y="494262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10754898" y="490122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10754898" y="485983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10754898" y="481843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10754898" y="477703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10754898" y="473563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10754898" y="469423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10754898" y="465283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10754898" y="461144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10754898" y="457004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10754898" y="452864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10754898" y="448724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10754898" y="444584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10754898" y="440444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10754898" y="436305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10754898" y="428025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10754898" y="419745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10754898" y="415605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11416696" y="535661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11416696" y="523241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11416696" y="526888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11416696" y="527479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11416696" y="524759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11416696" y="508292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11416696" y="502148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11416696" y="519377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11416696" y="507372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11416696" y="509392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11416696" y="505785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11416696" y="500357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11416696" y="501480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11416696" y="499907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11416696" y="492587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11416696" y="495801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11416696" y="492685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11416696" y="482820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11416696" y="487914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11416696" y="480408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11416696" y="481843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11416696" y="474401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11416696" y="477530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11416696" y="477243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11416696" y="466345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11416696" y="468043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11416696" y="467156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11416696" y="469337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11416696" y="457349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11416696" y="462523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11416696" y="465835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tx373"/>
            <p:cNvSpPr/>
            <p:nvPr/>
          </p:nvSpPr>
          <p:spPr>
            <a:xfrm>
              <a:off x="7395452" y="3597298"/>
              <a:ext cx="316077" cy="1446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374" name="tx374"/>
            <p:cNvSpPr/>
            <p:nvPr/>
          </p:nvSpPr>
          <p:spPr>
            <a:xfrm>
              <a:off x="8575258" y="3597298"/>
              <a:ext cx="321564" cy="1446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6 sq.</a:t>
              </a:r>
            </a:p>
          </p:txBody>
        </p:sp>
        <p:sp>
          <p:nvSpPr>
            <p:cNvPr id="375" name="tx375"/>
            <p:cNvSpPr/>
            <p:nvPr/>
          </p:nvSpPr>
          <p:spPr>
            <a:xfrm>
              <a:off x="9758493" y="3597298"/>
              <a:ext cx="320192" cy="1446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8 sq.</a:t>
              </a:r>
            </a:p>
          </p:txBody>
        </p:sp>
        <p:sp>
          <p:nvSpPr>
            <p:cNvPr id="376" name="tx376"/>
            <p:cNvSpPr/>
            <p:nvPr/>
          </p:nvSpPr>
          <p:spPr>
            <a:xfrm>
              <a:off x="10909418" y="3597298"/>
              <a:ext cx="383438" cy="1446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12 sq.</a:t>
              </a:r>
            </a:p>
          </p:txBody>
        </p:sp>
        <p:sp>
          <p:nvSpPr>
            <p:cNvPr id="377" name="tx377"/>
            <p:cNvSpPr/>
            <p:nvPr/>
          </p:nvSpPr>
          <p:spPr>
            <a:xfrm>
              <a:off x="7039623" y="613932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378" name="tx378"/>
            <p:cNvSpPr/>
            <p:nvPr/>
          </p:nvSpPr>
          <p:spPr>
            <a:xfrm>
              <a:off x="7759047" y="6162483"/>
              <a:ext cx="250686" cy="89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True</a:t>
              </a:r>
            </a:p>
          </p:txBody>
        </p:sp>
        <p:sp>
          <p:nvSpPr>
            <p:cNvPr id="379" name="tx379"/>
            <p:cNvSpPr/>
            <p:nvPr/>
          </p:nvSpPr>
          <p:spPr>
            <a:xfrm>
              <a:off x="8222172" y="613932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380" name="tx380"/>
            <p:cNvSpPr/>
            <p:nvPr/>
          </p:nvSpPr>
          <p:spPr>
            <a:xfrm>
              <a:off x="8941596" y="6162483"/>
              <a:ext cx="250686" cy="89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True</a:t>
              </a:r>
            </a:p>
          </p:txBody>
        </p:sp>
        <p:sp>
          <p:nvSpPr>
            <p:cNvPr id="381" name="tx381"/>
            <p:cNvSpPr/>
            <p:nvPr/>
          </p:nvSpPr>
          <p:spPr>
            <a:xfrm>
              <a:off x="9404721" y="613932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382" name="tx382"/>
            <p:cNvSpPr/>
            <p:nvPr/>
          </p:nvSpPr>
          <p:spPr>
            <a:xfrm>
              <a:off x="10124145" y="6162483"/>
              <a:ext cx="250686" cy="89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True</a:t>
              </a:r>
            </a:p>
          </p:txBody>
        </p:sp>
        <p:sp>
          <p:nvSpPr>
            <p:cNvPr id="383" name="tx383"/>
            <p:cNvSpPr/>
            <p:nvPr/>
          </p:nvSpPr>
          <p:spPr>
            <a:xfrm>
              <a:off x="10587269" y="613932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384" name="tx384"/>
            <p:cNvSpPr/>
            <p:nvPr/>
          </p:nvSpPr>
          <p:spPr>
            <a:xfrm>
              <a:off x="11306694" y="6162483"/>
              <a:ext cx="250686" cy="89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True</a:t>
              </a:r>
            </a:p>
          </p:txBody>
        </p:sp>
        <p:sp>
          <p:nvSpPr>
            <p:cNvPr id="385" name="tx385"/>
            <p:cNvSpPr/>
            <p:nvPr/>
          </p:nvSpPr>
          <p:spPr>
            <a:xfrm>
              <a:off x="6954102" y="5949081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386" name="tx386"/>
            <p:cNvSpPr/>
            <p:nvPr/>
          </p:nvSpPr>
          <p:spPr>
            <a:xfrm>
              <a:off x="6886296" y="553509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387" name="tx387"/>
            <p:cNvSpPr/>
            <p:nvPr/>
          </p:nvSpPr>
          <p:spPr>
            <a:xfrm>
              <a:off x="6886296" y="5120816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388" name="tx388"/>
            <p:cNvSpPr/>
            <p:nvPr/>
          </p:nvSpPr>
          <p:spPr>
            <a:xfrm>
              <a:off x="6886296" y="4707012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389" name="tx389"/>
            <p:cNvSpPr/>
            <p:nvPr/>
          </p:nvSpPr>
          <p:spPr>
            <a:xfrm>
              <a:off x="6886296" y="4292909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390" name="tx390"/>
            <p:cNvSpPr/>
            <p:nvPr/>
          </p:nvSpPr>
          <p:spPr>
            <a:xfrm>
              <a:off x="6886296" y="3879164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391" name="tx391"/>
            <p:cNvSpPr/>
            <p:nvPr/>
          </p:nvSpPr>
          <p:spPr>
            <a:xfrm rot="-5400000">
              <a:off x="6536544" y="4900222"/>
              <a:ext cx="440680" cy="1154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Shade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7090232" y="3279109"/>
              <a:ext cx="3587623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Galton: report to mean true colour (experience)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7223760" cy="4846320"/>
            <a:chOff x="548640" y="1371600"/>
            <a:chExt cx="7223760" cy="484632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7223760" cy="48463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43346" y="5776795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43346" y="4928112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43346" y="4079430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43346" y="3230747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43346" y="2382064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500282" y="1944993"/>
              <a:ext cx="0" cy="4014268"/>
            </a:xfrm>
            <a:custGeom>
              <a:avLst/>
              <a:pathLst>
                <a:path w="0" h="4014268">
                  <a:moveTo>
                    <a:pt x="0" y="4014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261842" y="1944993"/>
              <a:ext cx="0" cy="4014268"/>
            </a:xfrm>
            <a:custGeom>
              <a:avLst/>
              <a:pathLst>
                <a:path w="0" h="4014268">
                  <a:moveTo>
                    <a:pt x="0" y="4014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023402" y="1944993"/>
              <a:ext cx="0" cy="4014268"/>
            </a:xfrm>
            <a:custGeom>
              <a:avLst/>
              <a:pathLst>
                <a:path w="0" h="4014268">
                  <a:moveTo>
                    <a:pt x="0" y="4014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784963" y="1944993"/>
              <a:ext cx="0" cy="4014268"/>
            </a:xfrm>
            <a:custGeom>
              <a:avLst/>
              <a:pathLst>
                <a:path w="0" h="4014268">
                  <a:moveTo>
                    <a:pt x="0" y="4014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43346" y="4079430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1460056" y="472487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2219106" y="430592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067396" y="438076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844237" y="423349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1409434" y="405116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2296351" y="387946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2959740" y="465627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837962" y="432764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1497180" y="350449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2270075" y="350920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009185" y="344932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765878" y="328834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540862" y="419357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157356" y="414380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014749" y="419843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837297" y="442282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1562847" y="420115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216363" y="436930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027021" y="451704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830875" y="421244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399428" y="439488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244994" y="423583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028112" y="419744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758050" y="431569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562299" y="436503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218702" y="482668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056183" y="445012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726588" y="408144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1524322" y="384358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2285191" y="379164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2990236" y="415083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771520" y="375193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432926" y="468443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310869" y="485768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2990396" y="487748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761948" y="423367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562252" y="463031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2279563" y="422983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034569" y="441700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727133" y="412896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1474007" y="340066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2283883" y="390020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037254" y="418421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808048" y="451410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1416388" y="422654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200257" y="410777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2963968" y="403393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773779" y="382397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1516499" y="448955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2169512" y="476670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070856" y="491630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755940" y="494768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1396319" y="350567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2184181" y="379659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070710" y="431620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689591" y="357470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1408432" y="460989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2207001" y="486806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063251" y="452765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712420" y="355010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1390718" y="482411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2257460" y="505807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2939443" y="485921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723178" y="481449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1538656" y="516255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2154929" y="523840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2962742" y="566526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795021" y="519706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1459130" y="377569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2262393" y="383878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004313" y="408745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828295" y="318428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1498949" y="401237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2309665" y="357871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036370" y="439709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3742924" y="406548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1392509" y="387903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300188" y="434240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3029713" y="414827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732076" y="347380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1486727" y="451764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239919" y="518781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974008" y="527753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795038" y="507072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1443165" y="4044836"/>
              <a:ext cx="114234" cy="0"/>
            </a:xfrm>
            <a:custGeom>
              <a:avLst/>
              <a:pathLst>
                <a:path w="114234" h="0">
                  <a:moveTo>
                    <a:pt x="0" y="0"/>
                  </a:moveTo>
                  <a:lnTo>
                    <a:pt x="114234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1500282" y="4044836"/>
              <a:ext cx="0" cy="430489"/>
            </a:xfrm>
            <a:custGeom>
              <a:avLst/>
              <a:pathLst>
                <a:path w="0" h="430489">
                  <a:moveTo>
                    <a:pt x="0" y="0"/>
                  </a:moveTo>
                  <a:lnTo>
                    <a:pt x="0" y="430489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1443165" y="4475326"/>
              <a:ext cx="114234" cy="0"/>
            </a:xfrm>
            <a:custGeom>
              <a:avLst/>
              <a:pathLst>
                <a:path w="114234" h="0">
                  <a:moveTo>
                    <a:pt x="0" y="0"/>
                  </a:moveTo>
                  <a:lnTo>
                    <a:pt x="114234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204725" y="4105708"/>
              <a:ext cx="114234" cy="0"/>
            </a:xfrm>
            <a:custGeom>
              <a:avLst/>
              <a:pathLst>
                <a:path w="114234" h="0">
                  <a:moveTo>
                    <a:pt x="0" y="0"/>
                  </a:moveTo>
                  <a:lnTo>
                    <a:pt x="114234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261842" y="4105708"/>
              <a:ext cx="0" cy="483569"/>
            </a:xfrm>
            <a:custGeom>
              <a:avLst/>
              <a:pathLst>
                <a:path w="0" h="483569">
                  <a:moveTo>
                    <a:pt x="0" y="0"/>
                  </a:moveTo>
                  <a:lnTo>
                    <a:pt x="0" y="483569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204725" y="4589277"/>
              <a:ext cx="114234" cy="0"/>
            </a:xfrm>
            <a:custGeom>
              <a:avLst/>
              <a:pathLst>
                <a:path w="114234" h="0">
                  <a:moveTo>
                    <a:pt x="0" y="0"/>
                  </a:moveTo>
                  <a:lnTo>
                    <a:pt x="114234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966285" y="4268720"/>
              <a:ext cx="114234" cy="0"/>
            </a:xfrm>
            <a:custGeom>
              <a:avLst/>
              <a:pathLst>
                <a:path w="114234" h="0">
                  <a:moveTo>
                    <a:pt x="0" y="0"/>
                  </a:moveTo>
                  <a:lnTo>
                    <a:pt x="114234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023402" y="4268720"/>
              <a:ext cx="0" cy="431353"/>
            </a:xfrm>
            <a:custGeom>
              <a:avLst/>
              <a:pathLst>
                <a:path w="0" h="431353">
                  <a:moveTo>
                    <a:pt x="0" y="0"/>
                  </a:moveTo>
                  <a:lnTo>
                    <a:pt x="0" y="431353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966285" y="4700073"/>
              <a:ext cx="114234" cy="0"/>
            </a:xfrm>
            <a:custGeom>
              <a:avLst/>
              <a:pathLst>
                <a:path w="114234" h="0">
                  <a:moveTo>
                    <a:pt x="0" y="0"/>
                  </a:moveTo>
                  <a:lnTo>
                    <a:pt x="114234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3727846" y="3917497"/>
              <a:ext cx="114234" cy="0"/>
            </a:xfrm>
            <a:custGeom>
              <a:avLst/>
              <a:pathLst>
                <a:path w="114234" h="0">
                  <a:moveTo>
                    <a:pt x="0" y="0"/>
                  </a:moveTo>
                  <a:lnTo>
                    <a:pt x="114234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3784963" y="3917497"/>
              <a:ext cx="0" cy="515227"/>
            </a:xfrm>
            <a:custGeom>
              <a:avLst/>
              <a:pathLst>
                <a:path w="0" h="515227">
                  <a:moveTo>
                    <a:pt x="0" y="0"/>
                  </a:moveTo>
                  <a:lnTo>
                    <a:pt x="0" y="515227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3727846" y="4432725"/>
              <a:ext cx="114234" cy="0"/>
            </a:xfrm>
            <a:custGeom>
              <a:avLst/>
              <a:pathLst>
                <a:path w="114234" h="0">
                  <a:moveTo>
                    <a:pt x="0" y="0"/>
                  </a:moveTo>
                  <a:lnTo>
                    <a:pt x="114234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1455130" y="4214929"/>
              <a:ext cx="90303" cy="9030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2216690" y="4302341"/>
              <a:ext cx="90303" cy="9030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2978250" y="4439244"/>
              <a:ext cx="90303" cy="9030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739811" y="4129959"/>
              <a:ext cx="90303" cy="9030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1239692" y="2216276"/>
              <a:ext cx="521178" cy="161840"/>
            </a:xfrm>
            <a:custGeom>
              <a:avLst/>
              <a:pathLst>
                <a:path w="521178" h="161840">
                  <a:moveTo>
                    <a:pt x="22114" y="161840"/>
                  </a:moveTo>
                  <a:lnTo>
                    <a:pt x="499064" y="161840"/>
                  </a:lnTo>
                  <a:lnTo>
                    <a:pt x="498173" y="161822"/>
                  </a:lnTo>
                  <a:lnTo>
                    <a:pt x="501729" y="161679"/>
                  </a:lnTo>
                  <a:lnTo>
                    <a:pt x="505216" y="160967"/>
                  </a:lnTo>
                  <a:lnTo>
                    <a:pt x="508544" y="159705"/>
                  </a:lnTo>
                  <a:lnTo>
                    <a:pt x="511626" y="157925"/>
                  </a:lnTo>
                  <a:lnTo>
                    <a:pt x="514383" y="155674"/>
                  </a:lnTo>
                  <a:lnTo>
                    <a:pt x="516743" y="153010"/>
                  </a:lnTo>
                  <a:lnTo>
                    <a:pt x="518645" y="150002"/>
                  </a:lnTo>
                  <a:lnTo>
                    <a:pt x="520040" y="146728"/>
                  </a:lnTo>
                  <a:lnTo>
                    <a:pt x="520892" y="143273"/>
                  </a:lnTo>
                  <a:lnTo>
                    <a:pt x="521178" y="139725"/>
                  </a:lnTo>
                  <a:lnTo>
                    <a:pt x="521178" y="22114"/>
                  </a:lnTo>
                  <a:lnTo>
                    <a:pt x="520892" y="18567"/>
                  </a:lnTo>
                  <a:lnTo>
                    <a:pt x="520040" y="15111"/>
                  </a:lnTo>
                  <a:lnTo>
                    <a:pt x="518645" y="11837"/>
                  </a:lnTo>
                  <a:lnTo>
                    <a:pt x="516743" y="8829"/>
                  </a:lnTo>
                  <a:lnTo>
                    <a:pt x="514383" y="6165"/>
                  </a:lnTo>
                  <a:lnTo>
                    <a:pt x="511626" y="3914"/>
                  </a:lnTo>
                  <a:lnTo>
                    <a:pt x="508544" y="2135"/>
                  </a:lnTo>
                  <a:lnTo>
                    <a:pt x="505216" y="873"/>
                  </a:lnTo>
                  <a:lnTo>
                    <a:pt x="501729" y="161"/>
                  </a:lnTo>
                  <a:lnTo>
                    <a:pt x="499064" y="0"/>
                  </a:lnTo>
                  <a:lnTo>
                    <a:pt x="22114" y="0"/>
                  </a:lnTo>
                  <a:lnTo>
                    <a:pt x="24780" y="161"/>
                  </a:lnTo>
                  <a:lnTo>
                    <a:pt x="21224" y="17"/>
                  </a:lnTo>
                  <a:lnTo>
                    <a:pt x="17691" y="446"/>
                  </a:lnTo>
                  <a:lnTo>
                    <a:pt x="14272" y="1437"/>
                  </a:lnTo>
                  <a:lnTo>
                    <a:pt x="11057" y="2962"/>
                  </a:lnTo>
                  <a:lnTo>
                    <a:pt x="8128" y="4984"/>
                  </a:lnTo>
                  <a:lnTo>
                    <a:pt x="5561" y="7449"/>
                  </a:lnTo>
                  <a:lnTo>
                    <a:pt x="3423" y="10295"/>
                  </a:lnTo>
                  <a:lnTo>
                    <a:pt x="1769" y="13446"/>
                  </a:lnTo>
                  <a:lnTo>
                    <a:pt x="642" y="16822"/>
                  </a:lnTo>
                  <a:lnTo>
                    <a:pt x="71" y="20335"/>
                  </a:lnTo>
                  <a:lnTo>
                    <a:pt x="0" y="22114"/>
                  </a:lnTo>
                  <a:lnTo>
                    <a:pt x="0" y="139725"/>
                  </a:lnTo>
                  <a:lnTo>
                    <a:pt x="71" y="137946"/>
                  </a:lnTo>
                  <a:lnTo>
                    <a:pt x="71" y="141505"/>
                  </a:lnTo>
                  <a:lnTo>
                    <a:pt x="642" y="145018"/>
                  </a:lnTo>
                  <a:lnTo>
                    <a:pt x="1769" y="148393"/>
                  </a:lnTo>
                  <a:lnTo>
                    <a:pt x="3423" y="151545"/>
                  </a:lnTo>
                  <a:lnTo>
                    <a:pt x="5561" y="154390"/>
                  </a:lnTo>
                  <a:lnTo>
                    <a:pt x="8128" y="156855"/>
                  </a:lnTo>
                  <a:lnTo>
                    <a:pt x="11057" y="158877"/>
                  </a:lnTo>
                  <a:lnTo>
                    <a:pt x="14272" y="160403"/>
                  </a:lnTo>
                  <a:lnTo>
                    <a:pt x="17691" y="161393"/>
                  </a:lnTo>
                  <a:lnTo>
                    <a:pt x="21224" y="161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tx115"/>
            <p:cNvSpPr/>
            <p:nvPr/>
          </p:nvSpPr>
          <p:spPr>
            <a:xfrm>
              <a:off x="1276550" y="2229618"/>
              <a:ext cx="44746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p = .191</a:t>
              </a:r>
            </a:p>
          </p:txBody>
        </p:sp>
        <p:sp>
          <p:nvSpPr>
            <p:cNvPr id="116" name="pg116"/>
            <p:cNvSpPr/>
            <p:nvPr/>
          </p:nvSpPr>
          <p:spPr>
            <a:xfrm>
              <a:off x="2001253" y="2216276"/>
              <a:ext cx="521178" cy="161840"/>
            </a:xfrm>
            <a:custGeom>
              <a:avLst/>
              <a:pathLst>
                <a:path w="521178" h="161840">
                  <a:moveTo>
                    <a:pt x="22114" y="161840"/>
                  </a:moveTo>
                  <a:lnTo>
                    <a:pt x="499064" y="161840"/>
                  </a:lnTo>
                  <a:lnTo>
                    <a:pt x="498173" y="161822"/>
                  </a:lnTo>
                  <a:lnTo>
                    <a:pt x="501729" y="161679"/>
                  </a:lnTo>
                  <a:lnTo>
                    <a:pt x="505216" y="160967"/>
                  </a:lnTo>
                  <a:lnTo>
                    <a:pt x="508544" y="159705"/>
                  </a:lnTo>
                  <a:lnTo>
                    <a:pt x="511626" y="157925"/>
                  </a:lnTo>
                  <a:lnTo>
                    <a:pt x="514383" y="155674"/>
                  </a:lnTo>
                  <a:lnTo>
                    <a:pt x="516743" y="153010"/>
                  </a:lnTo>
                  <a:lnTo>
                    <a:pt x="518645" y="150002"/>
                  </a:lnTo>
                  <a:lnTo>
                    <a:pt x="520040" y="146728"/>
                  </a:lnTo>
                  <a:lnTo>
                    <a:pt x="520892" y="143273"/>
                  </a:lnTo>
                  <a:lnTo>
                    <a:pt x="521178" y="139725"/>
                  </a:lnTo>
                  <a:lnTo>
                    <a:pt x="521178" y="22114"/>
                  </a:lnTo>
                  <a:lnTo>
                    <a:pt x="520892" y="18567"/>
                  </a:lnTo>
                  <a:lnTo>
                    <a:pt x="520040" y="15111"/>
                  </a:lnTo>
                  <a:lnTo>
                    <a:pt x="518645" y="11837"/>
                  </a:lnTo>
                  <a:lnTo>
                    <a:pt x="516743" y="8829"/>
                  </a:lnTo>
                  <a:lnTo>
                    <a:pt x="514383" y="6165"/>
                  </a:lnTo>
                  <a:lnTo>
                    <a:pt x="511626" y="3914"/>
                  </a:lnTo>
                  <a:lnTo>
                    <a:pt x="508544" y="2135"/>
                  </a:lnTo>
                  <a:lnTo>
                    <a:pt x="505216" y="873"/>
                  </a:lnTo>
                  <a:lnTo>
                    <a:pt x="501729" y="161"/>
                  </a:lnTo>
                  <a:lnTo>
                    <a:pt x="499064" y="0"/>
                  </a:lnTo>
                  <a:lnTo>
                    <a:pt x="22114" y="0"/>
                  </a:lnTo>
                  <a:lnTo>
                    <a:pt x="24780" y="161"/>
                  </a:lnTo>
                  <a:lnTo>
                    <a:pt x="21224" y="17"/>
                  </a:lnTo>
                  <a:lnTo>
                    <a:pt x="17691" y="446"/>
                  </a:lnTo>
                  <a:lnTo>
                    <a:pt x="14272" y="1437"/>
                  </a:lnTo>
                  <a:lnTo>
                    <a:pt x="11057" y="2962"/>
                  </a:lnTo>
                  <a:lnTo>
                    <a:pt x="8128" y="4984"/>
                  </a:lnTo>
                  <a:lnTo>
                    <a:pt x="5561" y="7449"/>
                  </a:lnTo>
                  <a:lnTo>
                    <a:pt x="3423" y="10295"/>
                  </a:lnTo>
                  <a:lnTo>
                    <a:pt x="1769" y="13446"/>
                  </a:lnTo>
                  <a:lnTo>
                    <a:pt x="642" y="16822"/>
                  </a:lnTo>
                  <a:lnTo>
                    <a:pt x="71" y="20335"/>
                  </a:lnTo>
                  <a:lnTo>
                    <a:pt x="0" y="22114"/>
                  </a:lnTo>
                  <a:lnTo>
                    <a:pt x="0" y="139725"/>
                  </a:lnTo>
                  <a:lnTo>
                    <a:pt x="71" y="137946"/>
                  </a:lnTo>
                  <a:lnTo>
                    <a:pt x="71" y="141505"/>
                  </a:lnTo>
                  <a:lnTo>
                    <a:pt x="642" y="145018"/>
                  </a:lnTo>
                  <a:lnTo>
                    <a:pt x="1769" y="148393"/>
                  </a:lnTo>
                  <a:lnTo>
                    <a:pt x="3423" y="151545"/>
                  </a:lnTo>
                  <a:lnTo>
                    <a:pt x="5561" y="154390"/>
                  </a:lnTo>
                  <a:lnTo>
                    <a:pt x="8128" y="156855"/>
                  </a:lnTo>
                  <a:lnTo>
                    <a:pt x="11057" y="158877"/>
                  </a:lnTo>
                  <a:lnTo>
                    <a:pt x="14272" y="160403"/>
                  </a:lnTo>
                  <a:lnTo>
                    <a:pt x="17691" y="161393"/>
                  </a:lnTo>
                  <a:lnTo>
                    <a:pt x="21224" y="161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tx117"/>
            <p:cNvSpPr/>
            <p:nvPr/>
          </p:nvSpPr>
          <p:spPr>
            <a:xfrm>
              <a:off x="2038110" y="2229618"/>
              <a:ext cx="44746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p = .095</a:t>
              </a:r>
            </a:p>
          </p:txBody>
        </p:sp>
        <p:sp>
          <p:nvSpPr>
            <p:cNvPr id="118" name="pg118"/>
            <p:cNvSpPr/>
            <p:nvPr/>
          </p:nvSpPr>
          <p:spPr>
            <a:xfrm>
              <a:off x="2762813" y="2216276"/>
              <a:ext cx="521178" cy="161840"/>
            </a:xfrm>
            <a:custGeom>
              <a:avLst/>
              <a:pathLst>
                <a:path w="521178" h="161840">
                  <a:moveTo>
                    <a:pt x="22114" y="161840"/>
                  </a:moveTo>
                  <a:lnTo>
                    <a:pt x="499064" y="161840"/>
                  </a:lnTo>
                  <a:lnTo>
                    <a:pt x="498173" y="161822"/>
                  </a:lnTo>
                  <a:lnTo>
                    <a:pt x="501729" y="161679"/>
                  </a:lnTo>
                  <a:lnTo>
                    <a:pt x="505216" y="160967"/>
                  </a:lnTo>
                  <a:lnTo>
                    <a:pt x="508544" y="159705"/>
                  </a:lnTo>
                  <a:lnTo>
                    <a:pt x="511626" y="157925"/>
                  </a:lnTo>
                  <a:lnTo>
                    <a:pt x="514383" y="155674"/>
                  </a:lnTo>
                  <a:lnTo>
                    <a:pt x="516743" y="153010"/>
                  </a:lnTo>
                  <a:lnTo>
                    <a:pt x="518645" y="150002"/>
                  </a:lnTo>
                  <a:lnTo>
                    <a:pt x="520040" y="146728"/>
                  </a:lnTo>
                  <a:lnTo>
                    <a:pt x="520892" y="143273"/>
                  </a:lnTo>
                  <a:lnTo>
                    <a:pt x="521178" y="139725"/>
                  </a:lnTo>
                  <a:lnTo>
                    <a:pt x="521178" y="22114"/>
                  </a:lnTo>
                  <a:lnTo>
                    <a:pt x="520892" y="18567"/>
                  </a:lnTo>
                  <a:lnTo>
                    <a:pt x="520040" y="15111"/>
                  </a:lnTo>
                  <a:lnTo>
                    <a:pt x="518645" y="11837"/>
                  </a:lnTo>
                  <a:lnTo>
                    <a:pt x="516743" y="8829"/>
                  </a:lnTo>
                  <a:lnTo>
                    <a:pt x="514383" y="6165"/>
                  </a:lnTo>
                  <a:lnTo>
                    <a:pt x="511626" y="3914"/>
                  </a:lnTo>
                  <a:lnTo>
                    <a:pt x="508544" y="2135"/>
                  </a:lnTo>
                  <a:lnTo>
                    <a:pt x="505216" y="873"/>
                  </a:lnTo>
                  <a:lnTo>
                    <a:pt x="501729" y="161"/>
                  </a:lnTo>
                  <a:lnTo>
                    <a:pt x="499064" y="0"/>
                  </a:lnTo>
                  <a:lnTo>
                    <a:pt x="22114" y="0"/>
                  </a:lnTo>
                  <a:lnTo>
                    <a:pt x="24780" y="161"/>
                  </a:lnTo>
                  <a:lnTo>
                    <a:pt x="21224" y="17"/>
                  </a:lnTo>
                  <a:lnTo>
                    <a:pt x="17691" y="446"/>
                  </a:lnTo>
                  <a:lnTo>
                    <a:pt x="14272" y="1437"/>
                  </a:lnTo>
                  <a:lnTo>
                    <a:pt x="11057" y="2962"/>
                  </a:lnTo>
                  <a:lnTo>
                    <a:pt x="8128" y="4984"/>
                  </a:lnTo>
                  <a:lnTo>
                    <a:pt x="5561" y="7449"/>
                  </a:lnTo>
                  <a:lnTo>
                    <a:pt x="3423" y="10295"/>
                  </a:lnTo>
                  <a:lnTo>
                    <a:pt x="1769" y="13446"/>
                  </a:lnTo>
                  <a:lnTo>
                    <a:pt x="642" y="16822"/>
                  </a:lnTo>
                  <a:lnTo>
                    <a:pt x="71" y="20335"/>
                  </a:lnTo>
                  <a:lnTo>
                    <a:pt x="0" y="22114"/>
                  </a:lnTo>
                  <a:lnTo>
                    <a:pt x="0" y="139725"/>
                  </a:lnTo>
                  <a:lnTo>
                    <a:pt x="71" y="137946"/>
                  </a:lnTo>
                  <a:lnTo>
                    <a:pt x="71" y="141505"/>
                  </a:lnTo>
                  <a:lnTo>
                    <a:pt x="642" y="145018"/>
                  </a:lnTo>
                  <a:lnTo>
                    <a:pt x="1769" y="148393"/>
                  </a:lnTo>
                  <a:lnTo>
                    <a:pt x="3423" y="151545"/>
                  </a:lnTo>
                  <a:lnTo>
                    <a:pt x="5561" y="154390"/>
                  </a:lnTo>
                  <a:lnTo>
                    <a:pt x="8128" y="156855"/>
                  </a:lnTo>
                  <a:lnTo>
                    <a:pt x="11057" y="158877"/>
                  </a:lnTo>
                  <a:lnTo>
                    <a:pt x="14272" y="160403"/>
                  </a:lnTo>
                  <a:lnTo>
                    <a:pt x="17691" y="161393"/>
                  </a:lnTo>
                  <a:lnTo>
                    <a:pt x="21224" y="161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tx119"/>
            <p:cNvSpPr/>
            <p:nvPr/>
          </p:nvSpPr>
          <p:spPr>
            <a:xfrm>
              <a:off x="2799671" y="2229618"/>
              <a:ext cx="44746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p = .003</a:t>
              </a:r>
            </a:p>
          </p:txBody>
        </p:sp>
        <p:sp>
          <p:nvSpPr>
            <p:cNvPr id="120" name="pg120"/>
            <p:cNvSpPr/>
            <p:nvPr/>
          </p:nvSpPr>
          <p:spPr>
            <a:xfrm>
              <a:off x="3524373" y="2216276"/>
              <a:ext cx="521178" cy="161840"/>
            </a:xfrm>
            <a:custGeom>
              <a:avLst/>
              <a:pathLst>
                <a:path w="521178" h="161840">
                  <a:moveTo>
                    <a:pt x="22114" y="161840"/>
                  </a:moveTo>
                  <a:lnTo>
                    <a:pt x="499064" y="161840"/>
                  </a:lnTo>
                  <a:lnTo>
                    <a:pt x="498173" y="161822"/>
                  </a:lnTo>
                  <a:lnTo>
                    <a:pt x="501729" y="161679"/>
                  </a:lnTo>
                  <a:lnTo>
                    <a:pt x="505216" y="160967"/>
                  </a:lnTo>
                  <a:lnTo>
                    <a:pt x="508544" y="159705"/>
                  </a:lnTo>
                  <a:lnTo>
                    <a:pt x="511626" y="157925"/>
                  </a:lnTo>
                  <a:lnTo>
                    <a:pt x="514383" y="155674"/>
                  </a:lnTo>
                  <a:lnTo>
                    <a:pt x="516743" y="153010"/>
                  </a:lnTo>
                  <a:lnTo>
                    <a:pt x="518645" y="150002"/>
                  </a:lnTo>
                  <a:lnTo>
                    <a:pt x="520040" y="146728"/>
                  </a:lnTo>
                  <a:lnTo>
                    <a:pt x="520892" y="143273"/>
                  </a:lnTo>
                  <a:lnTo>
                    <a:pt x="521178" y="139725"/>
                  </a:lnTo>
                  <a:lnTo>
                    <a:pt x="521178" y="22114"/>
                  </a:lnTo>
                  <a:lnTo>
                    <a:pt x="520892" y="18567"/>
                  </a:lnTo>
                  <a:lnTo>
                    <a:pt x="520040" y="15111"/>
                  </a:lnTo>
                  <a:lnTo>
                    <a:pt x="518645" y="11837"/>
                  </a:lnTo>
                  <a:lnTo>
                    <a:pt x="516743" y="8829"/>
                  </a:lnTo>
                  <a:lnTo>
                    <a:pt x="514383" y="6165"/>
                  </a:lnTo>
                  <a:lnTo>
                    <a:pt x="511626" y="3914"/>
                  </a:lnTo>
                  <a:lnTo>
                    <a:pt x="508544" y="2135"/>
                  </a:lnTo>
                  <a:lnTo>
                    <a:pt x="505216" y="873"/>
                  </a:lnTo>
                  <a:lnTo>
                    <a:pt x="501729" y="161"/>
                  </a:lnTo>
                  <a:lnTo>
                    <a:pt x="499064" y="0"/>
                  </a:lnTo>
                  <a:lnTo>
                    <a:pt x="22114" y="0"/>
                  </a:lnTo>
                  <a:lnTo>
                    <a:pt x="24780" y="161"/>
                  </a:lnTo>
                  <a:lnTo>
                    <a:pt x="21224" y="17"/>
                  </a:lnTo>
                  <a:lnTo>
                    <a:pt x="17691" y="446"/>
                  </a:lnTo>
                  <a:lnTo>
                    <a:pt x="14272" y="1437"/>
                  </a:lnTo>
                  <a:lnTo>
                    <a:pt x="11057" y="2962"/>
                  </a:lnTo>
                  <a:lnTo>
                    <a:pt x="8128" y="4984"/>
                  </a:lnTo>
                  <a:lnTo>
                    <a:pt x="5561" y="7449"/>
                  </a:lnTo>
                  <a:lnTo>
                    <a:pt x="3423" y="10295"/>
                  </a:lnTo>
                  <a:lnTo>
                    <a:pt x="1769" y="13446"/>
                  </a:lnTo>
                  <a:lnTo>
                    <a:pt x="642" y="16822"/>
                  </a:lnTo>
                  <a:lnTo>
                    <a:pt x="71" y="20335"/>
                  </a:lnTo>
                  <a:lnTo>
                    <a:pt x="0" y="22114"/>
                  </a:lnTo>
                  <a:lnTo>
                    <a:pt x="0" y="139725"/>
                  </a:lnTo>
                  <a:lnTo>
                    <a:pt x="71" y="137946"/>
                  </a:lnTo>
                  <a:lnTo>
                    <a:pt x="71" y="141505"/>
                  </a:lnTo>
                  <a:lnTo>
                    <a:pt x="642" y="145018"/>
                  </a:lnTo>
                  <a:lnTo>
                    <a:pt x="1769" y="148393"/>
                  </a:lnTo>
                  <a:lnTo>
                    <a:pt x="3423" y="151545"/>
                  </a:lnTo>
                  <a:lnTo>
                    <a:pt x="5561" y="154390"/>
                  </a:lnTo>
                  <a:lnTo>
                    <a:pt x="8128" y="156855"/>
                  </a:lnTo>
                  <a:lnTo>
                    <a:pt x="11057" y="158877"/>
                  </a:lnTo>
                  <a:lnTo>
                    <a:pt x="14272" y="160403"/>
                  </a:lnTo>
                  <a:lnTo>
                    <a:pt x="17691" y="161393"/>
                  </a:lnTo>
                  <a:lnTo>
                    <a:pt x="21224" y="161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tx121"/>
            <p:cNvSpPr/>
            <p:nvPr/>
          </p:nvSpPr>
          <p:spPr>
            <a:xfrm>
              <a:off x="3561231" y="2229498"/>
              <a:ext cx="447463" cy="1117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p = .448</a:t>
              </a:r>
            </a:p>
          </p:txBody>
        </p:sp>
        <p:sp>
          <p:nvSpPr>
            <p:cNvPr id="122" name="pl122"/>
            <p:cNvSpPr/>
            <p:nvPr/>
          </p:nvSpPr>
          <p:spPr>
            <a:xfrm>
              <a:off x="4497931" y="5776795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4497931" y="4928112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4497931" y="4079430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497931" y="3230747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4497931" y="2382064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4954867" y="1944993"/>
              <a:ext cx="0" cy="4014268"/>
            </a:xfrm>
            <a:custGeom>
              <a:avLst/>
              <a:pathLst>
                <a:path w="0" h="4014268">
                  <a:moveTo>
                    <a:pt x="0" y="4014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5716427" y="1944993"/>
              <a:ext cx="0" cy="4014268"/>
            </a:xfrm>
            <a:custGeom>
              <a:avLst/>
              <a:pathLst>
                <a:path w="0" h="4014268">
                  <a:moveTo>
                    <a:pt x="0" y="4014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6477988" y="1944993"/>
              <a:ext cx="0" cy="4014268"/>
            </a:xfrm>
            <a:custGeom>
              <a:avLst/>
              <a:pathLst>
                <a:path w="0" h="4014268">
                  <a:moveTo>
                    <a:pt x="0" y="4014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7239548" y="1944993"/>
              <a:ext cx="0" cy="4014268"/>
            </a:xfrm>
            <a:custGeom>
              <a:avLst/>
              <a:pathLst>
                <a:path w="0" h="4014268">
                  <a:moveTo>
                    <a:pt x="0" y="4014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497931" y="4079430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4899729" y="425949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5656119" y="456956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6532635" y="456327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7200234" y="494454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924130" y="476880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5678335" y="486833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6525214" y="462302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7227355" y="458563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4853308" y="477605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5726792" y="463562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6410486" y="484994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7166072" y="476699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971069" y="426809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5749985" y="471090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6387184" y="457187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7197411" y="448312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4922728" y="405018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5690438" y="437882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6504611" y="420944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7244781" y="427343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4887375" y="447630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5713173" y="440597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6375015" y="458805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7269665" y="430505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5017949" y="477804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5759090" y="488404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6370843" y="503274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7264296" y="472792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4883957" y="481677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5712231" y="464865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6544269" y="461055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7154452" y="470168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4892555" y="445681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5744471" y="461917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6540736" y="507077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7280628" y="479401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975006" y="425035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5624521" y="432472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6430092" y="451877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7273230" y="433453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4968544" y="466469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5656869" y="446211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6521774" y="418899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7274851" y="459678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4970181" y="414372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5637705" y="424234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6409686" y="451395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7179772" y="451798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4884836" y="412933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5740479" y="403532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6477314" y="360510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7230575" y="409380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4901863" y="477718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5681053" y="462781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6373259" y="488080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7266332" y="484629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856080" y="498455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5682800" y="523453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6373352" y="515344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7201014" y="501211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4926806" y="384132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5645546" y="483190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6452451" y="429812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7165995" y="420232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4940839" y="423404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5686495" y="485566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6493213" y="550724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7179391" y="482729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4891536" y="463344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5720539" y="469437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6546643" y="436059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7153154" y="484683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875208" y="476953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5656247" y="505066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6517294" y="507694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7132808" y="492238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973467" y="477775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5681959" y="502349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6496721" y="486572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7308745" y="486742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4854847" y="446211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5751003" y="472154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6392831" y="512006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7158395" y="489543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4897750" y="4370257"/>
              <a:ext cx="114234" cy="0"/>
            </a:xfrm>
            <a:custGeom>
              <a:avLst/>
              <a:pathLst>
                <a:path w="114234" h="0">
                  <a:moveTo>
                    <a:pt x="0" y="0"/>
                  </a:moveTo>
                  <a:lnTo>
                    <a:pt x="114234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4954867" y="4370257"/>
              <a:ext cx="0" cy="286444"/>
            </a:xfrm>
            <a:custGeom>
              <a:avLst/>
              <a:pathLst>
                <a:path w="0" h="286444">
                  <a:moveTo>
                    <a:pt x="0" y="0"/>
                  </a:moveTo>
                  <a:lnTo>
                    <a:pt x="0" y="286444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4897750" y="4656701"/>
              <a:ext cx="114234" cy="0"/>
            </a:xfrm>
            <a:custGeom>
              <a:avLst/>
              <a:pathLst>
                <a:path w="114234" h="0">
                  <a:moveTo>
                    <a:pt x="0" y="0"/>
                  </a:moveTo>
                  <a:lnTo>
                    <a:pt x="114234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5659310" y="4549529"/>
              <a:ext cx="114234" cy="0"/>
            </a:xfrm>
            <a:custGeom>
              <a:avLst/>
              <a:pathLst>
                <a:path w="114234" h="0">
                  <a:moveTo>
                    <a:pt x="0" y="0"/>
                  </a:moveTo>
                  <a:lnTo>
                    <a:pt x="114234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5716427" y="4549529"/>
              <a:ext cx="0" cy="261900"/>
            </a:xfrm>
            <a:custGeom>
              <a:avLst/>
              <a:pathLst>
                <a:path w="0" h="261900">
                  <a:moveTo>
                    <a:pt x="0" y="0"/>
                  </a:moveTo>
                  <a:lnTo>
                    <a:pt x="0" y="26190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5659310" y="4811429"/>
              <a:ext cx="114234" cy="0"/>
            </a:xfrm>
            <a:custGeom>
              <a:avLst/>
              <a:pathLst>
                <a:path w="114234" h="0">
                  <a:moveTo>
                    <a:pt x="0" y="0"/>
                  </a:moveTo>
                  <a:lnTo>
                    <a:pt x="114234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6420871" y="4505595"/>
              <a:ext cx="114234" cy="0"/>
            </a:xfrm>
            <a:custGeom>
              <a:avLst/>
              <a:pathLst>
                <a:path w="114234" h="0">
                  <a:moveTo>
                    <a:pt x="0" y="0"/>
                  </a:moveTo>
                  <a:lnTo>
                    <a:pt x="114234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6477988" y="4505595"/>
              <a:ext cx="0" cy="386324"/>
            </a:xfrm>
            <a:custGeom>
              <a:avLst/>
              <a:pathLst>
                <a:path w="0" h="386324">
                  <a:moveTo>
                    <a:pt x="0" y="0"/>
                  </a:moveTo>
                  <a:lnTo>
                    <a:pt x="0" y="386324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6420871" y="4891919"/>
              <a:ext cx="114234" cy="0"/>
            </a:xfrm>
            <a:custGeom>
              <a:avLst/>
              <a:pathLst>
                <a:path w="114234" h="0">
                  <a:moveTo>
                    <a:pt x="0" y="0"/>
                  </a:moveTo>
                  <a:lnTo>
                    <a:pt x="114234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7182431" y="4543602"/>
              <a:ext cx="114234" cy="0"/>
            </a:xfrm>
            <a:custGeom>
              <a:avLst/>
              <a:pathLst>
                <a:path w="114234" h="0">
                  <a:moveTo>
                    <a:pt x="0" y="0"/>
                  </a:moveTo>
                  <a:lnTo>
                    <a:pt x="114234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7239548" y="4543602"/>
              <a:ext cx="0" cy="247087"/>
            </a:xfrm>
            <a:custGeom>
              <a:avLst/>
              <a:pathLst>
                <a:path w="0" h="247087">
                  <a:moveTo>
                    <a:pt x="0" y="0"/>
                  </a:moveTo>
                  <a:lnTo>
                    <a:pt x="0" y="247087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7182431" y="4790690"/>
              <a:ext cx="114234" cy="0"/>
            </a:xfrm>
            <a:custGeom>
              <a:avLst/>
              <a:pathLst>
                <a:path w="114234" h="0">
                  <a:moveTo>
                    <a:pt x="0" y="0"/>
                  </a:moveTo>
                  <a:lnTo>
                    <a:pt x="114234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4909715" y="4468327"/>
              <a:ext cx="90303" cy="9030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5671275" y="4635327"/>
              <a:ext cx="90303" cy="9030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6432836" y="4653605"/>
              <a:ext cx="90303" cy="9030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7194396" y="4621994"/>
              <a:ext cx="90303" cy="9030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694278" y="2216276"/>
              <a:ext cx="521178" cy="161840"/>
            </a:xfrm>
            <a:custGeom>
              <a:avLst/>
              <a:pathLst>
                <a:path w="521178" h="161840">
                  <a:moveTo>
                    <a:pt x="22114" y="161840"/>
                  </a:moveTo>
                  <a:lnTo>
                    <a:pt x="499064" y="161840"/>
                  </a:lnTo>
                  <a:lnTo>
                    <a:pt x="498173" y="161822"/>
                  </a:lnTo>
                  <a:lnTo>
                    <a:pt x="501729" y="161679"/>
                  </a:lnTo>
                  <a:lnTo>
                    <a:pt x="505216" y="160967"/>
                  </a:lnTo>
                  <a:lnTo>
                    <a:pt x="508544" y="159705"/>
                  </a:lnTo>
                  <a:lnTo>
                    <a:pt x="511626" y="157925"/>
                  </a:lnTo>
                  <a:lnTo>
                    <a:pt x="514383" y="155674"/>
                  </a:lnTo>
                  <a:lnTo>
                    <a:pt x="516743" y="153010"/>
                  </a:lnTo>
                  <a:lnTo>
                    <a:pt x="518645" y="150002"/>
                  </a:lnTo>
                  <a:lnTo>
                    <a:pt x="520040" y="146728"/>
                  </a:lnTo>
                  <a:lnTo>
                    <a:pt x="520892" y="143273"/>
                  </a:lnTo>
                  <a:lnTo>
                    <a:pt x="521178" y="139725"/>
                  </a:lnTo>
                  <a:lnTo>
                    <a:pt x="521178" y="22114"/>
                  </a:lnTo>
                  <a:lnTo>
                    <a:pt x="520892" y="18567"/>
                  </a:lnTo>
                  <a:lnTo>
                    <a:pt x="520040" y="15111"/>
                  </a:lnTo>
                  <a:lnTo>
                    <a:pt x="518645" y="11837"/>
                  </a:lnTo>
                  <a:lnTo>
                    <a:pt x="516743" y="8829"/>
                  </a:lnTo>
                  <a:lnTo>
                    <a:pt x="514383" y="6165"/>
                  </a:lnTo>
                  <a:lnTo>
                    <a:pt x="511626" y="3914"/>
                  </a:lnTo>
                  <a:lnTo>
                    <a:pt x="508544" y="2135"/>
                  </a:lnTo>
                  <a:lnTo>
                    <a:pt x="505216" y="873"/>
                  </a:lnTo>
                  <a:lnTo>
                    <a:pt x="501729" y="161"/>
                  </a:lnTo>
                  <a:lnTo>
                    <a:pt x="499064" y="0"/>
                  </a:lnTo>
                  <a:lnTo>
                    <a:pt x="22114" y="0"/>
                  </a:lnTo>
                  <a:lnTo>
                    <a:pt x="24780" y="161"/>
                  </a:lnTo>
                  <a:lnTo>
                    <a:pt x="21224" y="17"/>
                  </a:lnTo>
                  <a:lnTo>
                    <a:pt x="17691" y="446"/>
                  </a:lnTo>
                  <a:lnTo>
                    <a:pt x="14272" y="1437"/>
                  </a:lnTo>
                  <a:lnTo>
                    <a:pt x="11057" y="2962"/>
                  </a:lnTo>
                  <a:lnTo>
                    <a:pt x="8128" y="4984"/>
                  </a:lnTo>
                  <a:lnTo>
                    <a:pt x="5561" y="7449"/>
                  </a:lnTo>
                  <a:lnTo>
                    <a:pt x="3423" y="10295"/>
                  </a:lnTo>
                  <a:lnTo>
                    <a:pt x="1769" y="13446"/>
                  </a:lnTo>
                  <a:lnTo>
                    <a:pt x="642" y="16822"/>
                  </a:lnTo>
                  <a:lnTo>
                    <a:pt x="71" y="20335"/>
                  </a:lnTo>
                  <a:lnTo>
                    <a:pt x="0" y="22114"/>
                  </a:lnTo>
                  <a:lnTo>
                    <a:pt x="0" y="139725"/>
                  </a:lnTo>
                  <a:lnTo>
                    <a:pt x="71" y="137946"/>
                  </a:lnTo>
                  <a:lnTo>
                    <a:pt x="71" y="141505"/>
                  </a:lnTo>
                  <a:lnTo>
                    <a:pt x="642" y="145018"/>
                  </a:lnTo>
                  <a:lnTo>
                    <a:pt x="1769" y="148393"/>
                  </a:lnTo>
                  <a:lnTo>
                    <a:pt x="3423" y="151545"/>
                  </a:lnTo>
                  <a:lnTo>
                    <a:pt x="5561" y="154390"/>
                  </a:lnTo>
                  <a:lnTo>
                    <a:pt x="8128" y="156855"/>
                  </a:lnTo>
                  <a:lnTo>
                    <a:pt x="11057" y="158877"/>
                  </a:lnTo>
                  <a:lnTo>
                    <a:pt x="14272" y="160403"/>
                  </a:lnTo>
                  <a:lnTo>
                    <a:pt x="17691" y="161393"/>
                  </a:lnTo>
                  <a:lnTo>
                    <a:pt x="21224" y="161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tx233"/>
            <p:cNvSpPr/>
            <p:nvPr/>
          </p:nvSpPr>
          <p:spPr>
            <a:xfrm>
              <a:off x="4731135" y="2229738"/>
              <a:ext cx="447463" cy="111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p &lt; .001</a:t>
              </a:r>
            </a:p>
          </p:txBody>
        </p:sp>
        <p:sp>
          <p:nvSpPr>
            <p:cNvPr id="234" name="pg234"/>
            <p:cNvSpPr/>
            <p:nvPr/>
          </p:nvSpPr>
          <p:spPr>
            <a:xfrm>
              <a:off x="5455838" y="2216276"/>
              <a:ext cx="521178" cy="161840"/>
            </a:xfrm>
            <a:custGeom>
              <a:avLst/>
              <a:pathLst>
                <a:path w="521178" h="161840">
                  <a:moveTo>
                    <a:pt x="22114" y="161840"/>
                  </a:moveTo>
                  <a:lnTo>
                    <a:pt x="499064" y="161840"/>
                  </a:lnTo>
                  <a:lnTo>
                    <a:pt x="498173" y="161822"/>
                  </a:lnTo>
                  <a:lnTo>
                    <a:pt x="501729" y="161679"/>
                  </a:lnTo>
                  <a:lnTo>
                    <a:pt x="505216" y="160967"/>
                  </a:lnTo>
                  <a:lnTo>
                    <a:pt x="508544" y="159705"/>
                  </a:lnTo>
                  <a:lnTo>
                    <a:pt x="511626" y="157925"/>
                  </a:lnTo>
                  <a:lnTo>
                    <a:pt x="514383" y="155674"/>
                  </a:lnTo>
                  <a:lnTo>
                    <a:pt x="516743" y="153010"/>
                  </a:lnTo>
                  <a:lnTo>
                    <a:pt x="518645" y="150002"/>
                  </a:lnTo>
                  <a:lnTo>
                    <a:pt x="520040" y="146728"/>
                  </a:lnTo>
                  <a:lnTo>
                    <a:pt x="520892" y="143273"/>
                  </a:lnTo>
                  <a:lnTo>
                    <a:pt x="521178" y="139725"/>
                  </a:lnTo>
                  <a:lnTo>
                    <a:pt x="521178" y="22114"/>
                  </a:lnTo>
                  <a:lnTo>
                    <a:pt x="520892" y="18567"/>
                  </a:lnTo>
                  <a:lnTo>
                    <a:pt x="520040" y="15111"/>
                  </a:lnTo>
                  <a:lnTo>
                    <a:pt x="518645" y="11837"/>
                  </a:lnTo>
                  <a:lnTo>
                    <a:pt x="516743" y="8829"/>
                  </a:lnTo>
                  <a:lnTo>
                    <a:pt x="514383" y="6165"/>
                  </a:lnTo>
                  <a:lnTo>
                    <a:pt x="511626" y="3914"/>
                  </a:lnTo>
                  <a:lnTo>
                    <a:pt x="508544" y="2135"/>
                  </a:lnTo>
                  <a:lnTo>
                    <a:pt x="505216" y="873"/>
                  </a:lnTo>
                  <a:lnTo>
                    <a:pt x="501729" y="161"/>
                  </a:lnTo>
                  <a:lnTo>
                    <a:pt x="499064" y="0"/>
                  </a:lnTo>
                  <a:lnTo>
                    <a:pt x="22114" y="0"/>
                  </a:lnTo>
                  <a:lnTo>
                    <a:pt x="24780" y="161"/>
                  </a:lnTo>
                  <a:lnTo>
                    <a:pt x="21224" y="17"/>
                  </a:lnTo>
                  <a:lnTo>
                    <a:pt x="17691" y="446"/>
                  </a:lnTo>
                  <a:lnTo>
                    <a:pt x="14272" y="1437"/>
                  </a:lnTo>
                  <a:lnTo>
                    <a:pt x="11057" y="2962"/>
                  </a:lnTo>
                  <a:lnTo>
                    <a:pt x="8128" y="4984"/>
                  </a:lnTo>
                  <a:lnTo>
                    <a:pt x="5561" y="7449"/>
                  </a:lnTo>
                  <a:lnTo>
                    <a:pt x="3423" y="10295"/>
                  </a:lnTo>
                  <a:lnTo>
                    <a:pt x="1769" y="13446"/>
                  </a:lnTo>
                  <a:lnTo>
                    <a:pt x="642" y="16822"/>
                  </a:lnTo>
                  <a:lnTo>
                    <a:pt x="71" y="20335"/>
                  </a:lnTo>
                  <a:lnTo>
                    <a:pt x="0" y="22114"/>
                  </a:lnTo>
                  <a:lnTo>
                    <a:pt x="0" y="139725"/>
                  </a:lnTo>
                  <a:lnTo>
                    <a:pt x="71" y="137946"/>
                  </a:lnTo>
                  <a:lnTo>
                    <a:pt x="71" y="141505"/>
                  </a:lnTo>
                  <a:lnTo>
                    <a:pt x="642" y="145018"/>
                  </a:lnTo>
                  <a:lnTo>
                    <a:pt x="1769" y="148393"/>
                  </a:lnTo>
                  <a:lnTo>
                    <a:pt x="3423" y="151545"/>
                  </a:lnTo>
                  <a:lnTo>
                    <a:pt x="5561" y="154390"/>
                  </a:lnTo>
                  <a:lnTo>
                    <a:pt x="8128" y="156855"/>
                  </a:lnTo>
                  <a:lnTo>
                    <a:pt x="11057" y="158877"/>
                  </a:lnTo>
                  <a:lnTo>
                    <a:pt x="14272" y="160403"/>
                  </a:lnTo>
                  <a:lnTo>
                    <a:pt x="17691" y="161393"/>
                  </a:lnTo>
                  <a:lnTo>
                    <a:pt x="21224" y="161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tx235"/>
            <p:cNvSpPr/>
            <p:nvPr/>
          </p:nvSpPr>
          <p:spPr>
            <a:xfrm>
              <a:off x="5492696" y="2229738"/>
              <a:ext cx="447463" cy="111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p &lt; .001</a:t>
              </a:r>
            </a:p>
          </p:txBody>
        </p:sp>
        <p:sp>
          <p:nvSpPr>
            <p:cNvPr id="236" name="pg236"/>
            <p:cNvSpPr/>
            <p:nvPr/>
          </p:nvSpPr>
          <p:spPr>
            <a:xfrm>
              <a:off x="6217398" y="2216276"/>
              <a:ext cx="521178" cy="161840"/>
            </a:xfrm>
            <a:custGeom>
              <a:avLst/>
              <a:pathLst>
                <a:path w="521178" h="161840">
                  <a:moveTo>
                    <a:pt x="22114" y="161840"/>
                  </a:moveTo>
                  <a:lnTo>
                    <a:pt x="499064" y="161840"/>
                  </a:lnTo>
                  <a:lnTo>
                    <a:pt x="498173" y="161822"/>
                  </a:lnTo>
                  <a:lnTo>
                    <a:pt x="501729" y="161679"/>
                  </a:lnTo>
                  <a:lnTo>
                    <a:pt x="505216" y="160967"/>
                  </a:lnTo>
                  <a:lnTo>
                    <a:pt x="508544" y="159705"/>
                  </a:lnTo>
                  <a:lnTo>
                    <a:pt x="511626" y="157925"/>
                  </a:lnTo>
                  <a:lnTo>
                    <a:pt x="514383" y="155674"/>
                  </a:lnTo>
                  <a:lnTo>
                    <a:pt x="516743" y="153010"/>
                  </a:lnTo>
                  <a:lnTo>
                    <a:pt x="518645" y="150002"/>
                  </a:lnTo>
                  <a:lnTo>
                    <a:pt x="520040" y="146728"/>
                  </a:lnTo>
                  <a:lnTo>
                    <a:pt x="520892" y="143273"/>
                  </a:lnTo>
                  <a:lnTo>
                    <a:pt x="521178" y="139725"/>
                  </a:lnTo>
                  <a:lnTo>
                    <a:pt x="521178" y="22114"/>
                  </a:lnTo>
                  <a:lnTo>
                    <a:pt x="520892" y="18567"/>
                  </a:lnTo>
                  <a:lnTo>
                    <a:pt x="520040" y="15111"/>
                  </a:lnTo>
                  <a:lnTo>
                    <a:pt x="518645" y="11837"/>
                  </a:lnTo>
                  <a:lnTo>
                    <a:pt x="516743" y="8829"/>
                  </a:lnTo>
                  <a:lnTo>
                    <a:pt x="514383" y="6165"/>
                  </a:lnTo>
                  <a:lnTo>
                    <a:pt x="511626" y="3914"/>
                  </a:lnTo>
                  <a:lnTo>
                    <a:pt x="508544" y="2135"/>
                  </a:lnTo>
                  <a:lnTo>
                    <a:pt x="505216" y="873"/>
                  </a:lnTo>
                  <a:lnTo>
                    <a:pt x="501729" y="161"/>
                  </a:lnTo>
                  <a:lnTo>
                    <a:pt x="499064" y="0"/>
                  </a:lnTo>
                  <a:lnTo>
                    <a:pt x="22114" y="0"/>
                  </a:lnTo>
                  <a:lnTo>
                    <a:pt x="24780" y="161"/>
                  </a:lnTo>
                  <a:lnTo>
                    <a:pt x="21224" y="17"/>
                  </a:lnTo>
                  <a:lnTo>
                    <a:pt x="17691" y="446"/>
                  </a:lnTo>
                  <a:lnTo>
                    <a:pt x="14272" y="1437"/>
                  </a:lnTo>
                  <a:lnTo>
                    <a:pt x="11057" y="2962"/>
                  </a:lnTo>
                  <a:lnTo>
                    <a:pt x="8128" y="4984"/>
                  </a:lnTo>
                  <a:lnTo>
                    <a:pt x="5561" y="7449"/>
                  </a:lnTo>
                  <a:lnTo>
                    <a:pt x="3423" y="10295"/>
                  </a:lnTo>
                  <a:lnTo>
                    <a:pt x="1769" y="13446"/>
                  </a:lnTo>
                  <a:lnTo>
                    <a:pt x="642" y="16822"/>
                  </a:lnTo>
                  <a:lnTo>
                    <a:pt x="71" y="20335"/>
                  </a:lnTo>
                  <a:lnTo>
                    <a:pt x="0" y="22114"/>
                  </a:lnTo>
                  <a:lnTo>
                    <a:pt x="0" y="139725"/>
                  </a:lnTo>
                  <a:lnTo>
                    <a:pt x="71" y="137946"/>
                  </a:lnTo>
                  <a:lnTo>
                    <a:pt x="71" y="141505"/>
                  </a:lnTo>
                  <a:lnTo>
                    <a:pt x="642" y="145018"/>
                  </a:lnTo>
                  <a:lnTo>
                    <a:pt x="1769" y="148393"/>
                  </a:lnTo>
                  <a:lnTo>
                    <a:pt x="3423" y="151545"/>
                  </a:lnTo>
                  <a:lnTo>
                    <a:pt x="5561" y="154390"/>
                  </a:lnTo>
                  <a:lnTo>
                    <a:pt x="8128" y="156855"/>
                  </a:lnTo>
                  <a:lnTo>
                    <a:pt x="11057" y="158877"/>
                  </a:lnTo>
                  <a:lnTo>
                    <a:pt x="14272" y="160403"/>
                  </a:lnTo>
                  <a:lnTo>
                    <a:pt x="17691" y="161393"/>
                  </a:lnTo>
                  <a:lnTo>
                    <a:pt x="21224" y="161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" name="tx237"/>
            <p:cNvSpPr/>
            <p:nvPr/>
          </p:nvSpPr>
          <p:spPr>
            <a:xfrm>
              <a:off x="6254256" y="2229738"/>
              <a:ext cx="447463" cy="111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p &lt; .001</a:t>
              </a:r>
            </a:p>
          </p:txBody>
        </p:sp>
        <p:sp>
          <p:nvSpPr>
            <p:cNvPr id="238" name="pg238"/>
            <p:cNvSpPr/>
            <p:nvPr/>
          </p:nvSpPr>
          <p:spPr>
            <a:xfrm>
              <a:off x="6978959" y="2216276"/>
              <a:ext cx="521178" cy="161840"/>
            </a:xfrm>
            <a:custGeom>
              <a:avLst/>
              <a:pathLst>
                <a:path w="521178" h="161840">
                  <a:moveTo>
                    <a:pt x="22114" y="161840"/>
                  </a:moveTo>
                  <a:lnTo>
                    <a:pt x="499064" y="161840"/>
                  </a:lnTo>
                  <a:lnTo>
                    <a:pt x="498173" y="161822"/>
                  </a:lnTo>
                  <a:lnTo>
                    <a:pt x="501729" y="161679"/>
                  </a:lnTo>
                  <a:lnTo>
                    <a:pt x="505216" y="160967"/>
                  </a:lnTo>
                  <a:lnTo>
                    <a:pt x="508544" y="159705"/>
                  </a:lnTo>
                  <a:lnTo>
                    <a:pt x="511626" y="157925"/>
                  </a:lnTo>
                  <a:lnTo>
                    <a:pt x="514383" y="155674"/>
                  </a:lnTo>
                  <a:lnTo>
                    <a:pt x="516743" y="153010"/>
                  </a:lnTo>
                  <a:lnTo>
                    <a:pt x="518645" y="150002"/>
                  </a:lnTo>
                  <a:lnTo>
                    <a:pt x="520040" y="146728"/>
                  </a:lnTo>
                  <a:lnTo>
                    <a:pt x="520892" y="143273"/>
                  </a:lnTo>
                  <a:lnTo>
                    <a:pt x="521178" y="139725"/>
                  </a:lnTo>
                  <a:lnTo>
                    <a:pt x="521178" y="22114"/>
                  </a:lnTo>
                  <a:lnTo>
                    <a:pt x="520892" y="18567"/>
                  </a:lnTo>
                  <a:lnTo>
                    <a:pt x="520040" y="15111"/>
                  </a:lnTo>
                  <a:lnTo>
                    <a:pt x="518645" y="11837"/>
                  </a:lnTo>
                  <a:lnTo>
                    <a:pt x="516743" y="8829"/>
                  </a:lnTo>
                  <a:lnTo>
                    <a:pt x="514383" y="6165"/>
                  </a:lnTo>
                  <a:lnTo>
                    <a:pt x="511626" y="3914"/>
                  </a:lnTo>
                  <a:lnTo>
                    <a:pt x="508544" y="2135"/>
                  </a:lnTo>
                  <a:lnTo>
                    <a:pt x="505216" y="873"/>
                  </a:lnTo>
                  <a:lnTo>
                    <a:pt x="501729" y="161"/>
                  </a:lnTo>
                  <a:lnTo>
                    <a:pt x="499064" y="0"/>
                  </a:lnTo>
                  <a:lnTo>
                    <a:pt x="22114" y="0"/>
                  </a:lnTo>
                  <a:lnTo>
                    <a:pt x="24780" y="161"/>
                  </a:lnTo>
                  <a:lnTo>
                    <a:pt x="21224" y="17"/>
                  </a:lnTo>
                  <a:lnTo>
                    <a:pt x="17691" y="446"/>
                  </a:lnTo>
                  <a:lnTo>
                    <a:pt x="14272" y="1437"/>
                  </a:lnTo>
                  <a:lnTo>
                    <a:pt x="11057" y="2962"/>
                  </a:lnTo>
                  <a:lnTo>
                    <a:pt x="8128" y="4984"/>
                  </a:lnTo>
                  <a:lnTo>
                    <a:pt x="5561" y="7449"/>
                  </a:lnTo>
                  <a:lnTo>
                    <a:pt x="3423" y="10295"/>
                  </a:lnTo>
                  <a:lnTo>
                    <a:pt x="1769" y="13446"/>
                  </a:lnTo>
                  <a:lnTo>
                    <a:pt x="642" y="16822"/>
                  </a:lnTo>
                  <a:lnTo>
                    <a:pt x="71" y="20335"/>
                  </a:lnTo>
                  <a:lnTo>
                    <a:pt x="0" y="22114"/>
                  </a:lnTo>
                  <a:lnTo>
                    <a:pt x="0" y="139725"/>
                  </a:lnTo>
                  <a:lnTo>
                    <a:pt x="71" y="137946"/>
                  </a:lnTo>
                  <a:lnTo>
                    <a:pt x="71" y="141505"/>
                  </a:lnTo>
                  <a:lnTo>
                    <a:pt x="642" y="145018"/>
                  </a:lnTo>
                  <a:lnTo>
                    <a:pt x="1769" y="148393"/>
                  </a:lnTo>
                  <a:lnTo>
                    <a:pt x="3423" y="151545"/>
                  </a:lnTo>
                  <a:lnTo>
                    <a:pt x="5561" y="154390"/>
                  </a:lnTo>
                  <a:lnTo>
                    <a:pt x="8128" y="156855"/>
                  </a:lnTo>
                  <a:lnTo>
                    <a:pt x="11057" y="158877"/>
                  </a:lnTo>
                  <a:lnTo>
                    <a:pt x="14272" y="160403"/>
                  </a:lnTo>
                  <a:lnTo>
                    <a:pt x="17691" y="161393"/>
                  </a:lnTo>
                  <a:lnTo>
                    <a:pt x="21224" y="161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tx239"/>
            <p:cNvSpPr/>
            <p:nvPr/>
          </p:nvSpPr>
          <p:spPr>
            <a:xfrm>
              <a:off x="7015816" y="2229738"/>
              <a:ext cx="447463" cy="111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p &lt; .001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2141760" y="1720035"/>
              <a:ext cx="1001725" cy="1473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Forward slope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5609680" y="1720035"/>
              <a:ext cx="975055" cy="1473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Reverse slope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1368122" y="600407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2129683" y="6004011"/>
              <a:ext cx="264318" cy="111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6 sq.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2891243" y="6004130"/>
              <a:ext cx="264318" cy="1109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8 sq.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3618900" y="600407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12 sq.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4822708" y="600407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5584268" y="6004011"/>
              <a:ext cx="264318" cy="111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6 sq.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6345828" y="6004130"/>
              <a:ext cx="264318" cy="1109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8 sq.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7073486" y="600407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12 sq.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805536" y="5732950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0.0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805536" y="4884267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0.5</a:t>
              </a:r>
            </a:p>
          </p:txBody>
        </p:sp>
        <p:sp>
          <p:nvSpPr>
            <p:cNvPr id="252" name="tx252"/>
            <p:cNvSpPr/>
            <p:nvPr/>
          </p:nvSpPr>
          <p:spPr>
            <a:xfrm>
              <a:off x="805536" y="4035585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1.0</a:t>
              </a:r>
            </a:p>
          </p:txBody>
        </p:sp>
        <p:sp>
          <p:nvSpPr>
            <p:cNvPr id="253" name="tx253"/>
            <p:cNvSpPr/>
            <p:nvPr/>
          </p:nvSpPr>
          <p:spPr>
            <a:xfrm>
              <a:off x="805536" y="3187438"/>
              <a:ext cx="169485" cy="870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1.5</a:t>
              </a:r>
            </a:p>
          </p:txBody>
        </p:sp>
        <p:sp>
          <p:nvSpPr>
            <p:cNvPr id="254" name="tx254"/>
            <p:cNvSpPr/>
            <p:nvPr/>
          </p:nvSpPr>
          <p:spPr>
            <a:xfrm>
              <a:off x="805536" y="2337922"/>
              <a:ext cx="169485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2.0</a:t>
              </a:r>
            </a:p>
          </p:txBody>
        </p:sp>
        <p:sp>
          <p:nvSpPr>
            <p:cNvPr id="255" name="tx255"/>
            <p:cNvSpPr/>
            <p:nvPr/>
          </p:nvSpPr>
          <p:spPr>
            <a:xfrm rot="-5400000">
              <a:off x="-890254" y="3880094"/>
              <a:ext cx="3104182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Each person's slope (dots); mean and 95% CI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1043346" y="1404589"/>
              <a:ext cx="5082108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Is the slope different from 1 at each level? (experience; p vs 1, Holm)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7315200" cy="4892040"/>
            <a:chOff x="548640" y="1371600"/>
            <a:chExt cx="7315200" cy="489204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7315200" cy="48920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111152" y="3691764"/>
              <a:ext cx="6676772" cy="0"/>
            </a:xfrm>
            <a:custGeom>
              <a:avLst/>
              <a:pathLst>
                <a:path w="6676772" h="0">
                  <a:moveTo>
                    <a:pt x="0" y="0"/>
                  </a:moveTo>
                  <a:lnTo>
                    <a:pt x="6676772" y="0"/>
                  </a:lnTo>
                  <a:lnTo>
                    <a:pt x="667677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111152" y="3141575"/>
              <a:ext cx="6676772" cy="0"/>
            </a:xfrm>
            <a:custGeom>
              <a:avLst/>
              <a:pathLst>
                <a:path w="6676772" h="0">
                  <a:moveTo>
                    <a:pt x="0" y="0"/>
                  </a:moveTo>
                  <a:lnTo>
                    <a:pt x="6676772" y="0"/>
                  </a:lnTo>
                  <a:lnTo>
                    <a:pt x="667677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111152" y="2591385"/>
              <a:ext cx="6676772" cy="0"/>
            </a:xfrm>
            <a:custGeom>
              <a:avLst/>
              <a:pathLst>
                <a:path w="6676772" h="0">
                  <a:moveTo>
                    <a:pt x="0" y="0"/>
                  </a:moveTo>
                  <a:lnTo>
                    <a:pt x="6676772" y="0"/>
                  </a:lnTo>
                  <a:lnTo>
                    <a:pt x="667677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111152" y="2041195"/>
              <a:ext cx="6676772" cy="0"/>
            </a:xfrm>
            <a:custGeom>
              <a:avLst/>
              <a:pathLst>
                <a:path w="6676772" h="0">
                  <a:moveTo>
                    <a:pt x="0" y="0"/>
                  </a:moveTo>
                  <a:lnTo>
                    <a:pt x="6676772" y="0"/>
                  </a:lnTo>
                  <a:lnTo>
                    <a:pt x="667677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064976" y="1944993"/>
              <a:ext cx="0" cy="1769222"/>
            </a:xfrm>
            <a:custGeom>
              <a:avLst/>
              <a:pathLst>
                <a:path w="0" h="1769222">
                  <a:moveTo>
                    <a:pt x="0" y="17692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54684" y="1944993"/>
              <a:ext cx="0" cy="1769222"/>
            </a:xfrm>
            <a:custGeom>
              <a:avLst/>
              <a:pathLst>
                <a:path w="0" h="1769222">
                  <a:moveTo>
                    <a:pt x="0" y="17692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244392" y="1944993"/>
              <a:ext cx="0" cy="1769222"/>
            </a:xfrm>
            <a:custGeom>
              <a:avLst/>
              <a:pathLst>
                <a:path w="0" h="1769222">
                  <a:moveTo>
                    <a:pt x="0" y="17692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34100" y="1944993"/>
              <a:ext cx="0" cy="1769222"/>
            </a:xfrm>
            <a:custGeom>
              <a:avLst/>
              <a:pathLst>
                <a:path w="0" h="1769222">
                  <a:moveTo>
                    <a:pt x="0" y="17692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111152" y="2591385"/>
              <a:ext cx="6676772" cy="0"/>
            </a:xfrm>
            <a:custGeom>
              <a:avLst/>
              <a:pathLst>
                <a:path w="6676772" h="0">
                  <a:moveTo>
                    <a:pt x="0" y="0"/>
                  </a:moveTo>
                  <a:lnTo>
                    <a:pt x="6676772" y="0"/>
                  </a:lnTo>
                  <a:lnTo>
                    <a:pt x="6676772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064976" y="2705602"/>
              <a:ext cx="4769123" cy="318554"/>
            </a:xfrm>
            <a:custGeom>
              <a:avLst/>
              <a:pathLst>
                <a:path w="4769123" h="318554">
                  <a:moveTo>
                    <a:pt x="0" y="318554"/>
                  </a:moveTo>
                  <a:lnTo>
                    <a:pt x="1589707" y="46954"/>
                  </a:lnTo>
                  <a:lnTo>
                    <a:pt x="3179415" y="95469"/>
                  </a:lnTo>
                  <a:lnTo>
                    <a:pt x="4769123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064976" y="2476085"/>
              <a:ext cx="4769123" cy="503600"/>
            </a:xfrm>
            <a:custGeom>
              <a:avLst/>
              <a:pathLst>
                <a:path w="4769123" h="503600">
                  <a:moveTo>
                    <a:pt x="0" y="111315"/>
                  </a:moveTo>
                  <a:lnTo>
                    <a:pt x="1589707" y="0"/>
                  </a:lnTo>
                  <a:lnTo>
                    <a:pt x="3179415" y="503600"/>
                  </a:lnTo>
                  <a:lnTo>
                    <a:pt x="4769123" y="290552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064976" y="2092869"/>
              <a:ext cx="4769123" cy="143181"/>
            </a:xfrm>
            <a:custGeom>
              <a:avLst/>
              <a:pathLst>
                <a:path w="4769123" h="143181">
                  <a:moveTo>
                    <a:pt x="0" y="140132"/>
                  </a:moveTo>
                  <a:lnTo>
                    <a:pt x="1589707" y="143181"/>
                  </a:lnTo>
                  <a:lnTo>
                    <a:pt x="3179415" y="104363"/>
                  </a:lnTo>
                  <a:lnTo>
                    <a:pt x="4769123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064976" y="2647454"/>
              <a:ext cx="4769123" cy="180886"/>
            </a:xfrm>
            <a:custGeom>
              <a:avLst/>
              <a:pathLst>
                <a:path w="4769123" h="180886">
                  <a:moveTo>
                    <a:pt x="0" y="32264"/>
                  </a:moveTo>
                  <a:lnTo>
                    <a:pt x="1589707" y="0"/>
                  </a:lnTo>
                  <a:lnTo>
                    <a:pt x="3179415" y="35417"/>
                  </a:lnTo>
                  <a:lnTo>
                    <a:pt x="4769123" y="180886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64976" y="2684637"/>
              <a:ext cx="4769123" cy="204783"/>
            </a:xfrm>
            <a:custGeom>
              <a:avLst/>
              <a:pathLst>
                <a:path w="4769123" h="204783">
                  <a:moveTo>
                    <a:pt x="0" y="0"/>
                  </a:moveTo>
                  <a:lnTo>
                    <a:pt x="1589707" y="109004"/>
                  </a:lnTo>
                  <a:lnTo>
                    <a:pt x="3179415" y="204783"/>
                  </a:lnTo>
                  <a:lnTo>
                    <a:pt x="4769123" y="7316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64976" y="2682229"/>
              <a:ext cx="4769123" cy="128000"/>
            </a:xfrm>
            <a:custGeom>
              <a:avLst/>
              <a:pathLst>
                <a:path w="4769123" h="128000">
                  <a:moveTo>
                    <a:pt x="0" y="128000"/>
                  </a:moveTo>
                  <a:lnTo>
                    <a:pt x="1589707" y="24889"/>
                  </a:lnTo>
                  <a:lnTo>
                    <a:pt x="3179415" y="0"/>
                  </a:lnTo>
                  <a:lnTo>
                    <a:pt x="4769123" y="76659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064976" y="2607029"/>
              <a:ext cx="4769123" cy="483127"/>
            </a:xfrm>
            <a:custGeom>
              <a:avLst/>
              <a:pathLst>
                <a:path w="4769123" h="483127">
                  <a:moveTo>
                    <a:pt x="0" y="183849"/>
                  </a:moveTo>
                  <a:lnTo>
                    <a:pt x="1589707" y="483127"/>
                  </a:lnTo>
                  <a:lnTo>
                    <a:pt x="3179415" y="239010"/>
                  </a:lnTo>
                  <a:lnTo>
                    <a:pt x="4769123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064976" y="2393411"/>
              <a:ext cx="4769123" cy="258602"/>
            </a:xfrm>
            <a:custGeom>
              <a:avLst/>
              <a:pathLst>
                <a:path w="4769123" h="258602">
                  <a:moveTo>
                    <a:pt x="0" y="59417"/>
                  </a:moveTo>
                  <a:lnTo>
                    <a:pt x="1589707" y="25740"/>
                  </a:lnTo>
                  <a:lnTo>
                    <a:pt x="3179415" y="258602"/>
                  </a:lnTo>
                  <a:lnTo>
                    <a:pt x="4769123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064976" y="2705718"/>
              <a:ext cx="4769123" cy="417370"/>
            </a:xfrm>
            <a:custGeom>
              <a:avLst/>
              <a:pathLst>
                <a:path w="4769123" h="417370">
                  <a:moveTo>
                    <a:pt x="0" y="292221"/>
                  </a:moveTo>
                  <a:lnTo>
                    <a:pt x="1589707" y="404539"/>
                  </a:lnTo>
                  <a:lnTo>
                    <a:pt x="3179415" y="417370"/>
                  </a:lnTo>
                  <a:lnTo>
                    <a:pt x="4769123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64976" y="2637835"/>
              <a:ext cx="4769123" cy="325019"/>
            </a:xfrm>
            <a:custGeom>
              <a:avLst/>
              <a:pathLst>
                <a:path w="4769123" h="325019">
                  <a:moveTo>
                    <a:pt x="0" y="325019"/>
                  </a:moveTo>
                  <a:lnTo>
                    <a:pt x="1589707" y="65393"/>
                  </a:lnTo>
                  <a:lnTo>
                    <a:pt x="3179415" y="186734"/>
                  </a:lnTo>
                  <a:lnTo>
                    <a:pt x="4769123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64976" y="2165685"/>
              <a:ext cx="4769123" cy="721832"/>
            </a:xfrm>
            <a:custGeom>
              <a:avLst/>
              <a:pathLst>
                <a:path w="4769123" h="721832">
                  <a:moveTo>
                    <a:pt x="0" y="0"/>
                  </a:moveTo>
                  <a:lnTo>
                    <a:pt x="1589707" y="323848"/>
                  </a:lnTo>
                  <a:lnTo>
                    <a:pt x="3179415" y="507971"/>
                  </a:lnTo>
                  <a:lnTo>
                    <a:pt x="4769123" y="721832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064976" y="2440115"/>
              <a:ext cx="4769123" cy="260982"/>
            </a:xfrm>
            <a:custGeom>
              <a:avLst/>
              <a:pathLst>
                <a:path w="4769123" h="260982">
                  <a:moveTo>
                    <a:pt x="0" y="260982"/>
                  </a:moveTo>
                  <a:lnTo>
                    <a:pt x="1589707" y="183983"/>
                  </a:lnTo>
                  <a:lnTo>
                    <a:pt x="3179415" y="136115"/>
                  </a:lnTo>
                  <a:lnTo>
                    <a:pt x="4769123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064976" y="2871603"/>
              <a:ext cx="4769123" cy="296996"/>
            </a:xfrm>
            <a:custGeom>
              <a:avLst/>
              <a:pathLst>
                <a:path w="4769123" h="296996">
                  <a:moveTo>
                    <a:pt x="0" y="0"/>
                  </a:moveTo>
                  <a:lnTo>
                    <a:pt x="1589707" y="179671"/>
                  </a:lnTo>
                  <a:lnTo>
                    <a:pt x="3179415" y="276654"/>
                  </a:lnTo>
                  <a:lnTo>
                    <a:pt x="4769123" y="296996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064976" y="2233762"/>
              <a:ext cx="4769123" cy="525459"/>
            </a:xfrm>
            <a:custGeom>
              <a:avLst/>
              <a:pathLst>
                <a:path w="4769123" h="525459">
                  <a:moveTo>
                    <a:pt x="0" y="0"/>
                  </a:moveTo>
                  <a:lnTo>
                    <a:pt x="1589707" y="188603"/>
                  </a:lnTo>
                  <a:lnTo>
                    <a:pt x="3179415" y="525459"/>
                  </a:lnTo>
                  <a:lnTo>
                    <a:pt x="4769123" y="4475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064976" y="2262569"/>
              <a:ext cx="4769123" cy="854415"/>
            </a:xfrm>
            <a:custGeom>
              <a:avLst/>
              <a:pathLst>
                <a:path w="4769123" h="854415">
                  <a:moveTo>
                    <a:pt x="0" y="687044"/>
                  </a:moveTo>
                  <a:lnTo>
                    <a:pt x="1589707" y="854415"/>
                  </a:lnTo>
                  <a:lnTo>
                    <a:pt x="3179415" y="633732"/>
                  </a:lnTo>
                  <a:lnTo>
                    <a:pt x="4769123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064976" y="3082256"/>
              <a:ext cx="4769123" cy="157909"/>
            </a:xfrm>
            <a:custGeom>
              <a:avLst/>
              <a:pathLst>
                <a:path w="4769123" h="157909">
                  <a:moveTo>
                    <a:pt x="0" y="6234"/>
                  </a:moveTo>
                  <a:lnTo>
                    <a:pt x="1589707" y="157909"/>
                  </a:lnTo>
                  <a:lnTo>
                    <a:pt x="3179415" y="28988"/>
                  </a:lnTo>
                  <a:lnTo>
                    <a:pt x="4769123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064976" y="3307895"/>
              <a:ext cx="4769123" cy="325901"/>
            </a:xfrm>
            <a:custGeom>
              <a:avLst/>
              <a:pathLst>
                <a:path w="4769123" h="325901">
                  <a:moveTo>
                    <a:pt x="0" y="0"/>
                  </a:moveTo>
                  <a:lnTo>
                    <a:pt x="1589707" y="49175"/>
                  </a:lnTo>
                  <a:lnTo>
                    <a:pt x="3179415" y="325901"/>
                  </a:lnTo>
                  <a:lnTo>
                    <a:pt x="4769123" y="2237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064976" y="2025412"/>
              <a:ext cx="4769123" cy="585510"/>
            </a:xfrm>
            <a:custGeom>
              <a:avLst/>
              <a:pathLst>
                <a:path w="4769123" h="585510">
                  <a:moveTo>
                    <a:pt x="0" y="383405"/>
                  </a:moveTo>
                  <a:lnTo>
                    <a:pt x="1589707" y="424301"/>
                  </a:lnTo>
                  <a:lnTo>
                    <a:pt x="3179415" y="585510"/>
                  </a:lnTo>
                  <a:lnTo>
                    <a:pt x="4769123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064976" y="2281116"/>
              <a:ext cx="4769123" cy="530546"/>
            </a:xfrm>
            <a:custGeom>
              <a:avLst/>
              <a:pathLst>
                <a:path w="4769123" h="530546">
                  <a:moveTo>
                    <a:pt x="0" y="281135"/>
                  </a:moveTo>
                  <a:lnTo>
                    <a:pt x="1589707" y="0"/>
                  </a:lnTo>
                  <a:lnTo>
                    <a:pt x="3179415" y="530546"/>
                  </a:lnTo>
                  <a:lnTo>
                    <a:pt x="4769123" y="31556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064976" y="2213100"/>
              <a:ext cx="4769123" cy="563103"/>
            </a:xfrm>
            <a:custGeom>
              <a:avLst/>
              <a:pathLst>
                <a:path w="4769123" h="563103">
                  <a:moveTo>
                    <a:pt x="0" y="262709"/>
                  </a:moveTo>
                  <a:lnTo>
                    <a:pt x="1589707" y="563103"/>
                  </a:lnTo>
                  <a:lnTo>
                    <a:pt x="3179415" y="437253"/>
                  </a:lnTo>
                  <a:lnTo>
                    <a:pt x="4769123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064976" y="2889810"/>
              <a:ext cx="4769123" cy="492631"/>
            </a:xfrm>
            <a:custGeom>
              <a:avLst/>
              <a:pathLst>
                <a:path w="4769123" h="492631">
                  <a:moveTo>
                    <a:pt x="0" y="0"/>
                  </a:moveTo>
                  <a:lnTo>
                    <a:pt x="1589707" y="434462"/>
                  </a:lnTo>
                  <a:lnTo>
                    <a:pt x="3179415" y="492631"/>
                  </a:lnTo>
                  <a:lnTo>
                    <a:pt x="4769123" y="35855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969594" y="2577385"/>
              <a:ext cx="190764" cy="0"/>
            </a:xfrm>
            <a:custGeom>
              <a:avLst/>
              <a:pathLst>
                <a:path w="190764" h="0">
                  <a:moveTo>
                    <a:pt x="0" y="0"/>
                  </a:moveTo>
                  <a:lnTo>
                    <a:pt x="1907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064976" y="2577385"/>
              <a:ext cx="0" cy="262228"/>
            </a:xfrm>
            <a:custGeom>
              <a:avLst/>
              <a:pathLst>
                <a:path w="0" h="262228">
                  <a:moveTo>
                    <a:pt x="0" y="0"/>
                  </a:moveTo>
                  <a:lnTo>
                    <a:pt x="0" y="262228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969594" y="2839613"/>
              <a:ext cx="190764" cy="0"/>
            </a:xfrm>
            <a:custGeom>
              <a:avLst/>
              <a:pathLst>
                <a:path w="190764" h="0">
                  <a:moveTo>
                    <a:pt x="0" y="0"/>
                  </a:moveTo>
                  <a:lnTo>
                    <a:pt x="1907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559302" y="2617886"/>
              <a:ext cx="190764" cy="0"/>
            </a:xfrm>
            <a:custGeom>
              <a:avLst/>
              <a:pathLst>
                <a:path w="190764" h="0">
                  <a:moveTo>
                    <a:pt x="0" y="0"/>
                  </a:moveTo>
                  <a:lnTo>
                    <a:pt x="1907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654684" y="2617886"/>
              <a:ext cx="0" cy="294561"/>
            </a:xfrm>
            <a:custGeom>
              <a:avLst/>
              <a:pathLst>
                <a:path w="0" h="294561">
                  <a:moveTo>
                    <a:pt x="0" y="0"/>
                  </a:moveTo>
                  <a:lnTo>
                    <a:pt x="0" y="294561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559302" y="2912447"/>
              <a:ext cx="190764" cy="0"/>
            </a:xfrm>
            <a:custGeom>
              <a:avLst/>
              <a:pathLst>
                <a:path w="190764" h="0">
                  <a:moveTo>
                    <a:pt x="0" y="0"/>
                  </a:moveTo>
                  <a:lnTo>
                    <a:pt x="1907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49009" y="2722543"/>
              <a:ext cx="190764" cy="0"/>
            </a:xfrm>
            <a:custGeom>
              <a:avLst/>
              <a:pathLst>
                <a:path w="190764" h="0">
                  <a:moveTo>
                    <a:pt x="0" y="0"/>
                  </a:moveTo>
                  <a:lnTo>
                    <a:pt x="1907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244392" y="2722543"/>
              <a:ext cx="0" cy="262754"/>
            </a:xfrm>
            <a:custGeom>
              <a:avLst/>
              <a:pathLst>
                <a:path w="0" h="262754">
                  <a:moveTo>
                    <a:pt x="0" y="0"/>
                  </a:moveTo>
                  <a:lnTo>
                    <a:pt x="0" y="262754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149009" y="2985297"/>
              <a:ext cx="190764" cy="0"/>
            </a:xfrm>
            <a:custGeom>
              <a:avLst/>
              <a:pathLst>
                <a:path w="190764" h="0">
                  <a:moveTo>
                    <a:pt x="0" y="0"/>
                  </a:moveTo>
                  <a:lnTo>
                    <a:pt x="1907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6738717" y="2496491"/>
              <a:ext cx="190764" cy="0"/>
            </a:xfrm>
            <a:custGeom>
              <a:avLst/>
              <a:pathLst>
                <a:path w="190764" h="0">
                  <a:moveTo>
                    <a:pt x="0" y="0"/>
                  </a:moveTo>
                  <a:lnTo>
                    <a:pt x="1907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6834100" y="2496491"/>
              <a:ext cx="0" cy="313845"/>
            </a:xfrm>
            <a:custGeom>
              <a:avLst/>
              <a:pathLst>
                <a:path w="0" h="313845">
                  <a:moveTo>
                    <a:pt x="0" y="0"/>
                  </a:moveTo>
                  <a:lnTo>
                    <a:pt x="0" y="313845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6738717" y="2810337"/>
              <a:ext cx="190764" cy="0"/>
            </a:xfrm>
            <a:custGeom>
              <a:avLst/>
              <a:pathLst>
                <a:path w="190764" h="0">
                  <a:moveTo>
                    <a:pt x="0" y="0"/>
                  </a:moveTo>
                  <a:lnTo>
                    <a:pt x="1907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064976" y="2653414"/>
              <a:ext cx="4769123" cy="200505"/>
            </a:xfrm>
            <a:custGeom>
              <a:avLst/>
              <a:pathLst>
                <a:path w="4769123" h="200505">
                  <a:moveTo>
                    <a:pt x="0" y="55085"/>
                  </a:moveTo>
                  <a:lnTo>
                    <a:pt x="1589707" y="111752"/>
                  </a:lnTo>
                  <a:lnTo>
                    <a:pt x="3179415" y="200505"/>
                  </a:lnTo>
                  <a:lnTo>
                    <a:pt x="4769123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027955" y="2671477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617663" y="2728145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5207370" y="2816898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6797078" y="2616392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111152" y="5774974"/>
              <a:ext cx="6676772" cy="0"/>
            </a:xfrm>
            <a:custGeom>
              <a:avLst/>
              <a:pathLst>
                <a:path w="6676772" h="0">
                  <a:moveTo>
                    <a:pt x="0" y="0"/>
                  </a:moveTo>
                  <a:lnTo>
                    <a:pt x="6676772" y="0"/>
                  </a:lnTo>
                  <a:lnTo>
                    <a:pt x="667677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111152" y="5416167"/>
              <a:ext cx="6676772" cy="0"/>
            </a:xfrm>
            <a:custGeom>
              <a:avLst/>
              <a:pathLst>
                <a:path w="6676772" h="0">
                  <a:moveTo>
                    <a:pt x="0" y="0"/>
                  </a:moveTo>
                  <a:lnTo>
                    <a:pt x="6676772" y="0"/>
                  </a:lnTo>
                  <a:lnTo>
                    <a:pt x="667677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111152" y="5057359"/>
              <a:ext cx="6676772" cy="0"/>
            </a:xfrm>
            <a:custGeom>
              <a:avLst/>
              <a:pathLst>
                <a:path w="6676772" h="0">
                  <a:moveTo>
                    <a:pt x="0" y="0"/>
                  </a:moveTo>
                  <a:lnTo>
                    <a:pt x="6676772" y="0"/>
                  </a:lnTo>
                  <a:lnTo>
                    <a:pt x="667677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1111152" y="4698552"/>
              <a:ext cx="6676772" cy="0"/>
            </a:xfrm>
            <a:custGeom>
              <a:avLst/>
              <a:pathLst>
                <a:path w="6676772" h="0">
                  <a:moveTo>
                    <a:pt x="0" y="0"/>
                  </a:moveTo>
                  <a:lnTo>
                    <a:pt x="6676772" y="0"/>
                  </a:lnTo>
                  <a:lnTo>
                    <a:pt x="667677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1111152" y="4339745"/>
              <a:ext cx="6676772" cy="0"/>
            </a:xfrm>
            <a:custGeom>
              <a:avLst/>
              <a:pathLst>
                <a:path w="6676772" h="0">
                  <a:moveTo>
                    <a:pt x="0" y="0"/>
                  </a:moveTo>
                  <a:lnTo>
                    <a:pt x="6676772" y="0"/>
                  </a:lnTo>
                  <a:lnTo>
                    <a:pt x="667677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064976" y="4235759"/>
              <a:ext cx="0" cy="1769222"/>
            </a:xfrm>
            <a:custGeom>
              <a:avLst/>
              <a:pathLst>
                <a:path w="0" h="1769222">
                  <a:moveTo>
                    <a:pt x="0" y="17692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654684" y="4235759"/>
              <a:ext cx="0" cy="1769222"/>
            </a:xfrm>
            <a:custGeom>
              <a:avLst/>
              <a:pathLst>
                <a:path w="0" h="1769222">
                  <a:moveTo>
                    <a:pt x="0" y="17692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244392" y="4235759"/>
              <a:ext cx="0" cy="1769222"/>
            </a:xfrm>
            <a:custGeom>
              <a:avLst/>
              <a:pathLst>
                <a:path w="0" h="1769222">
                  <a:moveTo>
                    <a:pt x="0" y="17692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6834100" y="4235759"/>
              <a:ext cx="0" cy="1769222"/>
            </a:xfrm>
            <a:custGeom>
              <a:avLst/>
              <a:pathLst>
                <a:path w="0" h="1769222">
                  <a:moveTo>
                    <a:pt x="0" y="17692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111152" y="4698552"/>
              <a:ext cx="6676772" cy="0"/>
            </a:xfrm>
            <a:custGeom>
              <a:avLst/>
              <a:pathLst>
                <a:path w="6676772" h="0">
                  <a:moveTo>
                    <a:pt x="0" y="0"/>
                  </a:moveTo>
                  <a:lnTo>
                    <a:pt x="6676772" y="0"/>
                  </a:lnTo>
                  <a:lnTo>
                    <a:pt x="6676772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064976" y="4869506"/>
              <a:ext cx="4769123" cy="579252"/>
            </a:xfrm>
            <a:custGeom>
              <a:avLst/>
              <a:pathLst>
                <a:path w="4769123" h="579252">
                  <a:moveTo>
                    <a:pt x="0" y="0"/>
                  </a:moveTo>
                  <a:lnTo>
                    <a:pt x="1589707" y="262189"/>
                  </a:lnTo>
                  <a:lnTo>
                    <a:pt x="3179415" y="256871"/>
                  </a:lnTo>
                  <a:lnTo>
                    <a:pt x="4769123" y="579252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064976" y="5145282"/>
              <a:ext cx="4769123" cy="239041"/>
            </a:xfrm>
            <a:custGeom>
              <a:avLst/>
              <a:pathLst>
                <a:path w="4769123" h="239041">
                  <a:moveTo>
                    <a:pt x="0" y="154882"/>
                  </a:moveTo>
                  <a:lnTo>
                    <a:pt x="1589707" y="239041"/>
                  </a:lnTo>
                  <a:lnTo>
                    <a:pt x="3179415" y="31610"/>
                  </a:lnTo>
                  <a:lnTo>
                    <a:pt x="4769123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064976" y="5187547"/>
              <a:ext cx="4769123" cy="181222"/>
            </a:xfrm>
            <a:custGeom>
              <a:avLst/>
              <a:pathLst>
                <a:path w="4769123" h="181222">
                  <a:moveTo>
                    <a:pt x="0" y="118743"/>
                  </a:moveTo>
                  <a:lnTo>
                    <a:pt x="1589707" y="0"/>
                  </a:lnTo>
                  <a:lnTo>
                    <a:pt x="3179415" y="181222"/>
                  </a:lnTo>
                  <a:lnTo>
                    <a:pt x="4769123" y="11108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064976" y="4876780"/>
              <a:ext cx="4769123" cy="374425"/>
            </a:xfrm>
            <a:custGeom>
              <a:avLst/>
              <a:pathLst>
                <a:path w="4769123" h="374425">
                  <a:moveTo>
                    <a:pt x="0" y="0"/>
                  </a:moveTo>
                  <a:lnTo>
                    <a:pt x="1589707" y="374425"/>
                  </a:lnTo>
                  <a:lnTo>
                    <a:pt x="3179415" y="256868"/>
                  </a:lnTo>
                  <a:lnTo>
                    <a:pt x="4769123" y="181822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064976" y="4692526"/>
              <a:ext cx="4769123" cy="277886"/>
            </a:xfrm>
            <a:custGeom>
              <a:avLst/>
              <a:pathLst>
                <a:path w="4769123" h="277886">
                  <a:moveTo>
                    <a:pt x="0" y="0"/>
                  </a:moveTo>
                  <a:lnTo>
                    <a:pt x="1589707" y="277886"/>
                  </a:lnTo>
                  <a:lnTo>
                    <a:pt x="3179415" y="134660"/>
                  </a:lnTo>
                  <a:lnTo>
                    <a:pt x="4769123" y="18877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064976" y="4908036"/>
              <a:ext cx="4769123" cy="239286"/>
            </a:xfrm>
            <a:custGeom>
              <a:avLst/>
              <a:pathLst>
                <a:path w="4769123" h="239286">
                  <a:moveTo>
                    <a:pt x="0" y="144795"/>
                  </a:moveTo>
                  <a:lnTo>
                    <a:pt x="1589707" y="85330"/>
                  </a:lnTo>
                  <a:lnTo>
                    <a:pt x="3179415" y="239286"/>
                  </a:lnTo>
                  <a:lnTo>
                    <a:pt x="4769123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064976" y="5265593"/>
              <a:ext cx="4769123" cy="257744"/>
            </a:xfrm>
            <a:custGeom>
              <a:avLst/>
              <a:pathLst>
                <a:path w="4769123" h="257744">
                  <a:moveTo>
                    <a:pt x="0" y="42383"/>
                  </a:moveTo>
                  <a:lnTo>
                    <a:pt x="1589707" y="132011"/>
                  </a:lnTo>
                  <a:lnTo>
                    <a:pt x="3179415" y="257744"/>
                  </a:lnTo>
                  <a:lnTo>
                    <a:pt x="4769123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064976" y="5166355"/>
              <a:ext cx="4769123" cy="174366"/>
            </a:xfrm>
            <a:custGeom>
              <a:avLst/>
              <a:pathLst>
                <a:path w="4769123" h="174366">
                  <a:moveTo>
                    <a:pt x="0" y="174366"/>
                  </a:moveTo>
                  <a:lnTo>
                    <a:pt x="1589707" y="32213"/>
                  </a:lnTo>
                  <a:lnTo>
                    <a:pt x="3179415" y="0"/>
                  </a:lnTo>
                  <a:lnTo>
                    <a:pt x="4769123" y="7705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064976" y="5036359"/>
              <a:ext cx="4769123" cy="519140"/>
            </a:xfrm>
            <a:custGeom>
              <a:avLst/>
              <a:pathLst>
                <a:path w="4769123" h="519140">
                  <a:moveTo>
                    <a:pt x="0" y="0"/>
                  </a:moveTo>
                  <a:lnTo>
                    <a:pt x="1589707" y="137284"/>
                  </a:lnTo>
                  <a:lnTo>
                    <a:pt x="3179415" y="519140"/>
                  </a:lnTo>
                  <a:lnTo>
                    <a:pt x="4769123" y="28512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064976" y="4861779"/>
              <a:ext cx="4769123" cy="226969"/>
            </a:xfrm>
            <a:custGeom>
              <a:avLst/>
              <a:pathLst>
                <a:path w="4769123" h="226969">
                  <a:moveTo>
                    <a:pt x="0" y="0"/>
                  </a:moveTo>
                  <a:lnTo>
                    <a:pt x="1589707" y="62889"/>
                  </a:lnTo>
                  <a:lnTo>
                    <a:pt x="3179415" y="226969"/>
                  </a:lnTo>
                  <a:lnTo>
                    <a:pt x="4769123" y="7118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064976" y="4809894"/>
              <a:ext cx="4769123" cy="402240"/>
            </a:xfrm>
            <a:custGeom>
              <a:avLst/>
              <a:pathLst>
                <a:path w="4769123" h="402240">
                  <a:moveTo>
                    <a:pt x="0" y="402240"/>
                  </a:moveTo>
                  <a:lnTo>
                    <a:pt x="1589707" y="230947"/>
                  </a:lnTo>
                  <a:lnTo>
                    <a:pt x="3179415" y="0"/>
                  </a:lnTo>
                  <a:lnTo>
                    <a:pt x="4769123" y="344812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064976" y="4771618"/>
              <a:ext cx="4769123" cy="316456"/>
            </a:xfrm>
            <a:custGeom>
              <a:avLst/>
              <a:pathLst>
                <a:path w="4769123" h="316456">
                  <a:moveTo>
                    <a:pt x="0" y="0"/>
                  </a:moveTo>
                  <a:lnTo>
                    <a:pt x="1589707" y="83390"/>
                  </a:lnTo>
                  <a:lnTo>
                    <a:pt x="3179415" y="313054"/>
                  </a:lnTo>
                  <a:lnTo>
                    <a:pt x="4769123" y="316456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064976" y="4316178"/>
              <a:ext cx="4769123" cy="443268"/>
            </a:xfrm>
            <a:custGeom>
              <a:avLst/>
              <a:pathLst>
                <a:path w="4769123" h="443268">
                  <a:moveTo>
                    <a:pt x="0" y="443268"/>
                  </a:moveTo>
                  <a:lnTo>
                    <a:pt x="1589707" y="363781"/>
                  </a:lnTo>
                  <a:lnTo>
                    <a:pt x="3179415" y="0"/>
                  </a:lnTo>
                  <a:lnTo>
                    <a:pt x="4769123" y="41323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064976" y="5180947"/>
              <a:ext cx="4769123" cy="213914"/>
            </a:xfrm>
            <a:custGeom>
              <a:avLst/>
              <a:pathLst>
                <a:path w="4769123" h="213914">
                  <a:moveTo>
                    <a:pt x="0" y="126298"/>
                  </a:moveTo>
                  <a:lnTo>
                    <a:pt x="1589707" y="0"/>
                  </a:lnTo>
                  <a:lnTo>
                    <a:pt x="3179415" y="213914"/>
                  </a:lnTo>
                  <a:lnTo>
                    <a:pt x="4769123" y="184737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064976" y="5482594"/>
              <a:ext cx="4769123" cy="211376"/>
            </a:xfrm>
            <a:custGeom>
              <a:avLst/>
              <a:pathLst>
                <a:path w="4769123" h="211376">
                  <a:moveTo>
                    <a:pt x="0" y="0"/>
                  </a:moveTo>
                  <a:lnTo>
                    <a:pt x="1589707" y="211376"/>
                  </a:lnTo>
                  <a:lnTo>
                    <a:pt x="3179415" y="142804"/>
                  </a:lnTo>
                  <a:lnTo>
                    <a:pt x="4769123" y="2330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064976" y="4515917"/>
              <a:ext cx="4769123" cy="837596"/>
            </a:xfrm>
            <a:custGeom>
              <a:avLst/>
              <a:pathLst>
                <a:path w="4769123" h="837596">
                  <a:moveTo>
                    <a:pt x="0" y="0"/>
                  </a:moveTo>
                  <a:lnTo>
                    <a:pt x="1589707" y="837596"/>
                  </a:lnTo>
                  <a:lnTo>
                    <a:pt x="3179415" y="386256"/>
                  </a:lnTo>
                  <a:lnTo>
                    <a:pt x="4769123" y="30525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064976" y="4847989"/>
              <a:ext cx="4769123" cy="1076572"/>
            </a:xfrm>
            <a:custGeom>
              <a:avLst/>
              <a:pathLst>
                <a:path w="4769123" h="1076572">
                  <a:moveTo>
                    <a:pt x="0" y="0"/>
                  </a:moveTo>
                  <a:lnTo>
                    <a:pt x="1589707" y="525617"/>
                  </a:lnTo>
                  <a:lnTo>
                    <a:pt x="3179415" y="1076572"/>
                  </a:lnTo>
                  <a:lnTo>
                    <a:pt x="4769123" y="501627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064976" y="4954995"/>
              <a:ext cx="4769123" cy="411150"/>
            </a:xfrm>
            <a:custGeom>
              <a:avLst/>
              <a:pathLst>
                <a:path w="4769123" h="411150">
                  <a:moveTo>
                    <a:pt x="0" y="230709"/>
                  </a:moveTo>
                  <a:lnTo>
                    <a:pt x="1589707" y="282228"/>
                  </a:lnTo>
                  <a:lnTo>
                    <a:pt x="3179415" y="0"/>
                  </a:lnTo>
                  <a:lnTo>
                    <a:pt x="4769123" y="41115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064976" y="5300782"/>
              <a:ext cx="4769123" cy="259935"/>
            </a:xfrm>
            <a:custGeom>
              <a:avLst/>
              <a:pathLst>
                <a:path w="4769123" h="259935">
                  <a:moveTo>
                    <a:pt x="0" y="0"/>
                  </a:moveTo>
                  <a:lnTo>
                    <a:pt x="1589707" y="237713"/>
                  </a:lnTo>
                  <a:lnTo>
                    <a:pt x="3179415" y="259935"/>
                  </a:lnTo>
                  <a:lnTo>
                    <a:pt x="4769123" y="12924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064976" y="5307727"/>
              <a:ext cx="4769123" cy="207792"/>
            </a:xfrm>
            <a:custGeom>
              <a:avLst/>
              <a:pathLst>
                <a:path w="4769123" h="207792">
                  <a:moveTo>
                    <a:pt x="0" y="0"/>
                  </a:moveTo>
                  <a:lnTo>
                    <a:pt x="1589707" y="207792"/>
                  </a:lnTo>
                  <a:lnTo>
                    <a:pt x="3179415" y="74389"/>
                  </a:lnTo>
                  <a:lnTo>
                    <a:pt x="4769123" y="7582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064976" y="5040838"/>
              <a:ext cx="4769123" cy="556340"/>
            </a:xfrm>
            <a:custGeom>
              <a:avLst/>
              <a:pathLst>
                <a:path w="4769123" h="556340">
                  <a:moveTo>
                    <a:pt x="0" y="0"/>
                  </a:moveTo>
                  <a:lnTo>
                    <a:pt x="1589707" y="219360"/>
                  </a:lnTo>
                  <a:lnTo>
                    <a:pt x="3179415" y="556340"/>
                  </a:lnTo>
                  <a:lnTo>
                    <a:pt x="4769123" y="36639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1969594" y="4951778"/>
              <a:ext cx="190764" cy="0"/>
            </a:xfrm>
            <a:custGeom>
              <a:avLst/>
              <a:pathLst>
                <a:path w="190764" h="0">
                  <a:moveTo>
                    <a:pt x="0" y="0"/>
                  </a:moveTo>
                  <a:lnTo>
                    <a:pt x="1907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064976" y="4951778"/>
              <a:ext cx="0" cy="227580"/>
            </a:xfrm>
            <a:custGeom>
              <a:avLst/>
              <a:pathLst>
                <a:path w="0" h="227580">
                  <a:moveTo>
                    <a:pt x="0" y="0"/>
                  </a:moveTo>
                  <a:lnTo>
                    <a:pt x="0" y="22758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1969594" y="5179358"/>
              <a:ext cx="190764" cy="0"/>
            </a:xfrm>
            <a:custGeom>
              <a:avLst/>
              <a:pathLst>
                <a:path w="190764" h="0">
                  <a:moveTo>
                    <a:pt x="0" y="0"/>
                  </a:moveTo>
                  <a:lnTo>
                    <a:pt x="1907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559302" y="5102737"/>
              <a:ext cx="190764" cy="0"/>
            </a:xfrm>
            <a:custGeom>
              <a:avLst/>
              <a:pathLst>
                <a:path w="190764" h="0">
                  <a:moveTo>
                    <a:pt x="0" y="0"/>
                  </a:moveTo>
                  <a:lnTo>
                    <a:pt x="1907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654684" y="5102737"/>
              <a:ext cx="0" cy="208080"/>
            </a:xfrm>
            <a:custGeom>
              <a:avLst/>
              <a:pathLst>
                <a:path w="0" h="208080">
                  <a:moveTo>
                    <a:pt x="0" y="0"/>
                  </a:moveTo>
                  <a:lnTo>
                    <a:pt x="0" y="20808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559302" y="5310817"/>
              <a:ext cx="190764" cy="0"/>
            </a:xfrm>
            <a:custGeom>
              <a:avLst/>
              <a:pathLst>
                <a:path w="190764" h="0">
                  <a:moveTo>
                    <a:pt x="0" y="0"/>
                  </a:moveTo>
                  <a:lnTo>
                    <a:pt x="1907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5149009" y="5068765"/>
              <a:ext cx="190764" cy="0"/>
            </a:xfrm>
            <a:custGeom>
              <a:avLst/>
              <a:pathLst>
                <a:path w="190764" h="0">
                  <a:moveTo>
                    <a:pt x="0" y="0"/>
                  </a:moveTo>
                  <a:lnTo>
                    <a:pt x="1907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244392" y="5068765"/>
              <a:ext cx="0" cy="306935"/>
            </a:xfrm>
            <a:custGeom>
              <a:avLst/>
              <a:pathLst>
                <a:path w="0" h="306935">
                  <a:moveTo>
                    <a:pt x="0" y="0"/>
                  </a:moveTo>
                  <a:lnTo>
                    <a:pt x="0" y="306935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149009" y="5375701"/>
              <a:ext cx="190764" cy="0"/>
            </a:xfrm>
            <a:custGeom>
              <a:avLst/>
              <a:pathLst>
                <a:path w="190764" h="0">
                  <a:moveTo>
                    <a:pt x="0" y="0"/>
                  </a:moveTo>
                  <a:lnTo>
                    <a:pt x="1907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6738717" y="5097347"/>
              <a:ext cx="190764" cy="0"/>
            </a:xfrm>
            <a:custGeom>
              <a:avLst/>
              <a:pathLst>
                <a:path w="190764" h="0">
                  <a:moveTo>
                    <a:pt x="0" y="0"/>
                  </a:moveTo>
                  <a:lnTo>
                    <a:pt x="1907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6834100" y="5097347"/>
              <a:ext cx="0" cy="196311"/>
            </a:xfrm>
            <a:custGeom>
              <a:avLst/>
              <a:pathLst>
                <a:path w="0" h="196311">
                  <a:moveTo>
                    <a:pt x="0" y="0"/>
                  </a:moveTo>
                  <a:lnTo>
                    <a:pt x="0" y="196311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6738717" y="5293659"/>
              <a:ext cx="190764" cy="0"/>
            </a:xfrm>
            <a:custGeom>
              <a:avLst/>
              <a:pathLst>
                <a:path w="190764" h="0">
                  <a:moveTo>
                    <a:pt x="0" y="0"/>
                  </a:moveTo>
                  <a:lnTo>
                    <a:pt x="1907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064976" y="5065568"/>
              <a:ext cx="4769123" cy="156664"/>
            </a:xfrm>
            <a:custGeom>
              <a:avLst/>
              <a:pathLst>
                <a:path w="4769123" h="156664">
                  <a:moveTo>
                    <a:pt x="0" y="0"/>
                  </a:moveTo>
                  <a:lnTo>
                    <a:pt x="1589707" y="141209"/>
                  </a:lnTo>
                  <a:lnTo>
                    <a:pt x="3179415" y="156664"/>
                  </a:lnTo>
                  <a:lnTo>
                    <a:pt x="4769123" y="129935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027955" y="5028547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617663" y="5169756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5207370" y="5185211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6797078" y="5158482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tx99"/>
            <p:cNvSpPr/>
            <p:nvPr/>
          </p:nvSpPr>
          <p:spPr>
            <a:xfrm>
              <a:off x="3962010" y="4010801"/>
              <a:ext cx="975055" cy="1473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Reverse slope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3948675" y="1720035"/>
              <a:ext cx="1001725" cy="1473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Forward slope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1932817" y="604979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3522525" y="6049731"/>
              <a:ext cx="264318" cy="111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6 sq.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5112232" y="6049850"/>
              <a:ext cx="264318" cy="1109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8 sq.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6668037" y="604979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12 sq.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873342" y="3647919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0.0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873342" y="3097730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0.5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873342" y="2547540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1.0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873342" y="1997886"/>
              <a:ext cx="169485" cy="870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1.5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805536" y="5730832"/>
              <a:ext cx="237291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0.25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805536" y="5372322"/>
              <a:ext cx="237291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0.50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805536" y="5013515"/>
              <a:ext cx="237291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0.75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805536" y="4654707"/>
              <a:ext cx="237291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1.00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805536" y="4295781"/>
              <a:ext cx="237291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1.25</a:t>
              </a:r>
            </a:p>
          </p:txBody>
        </p:sp>
        <p:sp>
          <p:nvSpPr>
            <p:cNvPr id="114" name="tx114"/>
            <p:cNvSpPr/>
            <p:nvPr/>
          </p:nvSpPr>
          <p:spPr>
            <a:xfrm rot="-5400000">
              <a:off x="-356594" y="3902954"/>
              <a:ext cx="2036861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Each person's own OLS slope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1111152" y="1402443"/>
              <a:ext cx="4780635" cy="164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Each person's own slopes (grey), mean and 95% CI (experience)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11091672" cy="3657600"/>
            <a:chOff x="548640" y="1371600"/>
            <a:chExt cx="11091672" cy="365760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11091672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548640" y="1371600"/>
              <a:ext cx="11091672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79061" y="4119136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79061" y="3616343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79061" y="3113550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79061" y="2610756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79061" y="2107963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526040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271003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015967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60931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79061" y="3113550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3550" cap="flat">
              <a:solidFill>
                <a:srgbClr val="999999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88791" y="2197483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526040" y="2197483"/>
              <a:ext cx="0" cy="129358"/>
            </a:xfrm>
            <a:custGeom>
              <a:avLst/>
              <a:pathLst>
                <a:path w="0" h="129358">
                  <a:moveTo>
                    <a:pt x="0" y="0"/>
                  </a:moveTo>
                  <a:lnTo>
                    <a:pt x="0" y="129358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88791" y="2326841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233755" y="2236621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271003" y="2236621"/>
              <a:ext cx="0" cy="115126"/>
            </a:xfrm>
            <a:custGeom>
              <a:avLst/>
              <a:pathLst>
                <a:path w="0" h="115126">
                  <a:moveTo>
                    <a:pt x="0" y="0"/>
                  </a:moveTo>
                  <a:lnTo>
                    <a:pt x="0" y="115126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233755" y="2351748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978719" y="2329999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015967" y="2329999"/>
              <a:ext cx="0" cy="112161"/>
            </a:xfrm>
            <a:custGeom>
              <a:avLst/>
              <a:pathLst>
                <a:path w="0" h="112161">
                  <a:moveTo>
                    <a:pt x="0" y="0"/>
                  </a:moveTo>
                  <a:lnTo>
                    <a:pt x="0" y="112161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78719" y="2442161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723683" y="2316629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60931" y="2316629"/>
              <a:ext cx="0" cy="93548"/>
            </a:xfrm>
            <a:custGeom>
              <a:avLst/>
              <a:pathLst>
                <a:path w="0" h="93548">
                  <a:moveTo>
                    <a:pt x="0" y="0"/>
                  </a:moveTo>
                  <a:lnTo>
                    <a:pt x="0" y="93548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23683" y="2410177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488791" y="3838931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526040" y="3838931"/>
              <a:ext cx="0" cy="125094"/>
            </a:xfrm>
            <a:custGeom>
              <a:avLst/>
              <a:pathLst>
                <a:path w="0" h="125094">
                  <a:moveTo>
                    <a:pt x="0" y="0"/>
                  </a:moveTo>
                  <a:lnTo>
                    <a:pt x="0" y="125094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488791" y="3964026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233755" y="3740793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271003" y="3740793"/>
              <a:ext cx="0" cy="156015"/>
            </a:xfrm>
            <a:custGeom>
              <a:avLst/>
              <a:pathLst>
                <a:path w="0" h="156015">
                  <a:moveTo>
                    <a:pt x="0" y="0"/>
                  </a:moveTo>
                  <a:lnTo>
                    <a:pt x="0" y="156015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233755" y="3896809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978719" y="3729875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015967" y="3729875"/>
              <a:ext cx="0" cy="164366"/>
            </a:xfrm>
            <a:custGeom>
              <a:avLst/>
              <a:pathLst>
                <a:path w="0" h="164366">
                  <a:moveTo>
                    <a:pt x="0" y="0"/>
                  </a:moveTo>
                  <a:lnTo>
                    <a:pt x="0" y="164366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978719" y="3894241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723683" y="3873045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760931" y="3873045"/>
              <a:ext cx="0" cy="161896"/>
            </a:xfrm>
            <a:custGeom>
              <a:avLst/>
              <a:pathLst>
                <a:path w="0" h="161896">
                  <a:moveTo>
                    <a:pt x="0" y="0"/>
                  </a:moveTo>
                  <a:lnTo>
                    <a:pt x="0" y="161896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723683" y="4034942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526040" y="2262162"/>
              <a:ext cx="2234891" cy="123917"/>
            </a:xfrm>
            <a:custGeom>
              <a:avLst/>
              <a:pathLst>
                <a:path w="2234891" h="123917">
                  <a:moveTo>
                    <a:pt x="0" y="0"/>
                  </a:moveTo>
                  <a:lnTo>
                    <a:pt x="744963" y="32022"/>
                  </a:lnTo>
                  <a:lnTo>
                    <a:pt x="1489927" y="123917"/>
                  </a:lnTo>
                  <a:lnTo>
                    <a:pt x="2234891" y="101240"/>
                  </a:lnTo>
                </a:path>
              </a:pathLst>
            </a:custGeom>
            <a:ln w="24391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526040" y="3812058"/>
              <a:ext cx="2234891" cy="141935"/>
            </a:xfrm>
            <a:custGeom>
              <a:avLst/>
              <a:pathLst>
                <a:path w="2234891" h="141935">
                  <a:moveTo>
                    <a:pt x="0" y="89420"/>
                  </a:moveTo>
                  <a:lnTo>
                    <a:pt x="744963" y="6742"/>
                  </a:lnTo>
                  <a:lnTo>
                    <a:pt x="1489927" y="0"/>
                  </a:lnTo>
                  <a:lnTo>
                    <a:pt x="2234891" y="141935"/>
                  </a:lnTo>
                </a:path>
              </a:pathLst>
            </a:custGeom>
            <a:ln w="24391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491728" y="2227851"/>
              <a:ext cx="68622" cy="68622"/>
            </a:xfrm>
            <a:prstGeom prst="ellipse">
              <a:avLst/>
            </a:prstGeom>
            <a:solidFill>
              <a:srgbClr val="D98477">
                <a:alpha val="100000"/>
              </a:srgbClr>
            </a:solidFill>
            <a:ln w="9000" cap="rnd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2236692" y="2259873"/>
              <a:ext cx="68622" cy="68622"/>
            </a:xfrm>
            <a:prstGeom prst="ellipse">
              <a:avLst/>
            </a:prstGeom>
            <a:solidFill>
              <a:srgbClr val="D98477">
                <a:alpha val="100000"/>
              </a:srgbClr>
            </a:solidFill>
            <a:ln w="9000" cap="rnd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2981656" y="2351769"/>
              <a:ext cx="68622" cy="68622"/>
            </a:xfrm>
            <a:prstGeom prst="ellipse">
              <a:avLst/>
            </a:prstGeom>
            <a:solidFill>
              <a:srgbClr val="D98477">
                <a:alpha val="100000"/>
              </a:srgbClr>
            </a:solidFill>
            <a:ln w="9000" cap="rnd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726619" y="2329092"/>
              <a:ext cx="68622" cy="68622"/>
            </a:xfrm>
            <a:prstGeom prst="ellipse">
              <a:avLst/>
            </a:prstGeom>
            <a:solidFill>
              <a:srgbClr val="D98477">
                <a:alpha val="100000"/>
              </a:srgbClr>
            </a:solidFill>
            <a:ln w="9000" cap="rnd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1491728" y="3867168"/>
              <a:ext cx="68622" cy="68622"/>
            </a:xfrm>
            <a:prstGeom prst="ellipse">
              <a:avLst/>
            </a:prstGeom>
            <a:solidFill>
              <a:srgbClr val="6FA0C8">
                <a:alpha val="100000"/>
              </a:srgbClr>
            </a:solidFill>
            <a:ln w="9000" cap="rnd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2236692" y="3784489"/>
              <a:ext cx="68622" cy="68622"/>
            </a:xfrm>
            <a:prstGeom prst="ellipse">
              <a:avLst/>
            </a:prstGeom>
            <a:solidFill>
              <a:srgbClr val="6FA0C8">
                <a:alpha val="100000"/>
              </a:srgbClr>
            </a:solidFill>
            <a:ln w="9000" cap="rnd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981656" y="3777747"/>
              <a:ext cx="68622" cy="68622"/>
            </a:xfrm>
            <a:prstGeom prst="ellipse">
              <a:avLst/>
            </a:prstGeom>
            <a:solidFill>
              <a:srgbClr val="6FA0C8">
                <a:alpha val="100000"/>
              </a:srgbClr>
            </a:solidFill>
            <a:ln w="9000" cap="rnd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726619" y="3919682"/>
              <a:ext cx="68622" cy="68622"/>
            </a:xfrm>
            <a:prstGeom prst="ellipse">
              <a:avLst/>
            </a:prstGeom>
            <a:solidFill>
              <a:srgbClr val="6FA0C8">
                <a:alpha val="100000"/>
              </a:srgbClr>
            </a:solidFill>
            <a:ln w="9000" cap="rnd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463941" y="4119136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463941" y="3616343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463941" y="3113550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463941" y="2610756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4463941" y="2107963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910919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655883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6400847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145811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4463941" y="3113550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3550" cap="flat">
              <a:solidFill>
                <a:srgbClr val="999999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873671" y="3868200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4910919" y="3868200"/>
              <a:ext cx="0" cy="139352"/>
            </a:xfrm>
            <a:custGeom>
              <a:avLst/>
              <a:pathLst>
                <a:path w="0" h="139352">
                  <a:moveTo>
                    <a:pt x="0" y="0"/>
                  </a:moveTo>
                  <a:lnTo>
                    <a:pt x="0" y="139352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873671" y="4007553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618635" y="3793460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655883" y="3793460"/>
              <a:ext cx="0" cy="169554"/>
            </a:xfrm>
            <a:custGeom>
              <a:avLst/>
              <a:pathLst>
                <a:path w="0" h="169554">
                  <a:moveTo>
                    <a:pt x="0" y="0"/>
                  </a:moveTo>
                  <a:lnTo>
                    <a:pt x="0" y="169554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618635" y="3963014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6363599" y="3688152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400847" y="3688152"/>
              <a:ext cx="0" cy="178696"/>
            </a:xfrm>
            <a:custGeom>
              <a:avLst/>
              <a:pathLst>
                <a:path w="0" h="178696">
                  <a:moveTo>
                    <a:pt x="0" y="0"/>
                  </a:moveTo>
                  <a:lnTo>
                    <a:pt x="0" y="178696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363599" y="3866848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7108562" y="3873265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7145811" y="3873265"/>
              <a:ext cx="0" cy="206240"/>
            </a:xfrm>
            <a:custGeom>
              <a:avLst/>
              <a:pathLst>
                <a:path w="0" h="206240">
                  <a:moveTo>
                    <a:pt x="0" y="0"/>
                  </a:moveTo>
                  <a:lnTo>
                    <a:pt x="0" y="20624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7108562" y="4079505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873671" y="2112912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910919" y="2112912"/>
              <a:ext cx="0" cy="176055"/>
            </a:xfrm>
            <a:custGeom>
              <a:avLst/>
              <a:pathLst>
                <a:path w="0" h="176055">
                  <a:moveTo>
                    <a:pt x="0" y="0"/>
                  </a:moveTo>
                  <a:lnTo>
                    <a:pt x="0" y="176055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873671" y="2288967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618635" y="2226979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655883" y="2226979"/>
              <a:ext cx="0" cy="164703"/>
            </a:xfrm>
            <a:custGeom>
              <a:avLst/>
              <a:pathLst>
                <a:path w="0" h="164703">
                  <a:moveTo>
                    <a:pt x="0" y="0"/>
                  </a:moveTo>
                  <a:lnTo>
                    <a:pt x="0" y="164703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618635" y="2391683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6363599" y="2314775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6400847" y="2314775"/>
              <a:ext cx="0" cy="166952"/>
            </a:xfrm>
            <a:custGeom>
              <a:avLst/>
              <a:pathLst>
                <a:path w="0" h="166952">
                  <a:moveTo>
                    <a:pt x="0" y="0"/>
                  </a:moveTo>
                  <a:lnTo>
                    <a:pt x="0" y="166952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6363599" y="2481727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7108562" y="2322458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7145811" y="2322458"/>
              <a:ext cx="0" cy="144570"/>
            </a:xfrm>
            <a:custGeom>
              <a:avLst/>
              <a:pathLst>
                <a:path w="0" h="144570">
                  <a:moveTo>
                    <a:pt x="0" y="0"/>
                  </a:moveTo>
                  <a:lnTo>
                    <a:pt x="0" y="14457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7108562" y="2467028"/>
              <a:ext cx="74496" cy="0"/>
            </a:xfrm>
            <a:custGeom>
              <a:avLst/>
              <a:pathLst>
                <a:path w="74496" h="0">
                  <a:moveTo>
                    <a:pt x="0" y="0"/>
                  </a:moveTo>
                  <a:lnTo>
                    <a:pt x="7449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4910919" y="3777500"/>
              <a:ext cx="2234891" cy="198885"/>
            </a:xfrm>
            <a:custGeom>
              <a:avLst/>
              <a:pathLst>
                <a:path w="2234891" h="198885">
                  <a:moveTo>
                    <a:pt x="0" y="160376"/>
                  </a:moveTo>
                  <a:lnTo>
                    <a:pt x="744963" y="100737"/>
                  </a:lnTo>
                  <a:lnTo>
                    <a:pt x="1489927" y="0"/>
                  </a:lnTo>
                  <a:lnTo>
                    <a:pt x="2234891" y="198885"/>
                  </a:lnTo>
                </a:path>
              </a:pathLst>
            </a:custGeom>
            <a:ln w="24391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4910919" y="2200939"/>
              <a:ext cx="2234891" cy="197312"/>
            </a:xfrm>
            <a:custGeom>
              <a:avLst/>
              <a:pathLst>
                <a:path w="2234891" h="197312">
                  <a:moveTo>
                    <a:pt x="0" y="0"/>
                  </a:moveTo>
                  <a:lnTo>
                    <a:pt x="744963" y="108391"/>
                  </a:lnTo>
                  <a:lnTo>
                    <a:pt x="1489927" y="197312"/>
                  </a:lnTo>
                  <a:lnTo>
                    <a:pt x="2234891" y="193803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876608" y="3903565"/>
              <a:ext cx="68622" cy="68622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5621572" y="3843926"/>
              <a:ext cx="68622" cy="68622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6366535" y="3743189"/>
              <a:ext cx="68622" cy="68622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7111499" y="3942074"/>
              <a:ext cx="68622" cy="68622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876608" y="2166628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5621572" y="2275020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6366535" y="2363940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7111499" y="2360432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tx93"/>
            <p:cNvSpPr/>
            <p:nvPr/>
          </p:nvSpPr>
          <p:spPr>
            <a:xfrm>
              <a:off x="2183694" y="1817513"/>
              <a:ext cx="919581" cy="119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Fixed cutoffs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5228798" y="1787033"/>
              <a:ext cx="1599133" cy="1499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Report windows (+/- 2)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1393880" y="4222644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2138844" y="4222584"/>
              <a:ext cx="264318" cy="111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6 sq.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2883808" y="4222703"/>
              <a:ext cx="264318" cy="1109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8 sq.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3594868" y="4222644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12 sq.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4778760" y="4222644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5523724" y="4222584"/>
              <a:ext cx="264318" cy="111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6 sq.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6268687" y="4222703"/>
              <a:ext cx="264318" cy="1109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8 sq.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6979748" y="4222644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12 sq.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875125" y="4075827"/>
              <a:ext cx="135612" cy="870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15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875125" y="3572200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875125" y="3069586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25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875125" y="2566793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875125" y="2063999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35</a:t>
              </a:r>
            </a:p>
          </p:txBody>
        </p:sp>
        <p:sp>
          <p:nvSpPr>
            <p:cNvPr id="108" name="tx108"/>
            <p:cNvSpPr/>
            <p:nvPr/>
          </p:nvSpPr>
          <p:spPr>
            <a:xfrm rot="-5400000">
              <a:off x="-575173" y="3024176"/>
              <a:ext cx="2613198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True colour behind the reports (+/- SE)</a:t>
              </a:r>
            </a:p>
          </p:txBody>
        </p:sp>
        <p:sp>
          <p:nvSpPr>
            <p:cNvPr id="109" name="pl109"/>
            <p:cNvSpPr/>
            <p:nvPr/>
          </p:nvSpPr>
          <p:spPr>
            <a:xfrm>
              <a:off x="1823354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1823354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1876825" y="4663740"/>
              <a:ext cx="68622" cy="68622"/>
            </a:xfrm>
            <a:prstGeom prst="ellipse">
              <a:avLst/>
            </a:prstGeom>
            <a:solidFill>
              <a:srgbClr val="D98477">
                <a:alpha val="100000"/>
              </a:srgbClr>
            </a:solidFill>
            <a:ln w="9000" cap="rnd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3157082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3157082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3210553" y="4663740"/>
              <a:ext cx="68622" cy="68622"/>
            </a:xfrm>
            <a:prstGeom prst="ellipse">
              <a:avLst/>
            </a:prstGeom>
            <a:solidFill>
              <a:srgbClr val="6FA0C8">
                <a:alpha val="100000"/>
              </a:srgbClr>
            </a:solidFill>
            <a:ln w="9000" cap="rnd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4477178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4477178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530649" y="4663740"/>
              <a:ext cx="68622" cy="68622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5722740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5722740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5776211" y="4663740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tx121"/>
            <p:cNvSpPr/>
            <p:nvPr/>
          </p:nvSpPr>
          <p:spPr>
            <a:xfrm>
              <a:off x="2096779" y="4628609"/>
              <a:ext cx="962441" cy="1131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Reports above 36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3430508" y="4628609"/>
              <a:ext cx="948809" cy="1131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Reports below 14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4750604" y="4628906"/>
              <a:ext cx="874275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Reports near 10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5996166" y="4628906"/>
              <a:ext cx="874275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Reports near 40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1079061" y="1472362"/>
              <a:ext cx="3477666" cy="1642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What lay behind extreme reports (experience)</a:t>
              </a:r>
            </a:p>
          </p:txBody>
        </p:sp>
        <p:sp>
          <p:nvSpPr>
            <p:cNvPr id="126" name="pl126"/>
            <p:cNvSpPr/>
            <p:nvPr/>
          </p:nvSpPr>
          <p:spPr>
            <a:xfrm>
              <a:off x="8237943" y="4019884"/>
              <a:ext cx="3256863" cy="0"/>
            </a:xfrm>
            <a:custGeom>
              <a:avLst/>
              <a:pathLst>
                <a:path w="3256863" h="0">
                  <a:moveTo>
                    <a:pt x="0" y="0"/>
                  </a:moveTo>
                  <a:lnTo>
                    <a:pt x="3256863" y="0"/>
                  </a:lnTo>
                  <a:lnTo>
                    <a:pt x="325686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8237943" y="3541929"/>
              <a:ext cx="3256863" cy="0"/>
            </a:xfrm>
            <a:custGeom>
              <a:avLst/>
              <a:pathLst>
                <a:path w="3256863" h="0">
                  <a:moveTo>
                    <a:pt x="0" y="0"/>
                  </a:moveTo>
                  <a:lnTo>
                    <a:pt x="3256863" y="0"/>
                  </a:lnTo>
                  <a:lnTo>
                    <a:pt x="325686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8237943" y="3063974"/>
              <a:ext cx="3256863" cy="0"/>
            </a:xfrm>
            <a:custGeom>
              <a:avLst/>
              <a:pathLst>
                <a:path w="3256863" h="0">
                  <a:moveTo>
                    <a:pt x="0" y="0"/>
                  </a:moveTo>
                  <a:lnTo>
                    <a:pt x="3256863" y="0"/>
                  </a:lnTo>
                  <a:lnTo>
                    <a:pt x="325686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8237943" y="2586019"/>
              <a:ext cx="3256863" cy="0"/>
            </a:xfrm>
            <a:custGeom>
              <a:avLst/>
              <a:pathLst>
                <a:path w="3256863" h="0">
                  <a:moveTo>
                    <a:pt x="0" y="0"/>
                  </a:moveTo>
                  <a:lnTo>
                    <a:pt x="3256863" y="0"/>
                  </a:lnTo>
                  <a:lnTo>
                    <a:pt x="325686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8237943" y="2108064"/>
              <a:ext cx="3256863" cy="0"/>
            </a:xfrm>
            <a:custGeom>
              <a:avLst/>
              <a:pathLst>
                <a:path w="3256863" h="0">
                  <a:moveTo>
                    <a:pt x="0" y="0"/>
                  </a:moveTo>
                  <a:lnTo>
                    <a:pt x="3256863" y="0"/>
                  </a:lnTo>
                  <a:lnTo>
                    <a:pt x="325686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8703210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9478653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10254097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11029541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8664437" y="2599970"/>
              <a:ext cx="77544" cy="0"/>
            </a:xfrm>
            <a:custGeom>
              <a:avLst/>
              <a:pathLst>
                <a:path w="77544" h="0">
                  <a:moveTo>
                    <a:pt x="0" y="0"/>
                  </a:moveTo>
                  <a:lnTo>
                    <a:pt x="77544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8703210" y="2599970"/>
              <a:ext cx="0" cy="843925"/>
            </a:xfrm>
            <a:custGeom>
              <a:avLst/>
              <a:pathLst>
                <a:path w="0" h="843925">
                  <a:moveTo>
                    <a:pt x="0" y="0"/>
                  </a:moveTo>
                  <a:lnTo>
                    <a:pt x="0" y="843925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8664437" y="3443896"/>
              <a:ext cx="77544" cy="0"/>
            </a:xfrm>
            <a:custGeom>
              <a:avLst/>
              <a:pathLst>
                <a:path w="77544" h="0">
                  <a:moveTo>
                    <a:pt x="0" y="0"/>
                  </a:moveTo>
                  <a:lnTo>
                    <a:pt x="77544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9439881" y="3161539"/>
              <a:ext cx="77544" cy="0"/>
            </a:xfrm>
            <a:custGeom>
              <a:avLst/>
              <a:pathLst>
                <a:path w="77544" h="0">
                  <a:moveTo>
                    <a:pt x="0" y="0"/>
                  </a:moveTo>
                  <a:lnTo>
                    <a:pt x="77544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9478653" y="3161539"/>
              <a:ext cx="0" cy="906379"/>
            </a:xfrm>
            <a:custGeom>
              <a:avLst/>
              <a:pathLst>
                <a:path w="0" h="906379">
                  <a:moveTo>
                    <a:pt x="0" y="0"/>
                  </a:moveTo>
                  <a:lnTo>
                    <a:pt x="0" y="906379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9439881" y="4067918"/>
              <a:ext cx="77544" cy="0"/>
            </a:xfrm>
            <a:custGeom>
              <a:avLst/>
              <a:pathLst>
                <a:path w="77544" h="0">
                  <a:moveTo>
                    <a:pt x="0" y="0"/>
                  </a:moveTo>
                  <a:lnTo>
                    <a:pt x="77544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10215325" y="3309812"/>
              <a:ext cx="77544" cy="0"/>
            </a:xfrm>
            <a:custGeom>
              <a:avLst/>
              <a:pathLst>
                <a:path w="77544" h="0">
                  <a:moveTo>
                    <a:pt x="0" y="0"/>
                  </a:moveTo>
                  <a:lnTo>
                    <a:pt x="77544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10254097" y="3309812"/>
              <a:ext cx="0" cy="769693"/>
            </a:xfrm>
            <a:custGeom>
              <a:avLst/>
              <a:pathLst>
                <a:path w="0" h="769693">
                  <a:moveTo>
                    <a:pt x="0" y="0"/>
                  </a:moveTo>
                  <a:lnTo>
                    <a:pt x="0" y="769693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10215325" y="4079505"/>
              <a:ext cx="77544" cy="0"/>
            </a:xfrm>
            <a:custGeom>
              <a:avLst/>
              <a:pathLst>
                <a:path w="77544" h="0">
                  <a:moveTo>
                    <a:pt x="0" y="0"/>
                  </a:moveTo>
                  <a:lnTo>
                    <a:pt x="77544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10990769" y="2112912"/>
              <a:ext cx="77544" cy="0"/>
            </a:xfrm>
            <a:custGeom>
              <a:avLst/>
              <a:pathLst>
                <a:path w="77544" h="0">
                  <a:moveTo>
                    <a:pt x="0" y="0"/>
                  </a:moveTo>
                  <a:lnTo>
                    <a:pt x="77544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11029541" y="2112912"/>
              <a:ext cx="0" cy="1194911"/>
            </a:xfrm>
            <a:custGeom>
              <a:avLst/>
              <a:pathLst>
                <a:path w="0" h="1194911">
                  <a:moveTo>
                    <a:pt x="0" y="0"/>
                  </a:moveTo>
                  <a:lnTo>
                    <a:pt x="0" y="1194911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10990769" y="3307823"/>
              <a:ext cx="77544" cy="0"/>
            </a:xfrm>
            <a:custGeom>
              <a:avLst/>
              <a:pathLst>
                <a:path w="77544" h="0">
                  <a:moveTo>
                    <a:pt x="0" y="0"/>
                  </a:moveTo>
                  <a:lnTo>
                    <a:pt x="77544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8703210" y="2710367"/>
              <a:ext cx="2326331" cy="984291"/>
            </a:xfrm>
            <a:custGeom>
              <a:avLst/>
              <a:pathLst>
                <a:path w="2326331" h="984291">
                  <a:moveTo>
                    <a:pt x="0" y="311565"/>
                  </a:moveTo>
                  <a:lnTo>
                    <a:pt x="775443" y="904361"/>
                  </a:lnTo>
                  <a:lnTo>
                    <a:pt x="1550887" y="984291"/>
                  </a:lnTo>
                  <a:lnTo>
                    <a:pt x="232633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8668898" y="2987621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9444342" y="3580417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10219786" y="3660347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10995230" y="2676056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tx152"/>
            <p:cNvSpPr/>
            <p:nvPr/>
          </p:nvSpPr>
          <p:spPr>
            <a:xfrm>
              <a:off x="7925601" y="3976039"/>
              <a:ext cx="244018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10%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7925601" y="3497846"/>
              <a:ext cx="244018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12%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7925601" y="3019950"/>
              <a:ext cx="244018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14%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7925601" y="2541876"/>
              <a:ext cx="244018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16%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7925601" y="2063862"/>
              <a:ext cx="244018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18%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8571050" y="4222644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9346494" y="4222584"/>
              <a:ext cx="264318" cy="111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6 sq.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10121938" y="4222703"/>
              <a:ext cx="264318" cy="1109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8 sq.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10863478" y="4222644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12 sq.</a:t>
              </a:r>
            </a:p>
          </p:txBody>
        </p:sp>
        <p:sp>
          <p:nvSpPr>
            <p:cNvPr id="161" name="tx161"/>
            <p:cNvSpPr/>
            <p:nvPr/>
          </p:nvSpPr>
          <p:spPr>
            <a:xfrm rot="-5400000">
              <a:off x="6653300" y="3024176"/>
              <a:ext cx="2257201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Share of extreme reports (+/- SE)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8237943" y="1475168"/>
              <a:ext cx="2467254" cy="1614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How often reports were extreme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6949440" cy="4297680"/>
            <a:chOff x="548640" y="1371600"/>
            <a:chExt cx="6949440" cy="429768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6949439" cy="42976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82266" y="4460764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82266" y="3594309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82266" y="2727853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122809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059758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96708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933657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82266" y="3594309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982266" y="3557393"/>
              <a:ext cx="3091932" cy="1522945"/>
            </a:xfrm>
            <a:prstGeom prst="rect">
              <a:avLst/>
            </a:prstGeom>
            <a:solidFill>
              <a:srgbClr val="B03A2E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82266" y="4274658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1083077" y="3987805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2020027" y="4105958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2956976" y="3819765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893925" y="5026176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330231" y="4460764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330231" y="3594309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330231" y="2727853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470774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407723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344672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281622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30231" y="3594309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330231" y="2094295"/>
              <a:ext cx="3091932" cy="1659854"/>
            </a:xfrm>
            <a:prstGeom prst="rect">
              <a:avLst/>
            </a:prstGeom>
            <a:solidFill>
              <a:srgbClr val="B03A2E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330231" y="3157758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431042" y="3301861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5367991" y="3309082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7241890" y="2743135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1612004" y="1720035"/>
              <a:ext cx="1832457" cy="1473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Pale end (reports up to 14)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871729" y="1717444"/>
              <a:ext cx="2008936" cy="1499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Vivid end (reports 36 and up)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055003" y="5300523"/>
              <a:ext cx="135612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11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991952" y="5299869"/>
              <a:ext cx="135612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928901" y="5297726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13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65851" y="5299928"/>
              <a:ext cx="135612" cy="854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14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402968" y="5297487"/>
              <a:ext cx="135612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36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339917" y="5297726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37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276866" y="5297487"/>
              <a:ext cx="135612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38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213816" y="5297666"/>
              <a:ext cx="135612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39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05536" y="4418944"/>
              <a:ext cx="1084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46137" y="3550464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46137" y="2686033"/>
              <a:ext cx="678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770167" y="5418566"/>
              <a:ext cx="864096" cy="141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 value</a:t>
              </a:r>
            </a:p>
          </p:txBody>
        </p:sp>
        <p:sp>
          <p:nvSpPr>
            <p:cNvPr id="45" name="tx45"/>
            <p:cNvSpPr/>
            <p:nvPr/>
          </p:nvSpPr>
          <p:spPr>
            <a:xfrm rot="-5400000">
              <a:off x="-628912" y="3516139"/>
              <a:ext cx="2583209" cy="1423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How much less extreme the array was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982266" y="1404589"/>
              <a:ext cx="5590120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Same report, 12 vs 2 squares, experience (each report value counted once)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11091672" cy="3749040"/>
            <a:chOff x="548640" y="1371600"/>
            <a:chExt cx="11091672" cy="374904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11091672" cy="37490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548640" y="1371600"/>
              <a:ext cx="11091672" cy="37490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153535" y="3655454"/>
              <a:ext cx="4915864" cy="0"/>
            </a:xfrm>
            <a:custGeom>
              <a:avLst/>
              <a:pathLst>
                <a:path w="4915864" h="0">
                  <a:moveTo>
                    <a:pt x="0" y="0"/>
                  </a:moveTo>
                  <a:lnTo>
                    <a:pt x="4915864" y="0"/>
                  </a:lnTo>
                  <a:lnTo>
                    <a:pt x="491586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153535" y="3082323"/>
              <a:ext cx="4915864" cy="0"/>
            </a:xfrm>
            <a:custGeom>
              <a:avLst/>
              <a:pathLst>
                <a:path w="4915864" h="0">
                  <a:moveTo>
                    <a:pt x="0" y="0"/>
                  </a:moveTo>
                  <a:lnTo>
                    <a:pt x="4915864" y="0"/>
                  </a:lnTo>
                  <a:lnTo>
                    <a:pt x="491586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153535" y="2509192"/>
              <a:ext cx="4915864" cy="0"/>
            </a:xfrm>
            <a:custGeom>
              <a:avLst/>
              <a:pathLst>
                <a:path w="4915864" h="0">
                  <a:moveTo>
                    <a:pt x="0" y="0"/>
                  </a:moveTo>
                  <a:lnTo>
                    <a:pt x="4915864" y="0"/>
                  </a:lnTo>
                  <a:lnTo>
                    <a:pt x="491586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53535" y="1936061"/>
              <a:ext cx="4915864" cy="0"/>
            </a:xfrm>
            <a:custGeom>
              <a:avLst/>
              <a:pathLst>
                <a:path w="4915864" h="0">
                  <a:moveTo>
                    <a:pt x="0" y="0"/>
                  </a:moveTo>
                  <a:lnTo>
                    <a:pt x="4915864" y="0"/>
                  </a:lnTo>
                  <a:lnTo>
                    <a:pt x="491586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580118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95793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11467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27142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42817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153535" y="2509192"/>
              <a:ext cx="4915864" cy="0"/>
            </a:xfrm>
            <a:custGeom>
              <a:avLst/>
              <a:pathLst>
                <a:path w="4915864" h="0">
                  <a:moveTo>
                    <a:pt x="0" y="0"/>
                  </a:moveTo>
                  <a:lnTo>
                    <a:pt x="4915864" y="0"/>
                  </a:lnTo>
                  <a:lnTo>
                    <a:pt x="4915864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611467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999999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376983" y="2058329"/>
              <a:ext cx="4468968" cy="1178102"/>
            </a:xfrm>
            <a:custGeom>
              <a:avLst/>
              <a:pathLst>
                <a:path w="4468968" h="1178102">
                  <a:moveTo>
                    <a:pt x="0" y="613984"/>
                  </a:moveTo>
                  <a:lnTo>
                    <a:pt x="203134" y="380323"/>
                  </a:lnTo>
                  <a:lnTo>
                    <a:pt x="406269" y="97432"/>
                  </a:lnTo>
                  <a:lnTo>
                    <a:pt x="609404" y="477315"/>
                  </a:lnTo>
                  <a:lnTo>
                    <a:pt x="812539" y="178625"/>
                  </a:lnTo>
                  <a:lnTo>
                    <a:pt x="1015674" y="43121"/>
                  </a:lnTo>
                  <a:lnTo>
                    <a:pt x="1218809" y="221610"/>
                  </a:lnTo>
                  <a:lnTo>
                    <a:pt x="1421944" y="210864"/>
                  </a:lnTo>
                  <a:lnTo>
                    <a:pt x="1625079" y="0"/>
                  </a:lnTo>
                  <a:lnTo>
                    <a:pt x="1828214" y="147740"/>
                  </a:lnTo>
                  <a:lnTo>
                    <a:pt x="2031349" y="718324"/>
                  </a:lnTo>
                  <a:lnTo>
                    <a:pt x="2437618" y="1142865"/>
                  </a:lnTo>
                  <a:lnTo>
                    <a:pt x="2640753" y="450862"/>
                  </a:lnTo>
                  <a:lnTo>
                    <a:pt x="2843888" y="939388"/>
                  </a:lnTo>
                  <a:lnTo>
                    <a:pt x="3047023" y="738793"/>
                  </a:lnTo>
                  <a:lnTo>
                    <a:pt x="3250158" y="1019217"/>
                  </a:lnTo>
                  <a:lnTo>
                    <a:pt x="3453293" y="841137"/>
                  </a:lnTo>
                  <a:lnTo>
                    <a:pt x="3656428" y="1109963"/>
                  </a:lnTo>
                  <a:lnTo>
                    <a:pt x="3859563" y="1176828"/>
                  </a:lnTo>
                  <a:lnTo>
                    <a:pt x="4062698" y="317132"/>
                  </a:lnTo>
                  <a:lnTo>
                    <a:pt x="4265833" y="1178102"/>
                  </a:lnTo>
                  <a:lnTo>
                    <a:pt x="4468968" y="1052013"/>
                  </a:lnTo>
                </a:path>
              </a:pathLst>
            </a:custGeom>
            <a:ln w="2439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376983" y="1855399"/>
              <a:ext cx="4468968" cy="1428885"/>
            </a:xfrm>
            <a:custGeom>
              <a:avLst/>
              <a:pathLst>
                <a:path w="4468968" h="1428885">
                  <a:moveTo>
                    <a:pt x="0" y="1359185"/>
                  </a:moveTo>
                  <a:lnTo>
                    <a:pt x="203134" y="1142865"/>
                  </a:lnTo>
                  <a:lnTo>
                    <a:pt x="406269" y="941632"/>
                  </a:lnTo>
                  <a:lnTo>
                    <a:pt x="609404" y="980478"/>
                  </a:lnTo>
                  <a:lnTo>
                    <a:pt x="812539" y="735305"/>
                  </a:lnTo>
                  <a:lnTo>
                    <a:pt x="1015674" y="1123536"/>
                  </a:lnTo>
                  <a:lnTo>
                    <a:pt x="1218809" y="1241513"/>
                  </a:lnTo>
                  <a:lnTo>
                    <a:pt x="1421944" y="765690"/>
                  </a:lnTo>
                  <a:lnTo>
                    <a:pt x="1625079" y="644241"/>
                  </a:lnTo>
                  <a:lnTo>
                    <a:pt x="1828214" y="258060"/>
                  </a:lnTo>
                  <a:lnTo>
                    <a:pt x="2031349" y="487064"/>
                  </a:lnTo>
                  <a:lnTo>
                    <a:pt x="2437618" y="643604"/>
                  </a:lnTo>
                  <a:lnTo>
                    <a:pt x="2640753" y="608638"/>
                  </a:lnTo>
                  <a:lnTo>
                    <a:pt x="2843888" y="0"/>
                  </a:lnTo>
                  <a:lnTo>
                    <a:pt x="3047023" y="565619"/>
                  </a:lnTo>
                  <a:lnTo>
                    <a:pt x="3250158" y="325198"/>
                  </a:lnTo>
                  <a:lnTo>
                    <a:pt x="3453293" y="627341"/>
                  </a:lnTo>
                  <a:lnTo>
                    <a:pt x="3656428" y="816180"/>
                  </a:lnTo>
                  <a:lnTo>
                    <a:pt x="3859563" y="1214984"/>
                  </a:lnTo>
                  <a:lnTo>
                    <a:pt x="4062698" y="1308800"/>
                  </a:lnTo>
                  <a:lnTo>
                    <a:pt x="4265833" y="1428885"/>
                  </a:lnTo>
                  <a:lnTo>
                    <a:pt x="4468968" y="707286"/>
                  </a:lnTo>
                </a:path>
              </a:pathLst>
            </a:custGeom>
            <a:ln w="24391" cap="flat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376983" y="2162130"/>
              <a:ext cx="4468968" cy="1343963"/>
            </a:xfrm>
            <a:custGeom>
              <a:avLst/>
              <a:pathLst>
                <a:path w="4468968" h="1343963">
                  <a:moveTo>
                    <a:pt x="0" y="1258193"/>
                  </a:moveTo>
                  <a:lnTo>
                    <a:pt x="203134" y="1093406"/>
                  </a:lnTo>
                  <a:lnTo>
                    <a:pt x="406269" y="325835"/>
                  </a:lnTo>
                  <a:lnTo>
                    <a:pt x="609404" y="1034819"/>
                  </a:lnTo>
                  <a:lnTo>
                    <a:pt x="812539" y="1098500"/>
                  </a:lnTo>
                  <a:lnTo>
                    <a:pt x="1015674" y="1343963"/>
                  </a:lnTo>
                  <a:lnTo>
                    <a:pt x="1218809" y="583057"/>
                  </a:lnTo>
                  <a:lnTo>
                    <a:pt x="1421944" y="866701"/>
                  </a:lnTo>
                  <a:lnTo>
                    <a:pt x="1625079" y="1028941"/>
                  </a:lnTo>
                  <a:lnTo>
                    <a:pt x="1828214" y="487161"/>
                  </a:lnTo>
                  <a:lnTo>
                    <a:pt x="2031349" y="429323"/>
                  </a:lnTo>
                  <a:lnTo>
                    <a:pt x="2437618" y="323549"/>
                  </a:lnTo>
                  <a:lnTo>
                    <a:pt x="2640753" y="292478"/>
                  </a:lnTo>
                  <a:lnTo>
                    <a:pt x="2843888" y="448952"/>
                  </a:lnTo>
                  <a:lnTo>
                    <a:pt x="3047023" y="0"/>
                  </a:lnTo>
                  <a:lnTo>
                    <a:pt x="3250158" y="853328"/>
                  </a:lnTo>
                  <a:lnTo>
                    <a:pt x="3453293" y="91064"/>
                  </a:lnTo>
                  <a:lnTo>
                    <a:pt x="3656428" y="229707"/>
                  </a:lnTo>
                  <a:lnTo>
                    <a:pt x="3859563" y="351471"/>
                  </a:lnTo>
                  <a:lnTo>
                    <a:pt x="4062698" y="263003"/>
                  </a:lnTo>
                  <a:lnTo>
                    <a:pt x="4265833" y="277468"/>
                  </a:lnTo>
                  <a:lnTo>
                    <a:pt x="4468968" y="1291220"/>
                  </a:lnTo>
                </a:path>
              </a:pathLst>
            </a:custGeom>
            <a:ln w="2439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376983" y="1897853"/>
              <a:ext cx="4468968" cy="2084112"/>
            </a:xfrm>
            <a:custGeom>
              <a:avLst/>
              <a:pathLst>
                <a:path w="4468968" h="2084112">
                  <a:moveTo>
                    <a:pt x="0" y="796924"/>
                  </a:moveTo>
                  <a:lnTo>
                    <a:pt x="203134" y="1069844"/>
                  </a:lnTo>
                  <a:lnTo>
                    <a:pt x="406269" y="1523573"/>
                  </a:lnTo>
                  <a:lnTo>
                    <a:pt x="609404" y="1084172"/>
                  </a:lnTo>
                  <a:lnTo>
                    <a:pt x="812539" y="2084112"/>
                  </a:lnTo>
                  <a:lnTo>
                    <a:pt x="1015674" y="1561463"/>
                  </a:lnTo>
                  <a:lnTo>
                    <a:pt x="1218809" y="1273624"/>
                  </a:lnTo>
                  <a:lnTo>
                    <a:pt x="1421944" y="1180997"/>
                  </a:lnTo>
                  <a:lnTo>
                    <a:pt x="1625079" y="863067"/>
                  </a:lnTo>
                  <a:lnTo>
                    <a:pt x="1828214" y="665179"/>
                  </a:lnTo>
                  <a:lnTo>
                    <a:pt x="2031349" y="1238599"/>
                  </a:lnTo>
                  <a:lnTo>
                    <a:pt x="2437618" y="199861"/>
                  </a:lnTo>
                  <a:lnTo>
                    <a:pt x="2640753" y="0"/>
                  </a:lnTo>
                  <a:lnTo>
                    <a:pt x="2843888" y="522185"/>
                  </a:lnTo>
                  <a:lnTo>
                    <a:pt x="3047023" y="408539"/>
                  </a:lnTo>
                  <a:lnTo>
                    <a:pt x="3250158" y="451340"/>
                  </a:lnTo>
                  <a:lnTo>
                    <a:pt x="3453293" y="521028"/>
                  </a:lnTo>
                  <a:lnTo>
                    <a:pt x="3656428" y="684175"/>
                  </a:lnTo>
                  <a:lnTo>
                    <a:pt x="3859563" y="114626"/>
                  </a:lnTo>
                  <a:lnTo>
                    <a:pt x="4062698" y="14695"/>
                  </a:lnTo>
                  <a:lnTo>
                    <a:pt x="4265833" y="25472"/>
                  </a:lnTo>
                  <a:lnTo>
                    <a:pt x="4468968" y="496713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1353512" y="2648843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1556647" y="2415182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1759782" y="213229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1962917" y="251217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166052" y="221348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369187" y="2077980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572322" y="2256469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775457" y="2245723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978592" y="2034859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181727" y="2182599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384862" y="2753183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791131" y="317772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994266" y="2485722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197401" y="2974247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400536" y="2773652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603671" y="3054076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806806" y="2875996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5009941" y="3144822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5213076" y="3211687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5416211" y="235199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619346" y="321296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5822481" y="3086872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1353512" y="3191113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1556647" y="2974793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1759782" y="2773561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1962917" y="2812406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2166052" y="2567233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369187" y="2955464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2572322" y="3073441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2775457" y="2597619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978592" y="2476169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181727" y="2089988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384862" y="2318993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791131" y="2475533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994266" y="2440566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197401" y="1831928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4400536" y="2397548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4603671" y="2157126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4806806" y="2459269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5009941" y="2648109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5213076" y="3046912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5416211" y="3140728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5619346" y="3260813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5822481" y="2539214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1353512" y="3396853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1556647" y="3232065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1759782" y="2464494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1962917" y="3173479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2166052" y="323716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2369187" y="3482622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2572322" y="2721717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2775457" y="300536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2978592" y="316760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181727" y="262582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384862" y="2567983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791131" y="2462208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994266" y="2431138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197401" y="2587611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400536" y="2138659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603671" y="2991987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4806806" y="2229723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5009941" y="2368366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5213076" y="249013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5416211" y="2401662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5619346" y="2416127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5822481" y="3429879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1353512" y="2671307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1556647" y="2944226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1759782" y="3397955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1962917" y="2958555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2166052" y="3958494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369187" y="3435845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2572322" y="3148006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775457" y="3055379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2978592" y="2737450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181727" y="253956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384862" y="311298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791131" y="2074243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994266" y="1874382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4197401" y="2396568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400536" y="228292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603671" y="2325722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4806806" y="2395410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5009941" y="2558557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5213076" y="1989008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5416211" y="1889078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5619346" y="1899854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5822481" y="2371095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tx108"/>
            <p:cNvSpPr/>
            <p:nvPr/>
          </p:nvSpPr>
          <p:spPr>
            <a:xfrm>
              <a:off x="875125" y="3611609"/>
              <a:ext cx="2100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-5.0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875125" y="3038360"/>
              <a:ext cx="210085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-2.5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915726" y="2465348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0.0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915726" y="1892098"/>
              <a:ext cx="169485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2.5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1512312" y="4157034"/>
              <a:ext cx="135612" cy="870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15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2527987" y="4156201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3543661" y="4156379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25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4559336" y="4156379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5575010" y="4156379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35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3226077" y="4306092"/>
              <a:ext cx="770780" cy="1122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True colour</a:t>
              </a:r>
            </a:p>
          </p:txBody>
        </p:sp>
        <p:sp>
          <p:nvSpPr>
            <p:cNvPr id="118" name="tx118"/>
            <p:cNvSpPr/>
            <p:nvPr/>
          </p:nvSpPr>
          <p:spPr>
            <a:xfrm rot="-5400000">
              <a:off x="-122996" y="2847951"/>
              <a:ext cx="1711449" cy="1414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&lt; 0 = pulled to the middle</a:t>
              </a:r>
            </a:p>
          </p:txBody>
        </p:sp>
        <p:sp>
          <p:nvSpPr>
            <p:cNvPr id="119" name="pl119"/>
            <p:cNvSpPr/>
            <p:nvPr/>
          </p:nvSpPr>
          <p:spPr>
            <a:xfrm>
              <a:off x="2366257" y="47894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2430568" y="476602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3001862" y="47894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066174" y="4766021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3637468" y="47894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3701779" y="4766021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273073" y="47894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337385" y="476602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tx127"/>
            <p:cNvSpPr/>
            <p:nvPr/>
          </p:nvSpPr>
          <p:spPr>
            <a:xfrm>
              <a:off x="2639683" y="4722251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3275288" y="4722192"/>
              <a:ext cx="264318" cy="111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6 sq.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3910893" y="4722311"/>
              <a:ext cx="264318" cy="1109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8 sq.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4546499" y="4722251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12 sq.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1153535" y="1474178"/>
              <a:ext cx="3562362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Forward: (report - true) x side of the true colour</a:t>
              </a:r>
            </a:p>
          </p:txBody>
        </p:sp>
        <p:sp>
          <p:nvSpPr>
            <p:cNvPr id="132" name="pl132"/>
            <p:cNvSpPr/>
            <p:nvPr/>
          </p:nvSpPr>
          <p:spPr>
            <a:xfrm>
              <a:off x="6578942" y="3990066"/>
              <a:ext cx="4915864" cy="0"/>
            </a:xfrm>
            <a:custGeom>
              <a:avLst/>
              <a:pathLst>
                <a:path w="4915864" h="0">
                  <a:moveTo>
                    <a:pt x="0" y="0"/>
                  </a:moveTo>
                  <a:lnTo>
                    <a:pt x="4915864" y="0"/>
                  </a:lnTo>
                  <a:lnTo>
                    <a:pt x="491586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6578942" y="3406780"/>
              <a:ext cx="4915864" cy="0"/>
            </a:xfrm>
            <a:custGeom>
              <a:avLst/>
              <a:pathLst>
                <a:path w="4915864" h="0">
                  <a:moveTo>
                    <a:pt x="0" y="0"/>
                  </a:moveTo>
                  <a:lnTo>
                    <a:pt x="4915864" y="0"/>
                  </a:lnTo>
                  <a:lnTo>
                    <a:pt x="491586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6578942" y="2823493"/>
              <a:ext cx="4915864" cy="0"/>
            </a:xfrm>
            <a:custGeom>
              <a:avLst/>
              <a:pathLst>
                <a:path w="4915864" h="0">
                  <a:moveTo>
                    <a:pt x="0" y="0"/>
                  </a:moveTo>
                  <a:lnTo>
                    <a:pt x="4915864" y="0"/>
                  </a:lnTo>
                  <a:lnTo>
                    <a:pt x="491586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6578942" y="2240206"/>
              <a:ext cx="4915864" cy="0"/>
            </a:xfrm>
            <a:custGeom>
              <a:avLst/>
              <a:pathLst>
                <a:path w="4915864" h="0">
                  <a:moveTo>
                    <a:pt x="0" y="0"/>
                  </a:moveTo>
                  <a:lnTo>
                    <a:pt x="4915864" y="0"/>
                  </a:lnTo>
                  <a:lnTo>
                    <a:pt x="491586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8126529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9781703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11436876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6578942" y="3406780"/>
              <a:ext cx="4915864" cy="0"/>
            </a:xfrm>
            <a:custGeom>
              <a:avLst/>
              <a:pathLst>
                <a:path w="4915864" h="0">
                  <a:moveTo>
                    <a:pt x="0" y="0"/>
                  </a:moveTo>
                  <a:lnTo>
                    <a:pt x="4915864" y="0"/>
                  </a:lnTo>
                  <a:lnTo>
                    <a:pt x="4915864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8954116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999999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6802391" y="1932360"/>
              <a:ext cx="3806898" cy="2049605"/>
            </a:xfrm>
            <a:custGeom>
              <a:avLst/>
              <a:pathLst>
                <a:path w="3806898" h="2049605">
                  <a:moveTo>
                    <a:pt x="0" y="0"/>
                  </a:moveTo>
                  <a:lnTo>
                    <a:pt x="496552" y="634839"/>
                  </a:lnTo>
                  <a:lnTo>
                    <a:pt x="662069" y="817064"/>
                  </a:lnTo>
                  <a:lnTo>
                    <a:pt x="827586" y="949461"/>
                  </a:lnTo>
                  <a:lnTo>
                    <a:pt x="993104" y="850626"/>
                  </a:lnTo>
                  <a:lnTo>
                    <a:pt x="1158621" y="1018951"/>
                  </a:lnTo>
                  <a:lnTo>
                    <a:pt x="1324138" y="456367"/>
                  </a:lnTo>
                  <a:lnTo>
                    <a:pt x="1489656" y="847154"/>
                  </a:lnTo>
                  <a:lnTo>
                    <a:pt x="1655173" y="1359756"/>
                  </a:lnTo>
                  <a:lnTo>
                    <a:pt x="1820690" y="1252571"/>
                  </a:lnTo>
                  <a:lnTo>
                    <a:pt x="1986208" y="711659"/>
                  </a:lnTo>
                  <a:lnTo>
                    <a:pt x="2317242" y="1717455"/>
                  </a:lnTo>
                  <a:lnTo>
                    <a:pt x="2482760" y="2049605"/>
                  </a:lnTo>
                  <a:lnTo>
                    <a:pt x="2648277" y="1740139"/>
                  </a:lnTo>
                  <a:lnTo>
                    <a:pt x="2813794" y="1536283"/>
                  </a:lnTo>
                  <a:lnTo>
                    <a:pt x="2979312" y="1325357"/>
                  </a:lnTo>
                  <a:lnTo>
                    <a:pt x="3144829" y="1304294"/>
                  </a:lnTo>
                  <a:lnTo>
                    <a:pt x="3310346" y="1393407"/>
                  </a:lnTo>
                  <a:lnTo>
                    <a:pt x="3475864" y="1012650"/>
                  </a:lnTo>
                  <a:lnTo>
                    <a:pt x="3806898" y="779336"/>
                  </a:lnTo>
                </a:path>
              </a:pathLst>
            </a:custGeom>
            <a:ln w="2439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7133425" y="2483242"/>
              <a:ext cx="3475864" cy="1170045"/>
            </a:xfrm>
            <a:custGeom>
              <a:avLst/>
              <a:pathLst>
                <a:path w="3475864" h="1170045">
                  <a:moveTo>
                    <a:pt x="0" y="192628"/>
                  </a:moveTo>
                  <a:lnTo>
                    <a:pt x="165517" y="0"/>
                  </a:lnTo>
                  <a:lnTo>
                    <a:pt x="331034" y="37805"/>
                  </a:lnTo>
                  <a:lnTo>
                    <a:pt x="496552" y="359693"/>
                  </a:lnTo>
                  <a:lnTo>
                    <a:pt x="662069" y="113416"/>
                  </a:lnTo>
                  <a:lnTo>
                    <a:pt x="827586" y="631894"/>
                  </a:lnTo>
                  <a:lnTo>
                    <a:pt x="993104" y="1040194"/>
                  </a:lnTo>
                  <a:lnTo>
                    <a:pt x="1158621" y="889886"/>
                  </a:lnTo>
                  <a:lnTo>
                    <a:pt x="1324138" y="1040426"/>
                  </a:lnTo>
                  <a:lnTo>
                    <a:pt x="1489656" y="456908"/>
                  </a:lnTo>
                  <a:lnTo>
                    <a:pt x="1655173" y="829268"/>
                  </a:lnTo>
                  <a:lnTo>
                    <a:pt x="1986208" y="1170045"/>
                  </a:lnTo>
                  <a:lnTo>
                    <a:pt x="2151725" y="525421"/>
                  </a:lnTo>
                  <a:lnTo>
                    <a:pt x="2317242" y="631894"/>
                  </a:lnTo>
                  <a:lnTo>
                    <a:pt x="2482760" y="1006864"/>
                  </a:lnTo>
                  <a:lnTo>
                    <a:pt x="2648277" y="641864"/>
                  </a:lnTo>
                  <a:lnTo>
                    <a:pt x="2813794" y="675100"/>
                  </a:lnTo>
                  <a:lnTo>
                    <a:pt x="2979312" y="430521"/>
                  </a:lnTo>
                  <a:lnTo>
                    <a:pt x="3144829" y="187064"/>
                  </a:lnTo>
                  <a:lnTo>
                    <a:pt x="3310346" y="495073"/>
                  </a:lnTo>
                  <a:lnTo>
                    <a:pt x="3475864" y="105315"/>
                  </a:lnTo>
                </a:path>
              </a:pathLst>
            </a:custGeom>
            <a:ln w="24391" cap="flat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7298943" y="2526449"/>
              <a:ext cx="3310346" cy="1117966"/>
            </a:xfrm>
            <a:custGeom>
              <a:avLst/>
              <a:pathLst>
                <a:path w="3310346" h="1117966">
                  <a:moveTo>
                    <a:pt x="0" y="151222"/>
                  </a:moveTo>
                  <a:lnTo>
                    <a:pt x="165517" y="0"/>
                  </a:lnTo>
                  <a:lnTo>
                    <a:pt x="331034" y="170665"/>
                  </a:lnTo>
                  <a:lnTo>
                    <a:pt x="662069" y="841445"/>
                  </a:lnTo>
                  <a:lnTo>
                    <a:pt x="827586" y="650796"/>
                  </a:lnTo>
                  <a:lnTo>
                    <a:pt x="993104" y="596165"/>
                  </a:lnTo>
                  <a:lnTo>
                    <a:pt x="1158621" y="1117966"/>
                  </a:lnTo>
                  <a:lnTo>
                    <a:pt x="1324138" y="658482"/>
                  </a:lnTo>
                  <a:lnTo>
                    <a:pt x="1489656" y="820506"/>
                  </a:lnTo>
                  <a:lnTo>
                    <a:pt x="1820690" y="990802"/>
                  </a:lnTo>
                  <a:lnTo>
                    <a:pt x="1986208" y="1026152"/>
                  </a:lnTo>
                  <a:lnTo>
                    <a:pt x="2151725" y="465549"/>
                  </a:lnTo>
                  <a:lnTo>
                    <a:pt x="2317242" y="512660"/>
                  </a:lnTo>
                  <a:lnTo>
                    <a:pt x="2482760" y="572485"/>
                  </a:lnTo>
                  <a:lnTo>
                    <a:pt x="2648277" y="76691"/>
                  </a:lnTo>
                  <a:lnTo>
                    <a:pt x="2813794" y="518477"/>
                  </a:lnTo>
                  <a:lnTo>
                    <a:pt x="2979312" y="155641"/>
                  </a:lnTo>
                  <a:lnTo>
                    <a:pt x="3144829" y="282462"/>
                  </a:lnTo>
                  <a:lnTo>
                    <a:pt x="3310346" y="70210"/>
                  </a:lnTo>
                </a:path>
              </a:pathLst>
            </a:custGeom>
            <a:ln w="2439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7629977" y="1855399"/>
              <a:ext cx="3641381" cy="1695956"/>
            </a:xfrm>
            <a:custGeom>
              <a:avLst/>
              <a:pathLst>
                <a:path w="3641381" h="1695956">
                  <a:moveTo>
                    <a:pt x="0" y="654847"/>
                  </a:moveTo>
                  <a:lnTo>
                    <a:pt x="331034" y="1564342"/>
                  </a:lnTo>
                  <a:lnTo>
                    <a:pt x="496552" y="1194927"/>
                  </a:lnTo>
                  <a:lnTo>
                    <a:pt x="662069" y="1484256"/>
                  </a:lnTo>
                  <a:lnTo>
                    <a:pt x="827586" y="1509254"/>
                  </a:lnTo>
                  <a:lnTo>
                    <a:pt x="993104" y="1448765"/>
                  </a:lnTo>
                  <a:lnTo>
                    <a:pt x="1158621" y="1695956"/>
                  </a:lnTo>
                  <a:lnTo>
                    <a:pt x="1489656" y="1435649"/>
                  </a:lnTo>
                  <a:lnTo>
                    <a:pt x="1655173" y="1090235"/>
                  </a:lnTo>
                  <a:lnTo>
                    <a:pt x="1820690" y="1042162"/>
                  </a:lnTo>
                  <a:lnTo>
                    <a:pt x="1986208" y="1311045"/>
                  </a:lnTo>
                  <a:lnTo>
                    <a:pt x="2151725" y="877360"/>
                  </a:lnTo>
                  <a:lnTo>
                    <a:pt x="2317242" y="1035496"/>
                  </a:lnTo>
                  <a:lnTo>
                    <a:pt x="2482760" y="773665"/>
                  </a:lnTo>
                  <a:lnTo>
                    <a:pt x="2648277" y="928745"/>
                  </a:lnTo>
                  <a:lnTo>
                    <a:pt x="2813794" y="587337"/>
                  </a:lnTo>
                  <a:lnTo>
                    <a:pt x="2979312" y="406410"/>
                  </a:lnTo>
                  <a:lnTo>
                    <a:pt x="3144829" y="723811"/>
                  </a:lnTo>
                  <a:lnTo>
                    <a:pt x="364138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6778920" y="1908889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7275472" y="2543729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7440989" y="272595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7606506" y="285835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7772024" y="2759516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7937541" y="292784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8103058" y="2365257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8268576" y="275604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8434093" y="3268645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8599610" y="3161460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8765128" y="2620549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9096162" y="3626345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9261680" y="395849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9427197" y="3649028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9592714" y="3445172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9758232" y="3234247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9923749" y="3213183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10089266" y="3302297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10254784" y="2921540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10585819" y="2688225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7109954" y="2652400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7275472" y="2459771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7440989" y="2497577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7606506" y="2819465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7772024" y="2573188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7937541" y="3091665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8103058" y="3499966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8268576" y="3349658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8434093" y="3500198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8599610" y="2916679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8765128" y="3289040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9096162" y="3629817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9261680" y="2985192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9427197" y="3091665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9592714" y="3466635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9758232" y="3101636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9923749" y="3134872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10089266" y="2890292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10254784" y="2646835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10420301" y="2954845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10585819" y="2565087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7275472" y="265420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7440989" y="2502978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7606506" y="2673643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7937541" y="3344423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8103058" y="3153775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8268576" y="3099143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8434093" y="3620944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8599610" y="316146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8765128" y="3323484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9096162" y="349378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9261680" y="352913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9427197" y="2968527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9592714" y="3015639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9758232" y="3075463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9923749" y="2579669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10089266" y="3021455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10254784" y="2658619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10420301" y="278544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10585819" y="2573188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7606506" y="2486775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7937541" y="339627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8103058" y="3026856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8268576" y="3316184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8434093" y="3341182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8599610" y="3280693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8765128" y="3527884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9096162" y="3267577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9261680" y="2922163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9427197" y="2874090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9592714" y="3142973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9758232" y="2709288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9923749" y="2867424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10089266" y="2605593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10254784" y="2760673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10420301" y="2419265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10585819" y="2238338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10751336" y="2555739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11247888" y="1831928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tx224"/>
            <p:cNvSpPr/>
            <p:nvPr/>
          </p:nvSpPr>
          <p:spPr>
            <a:xfrm>
              <a:off x="6402212" y="3946103"/>
              <a:ext cx="108406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-3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6442812" y="3362935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6442812" y="2779529"/>
              <a:ext cx="67806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6442812" y="2196123"/>
              <a:ext cx="67806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6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8058723" y="4156201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9713897" y="4156379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11369070" y="4156260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8808163" y="4277219"/>
              <a:ext cx="457423" cy="141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232" name="tx232"/>
            <p:cNvSpPr/>
            <p:nvPr/>
          </p:nvSpPr>
          <p:spPr>
            <a:xfrm rot="-5400000">
              <a:off x="5009956" y="2847505"/>
              <a:ext cx="2498824" cy="1423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&gt; 0 = report more extreme than array</a:t>
              </a:r>
            </a:p>
          </p:txBody>
        </p:sp>
        <p:sp>
          <p:nvSpPr>
            <p:cNvPr id="233" name="pl233"/>
            <p:cNvSpPr/>
            <p:nvPr/>
          </p:nvSpPr>
          <p:spPr>
            <a:xfrm>
              <a:off x="7791664" y="47894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7855976" y="476602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8427269" y="47894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8491581" y="4766021"/>
              <a:ext cx="46941" cy="46941"/>
            </a:xfrm>
            <a:prstGeom prst="ellipse">
              <a:avLst/>
            </a:prstGeom>
            <a:solidFill>
              <a:srgbClr val="6C9A3B">
                <a:alpha val="100000"/>
              </a:srgbClr>
            </a:solidFill>
            <a:ln w="9000" cap="rnd">
              <a:solidFill>
                <a:srgbClr val="6C9A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9062875" y="47894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9127186" y="4766021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9698480" y="47894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9762792" y="476602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tx241"/>
            <p:cNvSpPr/>
            <p:nvPr/>
          </p:nvSpPr>
          <p:spPr>
            <a:xfrm>
              <a:off x="8065090" y="4722251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8700695" y="4722192"/>
              <a:ext cx="264318" cy="111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6 sq.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9336301" y="4722311"/>
              <a:ext cx="264318" cy="1109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8 sq.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9971906" y="4722251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12 sq.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6578942" y="1474178"/>
              <a:ext cx="3178009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Reverse: (report - true) x side of the report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6949440" cy="3931920"/>
            <a:chOff x="548640" y="1371600"/>
            <a:chExt cx="6949440" cy="393192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6949439" cy="393191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548640" y="1371600"/>
              <a:ext cx="6949439" cy="393191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112935" y="4754552"/>
              <a:ext cx="2834509" cy="0"/>
            </a:xfrm>
            <a:custGeom>
              <a:avLst/>
              <a:pathLst>
                <a:path w="2834509" h="0">
                  <a:moveTo>
                    <a:pt x="0" y="0"/>
                  </a:moveTo>
                  <a:lnTo>
                    <a:pt x="2834509" y="0"/>
                  </a:lnTo>
                  <a:lnTo>
                    <a:pt x="283450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112935" y="4194577"/>
              <a:ext cx="2834509" cy="0"/>
            </a:xfrm>
            <a:custGeom>
              <a:avLst/>
              <a:pathLst>
                <a:path w="2834509" h="0">
                  <a:moveTo>
                    <a:pt x="0" y="0"/>
                  </a:moveTo>
                  <a:lnTo>
                    <a:pt x="2834509" y="0"/>
                  </a:lnTo>
                  <a:lnTo>
                    <a:pt x="283450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112935" y="3634603"/>
              <a:ext cx="2834509" cy="0"/>
            </a:xfrm>
            <a:custGeom>
              <a:avLst/>
              <a:pathLst>
                <a:path w="2834509" h="0">
                  <a:moveTo>
                    <a:pt x="0" y="0"/>
                  </a:moveTo>
                  <a:lnTo>
                    <a:pt x="2834509" y="0"/>
                  </a:lnTo>
                  <a:lnTo>
                    <a:pt x="283450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12935" y="3074628"/>
              <a:ext cx="2834509" cy="0"/>
            </a:xfrm>
            <a:custGeom>
              <a:avLst/>
              <a:pathLst>
                <a:path w="2834509" h="0">
                  <a:moveTo>
                    <a:pt x="0" y="0"/>
                  </a:moveTo>
                  <a:lnTo>
                    <a:pt x="2834509" y="0"/>
                  </a:lnTo>
                  <a:lnTo>
                    <a:pt x="283450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112935" y="2514654"/>
              <a:ext cx="2834509" cy="0"/>
            </a:xfrm>
            <a:custGeom>
              <a:avLst/>
              <a:pathLst>
                <a:path w="2834509" h="0">
                  <a:moveTo>
                    <a:pt x="0" y="0"/>
                  </a:moveTo>
                  <a:lnTo>
                    <a:pt x="2834509" y="0"/>
                  </a:lnTo>
                  <a:lnTo>
                    <a:pt x="283450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112935" y="1954679"/>
              <a:ext cx="2834509" cy="0"/>
            </a:xfrm>
            <a:custGeom>
              <a:avLst/>
              <a:pathLst>
                <a:path w="2834509" h="0">
                  <a:moveTo>
                    <a:pt x="0" y="0"/>
                  </a:moveTo>
                  <a:lnTo>
                    <a:pt x="2834509" y="0"/>
                  </a:lnTo>
                  <a:lnTo>
                    <a:pt x="283450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517865" y="1749070"/>
              <a:ext cx="0" cy="3226202"/>
            </a:xfrm>
            <a:custGeom>
              <a:avLst/>
              <a:pathLst>
                <a:path w="0" h="3226202">
                  <a:moveTo>
                    <a:pt x="0" y="32262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192748" y="1749070"/>
              <a:ext cx="0" cy="3226202"/>
            </a:xfrm>
            <a:custGeom>
              <a:avLst/>
              <a:pathLst>
                <a:path w="0" h="3226202">
                  <a:moveTo>
                    <a:pt x="0" y="32262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867631" y="1749070"/>
              <a:ext cx="0" cy="3226202"/>
            </a:xfrm>
            <a:custGeom>
              <a:avLst/>
              <a:pathLst>
                <a:path w="0" h="3226202">
                  <a:moveTo>
                    <a:pt x="0" y="32262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542514" y="1749070"/>
              <a:ext cx="0" cy="3226202"/>
            </a:xfrm>
            <a:custGeom>
              <a:avLst/>
              <a:pathLst>
                <a:path w="0" h="3226202">
                  <a:moveTo>
                    <a:pt x="0" y="32262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112935" y="2514654"/>
              <a:ext cx="2834509" cy="0"/>
            </a:xfrm>
            <a:custGeom>
              <a:avLst/>
              <a:pathLst>
                <a:path w="2834509" h="0">
                  <a:moveTo>
                    <a:pt x="0" y="0"/>
                  </a:moveTo>
                  <a:lnTo>
                    <a:pt x="2834509" y="0"/>
                  </a:lnTo>
                  <a:lnTo>
                    <a:pt x="2834509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84120" y="2188769"/>
              <a:ext cx="67488" cy="0"/>
            </a:xfrm>
            <a:custGeom>
              <a:avLst/>
              <a:pathLst>
                <a:path w="67488" h="0">
                  <a:moveTo>
                    <a:pt x="0" y="0"/>
                  </a:moveTo>
                  <a:lnTo>
                    <a:pt x="6748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517865" y="2188769"/>
              <a:ext cx="0" cy="1935800"/>
            </a:xfrm>
            <a:custGeom>
              <a:avLst/>
              <a:pathLst>
                <a:path w="0" h="1935800">
                  <a:moveTo>
                    <a:pt x="0" y="0"/>
                  </a:moveTo>
                  <a:lnTo>
                    <a:pt x="0" y="193580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484120" y="4124570"/>
              <a:ext cx="67488" cy="0"/>
            </a:xfrm>
            <a:custGeom>
              <a:avLst/>
              <a:pathLst>
                <a:path w="67488" h="0">
                  <a:moveTo>
                    <a:pt x="0" y="0"/>
                  </a:moveTo>
                  <a:lnTo>
                    <a:pt x="6748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159004" y="2523266"/>
              <a:ext cx="67488" cy="0"/>
            </a:xfrm>
            <a:custGeom>
              <a:avLst/>
              <a:pathLst>
                <a:path w="67488" h="0">
                  <a:moveTo>
                    <a:pt x="0" y="0"/>
                  </a:moveTo>
                  <a:lnTo>
                    <a:pt x="6748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92748" y="2523266"/>
              <a:ext cx="0" cy="1927736"/>
            </a:xfrm>
            <a:custGeom>
              <a:avLst/>
              <a:pathLst>
                <a:path w="0" h="1927736">
                  <a:moveTo>
                    <a:pt x="0" y="0"/>
                  </a:moveTo>
                  <a:lnTo>
                    <a:pt x="0" y="1927736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159004" y="4451003"/>
              <a:ext cx="67488" cy="0"/>
            </a:xfrm>
            <a:custGeom>
              <a:avLst/>
              <a:pathLst>
                <a:path w="67488" h="0">
                  <a:moveTo>
                    <a:pt x="0" y="0"/>
                  </a:moveTo>
                  <a:lnTo>
                    <a:pt x="6748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833887" y="2893125"/>
              <a:ext cx="67488" cy="0"/>
            </a:xfrm>
            <a:custGeom>
              <a:avLst/>
              <a:pathLst>
                <a:path w="67488" h="0">
                  <a:moveTo>
                    <a:pt x="0" y="0"/>
                  </a:moveTo>
                  <a:lnTo>
                    <a:pt x="6748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867631" y="2893125"/>
              <a:ext cx="0" cy="1935501"/>
            </a:xfrm>
            <a:custGeom>
              <a:avLst/>
              <a:pathLst>
                <a:path w="0" h="1935501">
                  <a:moveTo>
                    <a:pt x="0" y="0"/>
                  </a:moveTo>
                  <a:lnTo>
                    <a:pt x="0" y="1935501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33887" y="4828627"/>
              <a:ext cx="67488" cy="0"/>
            </a:xfrm>
            <a:custGeom>
              <a:avLst/>
              <a:pathLst>
                <a:path w="67488" h="0">
                  <a:moveTo>
                    <a:pt x="0" y="0"/>
                  </a:moveTo>
                  <a:lnTo>
                    <a:pt x="6748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508770" y="1895716"/>
              <a:ext cx="67488" cy="0"/>
            </a:xfrm>
            <a:custGeom>
              <a:avLst/>
              <a:pathLst>
                <a:path w="67488" h="0">
                  <a:moveTo>
                    <a:pt x="0" y="0"/>
                  </a:moveTo>
                  <a:lnTo>
                    <a:pt x="6748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542514" y="1895716"/>
              <a:ext cx="0" cy="2105997"/>
            </a:xfrm>
            <a:custGeom>
              <a:avLst/>
              <a:pathLst>
                <a:path w="0" h="2105997">
                  <a:moveTo>
                    <a:pt x="0" y="0"/>
                  </a:moveTo>
                  <a:lnTo>
                    <a:pt x="0" y="2105997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508770" y="4001713"/>
              <a:ext cx="67488" cy="0"/>
            </a:xfrm>
            <a:custGeom>
              <a:avLst/>
              <a:pathLst>
                <a:path w="67488" h="0">
                  <a:moveTo>
                    <a:pt x="0" y="0"/>
                  </a:moveTo>
                  <a:lnTo>
                    <a:pt x="6748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517865" y="2948714"/>
              <a:ext cx="2024649" cy="912161"/>
            </a:xfrm>
            <a:custGeom>
              <a:avLst/>
              <a:pathLst>
                <a:path w="2024649" h="912161">
                  <a:moveTo>
                    <a:pt x="0" y="207955"/>
                  </a:moveTo>
                  <a:lnTo>
                    <a:pt x="674883" y="538419"/>
                  </a:lnTo>
                  <a:lnTo>
                    <a:pt x="1349766" y="912161"/>
                  </a:lnTo>
                  <a:lnTo>
                    <a:pt x="2024649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1480843" y="3119648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155726" y="3450113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830610" y="3823855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505493" y="2911693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3"/>
            <p:cNvSpPr/>
            <p:nvPr/>
          </p:nvSpPr>
          <p:spPr>
            <a:xfrm>
              <a:off x="875125" y="4710350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0.6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75125" y="4150733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0.7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875125" y="3590401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0.8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75125" y="3030605"/>
              <a:ext cx="169485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0.9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75125" y="2470809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75125" y="1913513"/>
              <a:ext cx="169485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385705" y="5020081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2060588" y="5020022"/>
              <a:ext cx="264318" cy="111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6 sq.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735472" y="5020141"/>
              <a:ext cx="264318" cy="1109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8 sq.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3376452" y="5020081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12 sq.</a:t>
              </a:r>
            </a:p>
          </p:txBody>
        </p:sp>
        <p:sp>
          <p:nvSpPr>
            <p:cNvPr id="43" name="tx43"/>
            <p:cNvSpPr/>
            <p:nvPr/>
          </p:nvSpPr>
          <p:spPr>
            <a:xfrm rot="-5400000">
              <a:off x="214731" y="3290138"/>
              <a:ext cx="1033388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Slope (95% CI)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112935" y="1474178"/>
              <a:ext cx="2078278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Forward slope (experience)</a:t>
              </a:r>
            </a:p>
          </p:txBody>
        </p:sp>
        <p:sp>
          <p:nvSpPr>
            <p:cNvPr id="45" name="pl45"/>
            <p:cNvSpPr/>
            <p:nvPr/>
          </p:nvSpPr>
          <p:spPr>
            <a:xfrm>
              <a:off x="4518066" y="4956580"/>
              <a:ext cx="2834509" cy="0"/>
            </a:xfrm>
            <a:custGeom>
              <a:avLst/>
              <a:pathLst>
                <a:path w="2834509" h="0">
                  <a:moveTo>
                    <a:pt x="0" y="0"/>
                  </a:moveTo>
                  <a:lnTo>
                    <a:pt x="2834509" y="0"/>
                  </a:lnTo>
                  <a:lnTo>
                    <a:pt x="283450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4518066" y="4344407"/>
              <a:ext cx="2834509" cy="0"/>
            </a:xfrm>
            <a:custGeom>
              <a:avLst/>
              <a:pathLst>
                <a:path w="2834509" h="0">
                  <a:moveTo>
                    <a:pt x="0" y="0"/>
                  </a:moveTo>
                  <a:lnTo>
                    <a:pt x="2834509" y="0"/>
                  </a:lnTo>
                  <a:lnTo>
                    <a:pt x="283450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4518066" y="3732234"/>
              <a:ext cx="2834509" cy="0"/>
            </a:xfrm>
            <a:custGeom>
              <a:avLst/>
              <a:pathLst>
                <a:path w="2834509" h="0">
                  <a:moveTo>
                    <a:pt x="0" y="0"/>
                  </a:moveTo>
                  <a:lnTo>
                    <a:pt x="2834509" y="0"/>
                  </a:lnTo>
                  <a:lnTo>
                    <a:pt x="283450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4518066" y="3120061"/>
              <a:ext cx="2834509" cy="0"/>
            </a:xfrm>
            <a:custGeom>
              <a:avLst/>
              <a:pathLst>
                <a:path w="2834509" h="0">
                  <a:moveTo>
                    <a:pt x="0" y="0"/>
                  </a:moveTo>
                  <a:lnTo>
                    <a:pt x="2834509" y="0"/>
                  </a:lnTo>
                  <a:lnTo>
                    <a:pt x="283450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518066" y="2507889"/>
              <a:ext cx="2834509" cy="0"/>
            </a:xfrm>
            <a:custGeom>
              <a:avLst/>
              <a:pathLst>
                <a:path w="2834509" h="0">
                  <a:moveTo>
                    <a:pt x="0" y="0"/>
                  </a:moveTo>
                  <a:lnTo>
                    <a:pt x="2834509" y="0"/>
                  </a:lnTo>
                  <a:lnTo>
                    <a:pt x="283450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518066" y="1895716"/>
              <a:ext cx="2834509" cy="0"/>
            </a:xfrm>
            <a:custGeom>
              <a:avLst/>
              <a:pathLst>
                <a:path w="2834509" h="0">
                  <a:moveTo>
                    <a:pt x="0" y="0"/>
                  </a:moveTo>
                  <a:lnTo>
                    <a:pt x="2834509" y="0"/>
                  </a:lnTo>
                  <a:lnTo>
                    <a:pt x="283450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922995" y="1749070"/>
              <a:ext cx="0" cy="3226202"/>
            </a:xfrm>
            <a:custGeom>
              <a:avLst/>
              <a:pathLst>
                <a:path w="0" h="3226202">
                  <a:moveTo>
                    <a:pt x="0" y="32262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597879" y="1749070"/>
              <a:ext cx="0" cy="3226202"/>
            </a:xfrm>
            <a:custGeom>
              <a:avLst/>
              <a:pathLst>
                <a:path w="0" h="3226202">
                  <a:moveTo>
                    <a:pt x="0" y="32262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6272762" y="1749070"/>
              <a:ext cx="0" cy="3226202"/>
            </a:xfrm>
            <a:custGeom>
              <a:avLst/>
              <a:pathLst>
                <a:path w="0" h="3226202">
                  <a:moveTo>
                    <a:pt x="0" y="32262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6947645" y="1749070"/>
              <a:ext cx="0" cy="3226202"/>
            </a:xfrm>
            <a:custGeom>
              <a:avLst/>
              <a:pathLst>
                <a:path w="0" h="3226202">
                  <a:moveTo>
                    <a:pt x="0" y="32262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518066" y="1895716"/>
              <a:ext cx="2834509" cy="0"/>
            </a:xfrm>
            <a:custGeom>
              <a:avLst/>
              <a:pathLst>
                <a:path w="2834509" h="0">
                  <a:moveTo>
                    <a:pt x="0" y="0"/>
                  </a:moveTo>
                  <a:lnTo>
                    <a:pt x="2834509" y="0"/>
                  </a:lnTo>
                  <a:lnTo>
                    <a:pt x="2834509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4889251" y="3075351"/>
              <a:ext cx="67488" cy="0"/>
            </a:xfrm>
            <a:custGeom>
              <a:avLst/>
              <a:pathLst>
                <a:path w="67488" h="0">
                  <a:moveTo>
                    <a:pt x="0" y="0"/>
                  </a:moveTo>
                  <a:lnTo>
                    <a:pt x="6748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4922995" y="3075351"/>
              <a:ext cx="0" cy="1267719"/>
            </a:xfrm>
            <a:custGeom>
              <a:avLst/>
              <a:pathLst>
                <a:path w="0" h="1267719">
                  <a:moveTo>
                    <a:pt x="0" y="0"/>
                  </a:moveTo>
                  <a:lnTo>
                    <a:pt x="0" y="1267719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4889251" y="4343071"/>
              <a:ext cx="67488" cy="0"/>
            </a:xfrm>
            <a:custGeom>
              <a:avLst/>
              <a:pathLst>
                <a:path w="67488" h="0">
                  <a:moveTo>
                    <a:pt x="0" y="0"/>
                  </a:moveTo>
                  <a:lnTo>
                    <a:pt x="6748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564135" y="3474450"/>
              <a:ext cx="67488" cy="0"/>
            </a:xfrm>
            <a:custGeom>
              <a:avLst/>
              <a:pathLst>
                <a:path w="67488" h="0">
                  <a:moveTo>
                    <a:pt x="0" y="0"/>
                  </a:moveTo>
                  <a:lnTo>
                    <a:pt x="6748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597879" y="3474450"/>
              <a:ext cx="0" cy="1249234"/>
            </a:xfrm>
            <a:custGeom>
              <a:avLst/>
              <a:pathLst>
                <a:path w="0" h="1249234">
                  <a:moveTo>
                    <a:pt x="0" y="0"/>
                  </a:moveTo>
                  <a:lnTo>
                    <a:pt x="0" y="1249234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564135" y="4723684"/>
              <a:ext cx="67488" cy="0"/>
            </a:xfrm>
            <a:custGeom>
              <a:avLst/>
              <a:pathLst>
                <a:path w="67488" h="0">
                  <a:moveTo>
                    <a:pt x="0" y="0"/>
                  </a:moveTo>
                  <a:lnTo>
                    <a:pt x="6748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6239018" y="3557424"/>
              <a:ext cx="67488" cy="0"/>
            </a:xfrm>
            <a:custGeom>
              <a:avLst/>
              <a:pathLst>
                <a:path w="67488" h="0">
                  <a:moveTo>
                    <a:pt x="0" y="0"/>
                  </a:moveTo>
                  <a:lnTo>
                    <a:pt x="6748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6272762" y="3557424"/>
              <a:ext cx="0" cy="1271202"/>
            </a:xfrm>
            <a:custGeom>
              <a:avLst/>
              <a:pathLst>
                <a:path w="0" h="1271202">
                  <a:moveTo>
                    <a:pt x="0" y="0"/>
                  </a:moveTo>
                  <a:lnTo>
                    <a:pt x="0" y="1271202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6239018" y="4828627"/>
              <a:ext cx="67488" cy="0"/>
            </a:xfrm>
            <a:custGeom>
              <a:avLst/>
              <a:pathLst>
                <a:path w="67488" h="0">
                  <a:moveTo>
                    <a:pt x="0" y="0"/>
                  </a:moveTo>
                  <a:lnTo>
                    <a:pt x="6748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6913901" y="3531414"/>
              <a:ext cx="67488" cy="0"/>
            </a:xfrm>
            <a:custGeom>
              <a:avLst/>
              <a:pathLst>
                <a:path w="67488" h="0">
                  <a:moveTo>
                    <a:pt x="0" y="0"/>
                  </a:moveTo>
                  <a:lnTo>
                    <a:pt x="6748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947645" y="3531414"/>
              <a:ext cx="0" cy="1242665"/>
            </a:xfrm>
            <a:custGeom>
              <a:avLst/>
              <a:pathLst>
                <a:path w="0" h="1242665">
                  <a:moveTo>
                    <a:pt x="0" y="0"/>
                  </a:moveTo>
                  <a:lnTo>
                    <a:pt x="0" y="1242665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913901" y="4774079"/>
              <a:ext cx="67488" cy="0"/>
            </a:xfrm>
            <a:custGeom>
              <a:avLst/>
              <a:pathLst>
                <a:path w="67488" h="0">
                  <a:moveTo>
                    <a:pt x="0" y="0"/>
                  </a:moveTo>
                  <a:lnTo>
                    <a:pt x="6748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922995" y="3709211"/>
              <a:ext cx="2024649" cy="483814"/>
            </a:xfrm>
            <a:custGeom>
              <a:avLst/>
              <a:pathLst>
                <a:path w="2024649" h="483814">
                  <a:moveTo>
                    <a:pt x="0" y="0"/>
                  </a:moveTo>
                  <a:lnTo>
                    <a:pt x="674883" y="389855"/>
                  </a:lnTo>
                  <a:lnTo>
                    <a:pt x="1349766" y="483814"/>
                  </a:lnTo>
                  <a:lnTo>
                    <a:pt x="2024649" y="443535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885974" y="3672190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560857" y="4062046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6235740" y="4156004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6910624" y="4115725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tx73"/>
            <p:cNvSpPr/>
            <p:nvPr/>
          </p:nvSpPr>
          <p:spPr>
            <a:xfrm>
              <a:off x="4280256" y="4912735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0.5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4280256" y="4300205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0.6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280256" y="3688389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0.7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280256" y="3075859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0.8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280256" y="2463865"/>
              <a:ext cx="169485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0.9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280256" y="1851871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790836" y="5020081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465719" y="5020022"/>
              <a:ext cx="264318" cy="111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6 sq.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6140603" y="5020141"/>
              <a:ext cx="264318" cy="1109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8 sq.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781583" y="5020081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12 sq.</a:t>
              </a:r>
            </a:p>
          </p:txBody>
        </p:sp>
        <p:sp>
          <p:nvSpPr>
            <p:cNvPr id="83" name="tx83"/>
            <p:cNvSpPr/>
            <p:nvPr/>
          </p:nvSpPr>
          <p:spPr>
            <a:xfrm rot="-5400000">
              <a:off x="3619862" y="3290138"/>
              <a:ext cx="1033388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Slope (95% CI)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18066" y="1474178"/>
              <a:ext cx="2049386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Reverse slope (experience)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355080" y="1417320"/>
            <a:ext cx="5285232" cy="3566160"/>
            <a:chOff x="6355080" y="1417320"/>
            <a:chExt cx="5285232" cy="3566160"/>
          </a:xfrm>
        </p:grpSpPr>
        <p:sp>
          <p:nvSpPr>
            <p:cNvPr id="3" name="rc3"/>
            <p:cNvSpPr/>
            <p:nvPr/>
          </p:nvSpPr>
          <p:spPr>
            <a:xfrm>
              <a:off x="6355080" y="1417320"/>
              <a:ext cx="5285232" cy="3566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6883718" y="3916381"/>
              <a:ext cx="4680677" cy="0"/>
            </a:xfrm>
            <a:custGeom>
              <a:avLst/>
              <a:pathLst>
                <a:path w="4680677" h="0">
                  <a:moveTo>
                    <a:pt x="0" y="0"/>
                  </a:moveTo>
                  <a:lnTo>
                    <a:pt x="4680677" y="0"/>
                  </a:lnTo>
                  <a:lnTo>
                    <a:pt x="468067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6883718" y="3326879"/>
              <a:ext cx="4680677" cy="0"/>
            </a:xfrm>
            <a:custGeom>
              <a:avLst/>
              <a:pathLst>
                <a:path w="4680677" h="0">
                  <a:moveTo>
                    <a:pt x="0" y="0"/>
                  </a:moveTo>
                  <a:lnTo>
                    <a:pt x="4680677" y="0"/>
                  </a:lnTo>
                  <a:lnTo>
                    <a:pt x="468067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6883718" y="2737376"/>
              <a:ext cx="4680677" cy="0"/>
            </a:xfrm>
            <a:custGeom>
              <a:avLst/>
              <a:pathLst>
                <a:path w="4680677" h="0">
                  <a:moveTo>
                    <a:pt x="0" y="0"/>
                  </a:moveTo>
                  <a:lnTo>
                    <a:pt x="4680677" y="0"/>
                  </a:lnTo>
                  <a:lnTo>
                    <a:pt x="468067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6883718" y="2147874"/>
              <a:ext cx="4680677" cy="0"/>
            </a:xfrm>
            <a:custGeom>
              <a:avLst/>
              <a:pathLst>
                <a:path w="4680677" h="0">
                  <a:moveTo>
                    <a:pt x="0" y="0"/>
                  </a:moveTo>
                  <a:lnTo>
                    <a:pt x="4680677" y="0"/>
                  </a:lnTo>
                  <a:lnTo>
                    <a:pt x="468067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096476" y="172520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930822" y="172520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765167" y="172520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599513" y="172520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433858" y="172520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1268204" y="172520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7138194" y="3916381"/>
              <a:ext cx="83434" cy="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7221628" y="3910486"/>
              <a:ext cx="83434" cy="589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7305063" y="3892801"/>
              <a:ext cx="83434" cy="2358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7388497" y="3904591"/>
              <a:ext cx="83434" cy="1179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7471932" y="3863326"/>
              <a:ext cx="83434" cy="5305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7555366" y="3833850"/>
              <a:ext cx="83434" cy="8253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7638801" y="3710055"/>
              <a:ext cx="83434" cy="20632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7722236" y="3651105"/>
              <a:ext cx="83434" cy="26527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7805670" y="3598050"/>
              <a:ext cx="83434" cy="318331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7889105" y="3438884"/>
              <a:ext cx="83434" cy="47749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7972539" y="3344564"/>
              <a:ext cx="83434" cy="571817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8055974" y="3120553"/>
              <a:ext cx="83434" cy="795827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8139408" y="2973177"/>
              <a:ext cx="83434" cy="943203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8222843" y="2884752"/>
              <a:ext cx="83434" cy="1031628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8306277" y="2584106"/>
              <a:ext cx="83434" cy="1332274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8389712" y="2643056"/>
              <a:ext cx="83434" cy="1273324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8473146" y="2336515"/>
              <a:ext cx="83434" cy="157986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8556581" y="2259880"/>
              <a:ext cx="83434" cy="1656501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8640015" y="2141979"/>
              <a:ext cx="83434" cy="1774401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8723450" y="2206824"/>
              <a:ext cx="83434" cy="170955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8806885" y="2000499"/>
              <a:ext cx="83434" cy="1915881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8890319" y="2094819"/>
              <a:ext cx="83434" cy="1821561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8973754" y="2047659"/>
              <a:ext cx="83434" cy="1868721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9057188" y="1835438"/>
              <a:ext cx="83434" cy="2080942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9140623" y="2000499"/>
              <a:ext cx="83434" cy="1915881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9224057" y="2147874"/>
              <a:ext cx="83434" cy="176850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9307492" y="2195034"/>
              <a:ext cx="83434" cy="172134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9390926" y="2236300"/>
              <a:ext cx="83434" cy="1680081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9474361" y="2637161"/>
              <a:ext cx="83434" cy="1279219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9557795" y="2277565"/>
              <a:ext cx="83434" cy="163881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9641230" y="2460310"/>
              <a:ext cx="83434" cy="145607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9724665" y="2619476"/>
              <a:ext cx="83434" cy="1296904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9808099" y="2861172"/>
              <a:ext cx="83434" cy="1055208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9891534" y="2831697"/>
              <a:ext cx="83434" cy="1084683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9974968" y="3026232"/>
              <a:ext cx="83434" cy="890148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0058403" y="3114658"/>
              <a:ext cx="83434" cy="801722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10141837" y="3173608"/>
              <a:ext cx="83434" cy="742772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10225272" y="3232558"/>
              <a:ext cx="83434" cy="683822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10308706" y="3385829"/>
              <a:ext cx="83434" cy="530551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10392141" y="3497834"/>
              <a:ext cx="83434" cy="41854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10475575" y="3568574"/>
              <a:ext cx="83434" cy="34780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10559010" y="3668790"/>
              <a:ext cx="83434" cy="24759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10642444" y="3692370"/>
              <a:ext cx="83434" cy="22401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10725879" y="3810270"/>
              <a:ext cx="83434" cy="10611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10809314" y="3845640"/>
              <a:ext cx="83434" cy="7074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10892748" y="3863326"/>
              <a:ext cx="83434" cy="5305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10976183" y="3886906"/>
              <a:ext cx="83434" cy="2947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11059617" y="3916381"/>
              <a:ext cx="83434" cy="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11143052" y="3863326"/>
              <a:ext cx="83434" cy="5305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11226486" y="3916381"/>
              <a:ext cx="83434" cy="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7138194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7221628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7305063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7388497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7471932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7555366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7638801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7722236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7805670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7889105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7972539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8055974" y="3250243"/>
              <a:ext cx="83434" cy="666137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8139408" y="3486044"/>
              <a:ext cx="83434" cy="430336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8222843" y="2206824"/>
              <a:ext cx="83434" cy="1709556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8306277" y="2006394"/>
              <a:ext cx="83434" cy="1909986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8389712" y="2218615"/>
              <a:ext cx="83434" cy="1697766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8473146" y="2195034"/>
              <a:ext cx="83434" cy="1721346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8556581" y="2094819"/>
              <a:ext cx="83434" cy="1821561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8640015" y="2136084"/>
              <a:ext cx="83434" cy="1780296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8723450" y="1976919"/>
              <a:ext cx="83434" cy="1939462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8806885" y="1829543"/>
              <a:ext cx="83434" cy="2086837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8890319" y="2100714"/>
              <a:ext cx="83434" cy="1815666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8973754" y="1929758"/>
              <a:ext cx="83434" cy="1986622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9057188" y="2083029"/>
              <a:ext cx="83434" cy="1833351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9140623" y="2136084"/>
              <a:ext cx="83434" cy="1780296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9224057" y="2206824"/>
              <a:ext cx="83434" cy="1709556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9307492" y="2018184"/>
              <a:ext cx="83434" cy="1898196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9390926" y="2212720"/>
              <a:ext cx="83434" cy="1703661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9474361" y="2153769"/>
              <a:ext cx="83434" cy="1762611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9557795" y="2094819"/>
              <a:ext cx="83434" cy="1821561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9641230" y="2100714"/>
              <a:ext cx="83434" cy="1815666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9724665" y="1847228"/>
              <a:ext cx="83434" cy="2069152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9808099" y="2136084"/>
              <a:ext cx="83434" cy="1780296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9891534" y="2206824"/>
              <a:ext cx="83434" cy="1709556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9974968" y="2713796"/>
              <a:ext cx="83434" cy="1202584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10058403" y="2672531"/>
              <a:ext cx="83434" cy="1243849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10141837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10225272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10308706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10392141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10475575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10559010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10642444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10725879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10809314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10892748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10976183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11059617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11143052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11226486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14" name="tx114"/>
            <p:cNvSpPr/>
            <p:nvPr/>
          </p:nvSpPr>
          <p:spPr>
            <a:xfrm>
              <a:off x="6747588" y="3872536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6611976" y="3283034"/>
              <a:ext cx="203418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100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6611976" y="2693234"/>
              <a:ext cx="203418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200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6611976" y="2103910"/>
              <a:ext cx="203418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300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7062573" y="408892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7863016" y="408892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8697361" y="4088630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9531707" y="4088808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10366052" y="4088689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11200397" y="408892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9003717" y="4235247"/>
              <a:ext cx="440680" cy="1154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Shade</a:t>
              </a:r>
            </a:p>
          </p:txBody>
        </p:sp>
        <p:sp>
          <p:nvSpPr>
            <p:cNvPr id="125" name="tx125"/>
            <p:cNvSpPr/>
            <p:nvPr/>
          </p:nvSpPr>
          <p:spPr>
            <a:xfrm rot="-5400000">
              <a:off x="6297868" y="2816779"/>
              <a:ext cx="372516" cy="1123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Trials</a:t>
              </a:r>
            </a:p>
          </p:txBody>
        </p:sp>
        <p:sp>
          <p:nvSpPr>
            <p:cNvPr id="126" name="rc126"/>
            <p:cNvSpPr/>
            <p:nvPr/>
          </p:nvSpPr>
          <p:spPr>
            <a:xfrm>
              <a:off x="7856116" y="4621193"/>
              <a:ext cx="201455" cy="20145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8593341" y="4621193"/>
              <a:ext cx="201455" cy="201456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28" name="tx128"/>
            <p:cNvSpPr/>
            <p:nvPr/>
          </p:nvSpPr>
          <p:spPr>
            <a:xfrm>
              <a:off x="8142487" y="465277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8879712" y="4649799"/>
              <a:ext cx="1721286" cy="115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True colour (displayed average)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6883718" y="1450309"/>
              <a:ext cx="3379762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Clean trials, experience: shown and reported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417320"/>
            <a:ext cx="6035040" cy="4206240"/>
            <a:chOff x="548640" y="1417320"/>
            <a:chExt cx="6035040" cy="4206240"/>
          </a:xfrm>
        </p:grpSpPr>
        <p:sp>
          <p:nvSpPr>
            <p:cNvPr id="3" name="rc3"/>
            <p:cNvSpPr/>
            <p:nvPr/>
          </p:nvSpPr>
          <p:spPr>
            <a:xfrm>
              <a:off x="548640" y="1417320"/>
              <a:ext cx="6035040" cy="42062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43346" y="5199460"/>
              <a:ext cx="5464418" cy="0"/>
            </a:xfrm>
            <a:custGeom>
              <a:avLst/>
              <a:pathLst>
                <a:path w="5464418" h="0">
                  <a:moveTo>
                    <a:pt x="0" y="0"/>
                  </a:moveTo>
                  <a:lnTo>
                    <a:pt x="5464418" y="0"/>
                  </a:lnTo>
                  <a:lnTo>
                    <a:pt x="546441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43346" y="4096521"/>
              <a:ext cx="5464418" cy="0"/>
            </a:xfrm>
            <a:custGeom>
              <a:avLst/>
              <a:pathLst>
                <a:path w="5464418" h="0">
                  <a:moveTo>
                    <a:pt x="0" y="0"/>
                  </a:moveTo>
                  <a:lnTo>
                    <a:pt x="5464418" y="0"/>
                  </a:lnTo>
                  <a:lnTo>
                    <a:pt x="546441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43346" y="2993582"/>
              <a:ext cx="5464418" cy="0"/>
            </a:xfrm>
            <a:custGeom>
              <a:avLst/>
              <a:pathLst>
                <a:path w="5464418" h="0">
                  <a:moveTo>
                    <a:pt x="0" y="0"/>
                  </a:moveTo>
                  <a:lnTo>
                    <a:pt x="5464418" y="0"/>
                  </a:lnTo>
                  <a:lnTo>
                    <a:pt x="546441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43346" y="1890642"/>
              <a:ext cx="5464418" cy="0"/>
            </a:xfrm>
            <a:custGeom>
              <a:avLst/>
              <a:pathLst>
                <a:path w="5464418" h="0">
                  <a:moveTo>
                    <a:pt x="0" y="0"/>
                  </a:moveTo>
                  <a:lnTo>
                    <a:pt x="5464418" y="0"/>
                  </a:lnTo>
                  <a:lnTo>
                    <a:pt x="546441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067924" y="1725201"/>
              <a:ext cx="0" cy="3639700"/>
            </a:xfrm>
            <a:custGeom>
              <a:avLst/>
              <a:pathLst>
                <a:path w="0" h="3639700">
                  <a:moveTo>
                    <a:pt x="0" y="36397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75555" y="1725201"/>
              <a:ext cx="0" cy="3639700"/>
            </a:xfrm>
            <a:custGeom>
              <a:avLst/>
              <a:pathLst>
                <a:path w="0" h="3639700">
                  <a:moveTo>
                    <a:pt x="0" y="36397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483186" y="1725201"/>
              <a:ext cx="0" cy="3639700"/>
            </a:xfrm>
            <a:custGeom>
              <a:avLst/>
              <a:pathLst>
                <a:path w="0" h="3639700">
                  <a:moveTo>
                    <a:pt x="0" y="36397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982543" y="2630127"/>
              <a:ext cx="170763" cy="0"/>
            </a:xfrm>
            <a:custGeom>
              <a:avLst/>
              <a:pathLst>
                <a:path w="170763" h="0">
                  <a:moveTo>
                    <a:pt x="0" y="0"/>
                  </a:moveTo>
                  <a:lnTo>
                    <a:pt x="170763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067924" y="2630127"/>
              <a:ext cx="0" cy="555651"/>
            </a:xfrm>
            <a:custGeom>
              <a:avLst/>
              <a:pathLst>
                <a:path w="0" h="555651">
                  <a:moveTo>
                    <a:pt x="0" y="0"/>
                  </a:moveTo>
                  <a:lnTo>
                    <a:pt x="0" y="555651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982543" y="3185779"/>
              <a:ext cx="170763" cy="0"/>
            </a:xfrm>
            <a:custGeom>
              <a:avLst/>
              <a:pathLst>
                <a:path w="170763" h="0">
                  <a:moveTo>
                    <a:pt x="0" y="0"/>
                  </a:moveTo>
                  <a:lnTo>
                    <a:pt x="170763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690173" y="2981714"/>
              <a:ext cx="170763" cy="0"/>
            </a:xfrm>
            <a:custGeom>
              <a:avLst/>
              <a:pathLst>
                <a:path w="170763" h="0">
                  <a:moveTo>
                    <a:pt x="0" y="0"/>
                  </a:moveTo>
                  <a:lnTo>
                    <a:pt x="170763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775555" y="2981714"/>
              <a:ext cx="0" cy="638991"/>
            </a:xfrm>
            <a:custGeom>
              <a:avLst/>
              <a:pathLst>
                <a:path w="0" h="638991">
                  <a:moveTo>
                    <a:pt x="0" y="0"/>
                  </a:moveTo>
                  <a:lnTo>
                    <a:pt x="0" y="638991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90173" y="3620705"/>
              <a:ext cx="170763" cy="0"/>
            </a:xfrm>
            <a:custGeom>
              <a:avLst/>
              <a:pathLst>
                <a:path w="170763" h="0">
                  <a:moveTo>
                    <a:pt x="0" y="0"/>
                  </a:moveTo>
                  <a:lnTo>
                    <a:pt x="170763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397804" y="2979870"/>
              <a:ext cx="170763" cy="0"/>
            </a:xfrm>
            <a:custGeom>
              <a:avLst/>
              <a:pathLst>
                <a:path w="170763" h="0">
                  <a:moveTo>
                    <a:pt x="0" y="0"/>
                  </a:moveTo>
                  <a:lnTo>
                    <a:pt x="170763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483186" y="2979870"/>
              <a:ext cx="0" cy="506413"/>
            </a:xfrm>
            <a:custGeom>
              <a:avLst/>
              <a:pathLst>
                <a:path w="0" h="506413">
                  <a:moveTo>
                    <a:pt x="0" y="0"/>
                  </a:moveTo>
                  <a:lnTo>
                    <a:pt x="0" y="506413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397804" y="3486283"/>
              <a:ext cx="170763" cy="0"/>
            </a:xfrm>
            <a:custGeom>
              <a:avLst/>
              <a:pathLst>
                <a:path w="170763" h="0">
                  <a:moveTo>
                    <a:pt x="0" y="0"/>
                  </a:moveTo>
                  <a:lnTo>
                    <a:pt x="170763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067924" y="2891600"/>
              <a:ext cx="3415261" cy="391823"/>
            </a:xfrm>
            <a:custGeom>
              <a:avLst/>
              <a:pathLst>
                <a:path w="3415261" h="391823">
                  <a:moveTo>
                    <a:pt x="0" y="0"/>
                  </a:moveTo>
                  <a:lnTo>
                    <a:pt x="1707630" y="391823"/>
                  </a:lnTo>
                  <a:lnTo>
                    <a:pt x="3415261" y="329962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028192" y="2851868"/>
              <a:ext cx="79463" cy="7946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735823" y="3243692"/>
              <a:ext cx="79463" cy="7946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443454" y="3181831"/>
              <a:ext cx="79463" cy="7946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tx24"/>
            <p:cNvSpPr/>
            <p:nvPr/>
          </p:nvSpPr>
          <p:spPr>
            <a:xfrm>
              <a:off x="805536" y="5155258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0.6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805536" y="4052676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0.7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805536" y="2949380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0.8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805536" y="1846619"/>
              <a:ext cx="169485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0.9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1935765" y="540971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3609492" y="5410008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5317123" y="540971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31" name="tx31"/>
            <p:cNvSpPr/>
            <p:nvPr/>
          </p:nvSpPr>
          <p:spPr>
            <a:xfrm rot="-5400000">
              <a:off x="103210" y="3473353"/>
              <a:ext cx="1117922" cy="1433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Mean r (95% CI)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1043346" y="1448163"/>
              <a:ext cx="4534636" cy="164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Tracking: correlation of report with true colour (experience)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5852160" cy="3566160"/>
            <a:chOff x="548640" y="1371600"/>
            <a:chExt cx="5852160" cy="356616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5852160" cy="3566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2519418" y="3975003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2519418" y="3515898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519418" y="3056794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519418" y="2597690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519418" y="2138586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519418" y="1679481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19418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978522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37626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896730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355835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814939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519418" y="1679481"/>
              <a:ext cx="2295521" cy="2295521"/>
            </a:xfrm>
            <a:custGeom>
              <a:avLst/>
              <a:pathLst>
                <a:path w="2295521" h="2295521">
                  <a:moveTo>
                    <a:pt x="0" y="2295521"/>
                  </a:moveTo>
                  <a:lnTo>
                    <a:pt x="2295521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162164" y="2437424"/>
              <a:ext cx="1010029" cy="928336"/>
            </a:xfrm>
            <a:custGeom>
              <a:avLst/>
              <a:pathLst>
                <a:path w="1010029" h="928336">
                  <a:moveTo>
                    <a:pt x="0" y="928336"/>
                  </a:moveTo>
                  <a:lnTo>
                    <a:pt x="34828" y="896324"/>
                  </a:lnTo>
                  <a:lnTo>
                    <a:pt x="69657" y="864312"/>
                  </a:lnTo>
                  <a:lnTo>
                    <a:pt x="104485" y="832301"/>
                  </a:lnTo>
                  <a:lnTo>
                    <a:pt x="139314" y="800289"/>
                  </a:lnTo>
                  <a:lnTo>
                    <a:pt x="174142" y="768278"/>
                  </a:lnTo>
                  <a:lnTo>
                    <a:pt x="208971" y="736266"/>
                  </a:lnTo>
                  <a:lnTo>
                    <a:pt x="243800" y="704254"/>
                  </a:lnTo>
                  <a:lnTo>
                    <a:pt x="278628" y="672243"/>
                  </a:lnTo>
                  <a:lnTo>
                    <a:pt x="313457" y="640231"/>
                  </a:lnTo>
                  <a:lnTo>
                    <a:pt x="348285" y="608220"/>
                  </a:lnTo>
                  <a:lnTo>
                    <a:pt x="383114" y="576208"/>
                  </a:lnTo>
                  <a:lnTo>
                    <a:pt x="417943" y="544197"/>
                  </a:lnTo>
                  <a:lnTo>
                    <a:pt x="452771" y="512185"/>
                  </a:lnTo>
                  <a:lnTo>
                    <a:pt x="487600" y="480173"/>
                  </a:lnTo>
                  <a:lnTo>
                    <a:pt x="522428" y="448162"/>
                  </a:lnTo>
                  <a:lnTo>
                    <a:pt x="557257" y="416150"/>
                  </a:lnTo>
                  <a:lnTo>
                    <a:pt x="592086" y="384139"/>
                  </a:lnTo>
                  <a:lnTo>
                    <a:pt x="626914" y="352127"/>
                  </a:lnTo>
                  <a:lnTo>
                    <a:pt x="661743" y="320115"/>
                  </a:lnTo>
                  <a:lnTo>
                    <a:pt x="696571" y="288104"/>
                  </a:lnTo>
                  <a:lnTo>
                    <a:pt x="731400" y="256092"/>
                  </a:lnTo>
                  <a:lnTo>
                    <a:pt x="766229" y="224081"/>
                  </a:lnTo>
                  <a:lnTo>
                    <a:pt x="801057" y="192069"/>
                  </a:lnTo>
                  <a:lnTo>
                    <a:pt x="835886" y="160057"/>
                  </a:lnTo>
                  <a:lnTo>
                    <a:pt x="870714" y="128046"/>
                  </a:lnTo>
                  <a:lnTo>
                    <a:pt x="905543" y="96034"/>
                  </a:lnTo>
                  <a:lnTo>
                    <a:pt x="940372" y="64023"/>
                  </a:lnTo>
                  <a:lnTo>
                    <a:pt x="975200" y="32011"/>
                  </a:lnTo>
                  <a:lnTo>
                    <a:pt x="1010029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171346" y="2373532"/>
              <a:ext cx="1010029" cy="837247"/>
            </a:xfrm>
            <a:custGeom>
              <a:avLst/>
              <a:pathLst>
                <a:path w="1010029" h="837247">
                  <a:moveTo>
                    <a:pt x="0" y="837247"/>
                  </a:moveTo>
                  <a:lnTo>
                    <a:pt x="34828" y="808376"/>
                  </a:lnTo>
                  <a:lnTo>
                    <a:pt x="69657" y="779506"/>
                  </a:lnTo>
                  <a:lnTo>
                    <a:pt x="104485" y="750635"/>
                  </a:lnTo>
                  <a:lnTo>
                    <a:pt x="139314" y="721765"/>
                  </a:lnTo>
                  <a:lnTo>
                    <a:pt x="174142" y="692894"/>
                  </a:lnTo>
                  <a:lnTo>
                    <a:pt x="208971" y="664023"/>
                  </a:lnTo>
                  <a:lnTo>
                    <a:pt x="243800" y="635153"/>
                  </a:lnTo>
                  <a:lnTo>
                    <a:pt x="278628" y="606282"/>
                  </a:lnTo>
                  <a:lnTo>
                    <a:pt x="313457" y="577412"/>
                  </a:lnTo>
                  <a:lnTo>
                    <a:pt x="348285" y="548541"/>
                  </a:lnTo>
                  <a:lnTo>
                    <a:pt x="383114" y="519670"/>
                  </a:lnTo>
                  <a:lnTo>
                    <a:pt x="417943" y="490800"/>
                  </a:lnTo>
                  <a:lnTo>
                    <a:pt x="452771" y="461929"/>
                  </a:lnTo>
                  <a:lnTo>
                    <a:pt x="487600" y="433059"/>
                  </a:lnTo>
                  <a:lnTo>
                    <a:pt x="522428" y="404188"/>
                  </a:lnTo>
                  <a:lnTo>
                    <a:pt x="557257" y="375317"/>
                  </a:lnTo>
                  <a:lnTo>
                    <a:pt x="592086" y="346447"/>
                  </a:lnTo>
                  <a:lnTo>
                    <a:pt x="626914" y="317576"/>
                  </a:lnTo>
                  <a:lnTo>
                    <a:pt x="661743" y="288706"/>
                  </a:lnTo>
                  <a:lnTo>
                    <a:pt x="696571" y="259835"/>
                  </a:lnTo>
                  <a:lnTo>
                    <a:pt x="731400" y="230964"/>
                  </a:lnTo>
                  <a:lnTo>
                    <a:pt x="766229" y="202094"/>
                  </a:lnTo>
                  <a:lnTo>
                    <a:pt x="801057" y="173223"/>
                  </a:lnTo>
                  <a:lnTo>
                    <a:pt x="835886" y="144353"/>
                  </a:lnTo>
                  <a:lnTo>
                    <a:pt x="870714" y="115482"/>
                  </a:lnTo>
                  <a:lnTo>
                    <a:pt x="905543" y="86611"/>
                  </a:lnTo>
                  <a:lnTo>
                    <a:pt x="940372" y="57741"/>
                  </a:lnTo>
                  <a:lnTo>
                    <a:pt x="975200" y="28870"/>
                  </a:lnTo>
                  <a:lnTo>
                    <a:pt x="1010029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093298" y="2427116"/>
              <a:ext cx="1010029" cy="883521"/>
            </a:xfrm>
            <a:custGeom>
              <a:avLst/>
              <a:pathLst>
                <a:path w="1010029" h="883521">
                  <a:moveTo>
                    <a:pt x="0" y="883521"/>
                  </a:moveTo>
                  <a:lnTo>
                    <a:pt x="34828" y="853055"/>
                  </a:lnTo>
                  <a:lnTo>
                    <a:pt x="69657" y="822589"/>
                  </a:lnTo>
                  <a:lnTo>
                    <a:pt x="104485" y="792122"/>
                  </a:lnTo>
                  <a:lnTo>
                    <a:pt x="139314" y="761656"/>
                  </a:lnTo>
                  <a:lnTo>
                    <a:pt x="174142" y="731190"/>
                  </a:lnTo>
                  <a:lnTo>
                    <a:pt x="208971" y="700724"/>
                  </a:lnTo>
                  <a:lnTo>
                    <a:pt x="243800" y="670257"/>
                  </a:lnTo>
                  <a:lnTo>
                    <a:pt x="278628" y="639791"/>
                  </a:lnTo>
                  <a:lnTo>
                    <a:pt x="313457" y="609325"/>
                  </a:lnTo>
                  <a:lnTo>
                    <a:pt x="348285" y="578859"/>
                  </a:lnTo>
                  <a:lnTo>
                    <a:pt x="383114" y="548392"/>
                  </a:lnTo>
                  <a:lnTo>
                    <a:pt x="417943" y="517926"/>
                  </a:lnTo>
                  <a:lnTo>
                    <a:pt x="452771" y="487460"/>
                  </a:lnTo>
                  <a:lnTo>
                    <a:pt x="487600" y="456993"/>
                  </a:lnTo>
                  <a:lnTo>
                    <a:pt x="522428" y="426527"/>
                  </a:lnTo>
                  <a:lnTo>
                    <a:pt x="557257" y="396061"/>
                  </a:lnTo>
                  <a:lnTo>
                    <a:pt x="592086" y="365595"/>
                  </a:lnTo>
                  <a:lnTo>
                    <a:pt x="626914" y="335128"/>
                  </a:lnTo>
                  <a:lnTo>
                    <a:pt x="661743" y="304662"/>
                  </a:lnTo>
                  <a:lnTo>
                    <a:pt x="696571" y="274196"/>
                  </a:lnTo>
                  <a:lnTo>
                    <a:pt x="731400" y="243730"/>
                  </a:lnTo>
                  <a:lnTo>
                    <a:pt x="766229" y="213263"/>
                  </a:lnTo>
                  <a:lnTo>
                    <a:pt x="801057" y="182797"/>
                  </a:lnTo>
                  <a:lnTo>
                    <a:pt x="835886" y="152331"/>
                  </a:lnTo>
                  <a:lnTo>
                    <a:pt x="870714" y="121865"/>
                  </a:lnTo>
                  <a:lnTo>
                    <a:pt x="905543" y="91398"/>
                  </a:lnTo>
                  <a:lnTo>
                    <a:pt x="940372" y="60932"/>
                  </a:lnTo>
                  <a:lnTo>
                    <a:pt x="975200" y="30466"/>
                  </a:lnTo>
                  <a:lnTo>
                    <a:pt x="1010029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2383288" y="3931158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2315482" y="3472054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315482" y="3012652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2315482" y="2553726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315482" y="2094503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315482" y="1635636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485515" y="404320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910716" y="404320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369820" y="4042910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3828924" y="4043088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288029" y="4042969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747133" y="404320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591374" y="4160208"/>
              <a:ext cx="2151608" cy="144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True colour (displayed average)</a:t>
              </a:r>
            </a:p>
          </p:txBody>
        </p:sp>
        <p:sp>
          <p:nvSpPr>
            <p:cNvPr id="33" name="tx33"/>
            <p:cNvSpPr/>
            <p:nvPr/>
          </p:nvSpPr>
          <p:spPr>
            <a:xfrm rot="-5400000">
              <a:off x="1630940" y="2756511"/>
              <a:ext cx="1084287" cy="1414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Predicted report</a:t>
              </a:r>
            </a:p>
          </p:txBody>
        </p:sp>
        <p:sp>
          <p:nvSpPr>
            <p:cNvPr id="34" name="pl34"/>
            <p:cNvSpPr/>
            <p:nvPr/>
          </p:nvSpPr>
          <p:spPr>
            <a:xfrm>
              <a:off x="2705867" y="46762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341473" y="46762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044884" y="46762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2979293" y="460896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3614898" y="4609258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4318310" y="460896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2519418" y="1402443"/>
              <a:ext cx="3881170" cy="164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Regression lines: report on true colour (experience)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629400" y="1371600"/>
            <a:ext cx="5010912" cy="1828800"/>
            <a:chOff x="6629400" y="1371600"/>
            <a:chExt cx="5010912" cy="1828800"/>
          </a:xfrm>
        </p:grpSpPr>
        <p:sp>
          <p:nvSpPr>
            <p:cNvPr id="3" name="rc3"/>
            <p:cNvSpPr/>
            <p:nvPr/>
          </p:nvSpPr>
          <p:spPr>
            <a:xfrm>
              <a:off x="6629400" y="1371600"/>
              <a:ext cx="5010912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7191912" y="2918249"/>
              <a:ext cx="4372484" cy="0"/>
            </a:xfrm>
            <a:custGeom>
              <a:avLst/>
              <a:pathLst>
                <a:path w="4372484" h="0">
                  <a:moveTo>
                    <a:pt x="0" y="0"/>
                  </a:moveTo>
                  <a:lnTo>
                    <a:pt x="4372484" y="0"/>
                  </a:lnTo>
                  <a:lnTo>
                    <a:pt x="437248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7191912" y="2681970"/>
              <a:ext cx="4372484" cy="0"/>
            </a:xfrm>
            <a:custGeom>
              <a:avLst/>
              <a:pathLst>
                <a:path w="4372484" h="0">
                  <a:moveTo>
                    <a:pt x="0" y="0"/>
                  </a:moveTo>
                  <a:lnTo>
                    <a:pt x="4372484" y="0"/>
                  </a:lnTo>
                  <a:lnTo>
                    <a:pt x="437248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7191912" y="2445692"/>
              <a:ext cx="4372484" cy="0"/>
            </a:xfrm>
            <a:custGeom>
              <a:avLst/>
              <a:pathLst>
                <a:path w="4372484" h="0">
                  <a:moveTo>
                    <a:pt x="0" y="0"/>
                  </a:moveTo>
                  <a:lnTo>
                    <a:pt x="4372484" y="0"/>
                  </a:lnTo>
                  <a:lnTo>
                    <a:pt x="437248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7191912" y="2209413"/>
              <a:ext cx="4372484" cy="0"/>
            </a:xfrm>
            <a:custGeom>
              <a:avLst/>
              <a:pathLst>
                <a:path w="4372484" h="0">
                  <a:moveTo>
                    <a:pt x="0" y="0"/>
                  </a:moveTo>
                  <a:lnTo>
                    <a:pt x="4372484" y="0"/>
                  </a:lnTo>
                  <a:lnTo>
                    <a:pt x="437248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191912" y="1973135"/>
              <a:ext cx="4372484" cy="0"/>
            </a:xfrm>
            <a:custGeom>
              <a:avLst/>
              <a:pathLst>
                <a:path w="4372484" h="0">
                  <a:moveTo>
                    <a:pt x="0" y="0"/>
                  </a:moveTo>
                  <a:lnTo>
                    <a:pt x="4372484" y="0"/>
                  </a:lnTo>
                  <a:lnTo>
                    <a:pt x="437248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191912" y="1736857"/>
              <a:ext cx="4372484" cy="0"/>
            </a:xfrm>
            <a:custGeom>
              <a:avLst/>
              <a:pathLst>
                <a:path w="4372484" h="0">
                  <a:moveTo>
                    <a:pt x="0" y="0"/>
                  </a:moveTo>
                  <a:lnTo>
                    <a:pt x="4372484" y="0"/>
                  </a:lnTo>
                  <a:lnTo>
                    <a:pt x="437248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011753" y="1679481"/>
              <a:ext cx="0" cy="1262260"/>
            </a:xfrm>
            <a:custGeom>
              <a:avLst/>
              <a:pathLst>
                <a:path w="0" h="1262260">
                  <a:moveTo>
                    <a:pt x="0" y="12622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378154" y="1679481"/>
              <a:ext cx="0" cy="1262260"/>
            </a:xfrm>
            <a:custGeom>
              <a:avLst/>
              <a:pathLst>
                <a:path w="0" h="1262260">
                  <a:moveTo>
                    <a:pt x="0" y="12622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744555" y="1679481"/>
              <a:ext cx="0" cy="1262260"/>
            </a:xfrm>
            <a:custGeom>
              <a:avLst/>
              <a:pathLst>
                <a:path w="0" h="1262260">
                  <a:moveTo>
                    <a:pt x="0" y="12622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191912" y="1736857"/>
              <a:ext cx="4372484" cy="0"/>
            </a:xfrm>
            <a:custGeom>
              <a:avLst/>
              <a:pathLst>
                <a:path w="4372484" h="0">
                  <a:moveTo>
                    <a:pt x="0" y="0"/>
                  </a:moveTo>
                  <a:lnTo>
                    <a:pt x="4372484" y="0"/>
                  </a:lnTo>
                  <a:lnTo>
                    <a:pt x="4372484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943432" y="1753662"/>
              <a:ext cx="136640" cy="0"/>
            </a:xfrm>
            <a:custGeom>
              <a:avLst/>
              <a:pathLst>
                <a:path w="136640" h="0">
                  <a:moveTo>
                    <a:pt x="0" y="0"/>
                  </a:moveTo>
                  <a:lnTo>
                    <a:pt x="136640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011753" y="1753662"/>
              <a:ext cx="0" cy="730817"/>
            </a:xfrm>
            <a:custGeom>
              <a:avLst/>
              <a:pathLst>
                <a:path w="0" h="730817">
                  <a:moveTo>
                    <a:pt x="0" y="0"/>
                  </a:moveTo>
                  <a:lnTo>
                    <a:pt x="0" y="730817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943432" y="2484479"/>
              <a:ext cx="136640" cy="0"/>
            </a:xfrm>
            <a:custGeom>
              <a:avLst/>
              <a:pathLst>
                <a:path w="136640" h="0">
                  <a:moveTo>
                    <a:pt x="0" y="0"/>
                  </a:moveTo>
                  <a:lnTo>
                    <a:pt x="136640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309834" y="2206118"/>
              <a:ext cx="136640" cy="0"/>
            </a:xfrm>
            <a:custGeom>
              <a:avLst/>
              <a:pathLst>
                <a:path w="136640" h="0">
                  <a:moveTo>
                    <a:pt x="0" y="0"/>
                  </a:moveTo>
                  <a:lnTo>
                    <a:pt x="136640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378154" y="2206118"/>
              <a:ext cx="0" cy="678247"/>
            </a:xfrm>
            <a:custGeom>
              <a:avLst/>
              <a:pathLst>
                <a:path w="0" h="678247">
                  <a:moveTo>
                    <a:pt x="0" y="0"/>
                  </a:moveTo>
                  <a:lnTo>
                    <a:pt x="0" y="678247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309834" y="2884366"/>
              <a:ext cx="136640" cy="0"/>
            </a:xfrm>
            <a:custGeom>
              <a:avLst/>
              <a:pathLst>
                <a:path w="136640" h="0">
                  <a:moveTo>
                    <a:pt x="0" y="0"/>
                  </a:moveTo>
                  <a:lnTo>
                    <a:pt x="136640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0676235" y="1992323"/>
              <a:ext cx="136640" cy="0"/>
            </a:xfrm>
            <a:custGeom>
              <a:avLst/>
              <a:pathLst>
                <a:path w="136640" h="0">
                  <a:moveTo>
                    <a:pt x="0" y="0"/>
                  </a:moveTo>
                  <a:lnTo>
                    <a:pt x="136640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0744555" y="1992323"/>
              <a:ext cx="0" cy="672836"/>
            </a:xfrm>
            <a:custGeom>
              <a:avLst/>
              <a:pathLst>
                <a:path w="0" h="672836">
                  <a:moveTo>
                    <a:pt x="0" y="0"/>
                  </a:moveTo>
                  <a:lnTo>
                    <a:pt x="0" y="672836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0676235" y="2665159"/>
              <a:ext cx="136640" cy="0"/>
            </a:xfrm>
            <a:custGeom>
              <a:avLst/>
              <a:pathLst>
                <a:path w="136640" h="0">
                  <a:moveTo>
                    <a:pt x="0" y="0"/>
                  </a:moveTo>
                  <a:lnTo>
                    <a:pt x="136640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011753" y="2119071"/>
              <a:ext cx="2732802" cy="426171"/>
            </a:xfrm>
            <a:custGeom>
              <a:avLst/>
              <a:pathLst>
                <a:path w="2732802" h="426171">
                  <a:moveTo>
                    <a:pt x="0" y="0"/>
                  </a:moveTo>
                  <a:lnTo>
                    <a:pt x="1366401" y="426171"/>
                  </a:lnTo>
                  <a:lnTo>
                    <a:pt x="2732802" y="20967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7974731" y="2082049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9341132" y="2508220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0707534" y="2291720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886296" y="2874404"/>
              <a:ext cx="237291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0.75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886296" y="2637768"/>
              <a:ext cx="237291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0.80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886296" y="2401490"/>
              <a:ext cx="237291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0.85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886296" y="2165390"/>
              <a:ext cx="237291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0.90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886296" y="1929112"/>
              <a:ext cx="237291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0.95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886296" y="1693012"/>
              <a:ext cx="237291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1.00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7879593" y="298655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9212091" y="2986848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0578493" y="298655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225902" y="2238578"/>
              <a:ext cx="1033388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Slope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191912" y="1404589"/>
              <a:ext cx="2751556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Forward slope per level (experience)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629400" y="3246120"/>
            <a:ext cx="5010912" cy="3108960"/>
            <a:chOff x="6629400" y="3246120"/>
            <a:chExt cx="5010912" cy="3108960"/>
          </a:xfrm>
        </p:grpSpPr>
        <p:sp>
          <p:nvSpPr>
            <p:cNvPr id="3" name="rc3"/>
            <p:cNvSpPr/>
            <p:nvPr/>
          </p:nvSpPr>
          <p:spPr>
            <a:xfrm>
              <a:off x="6629400" y="3246120"/>
              <a:ext cx="5010912" cy="31089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7090232" y="599292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7090232" y="557894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7090232" y="516495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7090232" y="475097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090232" y="433699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090232" y="392300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278904" y="5413349"/>
              <a:ext cx="943357" cy="716"/>
            </a:xfrm>
            <a:custGeom>
              <a:avLst/>
              <a:pathLst>
                <a:path w="943357" h="716">
                  <a:moveTo>
                    <a:pt x="0" y="0"/>
                  </a:moveTo>
                  <a:lnTo>
                    <a:pt x="943357" y="716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278904" y="5371950"/>
              <a:ext cx="943357" cy="13390"/>
            </a:xfrm>
            <a:custGeom>
              <a:avLst/>
              <a:pathLst>
                <a:path w="943357" h="13390">
                  <a:moveTo>
                    <a:pt x="0" y="0"/>
                  </a:moveTo>
                  <a:lnTo>
                    <a:pt x="943357" y="1339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278904" y="5330552"/>
              <a:ext cx="943357" cy="11659"/>
            </a:xfrm>
            <a:custGeom>
              <a:avLst/>
              <a:pathLst>
                <a:path w="943357" h="11659">
                  <a:moveTo>
                    <a:pt x="0" y="0"/>
                  </a:moveTo>
                  <a:lnTo>
                    <a:pt x="943357" y="11659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278904" y="5289154"/>
              <a:ext cx="943357" cy="27943"/>
            </a:xfrm>
            <a:custGeom>
              <a:avLst/>
              <a:pathLst>
                <a:path w="943357" h="27943">
                  <a:moveTo>
                    <a:pt x="0" y="0"/>
                  </a:moveTo>
                  <a:lnTo>
                    <a:pt x="943357" y="27943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278904" y="5247755"/>
              <a:ext cx="943357" cy="29208"/>
            </a:xfrm>
            <a:custGeom>
              <a:avLst/>
              <a:pathLst>
                <a:path w="943357" h="29208">
                  <a:moveTo>
                    <a:pt x="0" y="0"/>
                  </a:moveTo>
                  <a:lnTo>
                    <a:pt x="943357" y="29208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278904" y="5206357"/>
              <a:ext cx="943357" cy="71091"/>
            </a:xfrm>
            <a:custGeom>
              <a:avLst/>
              <a:pathLst>
                <a:path w="943357" h="71091">
                  <a:moveTo>
                    <a:pt x="0" y="0"/>
                  </a:moveTo>
                  <a:lnTo>
                    <a:pt x="943357" y="71091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278904" y="5164959"/>
              <a:ext cx="943357" cy="28245"/>
            </a:xfrm>
            <a:custGeom>
              <a:avLst/>
              <a:pathLst>
                <a:path w="943357" h="28245">
                  <a:moveTo>
                    <a:pt x="0" y="0"/>
                  </a:moveTo>
                  <a:lnTo>
                    <a:pt x="943357" y="28245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278904" y="5123560"/>
              <a:ext cx="943357" cy="67223"/>
            </a:xfrm>
            <a:custGeom>
              <a:avLst/>
              <a:pathLst>
                <a:path w="943357" h="67223">
                  <a:moveTo>
                    <a:pt x="0" y="0"/>
                  </a:moveTo>
                  <a:lnTo>
                    <a:pt x="943357" y="67223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278904" y="5082162"/>
              <a:ext cx="943357" cy="78837"/>
            </a:xfrm>
            <a:custGeom>
              <a:avLst/>
              <a:pathLst>
                <a:path w="943357" h="78837">
                  <a:moveTo>
                    <a:pt x="0" y="0"/>
                  </a:moveTo>
                  <a:lnTo>
                    <a:pt x="943357" y="78837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278904" y="5040764"/>
              <a:ext cx="943357" cy="93438"/>
            </a:xfrm>
            <a:custGeom>
              <a:avLst/>
              <a:pathLst>
                <a:path w="943357" h="93438">
                  <a:moveTo>
                    <a:pt x="0" y="0"/>
                  </a:moveTo>
                  <a:lnTo>
                    <a:pt x="943357" y="93438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278904" y="4999365"/>
              <a:ext cx="943357" cy="68230"/>
            </a:xfrm>
            <a:custGeom>
              <a:avLst/>
              <a:pathLst>
                <a:path w="943357" h="68230">
                  <a:moveTo>
                    <a:pt x="0" y="0"/>
                  </a:moveTo>
                  <a:lnTo>
                    <a:pt x="943357" y="6823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278904" y="4957967"/>
              <a:ext cx="943357" cy="56522"/>
            </a:xfrm>
            <a:custGeom>
              <a:avLst/>
              <a:pathLst>
                <a:path w="943357" h="56522">
                  <a:moveTo>
                    <a:pt x="0" y="0"/>
                  </a:moveTo>
                  <a:lnTo>
                    <a:pt x="943357" y="56522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278904" y="4916569"/>
              <a:ext cx="943357" cy="104875"/>
            </a:xfrm>
            <a:custGeom>
              <a:avLst/>
              <a:pathLst>
                <a:path w="943357" h="104875">
                  <a:moveTo>
                    <a:pt x="0" y="0"/>
                  </a:moveTo>
                  <a:lnTo>
                    <a:pt x="943357" y="104875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278904" y="4875170"/>
              <a:ext cx="943357" cy="100462"/>
            </a:xfrm>
            <a:custGeom>
              <a:avLst/>
              <a:pathLst>
                <a:path w="943357" h="100462">
                  <a:moveTo>
                    <a:pt x="0" y="0"/>
                  </a:moveTo>
                  <a:lnTo>
                    <a:pt x="943357" y="100462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278904" y="4833772"/>
              <a:ext cx="943357" cy="131721"/>
            </a:xfrm>
            <a:custGeom>
              <a:avLst/>
              <a:pathLst>
                <a:path w="943357" h="131721">
                  <a:moveTo>
                    <a:pt x="0" y="0"/>
                  </a:moveTo>
                  <a:lnTo>
                    <a:pt x="943357" y="131721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278904" y="4792374"/>
              <a:ext cx="943357" cy="73124"/>
            </a:xfrm>
            <a:custGeom>
              <a:avLst/>
              <a:pathLst>
                <a:path w="943357" h="73124">
                  <a:moveTo>
                    <a:pt x="0" y="0"/>
                  </a:moveTo>
                  <a:lnTo>
                    <a:pt x="943357" y="73124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7278904" y="4750975"/>
              <a:ext cx="943357" cy="84430"/>
            </a:xfrm>
            <a:custGeom>
              <a:avLst/>
              <a:pathLst>
                <a:path w="943357" h="84430">
                  <a:moveTo>
                    <a:pt x="0" y="0"/>
                  </a:moveTo>
                  <a:lnTo>
                    <a:pt x="943357" y="8443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7278904" y="4709577"/>
              <a:ext cx="943357" cy="74677"/>
            </a:xfrm>
            <a:custGeom>
              <a:avLst/>
              <a:pathLst>
                <a:path w="943357" h="74677">
                  <a:moveTo>
                    <a:pt x="0" y="0"/>
                  </a:moveTo>
                  <a:lnTo>
                    <a:pt x="943357" y="74677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278904" y="4668179"/>
              <a:ext cx="943357" cy="26628"/>
            </a:xfrm>
            <a:custGeom>
              <a:avLst/>
              <a:pathLst>
                <a:path w="943357" h="26628">
                  <a:moveTo>
                    <a:pt x="0" y="0"/>
                  </a:moveTo>
                  <a:lnTo>
                    <a:pt x="943357" y="26628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278904" y="4626780"/>
              <a:ext cx="943357" cy="91183"/>
            </a:xfrm>
            <a:custGeom>
              <a:avLst/>
              <a:pathLst>
                <a:path w="943357" h="91183">
                  <a:moveTo>
                    <a:pt x="0" y="0"/>
                  </a:moveTo>
                  <a:lnTo>
                    <a:pt x="943357" y="91183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278904" y="4585382"/>
              <a:ext cx="943357" cy="95893"/>
            </a:xfrm>
            <a:custGeom>
              <a:avLst/>
              <a:pathLst>
                <a:path w="943357" h="95893">
                  <a:moveTo>
                    <a:pt x="0" y="0"/>
                  </a:moveTo>
                  <a:lnTo>
                    <a:pt x="943357" y="95893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278904" y="4543984"/>
              <a:ext cx="943357" cy="106874"/>
            </a:xfrm>
            <a:custGeom>
              <a:avLst/>
              <a:pathLst>
                <a:path w="943357" h="106874">
                  <a:moveTo>
                    <a:pt x="0" y="0"/>
                  </a:moveTo>
                  <a:lnTo>
                    <a:pt x="943357" y="106874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7278904" y="4502585"/>
              <a:ext cx="943357" cy="80036"/>
            </a:xfrm>
            <a:custGeom>
              <a:avLst/>
              <a:pathLst>
                <a:path w="943357" h="80036">
                  <a:moveTo>
                    <a:pt x="0" y="0"/>
                  </a:moveTo>
                  <a:lnTo>
                    <a:pt x="943357" y="80036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7263563" y="539800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7263563" y="535661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7263563" y="531521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7263563" y="527381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7263563" y="523241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7263563" y="519101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7263563" y="514961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7263563" y="510822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7263563" y="506682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7263563" y="502542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7263563" y="498402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7263563" y="494262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7263563" y="490122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7263563" y="485983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7263563" y="481843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7263563" y="477703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7263563" y="473563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7263563" y="469423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7263563" y="465283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7263563" y="461144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7263563" y="457004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7263563" y="452864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7263563" y="448724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8206920" y="539872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8206920" y="537000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8206920" y="532687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8206920" y="530175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8206920" y="526162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8206920" y="526210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8206920" y="517786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8206920" y="517544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8206920" y="5145659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8206920" y="5118862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8206920" y="505225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8206920" y="4999149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8206920" y="500610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8206920" y="4960292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8206920" y="495015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8206920" y="485015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8206920" y="482006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8206920" y="476891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8206920" y="467946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8206920" y="470262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8206920" y="466593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8206920" y="463551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8206920" y="4567282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8666964" y="599292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8666964" y="557894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8666964" y="516495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8666964" y="475097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8666964" y="433699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8666964" y="392300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8855636" y="5275149"/>
              <a:ext cx="943357" cy="138200"/>
            </a:xfrm>
            <a:custGeom>
              <a:avLst/>
              <a:pathLst>
                <a:path w="943357" h="138200">
                  <a:moveTo>
                    <a:pt x="0" y="13820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8855636" y="5265290"/>
              <a:ext cx="943357" cy="106660"/>
            </a:xfrm>
            <a:custGeom>
              <a:avLst/>
              <a:pathLst>
                <a:path w="943357" h="106660">
                  <a:moveTo>
                    <a:pt x="0" y="10666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8855636" y="5226743"/>
              <a:ext cx="943357" cy="103809"/>
            </a:xfrm>
            <a:custGeom>
              <a:avLst/>
              <a:pathLst>
                <a:path w="943357" h="103809">
                  <a:moveTo>
                    <a:pt x="0" y="103809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8855636" y="5202619"/>
              <a:ext cx="943357" cy="86535"/>
            </a:xfrm>
            <a:custGeom>
              <a:avLst/>
              <a:pathLst>
                <a:path w="943357" h="86535">
                  <a:moveTo>
                    <a:pt x="0" y="8653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8855636" y="5213368"/>
              <a:ext cx="943357" cy="34387"/>
            </a:xfrm>
            <a:custGeom>
              <a:avLst/>
              <a:pathLst>
                <a:path w="943357" h="34387">
                  <a:moveTo>
                    <a:pt x="0" y="3438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8855636" y="5091576"/>
              <a:ext cx="943357" cy="114780"/>
            </a:xfrm>
            <a:custGeom>
              <a:avLst/>
              <a:pathLst>
                <a:path w="943357" h="114780">
                  <a:moveTo>
                    <a:pt x="0" y="11478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8855636" y="5085969"/>
              <a:ext cx="943357" cy="78989"/>
            </a:xfrm>
            <a:custGeom>
              <a:avLst/>
              <a:pathLst>
                <a:path w="943357" h="78989">
                  <a:moveTo>
                    <a:pt x="0" y="78989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8855636" y="5081122"/>
              <a:ext cx="943357" cy="42438"/>
            </a:xfrm>
            <a:custGeom>
              <a:avLst/>
              <a:pathLst>
                <a:path w="943357" h="42438">
                  <a:moveTo>
                    <a:pt x="0" y="42438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8855636" y="5023013"/>
              <a:ext cx="943357" cy="59149"/>
            </a:xfrm>
            <a:custGeom>
              <a:avLst/>
              <a:pathLst>
                <a:path w="943357" h="59149">
                  <a:moveTo>
                    <a:pt x="0" y="59149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8855636" y="5011303"/>
              <a:ext cx="943357" cy="29460"/>
            </a:xfrm>
            <a:custGeom>
              <a:avLst/>
              <a:pathLst>
                <a:path w="943357" h="29460">
                  <a:moveTo>
                    <a:pt x="0" y="2946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8855636" y="4918762"/>
              <a:ext cx="943357" cy="80603"/>
            </a:xfrm>
            <a:custGeom>
              <a:avLst/>
              <a:pathLst>
                <a:path w="943357" h="80603">
                  <a:moveTo>
                    <a:pt x="0" y="8060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8855636" y="4891548"/>
              <a:ext cx="943357" cy="66419"/>
            </a:xfrm>
            <a:custGeom>
              <a:avLst/>
              <a:pathLst>
                <a:path w="943357" h="66419">
                  <a:moveTo>
                    <a:pt x="0" y="66419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8855636" y="4903964"/>
              <a:ext cx="943357" cy="12605"/>
            </a:xfrm>
            <a:custGeom>
              <a:avLst/>
              <a:pathLst>
                <a:path w="943357" h="12605">
                  <a:moveTo>
                    <a:pt x="0" y="1260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8855636" y="4875170"/>
              <a:ext cx="943357" cy="38167"/>
            </a:xfrm>
            <a:custGeom>
              <a:avLst/>
              <a:pathLst>
                <a:path w="943357" h="38167">
                  <a:moveTo>
                    <a:pt x="0" y="0"/>
                  </a:moveTo>
                  <a:lnTo>
                    <a:pt x="943357" y="38167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8855636" y="4800276"/>
              <a:ext cx="943357" cy="33495"/>
            </a:xfrm>
            <a:custGeom>
              <a:avLst/>
              <a:pathLst>
                <a:path w="943357" h="33495">
                  <a:moveTo>
                    <a:pt x="0" y="3349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855636" y="4789786"/>
              <a:ext cx="943357" cy="2587"/>
            </a:xfrm>
            <a:custGeom>
              <a:avLst/>
              <a:pathLst>
                <a:path w="943357" h="2587">
                  <a:moveTo>
                    <a:pt x="0" y="258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8855636" y="4750975"/>
              <a:ext cx="943357" cy="31623"/>
            </a:xfrm>
            <a:custGeom>
              <a:avLst/>
              <a:pathLst>
                <a:path w="943357" h="31623">
                  <a:moveTo>
                    <a:pt x="0" y="0"/>
                  </a:moveTo>
                  <a:lnTo>
                    <a:pt x="943357" y="31623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8855636" y="4709577"/>
              <a:ext cx="943357" cy="16403"/>
            </a:xfrm>
            <a:custGeom>
              <a:avLst/>
              <a:pathLst>
                <a:path w="943357" h="16403">
                  <a:moveTo>
                    <a:pt x="0" y="0"/>
                  </a:moveTo>
                  <a:lnTo>
                    <a:pt x="943357" y="16403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8855636" y="4668179"/>
              <a:ext cx="943357" cy="21608"/>
            </a:xfrm>
            <a:custGeom>
              <a:avLst/>
              <a:pathLst>
                <a:path w="943357" h="21608">
                  <a:moveTo>
                    <a:pt x="0" y="0"/>
                  </a:moveTo>
                  <a:lnTo>
                    <a:pt x="943357" y="21608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8855636" y="4625529"/>
              <a:ext cx="943357" cy="1251"/>
            </a:xfrm>
            <a:custGeom>
              <a:avLst/>
              <a:pathLst>
                <a:path w="943357" h="1251">
                  <a:moveTo>
                    <a:pt x="0" y="125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8855636" y="4585382"/>
              <a:ext cx="943357" cy="58100"/>
            </a:xfrm>
            <a:custGeom>
              <a:avLst/>
              <a:pathLst>
                <a:path w="943357" h="58100">
                  <a:moveTo>
                    <a:pt x="0" y="0"/>
                  </a:moveTo>
                  <a:lnTo>
                    <a:pt x="943357" y="5810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8855636" y="4543984"/>
              <a:ext cx="943357" cy="63101"/>
            </a:xfrm>
            <a:custGeom>
              <a:avLst/>
              <a:pathLst>
                <a:path w="943357" h="63101">
                  <a:moveTo>
                    <a:pt x="0" y="0"/>
                  </a:moveTo>
                  <a:lnTo>
                    <a:pt x="943357" y="63101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8855636" y="4494536"/>
              <a:ext cx="943357" cy="8049"/>
            </a:xfrm>
            <a:custGeom>
              <a:avLst/>
              <a:pathLst>
                <a:path w="943357" h="8049">
                  <a:moveTo>
                    <a:pt x="0" y="8049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8840295" y="539800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8840295" y="535661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8840295" y="531521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8840295" y="527381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8840295" y="523241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8840295" y="519101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8840295" y="514961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8840295" y="510822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8840295" y="506682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8840295" y="502542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8840295" y="498402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8840295" y="494262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8840295" y="490122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8840295" y="485983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8840295" y="481843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8840295" y="477703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8840295" y="473563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8840295" y="469423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8840295" y="465283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8840295" y="461144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8840295" y="457004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8840295" y="452864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8840295" y="448724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9783652" y="525980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9783652" y="524995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9783652" y="5211402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9783652" y="518727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9783652" y="519802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9783652" y="507623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9783652" y="507062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9783652" y="506578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9783652" y="5007672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9783652" y="499596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9783652" y="490342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9783652" y="487620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9783652" y="488862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9783652" y="489799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9783652" y="478493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9783652" y="477444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9783652" y="4767259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9783652" y="471064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9783652" y="467444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9783652" y="4610189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9783652" y="4628142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9783652" y="459174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9783652" y="447919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10243696" y="599292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10243696" y="557894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10243696" y="516495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10243696" y="475097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10243696" y="433699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10243696" y="392300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10432368" y="5376511"/>
              <a:ext cx="943357" cy="119634"/>
            </a:xfrm>
            <a:custGeom>
              <a:avLst/>
              <a:pathLst>
                <a:path w="943357" h="119634">
                  <a:moveTo>
                    <a:pt x="0" y="119634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10432368" y="5324648"/>
              <a:ext cx="943357" cy="88700"/>
            </a:xfrm>
            <a:custGeom>
              <a:avLst/>
              <a:pathLst>
                <a:path w="943357" h="88700">
                  <a:moveTo>
                    <a:pt x="0" y="8870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10432368" y="5262220"/>
              <a:ext cx="943357" cy="68331"/>
            </a:xfrm>
            <a:custGeom>
              <a:avLst/>
              <a:pathLst>
                <a:path w="943357" h="68331">
                  <a:moveTo>
                    <a:pt x="0" y="6833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10432368" y="5208220"/>
              <a:ext cx="943357" cy="39535"/>
            </a:xfrm>
            <a:custGeom>
              <a:avLst/>
              <a:pathLst>
                <a:path w="943357" h="39535">
                  <a:moveTo>
                    <a:pt x="0" y="3953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10432368" y="5120774"/>
              <a:ext cx="943357" cy="44184"/>
            </a:xfrm>
            <a:custGeom>
              <a:avLst/>
              <a:pathLst>
                <a:path w="943357" h="44184">
                  <a:moveTo>
                    <a:pt x="0" y="44184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10432368" y="5037178"/>
              <a:ext cx="943357" cy="44984"/>
            </a:xfrm>
            <a:custGeom>
              <a:avLst/>
              <a:pathLst>
                <a:path w="943357" h="44984">
                  <a:moveTo>
                    <a:pt x="0" y="44984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10432368" y="4978407"/>
              <a:ext cx="943357" cy="20958"/>
            </a:xfrm>
            <a:custGeom>
              <a:avLst/>
              <a:pathLst>
                <a:path w="943357" h="20958">
                  <a:moveTo>
                    <a:pt x="0" y="20958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10432368" y="4908425"/>
              <a:ext cx="943357" cy="8143"/>
            </a:xfrm>
            <a:custGeom>
              <a:avLst/>
              <a:pathLst>
                <a:path w="943357" h="8143">
                  <a:moveTo>
                    <a:pt x="0" y="814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10432368" y="4816005"/>
              <a:ext cx="943357" cy="17766"/>
            </a:xfrm>
            <a:custGeom>
              <a:avLst/>
              <a:pathLst>
                <a:path w="943357" h="17766">
                  <a:moveTo>
                    <a:pt x="0" y="1776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10432368" y="4743846"/>
              <a:ext cx="943357" cy="7129"/>
            </a:xfrm>
            <a:custGeom>
              <a:avLst/>
              <a:pathLst>
                <a:path w="943357" h="7129">
                  <a:moveTo>
                    <a:pt x="0" y="7129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10432368" y="4668179"/>
              <a:ext cx="943357" cy="26202"/>
            </a:xfrm>
            <a:custGeom>
              <a:avLst/>
              <a:pathLst>
                <a:path w="943357" h="26202">
                  <a:moveTo>
                    <a:pt x="0" y="0"/>
                  </a:moveTo>
                  <a:lnTo>
                    <a:pt x="943357" y="26202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10432368" y="4585382"/>
              <a:ext cx="943357" cy="29623"/>
            </a:xfrm>
            <a:custGeom>
              <a:avLst/>
              <a:pathLst>
                <a:path w="943357" h="29623">
                  <a:moveTo>
                    <a:pt x="0" y="0"/>
                  </a:moveTo>
                  <a:lnTo>
                    <a:pt x="943357" y="29623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10417027" y="548080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10417027" y="539800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10417027" y="531521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10417027" y="523241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10417027" y="514961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10417027" y="506682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10417027" y="498402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10417027" y="490122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10417027" y="481843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10417027" y="473563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10417027" y="465283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10417027" y="457004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11360384" y="536117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11360384" y="530930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11360384" y="524688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11360384" y="519288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11360384" y="510543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11360384" y="502183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11360384" y="496306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11360384" y="489308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11360384" y="480066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11360384" y="472850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11360384" y="467904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11360384" y="459966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tx196"/>
            <p:cNvSpPr/>
            <p:nvPr/>
          </p:nvSpPr>
          <p:spPr>
            <a:xfrm>
              <a:off x="7592543" y="3597298"/>
              <a:ext cx="316077" cy="1446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9132318" y="3597298"/>
              <a:ext cx="389991" cy="1446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10701430" y="3597298"/>
              <a:ext cx="405231" cy="1446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7153561" y="6162483"/>
              <a:ext cx="250686" cy="89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True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8039292" y="613932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8730293" y="6162483"/>
              <a:ext cx="250686" cy="89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True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9616023" y="613932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10307025" y="6162483"/>
              <a:ext cx="250686" cy="89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True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11192755" y="613932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6954102" y="5949081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6886296" y="553509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6886296" y="5120816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6886296" y="4707012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6886296" y="4292909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6886296" y="3879164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211" name="tx211"/>
            <p:cNvSpPr/>
            <p:nvPr/>
          </p:nvSpPr>
          <p:spPr>
            <a:xfrm rot="-5400000">
              <a:off x="6536544" y="4900222"/>
              <a:ext cx="440680" cy="1154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Shade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7090232" y="3279109"/>
              <a:ext cx="3587622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Galton: true colour to mean report (experience)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5852160" cy="3566160"/>
            <a:chOff x="548640" y="1371600"/>
            <a:chExt cx="5852160" cy="356616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5852160" cy="3566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2519418" y="3975003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2519418" y="3515898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519418" y="3056794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519418" y="2597690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519418" y="2138586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519418" y="1679481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19418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978522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37626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896730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355835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814939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519418" y="1679481"/>
              <a:ext cx="2295521" cy="2295521"/>
            </a:xfrm>
            <a:custGeom>
              <a:avLst/>
              <a:pathLst>
                <a:path w="2295521" h="2295521">
                  <a:moveTo>
                    <a:pt x="0" y="2295521"/>
                  </a:moveTo>
                  <a:lnTo>
                    <a:pt x="2295521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32611" y="2316268"/>
              <a:ext cx="1423223" cy="949697"/>
            </a:xfrm>
            <a:custGeom>
              <a:avLst/>
              <a:pathLst>
                <a:path w="1423223" h="949697">
                  <a:moveTo>
                    <a:pt x="0" y="949697"/>
                  </a:moveTo>
                  <a:lnTo>
                    <a:pt x="49076" y="916949"/>
                  </a:lnTo>
                  <a:lnTo>
                    <a:pt x="98153" y="884201"/>
                  </a:lnTo>
                  <a:lnTo>
                    <a:pt x="147229" y="851452"/>
                  </a:lnTo>
                  <a:lnTo>
                    <a:pt x="196306" y="818704"/>
                  </a:lnTo>
                  <a:lnTo>
                    <a:pt x="245383" y="785956"/>
                  </a:lnTo>
                  <a:lnTo>
                    <a:pt x="294459" y="753208"/>
                  </a:lnTo>
                  <a:lnTo>
                    <a:pt x="343536" y="720460"/>
                  </a:lnTo>
                  <a:lnTo>
                    <a:pt x="392613" y="687711"/>
                  </a:lnTo>
                  <a:lnTo>
                    <a:pt x="441689" y="654963"/>
                  </a:lnTo>
                  <a:lnTo>
                    <a:pt x="490766" y="622215"/>
                  </a:lnTo>
                  <a:lnTo>
                    <a:pt x="539843" y="589467"/>
                  </a:lnTo>
                  <a:lnTo>
                    <a:pt x="588919" y="556719"/>
                  </a:lnTo>
                  <a:lnTo>
                    <a:pt x="637996" y="523971"/>
                  </a:lnTo>
                  <a:lnTo>
                    <a:pt x="687073" y="491222"/>
                  </a:lnTo>
                  <a:lnTo>
                    <a:pt x="736149" y="458474"/>
                  </a:lnTo>
                  <a:lnTo>
                    <a:pt x="785226" y="425726"/>
                  </a:lnTo>
                  <a:lnTo>
                    <a:pt x="834303" y="392978"/>
                  </a:lnTo>
                  <a:lnTo>
                    <a:pt x="883379" y="360230"/>
                  </a:lnTo>
                  <a:lnTo>
                    <a:pt x="932456" y="327481"/>
                  </a:lnTo>
                  <a:lnTo>
                    <a:pt x="981533" y="294733"/>
                  </a:lnTo>
                  <a:lnTo>
                    <a:pt x="1030609" y="261985"/>
                  </a:lnTo>
                  <a:lnTo>
                    <a:pt x="1079686" y="229237"/>
                  </a:lnTo>
                  <a:lnTo>
                    <a:pt x="1128763" y="196489"/>
                  </a:lnTo>
                  <a:lnTo>
                    <a:pt x="1177839" y="163740"/>
                  </a:lnTo>
                  <a:lnTo>
                    <a:pt x="1226916" y="130992"/>
                  </a:lnTo>
                  <a:lnTo>
                    <a:pt x="1275993" y="98244"/>
                  </a:lnTo>
                  <a:lnTo>
                    <a:pt x="1325069" y="65496"/>
                  </a:lnTo>
                  <a:lnTo>
                    <a:pt x="1374146" y="32748"/>
                  </a:lnTo>
                  <a:lnTo>
                    <a:pt x="1423223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24432" y="2299476"/>
              <a:ext cx="1423223" cy="984650"/>
            </a:xfrm>
            <a:custGeom>
              <a:avLst/>
              <a:pathLst>
                <a:path w="1423223" h="984650">
                  <a:moveTo>
                    <a:pt x="0" y="984650"/>
                  </a:moveTo>
                  <a:lnTo>
                    <a:pt x="49076" y="950696"/>
                  </a:lnTo>
                  <a:lnTo>
                    <a:pt x="98153" y="916743"/>
                  </a:lnTo>
                  <a:lnTo>
                    <a:pt x="147229" y="882790"/>
                  </a:lnTo>
                  <a:lnTo>
                    <a:pt x="196306" y="848836"/>
                  </a:lnTo>
                  <a:lnTo>
                    <a:pt x="245383" y="814883"/>
                  </a:lnTo>
                  <a:lnTo>
                    <a:pt x="294459" y="780929"/>
                  </a:lnTo>
                  <a:lnTo>
                    <a:pt x="343536" y="746976"/>
                  </a:lnTo>
                  <a:lnTo>
                    <a:pt x="392613" y="713022"/>
                  </a:lnTo>
                  <a:lnTo>
                    <a:pt x="441689" y="679069"/>
                  </a:lnTo>
                  <a:lnTo>
                    <a:pt x="490766" y="645115"/>
                  </a:lnTo>
                  <a:lnTo>
                    <a:pt x="539843" y="611162"/>
                  </a:lnTo>
                  <a:lnTo>
                    <a:pt x="588919" y="577208"/>
                  </a:lnTo>
                  <a:lnTo>
                    <a:pt x="637996" y="543255"/>
                  </a:lnTo>
                  <a:lnTo>
                    <a:pt x="687073" y="509301"/>
                  </a:lnTo>
                  <a:lnTo>
                    <a:pt x="736149" y="475348"/>
                  </a:lnTo>
                  <a:lnTo>
                    <a:pt x="785226" y="441395"/>
                  </a:lnTo>
                  <a:lnTo>
                    <a:pt x="834303" y="407441"/>
                  </a:lnTo>
                  <a:lnTo>
                    <a:pt x="883379" y="373488"/>
                  </a:lnTo>
                  <a:lnTo>
                    <a:pt x="932456" y="339534"/>
                  </a:lnTo>
                  <a:lnTo>
                    <a:pt x="981533" y="305581"/>
                  </a:lnTo>
                  <a:lnTo>
                    <a:pt x="1030609" y="271627"/>
                  </a:lnTo>
                  <a:lnTo>
                    <a:pt x="1079686" y="237674"/>
                  </a:lnTo>
                  <a:lnTo>
                    <a:pt x="1128763" y="203720"/>
                  </a:lnTo>
                  <a:lnTo>
                    <a:pt x="1177839" y="169767"/>
                  </a:lnTo>
                  <a:lnTo>
                    <a:pt x="1226916" y="135813"/>
                  </a:lnTo>
                  <a:lnTo>
                    <a:pt x="1275993" y="101860"/>
                  </a:lnTo>
                  <a:lnTo>
                    <a:pt x="1325069" y="67906"/>
                  </a:lnTo>
                  <a:lnTo>
                    <a:pt x="1374146" y="33953"/>
                  </a:lnTo>
                  <a:lnTo>
                    <a:pt x="1423223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932611" y="2388291"/>
              <a:ext cx="1469133" cy="966423"/>
            </a:xfrm>
            <a:custGeom>
              <a:avLst/>
              <a:pathLst>
                <a:path w="1469133" h="966423">
                  <a:moveTo>
                    <a:pt x="0" y="966423"/>
                  </a:moveTo>
                  <a:lnTo>
                    <a:pt x="50659" y="933098"/>
                  </a:lnTo>
                  <a:lnTo>
                    <a:pt x="101319" y="899773"/>
                  </a:lnTo>
                  <a:lnTo>
                    <a:pt x="151979" y="866448"/>
                  </a:lnTo>
                  <a:lnTo>
                    <a:pt x="202639" y="833123"/>
                  </a:lnTo>
                  <a:lnTo>
                    <a:pt x="253298" y="799798"/>
                  </a:lnTo>
                  <a:lnTo>
                    <a:pt x="303958" y="766474"/>
                  </a:lnTo>
                  <a:lnTo>
                    <a:pt x="354618" y="733149"/>
                  </a:lnTo>
                  <a:lnTo>
                    <a:pt x="405278" y="699824"/>
                  </a:lnTo>
                  <a:lnTo>
                    <a:pt x="455938" y="666499"/>
                  </a:lnTo>
                  <a:lnTo>
                    <a:pt x="506597" y="633174"/>
                  </a:lnTo>
                  <a:lnTo>
                    <a:pt x="557257" y="599849"/>
                  </a:lnTo>
                  <a:lnTo>
                    <a:pt x="607917" y="566524"/>
                  </a:lnTo>
                  <a:lnTo>
                    <a:pt x="658577" y="533199"/>
                  </a:lnTo>
                  <a:lnTo>
                    <a:pt x="709236" y="499874"/>
                  </a:lnTo>
                  <a:lnTo>
                    <a:pt x="759896" y="466549"/>
                  </a:lnTo>
                  <a:lnTo>
                    <a:pt x="810556" y="433224"/>
                  </a:lnTo>
                  <a:lnTo>
                    <a:pt x="861216" y="399899"/>
                  </a:lnTo>
                  <a:lnTo>
                    <a:pt x="911876" y="366574"/>
                  </a:lnTo>
                  <a:lnTo>
                    <a:pt x="962535" y="333249"/>
                  </a:lnTo>
                  <a:lnTo>
                    <a:pt x="1013195" y="299924"/>
                  </a:lnTo>
                  <a:lnTo>
                    <a:pt x="1063855" y="266599"/>
                  </a:lnTo>
                  <a:lnTo>
                    <a:pt x="1114515" y="233274"/>
                  </a:lnTo>
                  <a:lnTo>
                    <a:pt x="1165174" y="199949"/>
                  </a:lnTo>
                  <a:lnTo>
                    <a:pt x="1215834" y="166624"/>
                  </a:lnTo>
                  <a:lnTo>
                    <a:pt x="1266494" y="133299"/>
                  </a:lnTo>
                  <a:lnTo>
                    <a:pt x="1317154" y="99974"/>
                  </a:lnTo>
                  <a:lnTo>
                    <a:pt x="1367814" y="66649"/>
                  </a:lnTo>
                  <a:lnTo>
                    <a:pt x="1418473" y="33324"/>
                  </a:lnTo>
                  <a:lnTo>
                    <a:pt x="1469133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2383288" y="3931158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2315482" y="3472054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315482" y="3012652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2315482" y="2553726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315482" y="2094503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315482" y="1635636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485515" y="404320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910716" y="404320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369820" y="4042910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3828924" y="4043088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288029" y="4042969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747133" y="404320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438467" y="4163928"/>
              <a:ext cx="457423" cy="141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33" name="tx33"/>
            <p:cNvSpPr/>
            <p:nvPr/>
          </p:nvSpPr>
          <p:spPr>
            <a:xfrm rot="-5400000">
              <a:off x="1484419" y="2770948"/>
              <a:ext cx="1406202" cy="1125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Predicted true colour</a:t>
              </a:r>
            </a:p>
          </p:txBody>
        </p:sp>
        <p:sp>
          <p:nvSpPr>
            <p:cNvPr id="34" name="pl34"/>
            <p:cNvSpPr/>
            <p:nvPr/>
          </p:nvSpPr>
          <p:spPr>
            <a:xfrm>
              <a:off x="2705867" y="46762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341473" y="46762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044884" y="46762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2979293" y="460896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3614898" y="4609258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4318310" y="460896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2519418" y="1402443"/>
              <a:ext cx="3881170" cy="164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Regression lines: true colour on report (experience)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629400" y="1371600"/>
            <a:ext cx="5010912" cy="1828800"/>
            <a:chOff x="6629400" y="1371600"/>
            <a:chExt cx="5010912" cy="1828800"/>
          </a:xfrm>
        </p:grpSpPr>
        <p:sp>
          <p:nvSpPr>
            <p:cNvPr id="3" name="rc3"/>
            <p:cNvSpPr/>
            <p:nvPr/>
          </p:nvSpPr>
          <p:spPr>
            <a:xfrm>
              <a:off x="6629400" y="1371600"/>
              <a:ext cx="5010912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7124106" y="2898015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7124106" y="2607725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7124106" y="2317436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7124106" y="2027146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124106" y="1736857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956660" y="1679481"/>
              <a:ext cx="0" cy="1262260"/>
            </a:xfrm>
            <a:custGeom>
              <a:avLst/>
              <a:pathLst>
                <a:path w="0" h="1262260">
                  <a:moveTo>
                    <a:pt x="0" y="12622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344251" y="1679481"/>
              <a:ext cx="0" cy="1262260"/>
            </a:xfrm>
            <a:custGeom>
              <a:avLst/>
              <a:pathLst>
                <a:path w="0" h="1262260">
                  <a:moveTo>
                    <a:pt x="0" y="12622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731842" y="1679481"/>
              <a:ext cx="0" cy="1262260"/>
            </a:xfrm>
            <a:custGeom>
              <a:avLst/>
              <a:pathLst>
                <a:path w="0" h="1262260">
                  <a:moveTo>
                    <a:pt x="0" y="12622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124106" y="1736857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887281" y="2545728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956660" y="2545728"/>
              <a:ext cx="0" cy="313923"/>
            </a:xfrm>
            <a:custGeom>
              <a:avLst/>
              <a:pathLst>
                <a:path w="0" h="313923">
                  <a:moveTo>
                    <a:pt x="0" y="0"/>
                  </a:moveTo>
                  <a:lnTo>
                    <a:pt x="0" y="313923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887281" y="2859651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274871" y="2476262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344251" y="2476262"/>
              <a:ext cx="0" cy="310270"/>
            </a:xfrm>
            <a:custGeom>
              <a:avLst/>
              <a:pathLst>
                <a:path w="0" h="310270">
                  <a:moveTo>
                    <a:pt x="0" y="0"/>
                  </a:moveTo>
                  <a:lnTo>
                    <a:pt x="0" y="31027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274871" y="2786533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0662462" y="2575980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0731842" y="2575980"/>
              <a:ext cx="0" cy="308386"/>
            </a:xfrm>
            <a:custGeom>
              <a:avLst/>
              <a:pathLst>
                <a:path w="0" h="308386">
                  <a:moveTo>
                    <a:pt x="0" y="0"/>
                  </a:moveTo>
                  <a:lnTo>
                    <a:pt x="0" y="308386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0662462" y="2884366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956660" y="2631397"/>
              <a:ext cx="2775181" cy="98775"/>
            </a:xfrm>
            <a:custGeom>
              <a:avLst/>
              <a:pathLst>
                <a:path w="2775181" h="98775">
                  <a:moveTo>
                    <a:pt x="0" y="71292"/>
                  </a:moveTo>
                  <a:lnTo>
                    <a:pt x="1387590" y="0"/>
                  </a:lnTo>
                  <a:lnTo>
                    <a:pt x="2775181" y="98775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7919639" y="2665668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9307229" y="2594376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0694820" y="2693151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886296" y="2853813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0.6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886296" y="2563880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0.7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886296" y="2273234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0.8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886296" y="1983123"/>
              <a:ext cx="169485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0.9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886296" y="1693012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824501" y="298655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9178188" y="2986848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0565779" y="298655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34" name="tx34"/>
            <p:cNvSpPr/>
            <p:nvPr/>
          </p:nvSpPr>
          <p:spPr>
            <a:xfrm rot="-5400000">
              <a:off x="6225902" y="2238578"/>
              <a:ext cx="1033388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Slope (95% CI)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124106" y="1404589"/>
              <a:ext cx="2722664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Reverse slope per level (experience)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629400" y="3246120"/>
            <a:ext cx="5010912" cy="3108960"/>
            <a:chOff x="6629400" y="3246120"/>
            <a:chExt cx="5010912" cy="3108960"/>
          </a:xfrm>
        </p:grpSpPr>
        <p:sp>
          <p:nvSpPr>
            <p:cNvPr id="3" name="rc3"/>
            <p:cNvSpPr/>
            <p:nvPr/>
          </p:nvSpPr>
          <p:spPr>
            <a:xfrm>
              <a:off x="6629400" y="3246120"/>
              <a:ext cx="5010912" cy="31089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7090232" y="599292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7090232" y="557894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7090232" y="516495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7090232" y="475097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090232" y="433699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090232" y="392300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278904" y="5297433"/>
              <a:ext cx="943357" cy="447102"/>
            </a:xfrm>
            <a:custGeom>
              <a:avLst/>
              <a:pathLst>
                <a:path w="943357" h="447102">
                  <a:moveTo>
                    <a:pt x="0" y="447102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278904" y="5314069"/>
              <a:ext cx="943357" cy="389067"/>
            </a:xfrm>
            <a:custGeom>
              <a:avLst/>
              <a:pathLst>
                <a:path w="943357" h="389067">
                  <a:moveTo>
                    <a:pt x="0" y="38906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278904" y="5275354"/>
              <a:ext cx="943357" cy="386384"/>
            </a:xfrm>
            <a:custGeom>
              <a:avLst/>
              <a:pathLst>
                <a:path w="943357" h="386384">
                  <a:moveTo>
                    <a:pt x="0" y="386384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278904" y="5298813"/>
              <a:ext cx="943357" cy="321527"/>
            </a:xfrm>
            <a:custGeom>
              <a:avLst/>
              <a:pathLst>
                <a:path w="943357" h="321527">
                  <a:moveTo>
                    <a:pt x="0" y="32152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278904" y="5261758"/>
              <a:ext cx="943357" cy="317184"/>
            </a:xfrm>
            <a:custGeom>
              <a:avLst/>
              <a:pathLst>
                <a:path w="943357" h="317184">
                  <a:moveTo>
                    <a:pt x="0" y="317184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278904" y="5206357"/>
              <a:ext cx="943357" cy="331186"/>
            </a:xfrm>
            <a:custGeom>
              <a:avLst/>
              <a:pathLst>
                <a:path w="943357" h="331186">
                  <a:moveTo>
                    <a:pt x="0" y="33118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278904" y="5229329"/>
              <a:ext cx="943357" cy="266816"/>
            </a:xfrm>
            <a:custGeom>
              <a:avLst/>
              <a:pathLst>
                <a:path w="943357" h="266816">
                  <a:moveTo>
                    <a:pt x="0" y="26681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278904" y="5254559"/>
              <a:ext cx="943357" cy="200187"/>
            </a:xfrm>
            <a:custGeom>
              <a:avLst/>
              <a:pathLst>
                <a:path w="943357" h="200187">
                  <a:moveTo>
                    <a:pt x="0" y="20018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278904" y="5213723"/>
              <a:ext cx="943357" cy="199625"/>
            </a:xfrm>
            <a:custGeom>
              <a:avLst/>
              <a:pathLst>
                <a:path w="943357" h="199625">
                  <a:moveTo>
                    <a:pt x="0" y="19962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278904" y="5202562"/>
              <a:ext cx="943357" cy="169388"/>
            </a:xfrm>
            <a:custGeom>
              <a:avLst/>
              <a:pathLst>
                <a:path w="943357" h="169388">
                  <a:moveTo>
                    <a:pt x="0" y="169388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278904" y="5160301"/>
              <a:ext cx="943357" cy="170250"/>
            </a:xfrm>
            <a:custGeom>
              <a:avLst/>
              <a:pathLst>
                <a:path w="943357" h="170250">
                  <a:moveTo>
                    <a:pt x="0" y="17025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278904" y="5150990"/>
              <a:ext cx="943357" cy="138164"/>
            </a:xfrm>
            <a:custGeom>
              <a:avLst/>
              <a:pathLst>
                <a:path w="943357" h="138164">
                  <a:moveTo>
                    <a:pt x="0" y="138164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278904" y="5134261"/>
              <a:ext cx="943357" cy="113494"/>
            </a:xfrm>
            <a:custGeom>
              <a:avLst/>
              <a:pathLst>
                <a:path w="943357" h="113494">
                  <a:moveTo>
                    <a:pt x="0" y="113494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278904" y="5077332"/>
              <a:ext cx="943357" cy="129024"/>
            </a:xfrm>
            <a:custGeom>
              <a:avLst/>
              <a:pathLst>
                <a:path w="943357" h="129024">
                  <a:moveTo>
                    <a:pt x="0" y="129024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278904" y="5063878"/>
              <a:ext cx="943357" cy="101080"/>
            </a:xfrm>
            <a:custGeom>
              <a:avLst/>
              <a:pathLst>
                <a:path w="943357" h="101080">
                  <a:moveTo>
                    <a:pt x="0" y="10108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278904" y="5020619"/>
              <a:ext cx="943357" cy="102941"/>
            </a:xfrm>
            <a:custGeom>
              <a:avLst/>
              <a:pathLst>
                <a:path w="943357" h="102941">
                  <a:moveTo>
                    <a:pt x="0" y="10294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7278904" y="5010683"/>
              <a:ext cx="943357" cy="71478"/>
            </a:xfrm>
            <a:custGeom>
              <a:avLst/>
              <a:pathLst>
                <a:path w="943357" h="71478">
                  <a:moveTo>
                    <a:pt x="0" y="71478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7278904" y="4957241"/>
              <a:ext cx="943357" cy="83522"/>
            </a:xfrm>
            <a:custGeom>
              <a:avLst/>
              <a:pathLst>
                <a:path w="943357" h="83522">
                  <a:moveTo>
                    <a:pt x="0" y="83522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278904" y="4935815"/>
              <a:ext cx="943357" cy="63550"/>
            </a:xfrm>
            <a:custGeom>
              <a:avLst/>
              <a:pathLst>
                <a:path w="943357" h="63550">
                  <a:moveTo>
                    <a:pt x="0" y="6355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278904" y="4879803"/>
              <a:ext cx="943357" cy="78163"/>
            </a:xfrm>
            <a:custGeom>
              <a:avLst/>
              <a:pathLst>
                <a:path w="943357" h="78163">
                  <a:moveTo>
                    <a:pt x="0" y="7816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278904" y="4848422"/>
              <a:ext cx="943357" cy="68147"/>
            </a:xfrm>
            <a:custGeom>
              <a:avLst/>
              <a:pathLst>
                <a:path w="943357" h="68147">
                  <a:moveTo>
                    <a:pt x="0" y="6814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278904" y="4816593"/>
              <a:ext cx="943357" cy="58577"/>
            </a:xfrm>
            <a:custGeom>
              <a:avLst/>
              <a:pathLst>
                <a:path w="943357" h="58577">
                  <a:moveTo>
                    <a:pt x="0" y="5857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7278904" y="4814426"/>
              <a:ext cx="943357" cy="19346"/>
            </a:xfrm>
            <a:custGeom>
              <a:avLst/>
              <a:pathLst>
                <a:path w="943357" h="19346">
                  <a:moveTo>
                    <a:pt x="0" y="1934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7278904" y="4761325"/>
              <a:ext cx="943357" cy="31048"/>
            </a:xfrm>
            <a:custGeom>
              <a:avLst/>
              <a:pathLst>
                <a:path w="943357" h="31048">
                  <a:moveTo>
                    <a:pt x="0" y="31048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7278904" y="4750975"/>
              <a:ext cx="943357" cy="6378"/>
            </a:xfrm>
            <a:custGeom>
              <a:avLst/>
              <a:pathLst>
                <a:path w="943357" h="6378">
                  <a:moveTo>
                    <a:pt x="0" y="0"/>
                  </a:moveTo>
                  <a:lnTo>
                    <a:pt x="943357" y="637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7278904" y="4709577"/>
              <a:ext cx="943357" cy="5174"/>
            </a:xfrm>
            <a:custGeom>
              <a:avLst/>
              <a:pathLst>
                <a:path w="943357" h="5174">
                  <a:moveTo>
                    <a:pt x="0" y="0"/>
                  </a:moveTo>
                  <a:lnTo>
                    <a:pt x="943357" y="5174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7278904" y="4668179"/>
              <a:ext cx="943357" cy="43243"/>
            </a:xfrm>
            <a:custGeom>
              <a:avLst/>
              <a:pathLst>
                <a:path w="943357" h="43243">
                  <a:moveTo>
                    <a:pt x="0" y="0"/>
                  </a:moveTo>
                  <a:lnTo>
                    <a:pt x="943357" y="4324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7278904" y="4626780"/>
              <a:ext cx="943357" cy="48515"/>
            </a:xfrm>
            <a:custGeom>
              <a:avLst/>
              <a:pathLst>
                <a:path w="943357" h="48515">
                  <a:moveTo>
                    <a:pt x="0" y="0"/>
                  </a:moveTo>
                  <a:lnTo>
                    <a:pt x="943357" y="48515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7278904" y="4585382"/>
              <a:ext cx="943357" cy="100703"/>
            </a:xfrm>
            <a:custGeom>
              <a:avLst/>
              <a:pathLst>
                <a:path w="943357" h="100703">
                  <a:moveTo>
                    <a:pt x="0" y="0"/>
                  </a:moveTo>
                  <a:lnTo>
                    <a:pt x="943357" y="10070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7278904" y="4543984"/>
              <a:ext cx="943357" cy="102544"/>
            </a:xfrm>
            <a:custGeom>
              <a:avLst/>
              <a:pathLst>
                <a:path w="943357" h="102544">
                  <a:moveTo>
                    <a:pt x="0" y="0"/>
                  </a:moveTo>
                  <a:lnTo>
                    <a:pt x="943357" y="102544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7278904" y="4502585"/>
              <a:ext cx="943357" cy="155838"/>
            </a:xfrm>
            <a:custGeom>
              <a:avLst/>
              <a:pathLst>
                <a:path w="943357" h="155838">
                  <a:moveTo>
                    <a:pt x="0" y="0"/>
                  </a:moveTo>
                  <a:lnTo>
                    <a:pt x="943357" y="15583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278904" y="4461187"/>
              <a:ext cx="943357" cy="214843"/>
            </a:xfrm>
            <a:custGeom>
              <a:avLst/>
              <a:pathLst>
                <a:path w="943357" h="214843">
                  <a:moveTo>
                    <a:pt x="0" y="0"/>
                  </a:moveTo>
                  <a:lnTo>
                    <a:pt x="943357" y="21484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7278904" y="4419789"/>
              <a:ext cx="943357" cy="186557"/>
            </a:xfrm>
            <a:custGeom>
              <a:avLst/>
              <a:pathLst>
                <a:path w="943357" h="186557">
                  <a:moveTo>
                    <a:pt x="0" y="0"/>
                  </a:moveTo>
                  <a:lnTo>
                    <a:pt x="943357" y="186557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7278904" y="4378390"/>
              <a:ext cx="943357" cy="266405"/>
            </a:xfrm>
            <a:custGeom>
              <a:avLst/>
              <a:pathLst>
                <a:path w="943357" h="266405">
                  <a:moveTo>
                    <a:pt x="0" y="0"/>
                  </a:moveTo>
                  <a:lnTo>
                    <a:pt x="943357" y="266405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7278904" y="4336992"/>
              <a:ext cx="943357" cy="270567"/>
            </a:xfrm>
            <a:custGeom>
              <a:avLst/>
              <a:pathLst>
                <a:path w="943357" h="270567">
                  <a:moveTo>
                    <a:pt x="0" y="0"/>
                  </a:moveTo>
                  <a:lnTo>
                    <a:pt x="943357" y="270567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7278904" y="4295594"/>
              <a:ext cx="943357" cy="366216"/>
            </a:xfrm>
            <a:custGeom>
              <a:avLst/>
              <a:pathLst>
                <a:path w="943357" h="366216">
                  <a:moveTo>
                    <a:pt x="0" y="0"/>
                  </a:moveTo>
                  <a:lnTo>
                    <a:pt x="943357" y="366216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7278904" y="4254195"/>
              <a:ext cx="943357" cy="348928"/>
            </a:xfrm>
            <a:custGeom>
              <a:avLst/>
              <a:pathLst>
                <a:path w="943357" h="348928">
                  <a:moveTo>
                    <a:pt x="0" y="0"/>
                  </a:moveTo>
                  <a:lnTo>
                    <a:pt x="943357" y="34892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7278904" y="4212797"/>
              <a:ext cx="943357" cy="413983"/>
            </a:xfrm>
            <a:custGeom>
              <a:avLst/>
              <a:pathLst>
                <a:path w="943357" h="413983">
                  <a:moveTo>
                    <a:pt x="0" y="0"/>
                  </a:moveTo>
                  <a:lnTo>
                    <a:pt x="943357" y="41398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7278904" y="4171399"/>
              <a:ext cx="943357" cy="405703"/>
            </a:xfrm>
            <a:custGeom>
              <a:avLst/>
              <a:pathLst>
                <a:path w="943357" h="405703">
                  <a:moveTo>
                    <a:pt x="0" y="0"/>
                  </a:moveTo>
                  <a:lnTo>
                    <a:pt x="943357" y="40570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7263563" y="572919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7263563" y="568779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7263563" y="564639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7263563" y="560500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7263563" y="556360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7263563" y="552220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7263563" y="548080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7263563" y="543940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7263563" y="539800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7263563" y="535661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7263563" y="531521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7263563" y="527381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7263563" y="523241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7263563" y="519101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7263563" y="514961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7263563" y="510822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7263563" y="506682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7263563" y="502542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7263563" y="498402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7263563" y="494262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7263563" y="490122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7263563" y="485983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7263563" y="481843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7263563" y="477703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7263563" y="473563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7263563" y="469423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7263563" y="465283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7263563" y="461144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7263563" y="457004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7263563" y="452864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7263563" y="448724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7263563" y="444584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7263563" y="440444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7263563" y="436305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7263563" y="432165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7263563" y="428025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7263563" y="423885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7263563" y="419745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263563" y="415605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8206920" y="528209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8206920" y="529872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8206920" y="526001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8206920" y="528347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8206920" y="524641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8206920" y="519101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8206920" y="521398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8206920" y="523921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8206920" y="519838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8206920" y="518722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8206920" y="514496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8206920" y="513564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8206920" y="511892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8206920" y="506199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8206920" y="504853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8206920" y="500527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8206920" y="499534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8206920" y="494190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8206920" y="492047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8206920" y="486446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8206920" y="483308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8206920" y="480125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8206920" y="479908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8206920" y="474598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8206920" y="474201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8206920" y="469941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8206920" y="469608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8206920" y="465995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8206920" y="467074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8206920" y="463118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8206920" y="464308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8206920" y="466069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8206920" y="459100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8206920" y="462945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8206920" y="459221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8206920" y="464646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8206920" y="458778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8206920" y="461144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8206920" y="456176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8666964" y="599292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8666964" y="557894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8666964" y="516495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8666964" y="475097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8666964" y="433699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8666964" y="392300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8855636" y="5342972"/>
              <a:ext cx="943357" cy="360165"/>
            </a:xfrm>
            <a:custGeom>
              <a:avLst/>
              <a:pathLst>
                <a:path w="943357" h="360165">
                  <a:moveTo>
                    <a:pt x="0" y="36016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8855636" y="5301573"/>
              <a:ext cx="943357" cy="360165"/>
            </a:xfrm>
            <a:custGeom>
              <a:avLst/>
              <a:pathLst>
                <a:path w="943357" h="360165">
                  <a:moveTo>
                    <a:pt x="0" y="36016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8855636" y="5262475"/>
              <a:ext cx="943357" cy="357865"/>
            </a:xfrm>
            <a:custGeom>
              <a:avLst/>
              <a:pathLst>
                <a:path w="943357" h="357865">
                  <a:moveTo>
                    <a:pt x="0" y="35786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8855636" y="5198077"/>
              <a:ext cx="943357" cy="380864"/>
            </a:xfrm>
            <a:custGeom>
              <a:avLst/>
              <a:pathLst>
                <a:path w="943357" h="380864">
                  <a:moveTo>
                    <a:pt x="0" y="380864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8855636" y="5282944"/>
              <a:ext cx="943357" cy="254599"/>
            </a:xfrm>
            <a:custGeom>
              <a:avLst/>
              <a:pathLst>
                <a:path w="943357" h="254599">
                  <a:moveTo>
                    <a:pt x="0" y="254599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8855636" y="5240133"/>
              <a:ext cx="943357" cy="256012"/>
            </a:xfrm>
            <a:custGeom>
              <a:avLst/>
              <a:pathLst>
                <a:path w="943357" h="256012">
                  <a:moveTo>
                    <a:pt x="0" y="256012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8855636" y="5249333"/>
              <a:ext cx="943357" cy="205414"/>
            </a:xfrm>
            <a:custGeom>
              <a:avLst/>
              <a:pathLst>
                <a:path w="943357" h="205414">
                  <a:moveTo>
                    <a:pt x="0" y="205414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8855636" y="5260175"/>
              <a:ext cx="943357" cy="153173"/>
            </a:xfrm>
            <a:custGeom>
              <a:avLst/>
              <a:pathLst>
                <a:path w="943357" h="153173">
                  <a:moveTo>
                    <a:pt x="0" y="15317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8855636" y="5206185"/>
              <a:ext cx="943357" cy="165765"/>
            </a:xfrm>
            <a:custGeom>
              <a:avLst/>
              <a:pathLst>
                <a:path w="943357" h="165765">
                  <a:moveTo>
                    <a:pt x="0" y="16576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8855636" y="5222059"/>
              <a:ext cx="943357" cy="108493"/>
            </a:xfrm>
            <a:custGeom>
              <a:avLst/>
              <a:pathLst>
                <a:path w="943357" h="108493">
                  <a:moveTo>
                    <a:pt x="0" y="10849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8855636" y="5173295"/>
              <a:ext cx="943357" cy="115859"/>
            </a:xfrm>
            <a:custGeom>
              <a:avLst/>
              <a:pathLst>
                <a:path w="943357" h="115859">
                  <a:moveTo>
                    <a:pt x="0" y="115859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8855636" y="5136889"/>
              <a:ext cx="943357" cy="110866"/>
            </a:xfrm>
            <a:custGeom>
              <a:avLst/>
              <a:pathLst>
                <a:path w="943357" h="110866">
                  <a:moveTo>
                    <a:pt x="0" y="11086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8855636" y="5167666"/>
              <a:ext cx="943357" cy="38691"/>
            </a:xfrm>
            <a:custGeom>
              <a:avLst/>
              <a:pathLst>
                <a:path w="943357" h="38691">
                  <a:moveTo>
                    <a:pt x="0" y="3869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8855636" y="5123963"/>
              <a:ext cx="943357" cy="40995"/>
            </a:xfrm>
            <a:custGeom>
              <a:avLst/>
              <a:pathLst>
                <a:path w="943357" h="40995">
                  <a:moveTo>
                    <a:pt x="0" y="4099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8855636" y="5119517"/>
              <a:ext cx="943357" cy="4042"/>
            </a:xfrm>
            <a:custGeom>
              <a:avLst/>
              <a:pathLst>
                <a:path w="943357" h="4042">
                  <a:moveTo>
                    <a:pt x="0" y="4042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8855636" y="5047164"/>
              <a:ext cx="943357" cy="34998"/>
            </a:xfrm>
            <a:custGeom>
              <a:avLst/>
              <a:pathLst>
                <a:path w="943357" h="34998">
                  <a:moveTo>
                    <a:pt x="0" y="34998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8855636" y="4997244"/>
              <a:ext cx="943357" cy="43519"/>
            </a:xfrm>
            <a:custGeom>
              <a:avLst/>
              <a:pathLst>
                <a:path w="943357" h="43519">
                  <a:moveTo>
                    <a:pt x="0" y="43519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8855636" y="4999365"/>
              <a:ext cx="943357" cy="31169"/>
            </a:xfrm>
            <a:custGeom>
              <a:avLst/>
              <a:pathLst>
                <a:path w="943357" h="31169">
                  <a:moveTo>
                    <a:pt x="0" y="0"/>
                  </a:moveTo>
                  <a:lnTo>
                    <a:pt x="943357" y="31169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8855636" y="4957967"/>
              <a:ext cx="943357" cy="49486"/>
            </a:xfrm>
            <a:custGeom>
              <a:avLst/>
              <a:pathLst>
                <a:path w="943357" h="49486">
                  <a:moveTo>
                    <a:pt x="0" y="0"/>
                  </a:moveTo>
                  <a:lnTo>
                    <a:pt x="943357" y="49486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8855636" y="4916569"/>
              <a:ext cx="943357" cy="10809"/>
            </a:xfrm>
            <a:custGeom>
              <a:avLst/>
              <a:pathLst>
                <a:path w="943357" h="10809">
                  <a:moveTo>
                    <a:pt x="0" y="0"/>
                  </a:moveTo>
                  <a:lnTo>
                    <a:pt x="943357" y="10809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8855636" y="4875170"/>
              <a:ext cx="943357" cy="24768"/>
            </a:xfrm>
            <a:custGeom>
              <a:avLst/>
              <a:pathLst>
                <a:path w="943357" h="24768">
                  <a:moveTo>
                    <a:pt x="0" y="0"/>
                  </a:moveTo>
                  <a:lnTo>
                    <a:pt x="943357" y="2476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8855636" y="4833772"/>
              <a:ext cx="943357" cy="62696"/>
            </a:xfrm>
            <a:custGeom>
              <a:avLst/>
              <a:pathLst>
                <a:path w="943357" h="62696">
                  <a:moveTo>
                    <a:pt x="0" y="0"/>
                  </a:moveTo>
                  <a:lnTo>
                    <a:pt x="943357" y="62696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8855636" y="4792374"/>
              <a:ext cx="943357" cy="23056"/>
            </a:xfrm>
            <a:custGeom>
              <a:avLst/>
              <a:pathLst>
                <a:path w="943357" h="23056">
                  <a:moveTo>
                    <a:pt x="0" y="0"/>
                  </a:moveTo>
                  <a:lnTo>
                    <a:pt x="943357" y="23056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8855636" y="4750975"/>
              <a:ext cx="943357" cy="48396"/>
            </a:xfrm>
            <a:custGeom>
              <a:avLst/>
              <a:pathLst>
                <a:path w="943357" h="48396">
                  <a:moveTo>
                    <a:pt x="0" y="0"/>
                  </a:moveTo>
                  <a:lnTo>
                    <a:pt x="943357" y="48396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8855636" y="4709577"/>
              <a:ext cx="943357" cy="101213"/>
            </a:xfrm>
            <a:custGeom>
              <a:avLst/>
              <a:pathLst>
                <a:path w="943357" h="101213">
                  <a:moveTo>
                    <a:pt x="0" y="0"/>
                  </a:moveTo>
                  <a:lnTo>
                    <a:pt x="943357" y="10121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8855636" y="4668179"/>
              <a:ext cx="943357" cy="99772"/>
            </a:xfrm>
            <a:custGeom>
              <a:avLst/>
              <a:pathLst>
                <a:path w="943357" h="99772">
                  <a:moveTo>
                    <a:pt x="0" y="0"/>
                  </a:moveTo>
                  <a:lnTo>
                    <a:pt x="943357" y="99772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8855636" y="4626780"/>
              <a:ext cx="943357" cy="153338"/>
            </a:xfrm>
            <a:custGeom>
              <a:avLst/>
              <a:pathLst>
                <a:path w="943357" h="153338">
                  <a:moveTo>
                    <a:pt x="0" y="0"/>
                  </a:moveTo>
                  <a:lnTo>
                    <a:pt x="943357" y="15333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8855636" y="4585382"/>
              <a:ext cx="943357" cy="135464"/>
            </a:xfrm>
            <a:custGeom>
              <a:avLst/>
              <a:pathLst>
                <a:path w="943357" h="135464">
                  <a:moveTo>
                    <a:pt x="0" y="0"/>
                  </a:moveTo>
                  <a:lnTo>
                    <a:pt x="943357" y="135464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8855636" y="4543984"/>
              <a:ext cx="943357" cy="177150"/>
            </a:xfrm>
            <a:custGeom>
              <a:avLst/>
              <a:pathLst>
                <a:path w="943357" h="177150">
                  <a:moveTo>
                    <a:pt x="0" y="0"/>
                  </a:moveTo>
                  <a:lnTo>
                    <a:pt x="943357" y="17715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8855636" y="4502585"/>
              <a:ext cx="943357" cy="155933"/>
            </a:xfrm>
            <a:custGeom>
              <a:avLst/>
              <a:pathLst>
                <a:path w="943357" h="155933">
                  <a:moveTo>
                    <a:pt x="0" y="0"/>
                  </a:moveTo>
                  <a:lnTo>
                    <a:pt x="943357" y="15593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8855636" y="4461187"/>
              <a:ext cx="943357" cy="211980"/>
            </a:xfrm>
            <a:custGeom>
              <a:avLst/>
              <a:pathLst>
                <a:path w="943357" h="211980">
                  <a:moveTo>
                    <a:pt x="0" y="0"/>
                  </a:moveTo>
                  <a:lnTo>
                    <a:pt x="943357" y="21198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8855636" y="4419789"/>
              <a:ext cx="943357" cy="277943"/>
            </a:xfrm>
            <a:custGeom>
              <a:avLst/>
              <a:pathLst>
                <a:path w="943357" h="277943">
                  <a:moveTo>
                    <a:pt x="0" y="0"/>
                  </a:moveTo>
                  <a:lnTo>
                    <a:pt x="943357" y="27794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8855636" y="4378390"/>
              <a:ext cx="943357" cy="261192"/>
            </a:xfrm>
            <a:custGeom>
              <a:avLst/>
              <a:pathLst>
                <a:path w="943357" h="261192">
                  <a:moveTo>
                    <a:pt x="0" y="0"/>
                  </a:moveTo>
                  <a:lnTo>
                    <a:pt x="943357" y="261192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8855636" y="4336992"/>
              <a:ext cx="943357" cy="276828"/>
            </a:xfrm>
            <a:custGeom>
              <a:avLst/>
              <a:pathLst>
                <a:path w="943357" h="276828">
                  <a:moveTo>
                    <a:pt x="0" y="0"/>
                  </a:moveTo>
                  <a:lnTo>
                    <a:pt x="943357" y="27682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8855636" y="4295594"/>
              <a:ext cx="943357" cy="303357"/>
            </a:xfrm>
            <a:custGeom>
              <a:avLst/>
              <a:pathLst>
                <a:path w="943357" h="303357">
                  <a:moveTo>
                    <a:pt x="0" y="0"/>
                  </a:moveTo>
                  <a:lnTo>
                    <a:pt x="943357" y="303357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8855636" y="4254195"/>
              <a:ext cx="943357" cy="323366"/>
            </a:xfrm>
            <a:custGeom>
              <a:avLst/>
              <a:pathLst>
                <a:path w="943357" h="323366">
                  <a:moveTo>
                    <a:pt x="0" y="0"/>
                  </a:moveTo>
                  <a:lnTo>
                    <a:pt x="943357" y="323366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8855636" y="4212797"/>
              <a:ext cx="943357" cy="306984"/>
            </a:xfrm>
            <a:custGeom>
              <a:avLst/>
              <a:pathLst>
                <a:path w="943357" h="306984">
                  <a:moveTo>
                    <a:pt x="0" y="0"/>
                  </a:moveTo>
                  <a:lnTo>
                    <a:pt x="943357" y="306984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8855636" y="4171399"/>
              <a:ext cx="943357" cy="395354"/>
            </a:xfrm>
            <a:custGeom>
              <a:avLst/>
              <a:pathLst>
                <a:path w="943357" h="395354">
                  <a:moveTo>
                    <a:pt x="0" y="0"/>
                  </a:moveTo>
                  <a:lnTo>
                    <a:pt x="943357" y="395354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8855636" y="4088602"/>
              <a:ext cx="943357" cy="550597"/>
            </a:xfrm>
            <a:custGeom>
              <a:avLst/>
              <a:pathLst>
                <a:path w="943357" h="550597">
                  <a:moveTo>
                    <a:pt x="0" y="0"/>
                  </a:moveTo>
                  <a:lnTo>
                    <a:pt x="943357" y="550597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8840295" y="568779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8840295" y="564639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8840295" y="560500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8840295" y="556360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8840295" y="552220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8840295" y="548080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8840295" y="543940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8840295" y="539800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8840295" y="535661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8840295" y="531521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8840295" y="527381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8840295" y="523241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8840295" y="519101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8840295" y="514961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8840295" y="510822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8840295" y="506682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8840295" y="502542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8840295" y="498402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8840295" y="494262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8840295" y="490122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8840295" y="485983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8840295" y="481843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8840295" y="477703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8840295" y="473563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8840295" y="469423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8840295" y="465283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8840295" y="461144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8840295" y="457004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8840295" y="452864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8840295" y="448724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8840295" y="444584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8840295" y="440444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8840295" y="436305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8840295" y="432165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8840295" y="428025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8840295" y="423885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8840295" y="419745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8840295" y="415605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8840295" y="407326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9783652" y="532763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9783652" y="528623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9783652" y="524713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9783652" y="518273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9783652" y="526760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9783652" y="522479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9783652" y="523399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9783652" y="524483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9783652" y="519084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9783652" y="520671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9783652" y="515795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9783652" y="512154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9783652" y="515232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9783652" y="510862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9783652" y="510417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9783652" y="503182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9783652" y="498190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9783652" y="501519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9783652" y="499211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9783652" y="491203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9783652" y="488459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9783652" y="488112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9783652" y="480009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9783652" y="478403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9783652" y="479545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9783652" y="475261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9783652" y="476477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9783652" y="470550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9783652" y="470579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9783652" y="464317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9783652" y="465782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9783652" y="468239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9783652" y="462424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9783652" y="459848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9783652" y="458361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9783652" y="456222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9783652" y="450444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9783652" y="455141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9783652" y="462385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10243696" y="599292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10243696" y="557894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10243696" y="516495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10243696" y="475097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10243696" y="433699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10243696" y="392300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10432368" y="5427148"/>
              <a:ext cx="943357" cy="358785"/>
            </a:xfrm>
            <a:custGeom>
              <a:avLst/>
              <a:pathLst>
                <a:path w="943357" h="358785">
                  <a:moveTo>
                    <a:pt x="0" y="35878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10432368" y="5342972"/>
              <a:ext cx="943357" cy="401563"/>
            </a:xfrm>
            <a:custGeom>
              <a:avLst/>
              <a:pathLst>
                <a:path w="943357" h="401563">
                  <a:moveTo>
                    <a:pt x="0" y="40156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10432368" y="5371950"/>
              <a:ext cx="943357" cy="331186"/>
            </a:xfrm>
            <a:custGeom>
              <a:avLst/>
              <a:pathLst>
                <a:path w="943357" h="331186">
                  <a:moveTo>
                    <a:pt x="0" y="33118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10432368" y="5302953"/>
              <a:ext cx="943357" cy="358785"/>
            </a:xfrm>
            <a:custGeom>
              <a:avLst/>
              <a:pathLst>
                <a:path w="943357" h="358785">
                  <a:moveTo>
                    <a:pt x="0" y="35878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10432368" y="5378467"/>
              <a:ext cx="943357" cy="241873"/>
            </a:xfrm>
            <a:custGeom>
              <a:avLst/>
              <a:pathLst>
                <a:path w="943357" h="241873">
                  <a:moveTo>
                    <a:pt x="0" y="24187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10432368" y="5303316"/>
              <a:ext cx="943357" cy="275625"/>
            </a:xfrm>
            <a:custGeom>
              <a:avLst/>
              <a:pathLst>
                <a:path w="943357" h="275625">
                  <a:moveTo>
                    <a:pt x="0" y="27562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10432368" y="5288358"/>
              <a:ext cx="943357" cy="249186"/>
            </a:xfrm>
            <a:custGeom>
              <a:avLst/>
              <a:pathLst>
                <a:path w="943357" h="249186">
                  <a:moveTo>
                    <a:pt x="0" y="24918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10432368" y="5300653"/>
              <a:ext cx="943357" cy="195492"/>
            </a:xfrm>
            <a:custGeom>
              <a:avLst/>
              <a:pathLst>
                <a:path w="943357" h="195492">
                  <a:moveTo>
                    <a:pt x="0" y="195492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10432368" y="5294147"/>
              <a:ext cx="943357" cy="160600"/>
            </a:xfrm>
            <a:custGeom>
              <a:avLst/>
              <a:pathLst>
                <a:path w="943357" h="160600">
                  <a:moveTo>
                    <a:pt x="0" y="16060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10432368" y="5257612"/>
              <a:ext cx="943357" cy="155736"/>
            </a:xfrm>
            <a:custGeom>
              <a:avLst/>
              <a:pathLst>
                <a:path w="943357" h="155736">
                  <a:moveTo>
                    <a:pt x="0" y="15573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10432368" y="5281170"/>
              <a:ext cx="943357" cy="90780"/>
            </a:xfrm>
            <a:custGeom>
              <a:avLst/>
              <a:pathLst>
                <a:path w="943357" h="90780">
                  <a:moveTo>
                    <a:pt x="0" y="9078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7"/>
            <p:cNvSpPr/>
            <p:nvPr/>
          </p:nvSpPr>
          <p:spPr>
            <a:xfrm>
              <a:off x="10432368" y="5267161"/>
              <a:ext cx="943357" cy="63391"/>
            </a:xfrm>
            <a:custGeom>
              <a:avLst/>
              <a:pathLst>
                <a:path w="943357" h="63391">
                  <a:moveTo>
                    <a:pt x="0" y="6339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10432368" y="5207565"/>
              <a:ext cx="943357" cy="81589"/>
            </a:xfrm>
            <a:custGeom>
              <a:avLst/>
              <a:pathLst>
                <a:path w="943357" h="81589">
                  <a:moveTo>
                    <a:pt x="0" y="81589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10432368" y="5194429"/>
              <a:ext cx="943357" cy="53326"/>
            </a:xfrm>
            <a:custGeom>
              <a:avLst/>
              <a:pathLst>
                <a:path w="943357" h="53326">
                  <a:moveTo>
                    <a:pt x="0" y="5332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10432368" y="5179232"/>
              <a:ext cx="943357" cy="27125"/>
            </a:xfrm>
            <a:custGeom>
              <a:avLst/>
              <a:pathLst>
                <a:path w="943357" h="27125">
                  <a:moveTo>
                    <a:pt x="0" y="2712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10432368" y="5145913"/>
              <a:ext cx="943357" cy="19046"/>
            </a:xfrm>
            <a:custGeom>
              <a:avLst/>
              <a:pathLst>
                <a:path w="943357" h="19046">
                  <a:moveTo>
                    <a:pt x="0" y="1904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10432368" y="5096126"/>
              <a:ext cx="943357" cy="27434"/>
            </a:xfrm>
            <a:custGeom>
              <a:avLst/>
              <a:pathLst>
                <a:path w="943357" h="27434">
                  <a:moveTo>
                    <a:pt x="0" y="27434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10432368" y="5082162"/>
              <a:ext cx="943357" cy="16147"/>
            </a:xfrm>
            <a:custGeom>
              <a:avLst/>
              <a:pathLst>
                <a:path w="943357" h="16147">
                  <a:moveTo>
                    <a:pt x="0" y="0"/>
                  </a:moveTo>
                  <a:lnTo>
                    <a:pt x="943357" y="16147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10432368" y="5040764"/>
              <a:ext cx="943357" cy="20411"/>
            </a:xfrm>
            <a:custGeom>
              <a:avLst/>
              <a:pathLst>
                <a:path w="943357" h="20411">
                  <a:moveTo>
                    <a:pt x="0" y="0"/>
                  </a:moveTo>
                  <a:lnTo>
                    <a:pt x="943357" y="20411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10432368" y="4999365"/>
              <a:ext cx="943357" cy="37948"/>
            </a:xfrm>
            <a:custGeom>
              <a:avLst/>
              <a:pathLst>
                <a:path w="943357" h="37948">
                  <a:moveTo>
                    <a:pt x="0" y="0"/>
                  </a:moveTo>
                  <a:lnTo>
                    <a:pt x="943357" y="3794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10432368" y="4957967"/>
              <a:ext cx="943357" cy="29421"/>
            </a:xfrm>
            <a:custGeom>
              <a:avLst/>
              <a:pathLst>
                <a:path w="943357" h="29421">
                  <a:moveTo>
                    <a:pt x="0" y="0"/>
                  </a:moveTo>
                  <a:lnTo>
                    <a:pt x="943357" y="29421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10432368" y="4916569"/>
              <a:ext cx="943357" cy="14099"/>
            </a:xfrm>
            <a:custGeom>
              <a:avLst/>
              <a:pathLst>
                <a:path w="943357" h="14099">
                  <a:moveTo>
                    <a:pt x="0" y="0"/>
                  </a:moveTo>
                  <a:lnTo>
                    <a:pt x="943357" y="14099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10432368" y="4875170"/>
              <a:ext cx="943357" cy="33032"/>
            </a:xfrm>
            <a:custGeom>
              <a:avLst/>
              <a:pathLst>
                <a:path w="943357" h="33032">
                  <a:moveTo>
                    <a:pt x="0" y="0"/>
                  </a:moveTo>
                  <a:lnTo>
                    <a:pt x="943357" y="33032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10432368" y="4833772"/>
              <a:ext cx="943357" cy="41349"/>
            </a:xfrm>
            <a:custGeom>
              <a:avLst/>
              <a:pathLst>
                <a:path w="943357" h="41349">
                  <a:moveTo>
                    <a:pt x="0" y="0"/>
                  </a:moveTo>
                  <a:lnTo>
                    <a:pt x="943357" y="41349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10432368" y="4792374"/>
              <a:ext cx="943357" cy="62442"/>
            </a:xfrm>
            <a:custGeom>
              <a:avLst/>
              <a:pathLst>
                <a:path w="943357" h="62442">
                  <a:moveTo>
                    <a:pt x="0" y="0"/>
                  </a:moveTo>
                  <a:lnTo>
                    <a:pt x="943357" y="62442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10432368" y="4750975"/>
              <a:ext cx="943357" cy="86690"/>
            </a:xfrm>
            <a:custGeom>
              <a:avLst/>
              <a:pathLst>
                <a:path w="943357" h="86690">
                  <a:moveTo>
                    <a:pt x="0" y="0"/>
                  </a:moveTo>
                  <a:lnTo>
                    <a:pt x="943357" y="8669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10432368" y="4709577"/>
              <a:ext cx="943357" cy="129652"/>
            </a:xfrm>
            <a:custGeom>
              <a:avLst/>
              <a:pathLst>
                <a:path w="943357" h="129652">
                  <a:moveTo>
                    <a:pt x="0" y="0"/>
                  </a:moveTo>
                  <a:lnTo>
                    <a:pt x="943357" y="129652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10432368" y="4668179"/>
              <a:ext cx="943357" cy="148794"/>
            </a:xfrm>
            <a:custGeom>
              <a:avLst/>
              <a:pathLst>
                <a:path w="943357" h="148794">
                  <a:moveTo>
                    <a:pt x="0" y="0"/>
                  </a:moveTo>
                  <a:lnTo>
                    <a:pt x="943357" y="148794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10432368" y="4626780"/>
              <a:ext cx="943357" cy="181364"/>
            </a:xfrm>
            <a:custGeom>
              <a:avLst/>
              <a:pathLst>
                <a:path w="943357" h="181364">
                  <a:moveTo>
                    <a:pt x="0" y="0"/>
                  </a:moveTo>
                  <a:lnTo>
                    <a:pt x="943357" y="181364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10432368" y="4585382"/>
              <a:ext cx="943357" cy="181026"/>
            </a:xfrm>
            <a:custGeom>
              <a:avLst/>
              <a:pathLst>
                <a:path w="943357" h="181026">
                  <a:moveTo>
                    <a:pt x="0" y="0"/>
                  </a:moveTo>
                  <a:lnTo>
                    <a:pt x="943357" y="181026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10432368" y="4543984"/>
              <a:ext cx="943357" cy="222516"/>
            </a:xfrm>
            <a:custGeom>
              <a:avLst/>
              <a:pathLst>
                <a:path w="943357" h="222516">
                  <a:moveTo>
                    <a:pt x="0" y="0"/>
                  </a:moveTo>
                  <a:lnTo>
                    <a:pt x="943357" y="222516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10432368" y="4502585"/>
              <a:ext cx="943357" cy="236531"/>
            </a:xfrm>
            <a:custGeom>
              <a:avLst/>
              <a:pathLst>
                <a:path w="943357" h="236531">
                  <a:moveTo>
                    <a:pt x="0" y="0"/>
                  </a:moveTo>
                  <a:lnTo>
                    <a:pt x="943357" y="236531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10432368" y="4461187"/>
              <a:ext cx="943357" cy="282505"/>
            </a:xfrm>
            <a:custGeom>
              <a:avLst/>
              <a:pathLst>
                <a:path w="943357" h="282505">
                  <a:moveTo>
                    <a:pt x="0" y="0"/>
                  </a:moveTo>
                  <a:lnTo>
                    <a:pt x="943357" y="282505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10432368" y="4419789"/>
              <a:ext cx="943357" cy="341536"/>
            </a:xfrm>
            <a:custGeom>
              <a:avLst/>
              <a:pathLst>
                <a:path w="943357" h="341536">
                  <a:moveTo>
                    <a:pt x="0" y="0"/>
                  </a:moveTo>
                  <a:lnTo>
                    <a:pt x="943357" y="341536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10432368" y="4378390"/>
              <a:ext cx="943357" cy="424332"/>
            </a:xfrm>
            <a:custGeom>
              <a:avLst/>
              <a:pathLst>
                <a:path w="943357" h="424332">
                  <a:moveTo>
                    <a:pt x="0" y="0"/>
                  </a:moveTo>
                  <a:lnTo>
                    <a:pt x="943357" y="424332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10432368" y="4336992"/>
              <a:ext cx="943357" cy="309193"/>
            </a:xfrm>
            <a:custGeom>
              <a:avLst/>
              <a:pathLst>
                <a:path w="943357" h="309193">
                  <a:moveTo>
                    <a:pt x="0" y="0"/>
                  </a:moveTo>
                  <a:lnTo>
                    <a:pt x="943357" y="30919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10432368" y="4295594"/>
              <a:ext cx="943357" cy="391990"/>
            </a:xfrm>
            <a:custGeom>
              <a:avLst/>
              <a:pathLst>
                <a:path w="943357" h="391990">
                  <a:moveTo>
                    <a:pt x="0" y="0"/>
                  </a:moveTo>
                  <a:lnTo>
                    <a:pt x="943357" y="39199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10432368" y="4254195"/>
              <a:ext cx="943357" cy="372585"/>
            </a:xfrm>
            <a:custGeom>
              <a:avLst/>
              <a:pathLst>
                <a:path w="943357" h="372585">
                  <a:moveTo>
                    <a:pt x="0" y="0"/>
                  </a:moveTo>
                  <a:lnTo>
                    <a:pt x="943357" y="372585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10432368" y="4212797"/>
              <a:ext cx="943357" cy="467702"/>
            </a:xfrm>
            <a:custGeom>
              <a:avLst/>
              <a:pathLst>
                <a:path w="943357" h="467702">
                  <a:moveTo>
                    <a:pt x="0" y="0"/>
                  </a:moveTo>
                  <a:lnTo>
                    <a:pt x="943357" y="467702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10417027" y="577059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10417027" y="572919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10417027" y="568779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10417027" y="564639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10417027" y="560500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10417027" y="556360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10417027" y="552220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10417027" y="548080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10417027" y="543940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10417027" y="539800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10417027" y="535661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10417027" y="531521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10417027" y="527381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10417027" y="523241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10417027" y="519101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10417027" y="514961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10417027" y="510822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10417027" y="506682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10417027" y="502542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10417027" y="498402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10417027" y="494262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10417027" y="490122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10417027" y="485983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10417027" y="481843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10417027" y="477703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10417027" y="473563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10417027" y="469423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10417027" y="465283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10417027" y="461144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10417027" y="457004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10417027" y="452864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10417027" y="448724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10417027" y="444584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10417027" y="440444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10417027" y="436305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10417027" y="432165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10417027" y="428025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10417027" y="423885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10417027" y="419745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11360384" y="541180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11360384" y="532763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11360384" y="535661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11360384" y="528761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11360384" y="536312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11360384" y="528797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11360384" y="527301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11360384" y="528531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11360384" y="527880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11360384" y="524227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11360384" y="526582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11360384" y="525182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11360384" y="519222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11360384" y="517908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11360384" y="516389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11360384" y="513057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11360384" y="508078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11360384" y="508296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11360384" y="504583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11360384" y="502197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11360384" y="497204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11360384" y="491532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11360384" y="489286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11360384" y="485978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11360384" y="483947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11360384" y="482232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11360384" y="482388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11360384" y="480163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11360384" y="479280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11360384" y="475106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11360384" y="475115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11360384" y="472377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11360384" y="472835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11360384" y="474598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11360384" y="478738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11360384" y="463084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11360384" y="467224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11360384" y="461144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11360384" y="466515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tx373"/>
            <p:cNvSpPr/>
            <p:nvPr/>
          </p:nvSpPr>
          <p:spPr>
            <a:xfrm>
              <a:off x="7592543" y="3597298"/>
              <a:ext cx="316077" cy="1446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374" name="tx374"/>
            <p:cNvSpPr/>
            <p:nvPr/>
          </p:nvSpPr>
          <p:spPr>
            <a:xfrm>
              <a:off x="9132318" y="3597298"/>
              <a:ext cx="389991" cy="1446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375" name="tx375"/>
            <p:cNvSpPr/>
            <p:nvPr/>
          </p:nvSpPr>
          <p:spPr>
            <a:xfrm>
              <a:off x="10701430" y="3597298"/>
              <a:ext cx="405231" cy="1446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376" name="tx376"/>
            <p:cNvSpPr/>
            <p:nvPr/>
          </p:nvSpPr>
          <p:spPr>
            <a:xfrm>
              <a:off x="7095934" y="613932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377" name="tx377"/>
            <p:cNvSpPr/>
            <p:nvPr/>
          </p:nvSpPr>
          <p:spPr>
            <a:xfrm>
              <a:off x="8096918" y="6162483"/>
              <a:ext cx="250686" cy="89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True</a:t>
              </a:r>
            </a:p>
          </p:txBody>
        </p:sp>
        <p:sp>
          <p:nvSpPr>
            <p:cNvPr id="378" name="tx378"/>
            <p:cNvSpPr/>
            <p:nvPr/>
          </p:nvSpPr>
          <p:spPr>
            <a:xfrm>
              <a:off x="8672666" y="613932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379" name="tx379"/>
            <p:cNvSpPr/>
            <p:nvPr/>
          </p:nvSpPr>
          <p:spPr>
            <a:xfrm>
              <a:off x="9673650" y="6162483"/>
              <a:ext cx="250686" cy="89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True</a:t>
              </a:r>
            </a:p>
          </p:txBody>
        </p:sp>
        <p:sp>
          <p:nvSpPr>
            <p:cNvPr id="380" name="tx380"/>
            <p:cNvSpPr/>
            <p:nvPr/>
          </p:nvSpPr>
          <p:spPr>
            <a:xfrm>
              <a:off x="10249398" y="613932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381" name="tx381"/>
            <p:cNvSpPr/>
            <p:nvPr/>
          </p:nvSpPr>
          <p:spPr>
            <a:xfrm>
              <a:off x="11250382" y="6162483"/>
              <a:ext cx="250686" cy="89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True</a:t>
              </a:r>
            </a:p>
          </p:txBody>
        </p:sp>
        <p:sp>
          <p:nvSpPr>
            <p:cNvPr id="382" name="tx382"/>
            <p:cNvSpPr/>
            <p:nvPr/>
          </p:nvSpPr>
          <p:spPr>
            <a:xfrm>
              <a:off x="6954102" y="5949081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383" name="tx383"/>
            <p:cNvSpPr/>
            <p:nvPr/>
          </p:nvSpPr>
          <p:spPr>
            <a:xfrm>
              <a:off x="6886296" y="553509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384" name="tx384"/>
            <p:cNvSpPr/>
            <p:nvPr/>
          </p:nvSpPr>
          <p:spPr>
            <a:xfrm>
              <a:off x="6886296" y="5120816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385" name="tx385"/>
            <p:cNvSpPr/>
            <p:nvPr/>
          </p:nvSpPr>
          <p:spPr>
            <a:xfrm>
              <a:off x="6886296" y="4707012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386" name="tx386"/>
            <p:cNvSpPr/>
            <p:nvPr/>
          </p:nvSpPr>
          <p:spPr>
            <a:xfrm>
              <a:off x="6886296" y="4292909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387" name="tx387"/>
            <p:cNvSpPr/>
            <p:nvPr/>
          </p:nvSpPr>
          <p:spPr>
            <a:xfrm>
              <a:off x="6886296" y="3879164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388" name="tx388"/>
            <p:cNvSpPr/>
            <p:nvPr/>
          </p:nvSpPr>
          <p:spPr>
            <a:xfrm rot="-5400000">
              <a:off x="6536544" y="4900222"/>
              <a:ext cx="440680" cy="1154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Shade</a:t>
              </a:r>
            </a:p>
          </p:txBody>
        </p:sp>
        <p:sp>
          <p:nvSpPr>
            <p:cNvPr id="389" name="tx389"/>
            <p:cNvSpPr/>
            <p:nvPr/>
          </p:nvSpPr>
          <p:spPr>
            <a:xfrm>
              <a:off x="7090232" y="3279109"/>
              <a:ext cx="3587623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Galton: report to mean true colour (experience)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7223760" cy="4846320"/>
            <a:chOff x="548640" y="1371600"/>
            <a:chExt cx="7223760" cy="484632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7223760" cy="48463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43346" y="5776795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43346" y="4928112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43346" y="4079430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43346" y="3230747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43346" y="2382064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43074" y="1944993"/>
              <a:ext cx="0" cy="4014268"/>
            </a:xfrm>
            <a:custGeom>
              <a:avLst/>
              <a:pathLst>
                <a:path w="0" h="4014268">
                  <a:moveTo>
                    <a:pt x="0" y="4014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42622" y="1944993"/>
              <a:ext cx="0" cy="4014268"/>
            </a:xfrm>
            <a:custGeom>
              <a:avLst/>
              <a:pathLst>
                <a:path w="0" h="4014268">
                  <a:moveTo>
                    <a:pt x="0" y="4014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42170" y="1944993"/>
              <a:ext cx="0" cy="4014268"/>
            </a:xfrm>
            <a:custGeom>
              <a:avLst/>
              <a:pathLst>
                <a:path w="0" h="4014268">
                  <a:moveTo>
                    <a:pt x="0" y="4014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43346" y="4079430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1548177" y="420848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2559263" y="435498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583997" y="386573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1685310" y="430635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2543922" y="464662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3514231" y="423787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1677252" y="482648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2513851" y="490416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641972" y="486140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1502295" y="357370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2605674" y="375024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622639" y="349145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698674" y="395802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706823" y="392528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561451" y="430149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1520015" y="450706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642157" y="430338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646361" y="399313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1733649" y="454932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722758" y="442112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590100" y="471071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501580" y="391429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502280" y="433448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703677" y="440688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602800" y="517730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2646759" y="560933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572321" y="500233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1681081" y="415479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2555068" y="466540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690802" y="450521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1560121" y="447396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2608569" y="478208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584387" y="439367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670288" y="397358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693036" y="383931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736830" y="379149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700012" y="368796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642491" y="425420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720982" y="424895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536014" y="499790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722406" y="487817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525304" y="521656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1551960" y="513479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2683471" y="456048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531432" y="442569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1684248" y="385247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737456" y="416850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98773" y="424048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1636621" y="365797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2678237" y="441092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578494" y="392306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1602916" y="406196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2525468" y="407428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735959" y="394017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1547480" y="444928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2701675" y="461056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571329" y="457803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1611811" y="427237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2590923" y="440230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686316" y="404249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1530142" y="401917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2577629" y="409023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620489" y="425528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1626259" y="291821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2679988" y="362995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531690" y="420736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1680208" y="382105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2585638" y="421800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667096" y="344779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1562313" y="431507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2515223" y="439432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664287" y="412026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1558805" y="446370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2718838" y="446233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3695919" y="435112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1715526" y="358816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2540481" y="394057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545701" y="448157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1623157" y="441306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2605185" y="441621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561066" y="463292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1723832" y="356877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632864" y="411439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585740" y="397609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1718681" y="456344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2546222" y="499824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557008" y="438975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1572906" y="366188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2551726" y="459436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643188" y="433141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1503122" y="481031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2660166" y="506595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621810" y="466790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1522147" y="376069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625850" y="370113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614103" y="365770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1565646" y="356297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685668" y="407740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666555" y="407456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1551740" y="471999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607961" y="437492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3572615" y="423610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1658284" y="465129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2702639" y="479640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3680505" y="481264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1701236" y="365709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2544757" y="301950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602785" y="302824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1601913" y="421375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2722984" y="451370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3624147" y="396323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1703551" y="344934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2725636" y="388105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3622739" y="420558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1613776" y="377192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653630" y="427603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3639177" y="445459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1602527" y="428866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2573590" y="421988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3739413" y="395220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1563752" y="425088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2583517" y="452056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3544341" y="391454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1639024" y="456327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2696985" y="492591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676740" y="402558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1526027" y="315976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2666165" y="411141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3588956" y="439920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1673241" y="415201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2678269" y="459617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3533290" y="469760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1574190" y="444947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2736241" y="426225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722104" y="443293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1614567" y="420782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2579148" y="454972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606880" y="434865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1637702" y="432097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2660675" y="403881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3514876" y="406783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1635974" y="412305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2546654" y="441963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3717717" y="459145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1567584" y="355848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2507235" y="350075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3716547" y="360677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1657874" y="457528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2520741" y="425305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571097" y="429445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1636883" y="457756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2559015" y="415688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3532200" y="422167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1564142" y="482857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2642975" y="466160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3589583" y="469056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1603399" y="416018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2669201" y="409017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670044" y="422444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1551239" y="410385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2671395" y="429009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737870" y="449755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1610347" y="444544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2716120" y="434319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3592263" y="437835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1692951" y="468129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2645728" y="531149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3564640" y="485734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1645392" y="414426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2561817" y="364311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3595417" y="415632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1672213" y="381920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2612615" y="409016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3633242" y="395039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1674188" y="518194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2621322" y="427937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645500" y="531501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1697221" y="445589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2586462" y="489769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557171" y="485655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1675256" y="403377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2620139" y="448654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684201" y="431287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1653809" y="405685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2581314" y="444382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3552074" y="426459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1622766" y="329146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2601236" y="453459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3635343" y="355334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1616998" y="391954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2616536" y="403481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3563844" y="443307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1569137" y="428157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2631931" y="448869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3616029" y="447704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1670421" y="428710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2579495" y="430551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3601001" y="456053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1693557" y="430450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2659897" y="441802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3676960" y="440554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1657404" y="410108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2709943" y="387653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3534936" y="392158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1540163" y="462275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2514238" y="482258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3614085" y="423170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1525369" y="390856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2716183" y="382309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697316" y="333215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1600020" y="366233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2653970" y="365174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3582648" y="356740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1588349" y="396584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2739816" y="415114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612991" y="396042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1577830" y="405425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2675193" y="435731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627087" y="445589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1659055" y="505197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2559471" y="493233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692521" y="449155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1593498" y="456002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2520378" y="478850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3590683" y="467804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1536893" y="449857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2655093" y="521168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3702536" y="478583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1606012" y="458871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2736722" y="380987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3567085" y="400873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1568108" y="4109203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1643074" y="4109203"/>
              <a:ext cx="0" cy="212966"/>
            </a:xfrm>
            <a:custGeom>
              <a:avLst/>
              <a:pathLst>
                <a:path w="0" h="212966">
                  <a:moveTo>
                    <a:pt x="0" y="0"/>
                  </a:moveTo>
                  <a:lnTo>
                    <a:pt x="0" y="212966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1568108" y="4322169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2567656" y="4270404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2642622" y="4270404"/>
              <a:ext cx="0" cy="198474"/>
            </a:xfrm>
            <a:custGeom>
              <a:avLst/>
              <a:pathLst>
                <a:path w="0" h="198474">
                  <a:moveTo>
                    <a:pt x="0" y="0"/>
                  </a:moveTo>
                  <a:lnTo>
                    <a:pt x="0" y="198474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2567656" y="4468879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3567204" y="4192403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3642170" y="4192403"/>
              <a:ext cx="0" cy="189058"/>
            </a:xfrm>
            <a:custGeom>
              <a:avLst/>
              <a:pathLst>
                <a:path w="0" h="189058">
                  <a:moveTo>
                    <a:pt x="0" y="0"/>
                  </a:moveTo>
                  <a:lnTo>
                    <a:pt x="0" y="189058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3567204" y="4381462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1597922" y="4170534"/>
              <a:ext cx="90303" cy="9030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2597470" y="4324490"/>
              <a:ext cx="90303" cy="9030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3597018" y="4241781"/>
              <a:ext cx="90303" cy="9030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1382485" y="2216276"/>
              <a:ext cx="521178" cy="161840"/>
            </a:xfrm>
            <a:custGeom>
              <a:avLst/>
              <a:pathLst>
                <a:path w="521178" h="161840">
                  <a:moveTo>
                    <a:pt x="22114" y="161840"/>
                  </a:moveTo>
                  <a:lnTo>
                    <a:pt x="499064" y="161840"/>
                  </a:lnTo>
                  <a:lnTo>
                    <a:pt x="498173" y="161822"/>
                  </a:lnTo>
                  <a:lnTo>
                    <a:pt x="501729" y="161679"/>
                  </a:lnTo>
                  <a:lnTo>
                    <a:pt x="505216" y="160967"/>
                  </a:lnTo>
                  <a:lnTo>
                    <a:pt x="508544" y="159705"/>
                  </a:lnTo>
                  <a:lnTo>
                    <a:pt x="511626" y="157925"/>
                  </a:lnTo>
                  <a:lnTo>
                    <a:pt x="514383" y="155674"/>
                  </a:lnTo>
                  <a:lnTo>
                    <a:pt x="516743" y="153010"/>
                  </a:lnTo>
                  <a:lnTo>
                    <a:pt x="518645" y="150002"/>
                  </a:lnTo>
                  <a:lnTo>
                    <a:pt x="520040" y="146728"/>
                  </a:lnTo>
                  <a:lnTo>
                    <a:pt x="520892" y="143273"/>
                  </a:lnTo>
                  <a:lnTo>
                    <a:pt x="521178" y="139725"/>
                  </a:lnTo>
                  <a:lnTo>
                    <a:pt x="521178" y="22114"/>
                  </a:lnTo>
                  <a:lnTo>
                    <a:pt x="520892" y="18567"/>
                  </a:lnTo>
                  <a:lnTo>
                    <a:pt x="520040" y="15111"/>
                  </a:lnTo>
                  <a:lnTo>
                    <a:pt x="518645" y="11837"/>
                  </a:lnTo>
                  <a:lnTo>
                    <a:pt x="516743" y="8829"/>
                  </a:lnTo>
                  <a:lnTo>
                    <a:pt x="514383" y="6165"/>
                  </a:lnTo>
                  <a:lnTo>
                    <a:pt x="511626" y="3914"/>
                  </a:lnTo>
                  <a:lnTo>
                    <a:pt x="508544" y="2135"/>
                  </a:lnTo>
                  <a:lnTo>
                    <a:pt x="505216" y="873"/>
                  </a:lnTo>
                  <a:lnTo>
                    <a:pt x="501729" y="161"/>
                  </a:lnTo>
                  <a:lnTo>
                    <a:pt x="499064" y="0"/>
                  </a:lnTo>
                  <a:lnTo>
                    <a:pt x="22114" y="0"/>
                  </a:lnTo>
                  <a:lnTo>
                    <a:pt x="24780" y="161"/>
                  </a:lnTo>
                  <a:lnTo>
                    <a:pt x="21224" y="17"/>
                  </a:lnTo>
                  <a:lnTo>
                    <a:pt x="17691" y="446"/>
                  </a:lnTo>
                  <a:lnTo>
                    <a:pt x="14272" y="1437"/>
                  </a:lnTo>
                  <a:lnTo>
                    <a:pt x="11057" y="2962"/>
                  </a:lnTo>
                  <a:lnTo>
                    <a:pt x="8128" y="4984"/>
                  </a:lnTo>
                  <a:lnTo>
                    <a:pt x="5561" y="7449"/>
                  </a:lnTo>
                  <a:lnTo>
                    <a:pt x="3423" y="10295"/>
                  </a:lnTo>
                  <a:lnTo>
                    <a:pt x="1769" y="13446"/>
                  </a:lnTo>
                  <a:lnTo>
                    <a:pt x="642" y="16822"/>
                  </a:lnTo>
                  <a:lnTo>
                    <a:pt x="71" y="20335"/>
                  </a:lnTo>
                  <a:lnTo>
                    <a:pt x="0" y="22114"/>
                  </a:lnTo>
                  <a:lnTo>
                    <a:pt x="0" y="139725"/>
                  </a:lnTo>
                  <a:lnTo>
                    <a:pt x="71" y="137946"/>
                  </a:lnTo>
                  <a:lnTo>
                    <a:pt x="71" y="141505"/>
                  </a:lnTo>
                  <a:lnTo>
                    <a:pt x="642" y="145018"/>
                  </a:lnTo>
                  <a:lnTo>
                    <a:pt x="1769" y="148393"/>
                  </a:lnTo>
                  <a:lnTo>
                    <a:pt x="3423" y="151545"/>
                  </a:lnTo>
                  <a:lnTo>
                    <a:pt x="5561" y="154390"/>
                  </a:lnTo>
                  <a:lnTo>
                    <a:pt x="8128" y="156855"/>
                  </a:lnTo>
                  <a:lnTo>
                    <a:pt x="11057" y="158877"/>
                  </a:lnTo>
                  <a:lnTo>
                    <a:pt x="14272" y="160403"/>
                  </a:lnTo>
                  <a:lnTo>
                    <a:pt x="17691" y="161393"/>
                  </a:lnTo>
                  <a:lnTo>
                    <a:pt x="21224" y="161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" name="tx257"/>
            <p:cNvSpPr/>
            <p:nvPr/>
          </p:nvSpPr>
          <p:spPr>
            <a:xfrm>
              <a:off x="1419343" y="2229618"/>
              <a:ext cx="44746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p = .013</a:t>
              </a:r>
            </a:p>
          </p:txBody>
        </p:sp>
        <p:sp>
          <p:nvSpPr>
            <p:cNvPr id="258" name="pg258"/>
            <p:cNvSpPr/>
            <p:nvPr/>
          </p:nvSpPr>
          <p:spPr>
            <a:xfrm>
              <a:off x="2382033" y="2216276"/>
              <a:ext cx="521178" cy="161840"/>
            </a:xfrm>
            <a:custGeom>
              <a:avLst/>
              <a:pathLst>
                <a:path w="521178" h="161840">
                  <a:moveTo>
                    <a:pt x="22114" y="161840"/>
                  </a:moveTo>
                  <a:lnTo>
                    <a:pt x="499064" y="161840"/>
                  </a:lnTo>
                  <a:lnTo>
                    <a:pt x="498173" y="161822"/>
                  </a:lnTo>
                  <a:lnTo>
                    <a:pt x="501729" y="161679"/>
                  </a:lnTo>
                  <a:lnTo>
                    <a:pt x="505216" y="160967"/>
                  </a:lnTo>
                  <a:lnTo>
                    <a:pt x="508544" y="159705"/>
                  </a:lnTo>
                  <a:lnTo>
                    <a:pt x="511626" y="157925"/>
                  </a:lnTo>
                  <a:lnTo>
                    <a:pt x="514383" y="155674"/>
                  </a:lnTo>
                  <a:lnTo>
                    <a:pt x="516743" y="153010"/>
                  </a:lnTo>
                  <a:lnTo>
                    <a:pt x="518645" y="150002"/>
                  </a:lnTo>
                  <a:lnTo>
                    <a:pt x="520040" y="146728"/>
                  </a:lnTo>
                  <a:lnTo>
                    <a:pt x="520892" y="143273"/>
                  </a:lnTo>
                  <a:lnTo>
                    <a:pt x="521178" y="139725"/>
                  </a:lnTo>
                  <a:lnTo>
                    <a:pt x="521178" y="22114"/>
                  </a:lnTo>
                  <a:lnTo>
                    <a:pt x="520892" y="18567"/>
                  </a:lnTo>
                  <a:lnTo>
                    <a:pt x="520040" y="15111"/>
                  </a:lnTo>
                  <a:lnTo>
                    <a:pt x="518645" y="11837"/>
                  </a:lnTo>
                  <a:lnTo>
                    <a:pt x="516743" y="8829"/>
                  </a:lnTo>
                  <a:lnTo>
                    <a:pt x="514383" y="6165"/>
                  </a:lnTo>
                  <a:lnTo>
                    <a:pt x="511626" y="3914"/>
                  </a:lnTo>
                  <a:lnTo>
                    <a:pt x="508544" y="2135"/>
                  </a:lnTo>
                  <a:lnTo>
                    <a:pt x="505216" y="873"/>
                  </a:lnTo>
                  <a:lnTo>
                    <a:pt x="501729" y="161"/>
                  </a:lnTo>
                  <a:lnTo>
                    <a:pt x="499064" y="0"/>
                  </a:lnTo>
                  <a:lnTo>
                    <a:pt x="22114" y="0"/>
                  </a:lnTo>
                  <a:lnTo>
                    <a:pt x="24780" y="161"/>
                  </a:lnTo>
                  <a:lnTo>
                    <a:pt x="21224" y="17"/>
                  </a:lnTo>
                  <a:lnTo>
                    <a:pt x="17691" y="446"/>
                  </a:lnTo>
                  <a:lnTo>
                    <a:pt x="14272" y="1437"/>
                  </a:lnTo>
                  <a:lnTo>
                    <a:pt x="11057" y="2962"/>
                  </a:lnTo>
                  <a:lnTo>
                    <a:pt x="8128" y="4984"/>
                  </a:lnTo>
                  <a:lnTo>
                    <a:pt x="5561" y="7449"/>
                  </a:lnTo>
                  <a:lnTo>
                    <a:pt x="3423" y="10295"/>
                  </a:lnTo>
                  <a:lnTo>
                    <a:pt x="1769" y="13446"/>
                  </a:lnTo>
                  <a:lnTo>
                    <a:pt x="642" y="16822"/>
                  </a:lnTo>
                  <a:lnTo>
                    <a:pt x="71" y="20335"/>
                  </a:lnTo>
                  <a:lnTo>
                    <a:pt x="0" y="22114"/>
                  </a:lnTo>
                  <a:lnTo>
                    <a:pt x="0" y="139725"/>
                  </a:lnTo>
                  <a:lnTo>
                    <a:pt x="71" y="137946"/>
                  </a:lnTo>
                  <a:lnTo>
                    <a:pt x="71" y="141505"/>
                  </a:lnTo>
                  <a:lnTo>
                    <a:pt x="642" y="145018"/>
                  </a:lnTo>
                  <a:lnTo>
                    <a:pt x="1769" y="148393"/>
                  </a:lnTo>
                  <a:lnTo>
                    <a:pt x="3423" y="151545"/>
                  </a:lnTo>
                  <a:lnTo>
                    <a:pt x="5561" y="154390"/>
                  </a:lnTo>
                  <a:lnTo>
                    <a:pt x="8128" y="156855"/>
                  </a:lnTo>
                  <a:lnTo>
                    <a:pt x="11057" y="158877"/>
                  </a:lnTo>
                  <a:lnTo>
                    <a:pt x="14272" y="160403"/>
                  </a:lnTo>
                  <a:lnTo>
                    <a:pt x="17691" y="161393"/>
                  </a:lnTo>
                  <a:lnTo>
                    <a:pt x="21224" y="161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" name="tx259"/>
            <p:cNvSpPr/>
            <p:nvPr/>
          </p:nvSpPr>
          <p:spPr>
            <a:xfrm>
              <a:off x="2418890" y="2229738"/>
              <a:ext cx="447463" cy="111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p &lt; .001</a:t>
              </a:r>
            </a:p>
          </p:txBody>
        </p:sp>
        <p:sp>
          <p:nvSpPr>
            <p:cNvPr id="260" name="pg260"/>
            <p:cNvSpPr/>
            <p:nvPr/>
          </p:nvSpPr>
          <p:spPr>
            <a:xfrm>
              <a:off x="3381581" y="2216276"/>
              <a:ext cx="521178" cy="161840"/>
            </a:xfrm>
            <a:custGeom>
              <a:avLst/>
              <a:pathLst>
                <a:path w="521178" h="161840">
                  <a:moveTo>
                    <a:pt x="22114" y="161840"/>
                  </a:moveTo>
                  <a:lnTo>
                    <a:pt x="499064" y="161840"/>
                  </a:lnTo>
                  <a:lnTo>
                    <a:pt x="498173" y="161822"/>
                  </a:lnTo>
                  <a:lnTo>
                    <a:pt x="501729" y="161679"/>
                  </a:lnTo>
                  <a:lnTo>
                    <a:pt x="505216" y="160967"/>
                  </a:lnTo>
                  <a:lnTo>
                    <a:pt x="508544" y="159705"/>
                  </a:lnTo>
                  <a:lnTo>
                    <a:pt x="511626" y="157925"/>
                  </a:lnTo>
                  <a:lnTo>
                    <a:pt x="514383" y="155674"/>
                  </a:lnTo>
                  <a:lnTo>
                    <a:pt x="516743" y="153010"/>
                  </a:lnTo>
                  <a:lnTo>
                    <a:pt x="518645" y="150002"/>
                  </a:lnTo>
                  <a:lnTo>
                    <a:pt x="520040" y="146728"/>
                  </a:lnTo>
                  <a:lnTo>
                    <a:pt x="520892" y="143273"/>
                  </a:lnTo>
                  <a:lnTo>
                    <a:pt x="521178" y="139725"/>
                  </a:lnTo>
                  <a:lnTo>
                    <a:pt x="521178" y="22114"/>
                  </a:lnTo>
                  <a:lnTo>
                    <a:pt x="520892" y="18567"/>
                  </a:lnTo>
                  <a:lnTo>
                    <a:pt x="520040" y="15111"/>
                  </a:lnTo>
                  <a:lnTo>
                    <a:pt x="518645" y="11837"/>
                  </a:lnTo>
                  <a:lnTo>
                    <a:pt x="516743" y="8829"/>
                  </a:lnTo>
                  <a:lnTo>
                    <a:pt x="514383" y="6165"/>
                  </a:lnTo>
                  <a:lnTo>
                    <a:pt x="511626" y="3914"/>
                  </a:lnTo>
                  <a:lnTo>
                    <a:pt x="508544" y="2135"/>
                  </a:lnTo>
                  <a:lnTo>
                    <a:pt x="505216" y="873"/>
                  </a:lnTo>
                  <a:lnTo>
                    <a:pt x="501729" y="161"/>
                  </a:lnTo>
                  <a:lnTo>
                    <a:pt x="499064" y="0"/>
                  </a:lnTo>
                  <a:lnTo>
                    <a:pt x="22114" y="0"/>
                  </a:lnTo>
                  <a:lnTo>
                    <a:pt x="24780" y="161"/>
                  </a:lnTo>
                  <a:lnTo>
                    <a:pt x="21224" y="17"/>
                  </a:lnTo>
                  <a:lnTo>
                    <a:pt x="17691" y="446"/>
                  </a:lnTo>
                  <a:lnTo>
                    <a:pt x="14272" y="1437"/>
                  </a:lnTo>
                  <a:lnTo>
                    <a:pt x="11057" y="2962"/>
                  </a:lnTo>
                  <a:lnTo>
                    <a:pt x="8128" y="4984"/>
                  </a:lnTo>
                  <a:lnTo>
                    <a:pt x="5561" y="7449"/>
                  </a:lnTo>
                  <a:lnTo>
                    <a:pt x="3423" y="10295"/>
                  </a:lnTo>
                  <a:lnTo>
                    <a:pt x="1769" y="13446"/>
                  </a:lnTo>
                  <a:lnTo>
                    <a:pt x="642" y="16822"/>
                  </a:lnTo>
                  <a:lnTo>
                    <a:pt x="71" y="20335"/>
                  </a:lnTo>
                  <a:lnTo>
                    <a:pt x="0" y="22114"/>
                  </a:lnTo>
                  <a:lnTo>
                    <a:pt x="0" y="139725"/>
                  </a:lnTo>
                  <a:lnTo>
                    <a:pt x="71" y="137946"/>
                  </a:lnTo>
                  <a:lnTo>
                    <a:pt x="71" y="141505"/>
                  </a:lnTo>
                  <a:lnTo>
                    <a:pt x="642" y="145018"/>
                  </a:lnTo>
                  <a:lnTo>
                    <a:pt x="1769" y="148393"/>
                  </a:lnTo>
                  <a:lnTo>
                    <a:pt x="3423" y="151545"/>
                  </a:lnTo>
                  <a:lnTo>
                    <a:pt x="5561" y="154390"/>
                  </a:lnTo>
                  <a:lnTo>
                    <a:pt x="8128" y="156855"/>
                  </a:lnTo>
                  <a:lnTo>
                    <a:pt x="11057" y="158877"/>
                  </a:lnTo>
                  <a:lnTo>
                    <a:pt x="14272" y="160403"/>
                  </a:lnTo>
                  <a:lnTo>
                    <a:pt x="17691" y="161393"/>
                  </a:lnTo>
                  <a:lnTo>
                    <a:pt x="21224" y="161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" name="tx261"/>
            <p:cNvSpPr/>
            <p:nvPr/>
          </p:nvSpPr>
          <p:spPr>
            <a:xfrm>
              <a:off x="3418438" y="2229738"/>
              <a:ext cx="447463" cy="111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p &lt; .001</a:t>
              </a:r>
            </a:p>
          </p:txBody>
        </p:sp>
        <p:sp>
          <p:nvSpPr>
            <p:cNvPr id="262" name="pl262"/>
            <p:cNvSpPr/>
            <p:nvPr/>
          </p:nvSpPr>
          <p:spPr>
            <a:xfrm>
              <a:off x="4497931" y="5776795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4497931" y="4928112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4497931" y="4079430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4497931" y="3230747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4497931" y="2382064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7"/>
            <p:cNvSpPr/>
            <p:nvPr/>
          </p:nvSpPr>
          <p:spPr>
            <a:xfrm>
              <a:off x="5097660" y="1944993"/>
              <a:ext cx="0" cy="4014268"/>
            </a:xfrm>
            <a:custGeom>
              <a:avLst/>
              <a:pathLst>
                <a:path w="0" h="4014268">
                  <a:moveTo>
                    <a:pt x="0" y="4014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6097208" y="1944993"/>
              <a:ext cx="0" cy="4014268"/>
            </a:xfrm>
            <a:custGeom>
              <a:avLst/>
              <a:pathLst>
                <a:path w="0" h="4014268">
                  <a:moveTo>
                    <a:pt x="0" y="4014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7096755" y="1944993"/>
              <a:ext cx="0" cy="4014268"/>
            </a:xfrm>
            <a:custGeom>
              <a:avLst/>
              <a:pathLst>
                <a:path w="0" h="4014268">
                  <a:moveTo>
                    <a:pt x="0" y="4014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4497931" y="4079430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5129662" y="487901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5981066" y="472337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7134582" y="491667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5022315" y="409452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6151777" y="410375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7134121" y="436642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5068832" y="393707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6099481" y="412339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7072063" y="404815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995918" y="490765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5975989" y="478671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7092237" y="475048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5074285" y="462345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6173246" y="481880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7158056" y="474393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5128020" y="431433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5970425" y="440413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7139451" y="456635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4998639" y="417287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6156285" y="436592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6992633" y="472036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5181795" y="466361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6116798" y="456465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7176098" y="448069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5162342" y="460558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6136267" y="534610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7044461" y="481018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5075750" y="429887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6014064" y="390512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7023100" y="400099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5163844" y="393026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6160598" y="410006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6973250" y="449165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5094150" y="467285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6045599" y="493950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7119522" y="490856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5173338" y="463048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6169076" y="451578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7191120" y="468189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5098494" y="321902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6101603" y="316876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7028948" y="386553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5124410" y="495672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6192626" y="441096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6993605" y="427789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4964228" y="485626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6160089" y="458270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7174257" y="437782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5016235" y="470966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6116666" y="487781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6966436" y="460420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5034939" y="439258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5981363" y="429828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6981384" y="451875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4994576" y="476925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5961074" y="510235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7191709" y="488057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5173659" y="496793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6192976" y="466235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7125134" y="494560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5077833" y="430567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6163501" y="424893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7086273" y="419366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5057641" y="482835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6074819" y="511310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7105575" y="524901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5152481" y="483103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6093121" y="514383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7191288" y="492343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4995876" y="486500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6144574" y="477093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7128621" y="481734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5189468" y="453642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5959849" y="436989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7172255" y="481023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5050304" y="478395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6088752" y="457600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6994701" y="452166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5184736" y="463267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5998279" y="484569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7123911" y="427875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5011213" y="470750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6118955" y="481974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7157135" y="448603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5108928" y="493563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6087169" y="423401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7093323" y="460224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5083192" y="459225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6087836" y="425623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7140906" y="417201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5009120" y="384340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6170842" y="431911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7109917" y="385184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4990247" y="471225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6024751" y="465554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6957459" y="484086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5158810" y="485131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6130692" y="474471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6992793" y="457115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5063442" y="449212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6063418" y="451985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7171671" y="466196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5104682" y="378512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5977102" y="430351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7078223" y="407379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5008291" y="489540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6077307" y="500399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7097141" y="514451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4976763" y="458277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6093592" y="443323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7062023" y="471479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5046607" y="471484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6129623" y="444993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7148996" y="453314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5107847" y="471200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6103419" y="503829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7059240" y="484665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5157554" y="488400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5957118" y="440697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7004362" y="453681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5036444" y="460114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6135412" y="447641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7155903" y="466701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4989569" y="483580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5984432" y="505659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7154375" y="472694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5002733" y="479411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6099841" y="460536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7122566" y="460771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5144323" y="442898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6016313" y="396763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7167282" y="379107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5158598" y="447796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5992092" y="485070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7129102" y="468736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5119546" y="456892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6151546" y="418095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7098237" y="437487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5064072" y="464991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6075272" y="445198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6963294" y="487121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5195109" y="419108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6054820" y="438354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6963285" y="409001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5062014" y="476747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5994360" y="461994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7174535" y="482240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5123147" y="491876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6022997" y="505941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7092273" y="483723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5093350" y="452492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6101901" y="472271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6974963" y="504369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5001418" y="464799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6165083" y="431986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7058545" y="448209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4966843" y="437864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6140528" y="443088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6971636" y="449655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5140529" y="463286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5991996" y="422769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7136073" y="493121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5065968" y="443121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6063317" y="427197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6975418" y="452429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5055843" y="447477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6032913" y="460718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7080577" y="403403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5066382" y="461728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6048447" y="468577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6978998" y="481127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5119833" y="494475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6171467" y="494073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6998296" y="508023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4956182" y="477511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6024046" y="466174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7144552" y="518950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4985222" y="411824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6133947" y="460868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7063270" y="365307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5054252" y="435480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6069356" y="429404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7141410" y="433604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5130203" y="457584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6075406" y="428410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6981140" y="433826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5147820" y="484037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6062059" y="531922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7175885" y="521407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5035821" y="451561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6106567" y="478114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7149737" y="481748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5112848" y="434479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6080144" y="407320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7174795" y="414084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5052400" y="484784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6082171" y="468861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7005895" y="459833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4991037" y="418649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6020939" y="399443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7033626" y="398312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4964356" y="467050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6031392" y="457185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6969850" y="461622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5109860" y="355429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6180935" y="434881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7119722" y="442997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5066096" y="488042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6045308" y="481778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7167318" y="484448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4973347" y="454858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6061264" y="451867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7045442" y="463411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4983219" y="465715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5993909" y="465470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7025449" y="450638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5126587" y="445942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6126562" y="418105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6955140" y="397880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4962796" y="438519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6187200" y="432811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6959478" y="417879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5041690" y="495551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5960006" y="500755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7000682" y="489463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5000925" y="504819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5966598" y="525417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7119377" y="489983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4960829" y="487205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6065603" y="470083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7174636" y="502798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l502"/>
            <p:cNvSpPr/>
            <p:nvPr/>
          </p:nvSpPr>
          <p:spPr>
            <a:xfrm>
              <a:off x="5022694" y="4510521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l503"/>
            <p:cNvSpPr/>
            <p:nvPr/>
          </p:nvSpPr>
          <p:spPr>
            <a:xfrm>
              <a:off x="5097660" y="4510521"/>
              <a:ext cx="0" cy="154901"/>
            </a:xfrm>
            <a:custGeom>
              <a:avLst/>
              <a:pathLst>
                <a:path w="0" h="154901">
                  <a:moveTo>
                    <a:pt x="0" y="0"/>
                  </a:moveTo>
                  <a:lnTo>
                    <a:pt x="0" y="154901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l504"/>
            <p:cNvSpPr/>
            <p:nvPr/>
          </p:nvSpPr>
          <p:spPr>
            <a:xfrm>
              <a:off x="5022694" y="4665422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l505"/>
            <p:cNvSpPr/>
            <p:nvPr/>
          </p:nvSpPr>
          <p:spPr>
            <a:xfrm>
              <a:off x="6022241" y="4497323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6"/>
            <p:cNvSpPr/>
            <p:nvPr/>
          </p:nvSpPr>
          <p:spPr>
            <a:xfrm>
              <a:off x="6097208" y="4497323"/>
              <a:ext cx="0" cy="166528"/>
            </a:xfrm>
            <a:custGeom>
              <a:avLst/>
              <a:pathLst>
                <a:path w="0" h="166528">
                  <a:moveTo>
                    <a:pt x="0" y="0"/>
                  </a:moveTo>
                  <a:lnTo>
                    <a:pt x="0" y="166528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l507"/>
            <p:cNvSpPr/>
            <p:nvPr/>
          </p:nvSpPr>
          <p:spPr>
            <a:xfrm>
              <a:off x="6022241" y="4663852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l508"/>
            <p:cNvSpPr/>
            <p:nvPr/>
          </p:nvSpPr>
          <p:spPr>
            <a:xfrm>
              <a:off x="7021789" y="4511480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l509"/>
            <p:cNvSpPr/>
            <p:nvPr/>
          </p:nvSpPr>
          <p:spPr>
            <a:xfrm>
              <a:off x="7096755" y="4511480"/>
              <a:ext cx="0" cy="162776"/>
            </a:xfrm>
            <a:custGeom>
              <a:avLst/>
              <a:pathLst>
                <a:path w="0" h="162776">
                  <a:moveTo>
                    <a:pt x="0" y="0"/>
                  </a:moveTo>
                  <a:lnTo>
                    <a:pt x="0" y="162776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l510"/>
            <p:cNvSpPr/>
            <p:nvPr/>
          </p:nvSpPr>
          <p:spPr>
            <a:xfrm>
              <a:off x="7021789" y="4674257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5052508" y="4542820"/>
              <a:ext cx="90303" cy="9030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6052056" y="4535436"/>
              <a:ext cx="90303" cy="9030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7051604" y="4547717"/>
              <a:ext cx="90303" cy="9030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4837070" y="2216276"/>
              <a:ext cx="521178" cy="161840"/>
            </a:xfrm>
            <a:custGeom>
              <a:avLst/>
              <a:pathLst>
                <a:path w="521178" h="161840">
                  <a:moveTo>
                    <a:pt x="22114" y="161840"/>
                  </a:moveTo>
                  <a:lnTo>
                    <a:pt x="499064" y="161840"/>
                  </a:lnTo>
                  <a:lnTo>
                    <a:pt x="498173" y="161822"/>
                  </a:lnTo>
                  <a:lnTo>
                    <a:pt x="501729" y="161679"/>
                  </a:lnTo>
                  <a:lnTo>
                    <a:pt x="505216" y="160967"/>
                  </a:lnTo>
                  <a:lnTo>
                    <a:pt x="508544" y="159705"/>
                  </a:lnTo>
                  <a:lnTo>
                    <a:pt x="511626" y="157925"/>
                  </a:lnTo>
                  <a:lnTo>
                    <a:pt x="514383" y="155674"/>
                  </a:lnTo>
                  <a:lnTo>
                    <a:pt x="516743" y="153010"/>
                  </a:lnTo>
                  <a:lnTo>
                    <a:pt x="518645" y="150002"/>
                  </a:lnTo>
                  <a:lnTo>
                    <a:pt x="520040" y="146728"/>
                  </a:lnTo>
                  <a:lnTo>
                    <a:pt x="520892" y="143273"/>
                  </a:lnTo>
                  <a:lnTo>
                    <a:pt x="521178" y="139725"/>
                  </a:lnTo>
                  <a:lnTo>
                    <a:pt x="521178" y="22114"/>
                  </a:lnTo>
                  <a:lnTo>
                    <a:pt x="520892" y="18567"/>
                  </a:lnTo>
                  <a:lnTo>
                    <a:pt x="520040" y="15111"/>
                  </a:lnTo>
                  <a:lnTo>
                    <a:pt x="518645" y="11837"/>
                  </a:lnTo>
                  <a:lnTo>
                    <a:pt x="516743" y="8829"/>
                  </a:lnTo>
                  <a:lnTo>
                    <a:pt x="514383" y="6165"/>
                  </a:lnTo>
                  <a:lnTo>
                    <a:pt x="511626" y="3914"/>
                  </a:lnTo>
                  <a:lnTo>
                    <a:pt x="508544" y="2135"/>
                  </a:lnTo>
                  <a:lnTo>
                    <a:pt x="505216" y="873"/>
                  </a:lnTo>
                  <a:lnTo>
                    <a:pt x="501729" y="161"/>
                  </a:lnTo>
                  <a:lnTo>
                    <a:pt x="499064" y="0"/>
                  </a:lnTo>
                  <a:lnTo>
                    <a:pt x="22114" y="0"/>
                  </a:lnTo>
                  <a:lnTo>
                    <a:pt x="24780" y="161"/>
                  </a:lnTo>
                  <a:lnTo>
                    <a:pt x="21224" y="17"/>
                  </a:lnTo>
                  <a:lnTo>
                    <a:pt x="17691" y="446"/>
                  </a:lnTo>
                  <a:lnTo>
                    <a:pt x="14272" y="1437"/>
                  </a:lnTo>
                  <a:lnTo>
                    <a:pt x="11057" y="2962"/>
                  </a:lnTo>
                  <a:lnTo>
                    <a:pt x="8128" y="4984"/>
                  </a:lnTo>
                  <a:lnTo>
                    <a:pt x="5561" y="7449"/>
                  </a:lnTo>
                  <a:lnTo>
                    <a:pt x="3423" y="10295"/>
                  </a:lnTo>
                  <a:lnTo>
                    <a:pt x="1769" y="13446"/>
                  </a:lnTo>
                  <a:lnTo>
                    <a:pt x="642" y="16822"/>
                  </a:lnTo>
                  <a:lnTo>
                    <a:pt x="71" y="20335"/>
                  </a:lnTo>
                  <a:lnTo>
                    <a:pt x="0" y="22114"/>
                  </a:lnTo>
                  <a:lnTo>
                    <a:pt x="0" y="139725"/>
                  </a:lnTo>
                  <a:lnTo>
                    <a:pt x="71" y="137946"/>
                  </a:lnTo>
                  <a:lnTo>
                    <a:pt x="71" y="141505"/>
                  </a:lnTo>
                  <a:lnTo>
                    <a:pt x="642" y="145018"/>
                  </a:lnTo>
                  <a:lnTo>
                    <a:pt x="1769" y="148393"/>
                  </a:lnTo>
                  <a:lnTo>
                    <a:pt x="3423" y="151545"/>
                  </a:lnTo>
                  <a:lnTo>
                    <a:pt x="5561" y="154390"/>
                  </a:lnTo>
                  <a:lnTo>
                    <a:pt x="8128" y="156855"/>
                  </a:lnTo>
                  <a:lnTo>
                    <a:pt x="11057" y="158877"/>
                  </a:lnTo>
                  <a:lnTo>
                    <a:pt x="14272" y="160403"/>
                  </a:lnTo>
                  <a:lnTo>
                    <a:pt x="17691" y="161393"/>
                  </a:lnTo>
                  <a:lnTo>
                    <a:pt x="21224" y="161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" name="tx515"/>
            <p:cNvSpPr/>
            <p:nvPr/>
          </p:nvSpPr>
          <p:spPr>
            <a:xfrm>
              <a:off x="4873928" y="2229738"/>
              <a:ext cx="447463" cy="111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p &lt; .001</a:t>
              </a:r>
            </a:p>
          </p:txBody>
        </p:sp>
        <p:sp>
          <p:nvSpPr>
            <p:cNvPr id="516" name="pg516"/>
            <p:cNvSpPr/>
            <p:nvPr/>
          </p:nvSpPr>
          <p:spPr>
            <a:xfrm>
              <a:off x="5836618" y="2216276"/>
              <a:ext cx="521178" cy="161840"/>
            </a:xfrm>
            <a:custGeom>
              <a:avLst/>
              <a:pathLst>
                <a:path w="521178" h="161840">
                  <a:moveTo>
                    <a:pt x="22114" y="161840"/>
                  </a:moveTo>
                  <a:lnTo>
                    <a:pt x="499064" y="161840"/>
                  </a:lnTo>
                  <a:lnTo>
                    <a:pt x="498173" y="161822"/>
                  </a:lnTo>
                  <a:lnTo>
                    <a:pt x="501729" y="161679"/>
                  </a:lnTo>
                  <a:lnTo>
                    <a:pt x="505216" y="160967"/>
                  </a:lnTo>
                  <a:lnTo>
                    <a:pt x="508544" y="159705"/>
                  </a:lnTo>
                  <a:lnTo>
                    <a:pt x="511626" y="157925"/>
                  </a:lnTo>
                  <a:lnTo>
                    <a:pt x="514383" y="155674"/>
                  </a:lnTo>
                  <a:lnTo>
                    <a:pt x="516743" y="153010"/>
                  </a:lnTo>
                  <a:lnTo>
                    <a:pt x="518645" y="150002"/>
                  </a:lnTo>
                  <a:lnTo>
                    <a:pt x="520040" y="146728"/>
                  </a:lnTo>
                  <a:lnTo>
                    <a:pt x="520892" y="143273"/>
                  </a:lnTo>
                  <a:lnTo>
                    <a:pt x="521178" y="139725"/>
                  </a:lnTo>
                  <a:lnTo>
                    <a:pt x="521178" y="22114"/>
                  </a:lnTo>
                  <a:lnTo>
                    <a:pt x="520892" y="18567"/>
                  </a:lnTo>
                  <a:lnTo>
                    <a:pt x="520040" y="15111"/>
                  </a:lnTo>
                  <a:lnTo>
                    <a:pt x="518645" y="11837"/>
                  </a:lnTo>
                  <a:lnTo>
                    <a:pt x="516743" y="8829"/>
                  </a:lnTo>
                  <a:lnTo>
                    <a:pt x="514383" y="6165"/>
                  </a:lnTo>
                  <a:lnTo>
                    <a:pt x="511626" y="3914"/>
                  </a:lnTo>
                  <a:lnTo>
                    <a:pt x="508544" y="2135"/>
                  </a:lnTo>
                  <a:lnTo>
                    <a:pt x="505216" y="873"/>
                  </a:lnTo>
                  <a:lnTo>
                    <a:pt x="501729" y="161"/>
                  </a:lnTo>
                  <a:lnTo>
                    <a:pt x="499064" y="0"/>
                  </a:lnTo>
                  <a:lnTo>
                    <a:pt x="22114" y="0"/>
                  </a:lnTo>
                  <a:lnTo>
                    <a:pt x="24780" y="161"/>
                  </a:lnTo>
                  <a:lnTo>
                    <a:pt x="21224" y="17"/>
                  </a:lnTo>
                  <a:lnTo>
                    <a:pt x="17691" y="446"/>
                  </a:lnTo>
                  <a:lnTo>
                    <a:pt x="14272" y="1437"/>
                  </a:lnTo>
                  <a:lnTo>
                    <a:pt x="11057" y="2962"/>
                  </a:lnTo>
                  <a:lnTo>
                    <a:pt x="8128" y="4984"/>
                  </a:lnTo>
                  <a:lnTo>
                    <a:pt x="5561" y="7449"/>
                  </a:lnTo>
                  <a:lnTo>
                    <a:pt x="3423" y="10295"/>
                  </a:lnTo>
                  <a:lnTo>
                    <a:pt x="1769" y="13446"/>
                  </a:lnTo>
                  <a:lnTo>
                    <a:pt x="642" y="16822"/>
                  </a:lnTo>
                  <a:lnTo>
                    <a:pt x="71" y="20335"/>
                  </a:lnTo>
                  <a:lnTo>
                    <a:pt x="0" y="22114"/>
                  </a:lnTo>
                  <a:lnTo>
                    <a:pt x="0" y="139725"/>
                  </a:lnTo>
                  <a:lnTo>
                    <a:pt x="71" y="137946"/>
                  </a:lnTo>
                  <a:lnTo>
                    <a:pt x="71" y="141505"/>
                  </a:lnTo>
                  <a:lnTo>
                    <a:pt x="642" y="145018"/>
                  </a:lnTo>
                  <a:lnTo>
                    <a:pt x="1769" y="148393"/>
                  </a:lnTo>
                  <a:lnTo>
                    <a:pt x="3423" y="151545"/>
                  </a:lnTo>
                  <a:lnTo>
                    <a:pt x="5561" y="154390"/>
                  </a:lnTo>
                  <a:lnTo>
                    <a:pt x="8128" y="156855"/>
                  </a:lnTo>
                  <a:lnTo>
                    <a:pt x="11057" y="158877"/>
                  </a:lnTo>
                  <a:lnTo>
                    <a:pt x="14272" y="160403"/>
                  </a:lnTo>
                  <a:lnTo>
                    <a:pt x="17691" y="161393"/>
                  </a:lnTo>
                  <a:lnTo>
                    <a:pt x="21224" y="161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" name="tx517"/>
            <p:cNvSpPr/>
            <p:nvPr/>
          </p:nvSpPr>
          <p:spPr>
            <a:xfrm>
              <a:off x="5873476" y="2229738"/>
              <a:ext cx="447463" cy="111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p &lt; .001</a:t>
              </a:r>
            </a:p>
          </p:txBody>
        </p:sp>
        <p:sp>
          <p:nvSpPr>
            <p:cNvPr id="518" name="pg518"/>
            <p:cNvSpPr/>
            <p:nvPr/>
          </p:nvSpPr>
          <p:spPr>
            <a:xfrm>
              <a:off x="6836166" y="2216276"/>
              <a:ext cx="521178" cy="161840"/>
            </a:xfrm>
            <a:custGeom>
              <a:avLst/>
              <a:pathLst>
                <a:path w="521178" h="161840">
                  <a:moveTo>
                    <a:pt x="22114" y="161840"/>
                  </a:moveTo>
                  <a:lnTo>
                    <a:pt x="499064" y="161840"/>
                  </a:lnTo>
                  <a:lnTo>
                    <a:pt x="498173" y="161822"/>
                  </a:lnTo>
                  <a:lnTo>
                    <a:pt x="501729" y="161679"/>
                  </a:lnTo>
                  <a:lnTo>
                    <a:pt x="505216" y="160967"/>
                  </a:lnTo>
                  <a:lnTo>
                    <a:pt x="508544" y="159705"/>
                  </a:lnTo>
                  <a:lnTo>
                    <a:pt x="511626" y="157925"/>
                  </a:lnTo>
                  <a:lnTo>
                    <a:pt x="514383" y="155674"/>
                  </a:lnTo>
                  <a:lnTo>
                    <a:pt x="516743" y="153010"/>
                  </a:lnTo>
                  <a:lnTo>
                    <a:pt x="518645" y="150002"/>
                  </a:lnTo>
                  <a:lnTo>
                    <a:pt x="520040" y="146728"/>
                  </a:lnTo>
                  <a:lnTo>
                    <a:pt x="520892" y="143273"/>
                  </a:lnTo>
                  <a:lnTo>
                    <a:pt x="521178" y="139725"/>
                  </a:lnTo>
                  <a:lnTo>
                    <a:pt x="521178" y="22114"/>
                  </a:lnTo>
                  <a:lnTo>
                    <a:pt x="520892" y="18567"/>
                  </a:lnTo>
                  <a:lnTo>
                    <a:pt x="520040" y="15111"/>
                  </a:lnTo>
                  <a:lnTo>
                    <a:pt x="518645" y="11837"/>
                  </a:lnTo>
                  <a:lnTo>
                    <a:pt x="516743" y="8829"/>
                  </a:lnTo>
                  <a:lnTo>
                    <a:pt x="514383" y="6165"/>
                  </a:lnTo>
                  <a:lnTo>
                    <a:pt x="511626" y="3914"/>
                  </a:lnTo>
                  <a:lnTo>
                    <a:pt x="508544" y="2135"/>
                  </a:lnTo>
                  <a:lnTo>
                    <a:pt x="505216" y="873"/>
                  </a:lnTo>
                  <a:lnTo>
                    <a:pt x="501729" y="161"/>
                  </a:lnTo>
                  <a:lnTo>
                    <a:pt x="499064" y="0"/>
                  </a:lnTo>
                  <a:lnTo>
                    <a:pt x="22114" y="0"/>
                  </a:lnTo>
                  <a:lnTo>
                    <a:pt x="24780" y="161"/>
                  </a:lnTo>
                  <a:lnTo>
                    <a:pt x="21224" y="17"/>
                  </a:lnTo>
                  <a:lnTo>
                    <a:pt x="17691" y="446"/>
                  </a:lnTo>
                  <a:lnTo>
                    <a:pt x="14272" y="1437"/>
                  </a:lnTo>
                  <a:lnTo>
                    <a:pt x="11057" y="2962"/>
                  </a:lnTo>
                  <a:lnTo>
                    <a:pt x="8128" y="4984"/>
                  </a:lnTo>
                  <a:lnTo>
                    <a:pt x="5561" y="7449"/>
                  </a:lnTo>
                  <a:lnTo>
                    <a:pt x="3423" y="10295"/>
                  </a:lnTo>
                  <a:lnTo>
                    <a:pt x="1769" y="13446"/>
                  </a:lnTo>
                  <a:lnTo>
                    <a:pt x="642" y="16822"/>
                  </a:lnTo>
                  <a:lnTo>
                    <a:pt x="71" y="20335"/>
                  </a:lnTo>
                  <a:lnTo>
                    <a:pt x="0" y="22114"/>
                  </a:lnTo>
                  <a:lnTo>
                    <a:pt x="0" y="139725"/>
                  </a:lnTo>
                  <a:lnTo>
                    <a:pt x="71" y="137946"/>
                  </a:lnTo>
                  <a:lnTo>
                    <a:pt x="71" y="141505"/>
                  </a:lnTo>
                  <a:lnTo>
                    <a:pt x="642" y="145018"/>
                  </a:lnTo>
                  <a:lnTo>
                    <a:pt x="1769" y="148393"/>
                  </a:lnTo>
                  <a:lnTo>
                    <a:pt x="3423" y="151545"/>
                  </a:lnTo>
                  <a:lnTo>
                    <a:pt x="5561" y="154390"/>
                  </a:lnTo>
                  <a:lnTo>
                    <a:pt x="8128" y="156855"/>
                  </a:lnTo>
                  <a:lnTo>
                    <a:pt x="11057" y="158877"/>
                  </a:lnTo>
                  <a:lnTo>
                    <a:pt x="14272" y="160403"/>
                  </a:lnTo>
                  <a:lnTo>
                    <a:pt x="17691" y="161393"/>
                  </a:lnTo>
                  <a:lnTo>
                    <a:pt x="21224" y="161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" name="tx519"/>
            <p:cNvSpPr/>
            <p:nvPr/>
          </p:nvSpPr>
          <p:spPr>
            <a:xfrm>
              <a:off x="6873024" y="2229738"/>
              <a:ext cx="447463" cy="111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p &lt; .001</a:t>
              </a:r>
            </a:p>
          </p:txBody>
        </p:sp>
        <p:sp>
          <p:nvSpPr>
            <p:cNvPr id="520" name="tx520"/>
            <p:cNvSpPr/>
            <p:nvPr/>
          </p:nvSpPr>
          <p:spPr>
            <a:xfrm>
              <a:off x="2141760" y="1720035"/>
              <a:ext cx="1001725" cy="1473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Forward slope</a:t>
              </a:r>
            </a:p>
          </p:txBody>
        </p:sp>
        <p:sp>
          <p:nvSpPr>
            <p:cNvPr id="521" name="tx521"/>
            <p:cNvSpPr/>
            <p:nvPr/>
          </p:nvSpPr>
          <p:spPr>
            <a:xfrm>
              <a:off x="5609680" y="1720035"/>
              <a:ext cx="975055" cy="1473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Reverse slope</a:t>
              </a:r>
            </a:p>
          </p:txBody>
        </p:sp>
        <p:sp>
          <p:nvSpPr>
            <p:cNvPr id="522" name="tx522"/>
            <p:cNvSpPr/>
            <p:nvPr/>
          </p:nvSpPr>
          <p:spPr>
            <a:xfrm>
              <a:off x="1510915" y="600407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523" name="tx523"/>
            <p:cNvSpPr/>
            <p:nvPr/>
          </p:nvSpPr>
          <p:spPr>
            <a:xfrm>
              <a:off x="2476560" y="6004368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524" name="tx524"/>
            <p:cNvSpPr/>
            <p:nvPr/>
          </p:nvSpPr>
          <p:spPr>
            <a:xfrm>
              <a:off x="3476108" y="600407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525" name="tx525"/>
            <p:cNvSpPr/>
            <p:nvPr/>
          </p:nvSpPr>
          <p:spPr>
            <a:xfrm>
              <a:off x="4965500" y="600407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526" name="tx526"/>
            <p:cNvSpPr/>
            <p:nvPr/>
          </p:nvSpPr>
          <p:spPr>
            <a:xfrm>
              <a:off x="5931145" y="6004368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527" name="tx527"/>
            <p:cNvSpPr/>
            <p:nvPr/>
          </p:nvSpPr>
          <p:spPr>
            <a:xfrm>
              <a:off x="6930693" y="600407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528" name="tx528"/>
            <p:cNvSpPr/>
            <p:nvPr/>
          </p:nvSpPr>
          <p:spPr>
            <a:xfrm>
              <a:off x="805536" y="5732950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0.0</a:t>
              </a:r>
            </a:p>
          </p:txBody>
        </p:sp>
        <p:sp>
          <p:nvSpPr>
            <p:cNvPr id="529" name="tx529"/>
            <p:cNvSpPr/>
            <p:nvPr/>
          </p:nvSpPr>
          <p:spPr>
            <a:xfrm>
              <a:off x="805536" y="4884267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0.5</a:t>
              </a:r>
            </a:p>
          </p:txBody>
        </p:sp>
        <p:sp>
          <p:nvSpPr>
            <p:cNvPr id="530" name="tx530"/>
            <p:cNvSpPr/>
            <p:nvPr/>
          </p:nvSpPr>
          <p:spPr>
            <a:xfrm>
              <a:off x="805536" y="4035585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1.0</a:t>
              </a:r>
            </a:p>
          </p:txBody>
        </p:sp>
        <p:sp>
          <p:nvSpPr>
            <p:cNvPr id="531" name="tx531"/>
            <p:cNvSpPr/>
            <p:nvPr/>
          </p:nvSpPr>
          <p:spPr>
            <a:xfrm>
              <a:off x="805536" y="3187438"/>
              <a:ext cx="169485" cy="870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1.5</a:t>
              </a:r>
            </a:p>
          </p:txBody>
        </p:sp>
        <p:sp>
          <p:nvSpPr>
            <p:cNvPr id="532" name="tx532"/>
            <p:cNvSpPr/>
            <p:nvPr/>
          </p:nvSpPr>
          <p:spPr>
            <a:xfrm>
              <a:off x="805536" y="2337922"/>
              <a:ext cx="169485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2.0</a:t>
              </a:r>
            </a:p>
          </p:txBody>
        </p:sp>
        <p:sp>
          <p:nvSpPr>
            <p:cNvPr id="533" name="tx533"/>
            <p:cNvSpPr/>
            <p:nvPr/>
          </p:nvSpPr>
          <p:spPr>
            <a:xfrm rot="-5400000">
              <a:off x="-890254" y="3880094"/>
              <a:ext cx="3104182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Each person's slope (dots); mean and 95% CI</a:t>
              </a:r>
            </a:p>
          </p:txBody>
        </p:sp>
        <p:sp>
          <p:nvSpPr>
            <p:cNvPr id="534" name="tx534"/>
            <p:cNvSpPr/>
            <p:nvPr/>
          </p:nvSpPr>
          <p:spPr>
            <a:xfrm>
              <a:off x="1043346" y="1404589"/>
              <a:ext cx="5082108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Is the slope different from 1 at each level? (experience; p vs 1, Holm)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7315200" cy="4892040"/>
            <a:chOff x="548640" y="1371600"/>
            <a:chExt cx="7315200" cy="489204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7315200" cy="48920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43346" y="3213435"/>
              <a:ext cx="6744578" cy="0"/>
            </a:xfrm>
            <a:custGeom>
              <a:avLst/>
              <a:pathLst>
                <a:path w="6744578" h="0">
                  <a:moveTo>
                    <a:pt x="0" y="0"/>
                  </a:moveTo>
                  <a:lnTo>
                    <a:pt x="6744578" y="0"/>
                  </a:lnTo>
                  <a:lnTo>
                    <a:pt x="674457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43346" y="2706209"/>
              <a:ext cx="6744578" cy="0"/>
            </a:xfrm>
            <a:custGeom>
              <a:avLst/>
              <a:pathLst>
                <a:path w="6744578" h="0">
                  <a:moveTo>
                    <a:pt x="0" y="0"/>
                  </a:moveTo>
                  <a:lnTo>
                    <a:pt x="6744578" y="0"/>
                  </a:lnTo>
                  <a:lnTo>
                    <a:pt x="674457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43346" y="2198983"/>
              <a:ext cx="6744578" cy="0"/>
            </a:xfrm>
            <a:custGeom>
              <a:avLst/>
              <a:pathLst>
                <a:path w="6744578" h="0">
                  <a:moveTo>
                    <a:pt x="0" y="0"/>
                  </a:moveTo>
                  <a:lnTo>
                    <a:pt x="6744578" y="0"/>
                  </a:lnTo>
                  <a:lnTo>
                    <a:pt x="674457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307954" y="1944993"/>
              <a:ext cx="0" cy="1769222"/>
            </a:xfrm>
            <a:custGeom>
              <a:avLst/>
              <a:pathLst>
                <a:path w="0" h="1769222">
                  <a:moveTo>
                    <a:pt x="0" y="17692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415635" y="1944993"/>
              <a:ext cx="0" cy="1769222"/>
            </a:xfrm>
            <a:custGeom>
              <a:avLst/>
              <a:pathLst>
                <a:path w="0" h="1769222">
                  <a:moveTo>
                    <a:pt x="0" y="17692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523316" y="1944993"/>
              <a:ext cx="0" cy="1769222"/>
            </a:xfrm>
            <a:custGeom>
              <a:avLst/>
              <a:pathLst>
                <a:path w="0" h="1769222">
                  <a:moveTo>
                    <a:pt x="0" y="17692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043346" y="2706209"/>
              <a:ext cx="6744578" cy="0"/>
            </a:xfrm>
            <a:custGeom>
              <a:avLst/>
              <a:pathLst>
                <a:path w="6744578" h="0">
                  <a:moveTo>
                    <a:pt x="0" y="0"/>
                  </a:moveTo>
                  <a:lnTo>
                    <a:pt x="6744578" y="0"/>
                  </a:lnTo>
                  <a:lnTo>
                    <a:pt x="6744578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307954" y="2591709"/>
              <a:ext cx="4215361" cy="292407"/>
            </a:xfrm>
            <a:custGeom>
              <a:avLst/>
              <a:pathLst>
                <a:path w="4215361" h="292407">
                  <a:moveTo>
                    <a:pt x="0" y="204847"/>
                  </a:moveTo>
                  <a:lnTo>
                    <a:pt x="2107680" y="292407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307954" y="2814123"/>
              <a:ext cx="4215361" cy="244293"/>
            </a:xfrm>
            <a:custGeom>
              <a:avLst/>
              <a:pathLst>
                <a:path w="4215361" h="244293">
                  <a:moveTo>
                    <a:pt x="0" y="40929"/>
                  </a:moveTo>
                  <a:lnTo>
                    <a:pt x="2107680" y="244293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307954" y="3165915"/>
              <a:ext cx="4215361" cy="46427"/>
            </a:xfrm>
            <a:custGeom>
              <a:avLst/>
              <a:pathLst>
                <a:path w="4215361" h="46427">
                  <a:moveTo>
                    <a:pt x="0" y="0"/>
                  </a:moveTo>
                  <a:lnTo>
                    <a:pt x="2107680" y="46427"/>
                  </a:lnTo>
                  <a:lnTo>
                    <a:pt x="4215361" y="2087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307954" y="2368018"/>
              <a:ext cx="4215361" cy="154666"/>
            </a:xfrm>
            <a:custGeom>
              <a:avLst/>
              <a:pathLst>
                <a:path w="4215361" h="154666">
                  <a:moveTo>
                    <a:pt x="0" y="49153"/>
                  </a:moveTo>
                  <a:lnTo>
                    <a:pt x="2107680" y="154666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07954" y="2627301"/>
              <a:ext cx="4215361" cy="224845"/>
            </a:xfrm>
            <a:custGeom>
              <a:avLst/>
              <a:pathLst>
                <a:path w="4215361" h="224845">
                  <a:moveTo>
                    <a:pt x="0" y="19566"/>
                  </a:moveTo>
                  <a:lnTo>
                    <a:pt x="2107680" y="0"/>
                  </a:lnTo>
                  <a:lnTo>
                    <a:pt x="4215361" y="22484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307954" y="2667854"/>
              <a:ext cx="4215361" cy="307156"/>
            </a:xfrm>
            <a:custGeom>
              <a:avLst/>
              <a:pathLst>
                <a:path w="4215361" h="307156">
                  <a:moveTo>
                    <a:pt x="0" y="307156"/>
                  </a:moveTo>
                  <a:lnTo>
                    <a:pt x="2107680" y="185420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07954" y="2923643"/>
              <a:ext cx="4215361" cy="173076"/>
            </a:xfrm>
            <a:custGeom>
              <a:avLst/>
              <a:pathLst>
                <a:path w="4215361" h="173076">
                  <a:moveTo>
                    <a:pt x="0" y="76624"/>
                  </a:moveTo>
                  <a:lnTo>
                    <a:pt x="2107680" y="0"/>
                  </a:lnTo>
                  <a:lnTo>
                    <a:pt x="4215361" y="173076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307954" y="2620732"/>
              <a:ext cx="4215361" cy="294400"/>
            </a:xfrm>
            <a:custGeom>
              <a:avLst/>
              <a:pathLst>
                <a:path w="4215361" h="294400">
                  <a:moveTo>
                    <a:pt x="0" y="0"/>
                  </a:moveTo>
                  <a:lnTo>
                    <a:pt x="2107680" y="251134"/>
                  </a:lnTo>
                  <a:lnTo>
                    <a:pt x="4215361" y="29440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307954" y="3271015"/>
              <a:ext cx="4215361" cy="362781"/>
            </a:xfrm>
            <a:custGeom>
              <a:avLst/>
              <a:pathLst>
                <a:path w="4215361" h="362781">
                  <a:moveTo>
                    <a:pt x="0" y="104571"/>
                  </a:moveTo>
                  <a:lnTo>
                    <a:pt x="2107680" y="362781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307954" y="2764467"/>
              <a:ext cx="4215361" cy="305174"/>
            </a:xfrm>
            <a:custGeom>
              <a:avLst/>
              <a:pathLst>
                <a:path w="4215361" h="305174">
                  <a:moveTo>
                    <a:pt x="0" y="0"/>
                  </a:moveTo>
                  <a:lnTo>
                    <a:pt x="2107680" y="305174"/>
                  </a:lnTo>
                  <a:lnTo>
                    <a:pt x="4215361" y="209437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307954" y="2907239"/>
              <a:ext cx="4215361" cy="232136"/>
            </a:xfrm>
            <a:custGeom>
              <a:avLst/>
              <a:pathLst>
                <a:path w="4215361" h="232136">
                  <a:moveTo>
                    <a:pt x="0" y="47987"/>
                  </a:moveTo>
                  <a:lnTo>
                    <a:pt x="2107680" y="232136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307954" y="2547340"/>
              <a:ext cx="4215361" cy="108829"/>
            </a:xfrm>
            <a:custGeom>
              <a:avLst/>
              <a:pathLst>
                <a:path w="4215361" h="108829">
                  <a:moveTo>
                    <a:pt x="0" y="108829"/>
                  </a:moveTo>
                  <a:lnTo>
                    <a:pt x="2107680" y="28580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07954" y="2485462"/>
              <a:ext cx="4215361" cy="338421"/>
            </a:xfrm>
            <a:custGeom>
              <a:avLst/>
              <a:pathLst>
                <a:path w="4215361" h="338421">
                  <a:moveTo>
                    <a:pt x="0" y="0"/>
                  </a:moveTo>
                  <a:lnTo>
                    <a:pt x="2107680" y="338421"/>
                  </a:lnTo>
                  <a:lnTo>
                    <a:pt x="4215361" y="335281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307954" y="3196804"/>
              <a:ext cx="4215361" cy="202243"/>
            </a:xfrm>
            <a:custGeom>
              <a:avLst/>
              <a:pathLst>
                <a:path w="4215361" h="202243">
                  <a:moveTo>
                    <a:pt x="0" y="71562"/>
                  </a:moveTo>
                  <a:lnTo>
                    <a:pt x="2107680" y="0"/>
                  </a:lnTo>
                  <a:lnTo>
                    <a:pt x="4215361" y="20224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307954" y="2926379"/>
              <a:ext cx="4215361" cy="423799"/>
            </a:xfrm>
            <a:custGeom>
              <a:avLst/>
              <a:pathLst>
                <a:path w="4215361" h="423799">
                  <a:moveTo>
                    <a:pt x="0" y="423799"/>
                  </a:moveTo>
                  <a:lnTo>
                    <a:pt x="2107680" y="80558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307954" y="2583787"/>
              <a:ext cx="4215361" cy="231895"/>
            </a:xfrm>
            <a:custGeom>
              <a:avLst/>
              <a:pathLst>
                <a:path w="4215361" h="231895">
                  <a:moveTo>
                    <a:pt x="0" y="0"/>
                  </a:moveTo>
                  <a:lnTo>
                    <a:pt x="2107680" y="188878"/>
                  </a:lnTo>
                  <a:lnTo>
                    <a:pt x="4215361" y="23189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307954" y="2467541"/>
              <a:ext cx="4215361" cy="450009"/>
            </a:xfrm>
            <a:custGeom>
              <a:avLst/>
              <a:pathLst>
                <a:path w="4215361" h="450009">
                  <a:moveTo>
                    <a:pt x="0" y="0"/>
                  </a:moveTo>
                  <a:lnTo>
                    <a:pt x="2107680" y="450009"/>
                  </a:lnTo>
                  <a:lnTo>
                    <a:pt x="4215361" y="15843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07954" y="2636201"/>
              <a:ext cx="4215361" cy="80152"/>
            </a:xfrm>
            <a:custGeom>
              <a:avLst/>
              <a:pathLst>
                <a:path w="4215361" h="80152">
                  <a:moveTo>
                    <a:pt x="0" y="72786"/>
                  </a:moveTo>
                  <a:lnTo>
                    <a:pt x="2107680" y="80152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307954" y="2940478"/>
              <a:ext cx="4215361" cy="96390"/>
            </a:xfrm>
            <a:custGeom>
              <a:avLst/>
              <a:pathLst>
                <a:path w="4215361" h="96390">
                  <a:moveTo>
                    <a:pt x="0" y="0"/>
                  </a:moveTo>
                  <a:lnTo>
                    <a:pt x="2107680" y="96390"/>
                  </a:lnTo>
                  <a:lnTo>
                    <a:pt x="4215361" y="76946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307954" y="2697355"/>
              <a:ext cx="4215361" cy="215040"/>
            </a:xfrm>
            <a:custGeom>
              <a:avLst/>
              <a:pathLst>
                <a:path w="4215361" h="215040">
                  <a:moveTo>
                    <a:pt x="0" y="137385"/>
                  </a:moveTo>
                  <a:lnTo>
                    <a:pt x="2107680" y="215040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307954" y="2683412"/>
              <a:ext cx="4215361" cy="141118"/>
            </a:xfrm>
            <a:custGeom>
              <a:avLst/>
              <a:pathLst>
                <a:path w="4215361" h="141118">
                  <a:moveTo>
                    <a:pt x="0" y="0"/>
                  </a:moveTo>
                  <a:lnTo>
                    <a:pt x="2107680" y="42472"/>
                  </a:lnTo>
                  <a:lnTo>
                    <a:pt x="4215361" y="14111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307954" y="2025412"/>
              <a:ext cx="4215361" cy="770478"/>
            </a:xfrm>
            <a:custGeom>
              <a:avLst/>
              <a:pathLst>
                <a:path w="4215361" h="770478">
                  <a:moveTo>
                    <a:pt x="0" y="0"/>
                  </a:moveTo>
                  <a:lnTo>
                    <a:pt x="2107680" y="425378"/>
                  </a:lnTo>
                  <a:lnTo>
                    <a:pt x="4215361" y="77047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307954" y="2341924"/>
              <a:ext cx="4215361" cy="460326"/>
            </a:xfrm>
            <a:custGeom>
              <a:avLst/>
              <a:pathLst>
                <a:path w="4215361" h="460326">
                  <a:moveTo>
                    <a:pt x="0" y="223081"/>
                  </a:moveTo>
                  <a:lnTo>
                    <a:pt x="2107680" y="460326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307954" y="2743831"/>
              <a:ext cx="4215361" cy="163794"/>
            </a:xfrm>
            <a:custGeom>
              <a:avLst/>
              <a:pathLst>
                <a:path w="4215361" h="163794">
                  <a:moveTo>
                    <a:pt x="0" y="116430"/>
                  </a:moveTo>
                  <a:lnTo>
                    <a:pt x="2107680" y="163794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307954" y="2881810"/>
              <a:ext cx="4215361" cy="67286"/>
            </a:xfrm>
            <a:custGeom>
              <a:avLst/>
              <a:pathLst>
                <a:path w="4215361" h="67286">
                  <a:moveTo>
                    <a:pt x="0" y="67286"/>
                  </a:moveTo>
                  <a:lnTo>
                    <a:pt x="2107680" y="66463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307954" y="2425816"/>
              <a:ext cx="4215361" cy="533955"/>
            </a:xfrm>
            <a:custGeom>
              <a:avLst/>
              <a:pathLst>
                <a:path w="4215361" h="533955">
                  <a:moveTo>
                    <a:pt x="0" y="0"/>
                  </a:moveTo>
                  <a:lnTo>
                    <a:pt x="2107680" y="210622"/>
                  </a:lnTo>
                  <a:lnTo>
                    <a:pt x="4215361" y="53395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307954" y="2918829"/>
              <a:ext cx="4215361" cy="131399"/>
            </a:xfrm>
            <a:custGeom>
              <a:avLst/>
              <a:pathLst>
                <a:path w="4215361" h="131399">
                  <a:moveTo>
                    <a:pt x="0" y="0"/>
                  </a:moveTo>
                  <a:lnTo>
                    <a:pt x="2107680" y="1881"/>
                  </a:lnTo>
                  <a:lnTo>
                    <a:pt x="4215361" y="131399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307954" y="2414227"/>
              <a:ext cx="4215361" cy="326096"/>
            </a:xfrm>
            <a:custGeom>
              <a:avLst/>
              <a:pathLst>
                <a:path w="4215361" h="326096">
                  <a:moveTo>
                    <a:pt x="0" y="0"/>
                  </a:moveTo>
                  <a:lnTo>
                    <a:pt x="2107680" y="326096"/>
                  </a:lnTo>
                  <a:lnTo>
                    <a:pt x="4215361" y="24343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307954" y="2904896"/>
              <a:ext cx="4215361" cy="363672"/>
            </a:xfrm>
            <a:custGeom>
              <a:avLst/>
              <a:pathLst>
                <a:path w="4215361" h="363672">
                  <a:moveTo>
                    <a:pt x="0" y="103807"/>
                  </a:moveTo>
                  <a:lnTo>
                    <a:pt x="2107680" y="363672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307954" y="2469876"/>
              <a:ext cx="4215361" cy="557310"/>
            </a:xfrm>
            <a:custGeom>
              <a:avLst/>
              <a:pathLst>
                <a:path w="4215361" h="557310">
                  <a:moveTo>
                    <a:pt x="0" y="0"/>
                  </a:moveTo>
                  <a:lnTo>
                    <a:pt x="2107680" y="557310"/>
                  </a:lnTo>
                  <a:lnTo>
                    <a:pt x="4215361" y="40015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307954" y="3071135"/>
              <a:ext cx="4215361" cy="237898"/>
            </a:xfrm>
            <a:custGeom>
              <a:avLst/>
              <a:pathLst>
                <a:path w="4215361" h="237898">
                  <a:moveTo>
                    <a:pt x="0" y="85111"/>
                  </a:moveTo>
                  <a:lnTo>
                    <a:pt x="2107680" y="237898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307954" y="2467377"/>
              <a:ext cx="4215361" cy="61552"/>
            </a:xfrm>
            <a:custGeom>
              <a:avLst/>
              <a:pathLst>
                <a:path w="4215361" h="61552">
                  <a:moveTo>
                    <a:pt x="0" y="61552"/>
                  </a:moveTo>
                  <a:lnTo>
                    <a:pt x="2107680" y="25958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307954" y="2410761"/>
              <a:ext cx="4215361" cy="307456"/>
            </a:xfrm>
            <a:custGeom>
              <a:avLst/>
              <a:pathLst>
                <a:path w="4215361" h="307456">
                  <a:moveTo>
                    <a:pt x="0" y="0"/>
                  </a:moveTo>
                  <a:lnTo>
                    <a:pt x="2107680" y="307456"/>
                  </a:lnTo>
                  <a:lnTo>
                    <a:pt x="4215361" y="305759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307954" y="2813068"/>
              <a:ext cx="4215361" cy="289199"/>
            </a:xfrm>
            <a:custGeom>
              <a:avLst/>
              <a:pathLst>
                <a:path w="4215361" h="289199">
                  <a:moveTo>
                    <a:pt x="0" y="289199"/>
                  </a:moveTo>
                  <a:lnTo>
                    <a:pt x="2107680" y="82964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307954" y="3061212"/>
              <a:ext cx="4215361" cy="96428"/>
            </a:xfrm>
            <a:custGeom>
              <a:avLst/>
              <a:pathLst>
                <a:path w="4215361" h="96428">
                  <a:moveTo>
                    <a:pt x="0" y="0"/>
                  </a:moveTo>
                  <a:lnTo>
                    <a:pt x="2107680" y="86724"/>
                  </a:lnTo>
                  <a:lnTo>
                    <a:pt x="4215361" y="9642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307954" y="2085949"/>
              <a:ext cx="4215361" cy="381062"/>
            </a:xfrm>
            <a:custGeom>
              <a:avLst/>
              <a:pathLst>
                <a:path w="4215361" h="381062">
                  <a:moveTo>
                    <a:pt x="0" y="381062"/>
                  </a:moveTo>
                  <a:lnTo>
                    <a:pt x="2107680" y="0"/>
                  </a:lnTo>
                  <a:lnTo>
                    <a:pt x="4215361" y="5222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307954" y="2649979"/>
              <a:ext cx="4215361" cy="328997"/>
            </a:xfrm>
            <a:custGeom>
              <a:avLst/>
              <a:pathLst>
                <a:path w="4215361" h="328997">
                  <a:moveTo>
                    <a:pt x="0" y="149726"/>
                  </a:moveTo>
                  <a:lnTo>
                    <a:pt x="2107680" y="328997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307954" y="2342851"/>
              <a:ext cx="4215361" cy="451974"/>
            </a:xfrm>
            <a:custGeom>
              <a:avLst/>
              <a:pathLst>
                <a:path w="4215361" h="451974">
                  <a:moveTo>
                    <a:pt x="0" y="0"/>
                  </a:moveTo>
                  <a:lnTo>
                    <a:pt x="2107680" y="258015"/>
                  </a:lnTo>
                  <a:lnTo>
                    <a:pt x="4215361" y="45197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307954" y="2535640"/>
              <a:ext cx="4215361" cy="408011"/>
            </a:xfrm>
            <a:custGeom>
              <a:avLst/>
              <a:pathLst>
                <a:path w="4215361" h="408011">
                  <a:moveTo>
                    <a:pt x="0" y="0"/>
                  </a:moveTo>
                  <a:lnTo>
                    <a:pt x="2107680" y="301290"/>
                  </a:lnTo>
                  <a:lnTo>
                    <a:pt x="4215361" y="408011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307954" y="2643392"/>
              <a:ext cx="4215361" cy="201085"/>
            </a:xfrm>
            <a:custGeom>
              <a:avLst/>
              <a:pathLst>
                <a:path w="4215361" h="201085">
                  <a:moveTo>
                    <a:pt x="0" y="201085"/>
                  </a:moveTo>
                  <a:lnTo>
                    <a:pt x="2107680" y="159982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307954" y="2620880"/>
              <a:ext cx="4215361" cy="362194"/>
            </a:xfrm>
            <a:custGeom>
              <a:avLst/>
              <a:pathLst>
                <a:path w="4215361" h="362194">
                  <a:moveTo>
                    <a:pt x="0" y="201018"/>
                  </a:moveTo>
                  <a:lnTo>
                    <a:pt x="2107680" y="362194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307954" y="2687244"/>
              <a:ext cx="4215361" cy="538095"/>
            </a:xfrm>
            <a:custGeom>
              <a:avLst/>
              <a:pathLst>
                <a:path w="4215361" h="538095">
                  <a:moveTo>
                    <a:pt x="0" y="321358"/>
                  </a:moveTo>
                  <a:lnTo>
                    <a:pt x="2107680" y="538095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307954" y="2169777"/>
              <a:ext cx="4215361" cy="740769"/>
            </a:xfrm>
            <a:custGeom>
              <a:avLst/>
              <a:pathLst>
                <a:path w="4215361" h="740769">
                  <a:moveTo>
                    <a:pt x="0" y="0"/>
                  </a:moveTo>
                  <a:lnTo>
                    <a:pt x="2107680" y="568765"/>
                  </a:lnTo>
                  <a:lnTo>
                    <a:pt x="4215361" y="740769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307954" y="2762807"/>
              <a:ext cx="4215361" cy="326082"/>
            </a:xfrm>
            <a:custGeom>
              <a:avLst/>
              <a:pathLst>
                <a:path w="4215361" h="326082">
                  <a:moveTo>
                    <a:pt x="0" y="0"/>
                  </a:moveTo>
                  <a:lnTo>
                    <a:pt x="2107680" y="265461"/>
                  </a:lnTo>
                  <a:lnTo>
                    <a:pt x="4215361" y="326082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307954" y="2828694"/>
              <a:ext cx="4215361" cy="111892"/>
            </a:xfrm>
            <a:custGeom>
              <a:avLst/>
              <a:pathLst>
                <a:path w="4215361" h="111892">
                  <a:moveTo>
                    <a:pt x="0" y="111892"/>
                  </a:moveTo>
                  <a:lnTo>
                    <a:pt x="2107680" y="0"/>
                  </a:lnTo>
                  <a:lnTo>
                    <a:pt x="4215361" y="102012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307954" y="2796165"/>
              <a:ext cx="4215361" cy="204340"/>
            </a:xfrm>
            <a:custGeom>
              <a:avLst/>
              <a:pathLst>
                <a:path w="4215361" h="204340">
                  <a:moveTo>
                    <a:pt x="0" y="0"/>
                  </a:moveTo>
                  <a:lnTo>
                    <a:pt x="2107680" y="204340"/>
                  </a:lnTo>
                  <a:lnTo>
                    <a:pt x="4215361" y="84167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307954" y="2695154"/>
              <a:ext cx="4215361" cy="168633"/>
            </a:xfrm>
            <a:custGeom>
              <a:avLst/>
              <a:pathLst>
                <a:path w="4215361" h="168633">
                  <a:moveTo>
                    <a:pt x="0" y="168633"/>
                  </a:moveTo>
                  <a:lnTo>
                    <a:pt x="2107680" y="0"/>
                  </a:lnTo>
                  <a:lnTo>
                    <a:pt x="4215361" y="1734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307954" y="2745498"/>
              <a:ext cx="4215361" cy="279947"/>
            </a:xfrm>
            <a:custGeom>
              <a:avLst/>
              <a:pathLst>
                <a:path w="4215361" h="279947">
                  <a:moveTo>
                    <a:pt x="0" y="0"/>
                  </a:moveTo>
                  <a:lnTo>
                    <a:pt x="2107680" y="177256"/>
                  </a:lnTo>
                  <a:lnTo>
                    <a:pt x="4215361" y="279947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307954" y="2373577"/>
              <a:ext cx="4215361" cy="63363"/>
            </a:xfrm>
            <a:custGeom>
              <a:avLst/>
              <a:pathLst>
                <a:path w="4215361" h="63363">
                  <a:moveTo>
                    <a:pt x="0" y="34498"/>
                  </a:moveTo>
                  <a:lnTo>
                    <a:pt x="2107680" y="0"/>
                  </a:lnTo>
                  <a:lnTo>
                    <a:pt x="4215361" y="6336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307954" y="2823196"/>
              <a:ext cx="4215361" cy="192582"/>
            </a:xfrm>
            <a:custGeom>
              <a:avLst/>
              <a:pathLst>
                <a:path w="4215361" h="192582">
                  <a:moveTo>
                    <a:pt x="0" y="192582"/>
                  </a:moveTo>
                  <a:lnTo>
                    <a:pt x="2107680" y="0"/>
                  </a:lnTo>
                  <a:lnTo>
                    <a:pt x="4215361" y="2474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307954" y="2765718"/>
              <a:ext cx="4215361" cy="251427"/>
            </a:xfrm>
            <a:custGeom>
              <a:avLst/>
              <a:pathLst>
                <a:path w="4215361" h="251427">
                  <a:moveTo>
                    <a:pt x="0" y="251427"/>
                  </a:moveTo>
                  <a:lnTo>
                    <a:pt x="2107680" y="0"/>
                  </a:lnTo>
                  <a:lnTo>
                    <a:pt x="4215361" y="3872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307954" y="3067371"/>
              <a:ext cx="4215361" cy="99792"/>
            </a:xfrm>
            <a:custGeom>
              <a:avLst/>
              <a:pathLst>
                <a:path w="4215361" h="99792">
                  <a:moveTo>
                    <a:pt x="0" y="99792"/>
                  </a:moveTo>
                  <a:lnTo>
                    <a:pt x="2107680" y="0"/>
                  </a:lnTo>
                  <a:lnTo>
                    <a:pt x="4215361" y="17309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307954" y="2725848"/>
              <a:ext cx="4215361" cy="80248"/>
            </a:xfrm>
            <a:custGeom>
              <a:avLst/>
              <a:pathLst>
                <a:path w="4215361" h="80248">
                  <a:moveTo>
                    <a:pt x="0" y="41845"/>
                  </a:moveTo>
                  <a:lnTo>
                    <a:pt x="2107680" y="0"/>
                  </a:lnTo>
                  <a:lnTo>
                    <a:pt x="4215361" y="8024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307954" y="2734024"/>
              <a:ext cx="4215361" cy="235301"/>
            </a:xfrm>
            <a:custGeom>
              <a:avLst/>
              <a:pathLst>
                <a:path w="4215361" h="235301">
                  <a:moveTo>
                    <a:pt x="0" y="0"/>
                  </a:moveTo>
                  <a:lnTo>
                    <a:pt x="2107680" y="111308"/>
                  </a:lnTo>
                  <a:lnTo>
                    <a:pt x="4215361" y="235301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307954" y="2877072"/>
              <a:ext cx="4215361" cy="61108"/>
            </a:xfrm>
            <a:custGeom>
              <a:avLst/>
              <a:pathLst>
                <a:path w="4215361" h="61108">
                  <a:moveTo>
                    <a:pt x="0" y="61108"/>
                  </a:moveTo>
                  <a:lnTo>
                    <a:pt x="2107680" y="0"/>
                  </a:lnTo>
                  <a:lnTo>
                    <a:pt x="4215361" y="21012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307954" y="3079139"/>
              <a:ext cx="4215361" cy="376644"/>
            </a:xfrm>
            <a:custGeom>
              <a:avLst/>
              <a:pathLst>
                <a:path w="4215361" h="376644">
                  <a:moveTo>
                    <a:pt x="0" y="0"/>
                  </a:moveTo>
                  <a:lnTo>
                    <a:pt x="2107680" y="376644"/>
                  </a:lnTo>
                  <a:lnTo>
                    <a:pt x="4215361" y="10521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307954" y="2458660"/>
              <a:ext cx="4215361" cy="306721"/>
            </a:xfrm>
            <a:custGeom>
              <a:avLst/>
              <a:pathLst>
                <a:path w="4215361" h="306721">
                  <a:moveTo>
                    <a:pt x="0" y="299514"/>
                  </a:moveTo>
                  <a:lnTo>
                    <a:pt x="2107680" y="0"/>
                  </a:lnTo>
                  <a:lnTo>
                    <a:pt x="4215361" y="306721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307954" y="2563899"/>
              <a:ext cx="4215361" cy="161941"/>
            </a:xfrm>
            <a:custGeom>
              <a:avLst/>
              <a:pathLst>
                <a:path w="4215361" h="161941">
                  <a:moveTo>
                    <a:pt x="0" y="0"/>
                  </a:moveTo>
                  <a:lnTo>
                    <a:pt x="2107680" y="161941"/>
                  </a:lnTo>
                  <a:lnTo>
                    <a:pt x="4215361" y="78409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307954" y="2838925"/>
              <a:ext cx="4215361" cy="618965"/>
            </a:xfrm>
            <a:custGeom>
              <a:avLst/>
              <a:pathLst>
                <a:path w="4215361" h="618965">
                  <a:moveTo>
                    <a:pt x="0" y="539432"/>
                  </a:moveTo>
                  <a:lnTo>
                    <a:pt x="2107680" y="0"/>
                  </a:lnTo>
                  <a:lnTo>
                    <a:pt x="4215361" y="61896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307954" y="2944423"/>
              <a:ext cx="4215361" cy="264049"/>
            </a:xfrm>
            <a:custGeom>
              <a:avLst/>
              <a:pathLst>
                <a:path w="4215361" h="264049">
                  <a:moveTo>
                    <a:pt x="0" y="0"/>
                  </a:moveTo>
                  <a:lnTo>
                    <a:pt x="2107680" y="264049"/>
                  </a:lnTo>
                  <a:lnTo>
                    <a:pt x="4215361" y="239462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307954" y="2692139"/>
              <a:ext cx="4215361" cy="270607"/>
            </a:xfrm>
            <a:custGeom>
              <a:avLst/>
              <a:pathLst>
                <a:path w="4215361" h="270607">
                  <a:moveTo>
                    <a:pt x="0" y="0"/>
                  </a:moveTo>
                  <a:lnTo>
                    <a:pt x="2107680" y="270607"/>
                  </a:lnTo>
                  <a:lnTo>
                    <a:pt x="4215361" y="166811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307954" y="2705933"/>
              <a:ext cx="4215361" cy="231279"/>
            </a:xfrm>
            <a:custGeom>
              <a:avLst/>
              <a:pathLst>
                <a:path w="4215361" h="231279">
                  <a:moveTo>
                    <a:pt x="0" y="0"/>
                  </a:moveTo>
                  <a:lnTo>
                    <a:pt x="2107680" y="231279"/>
                  </a:lnTo>
                  <a:lnTo>
                    <a:pt x="4215361" y="12415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307954" y="2248490"/>
              <a:ext cx="4215361" cy="742974"/>
            </a:xfrm>
            <a:custGeom>
              <a:avLst/>
              <a:pathLst>
                <a:path w="4215361" h="742974">
                  <a:moveTo>
                    <a:pt x="0" y="0"/>
                  </a:moveTo>
                  <a:lnTo>
                    <a:pt x="2107680" y="742974"/>
                  </a:lnTo>
                  <a:lnTo>
                    <a:pt x="4215361" y="15651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307954" y="2623871"/>
              <a:ext cx="4215361" cy="306916"/>
            </a:xfrm>
            <a:custGeom>
              <a:avLst/>
              <a:pathLst>
                <a:path w="4215361" h="306916">
                  <a:moveTo>
                    <a:pt x="0" y="0"/>
                  </a:moveTo>
                  <a:lnTo>
                    <a:pt x="2107680" y="68888"/>
                  </a:lnTo>
                  <a:lnTo>
                    <a:pt x="4215361" y="306916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307954" y="2840243"/>
              <a:ext cx="4215361" cy="123785"/>
            </a:xfrm>
            <a:custGeom>
              <a:avLst/>
              <a:pathLst>
                <a:path w="4215361" h="123785">
                  <a:moveTo>
                    <a:pt x="0" y="0"/>
                  </a:moveTo>
                  <a:lnTo>
                    <a:pt x="2107680" y="123785"/>
                  </a:lnTo>
                  <a:lnTo>
                    <a:pt x="4215361" y="11682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307954" y="2843548"/>
              <a:ext cx="4215361" cy="163416"/>
            </a:xfrm>
            <a:custGeom>
              <a:avLst/>
              <a:pathLst>
                <a:path w="4215361" h="163416">
                  <a:moveTo>
                    <a:pt x="0" y="0"/>
                  </a:moveTo>
                  <a:lnTo>
                    <a:pt x="2107680" y="11002"/>
                  </a:lnTo>
                  <a:lnTo>
                    <a:pt x="4215361" y="163416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307954" y="2853945"/>
              <a:ext cx="4215361" cy="67850"/>
            </a:xfrm>
            <a:custGeom>
              <a:avLst/>
              <a:pathLst>
                <a:path w="4215361" h="67850">
                  <a:moveTo>
                    <a:pt x="0" y="0"/>
                  </a:moveTo>
                  <a:lnTo>
                    <a:pt x="2107680" y="67850"/>
                  </a:lnTo>
                  <a:lnTo>
                    <a:pt x="4215361" y="6039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307954" y="2598164"/>
              <a:ext cx="4215361" cy="134205"/>
            </a:xfrm>
            <a:custGeom>
              <a:avLst/>
              <a:pathLst>
                <a:path w="4215361" h="134205">
                  <a:moveTo>
                    <a:pt x="0" y="134205"/>
                  </a:moveTo>
                  <a:lnTo>
                    <a:pt x="2107680" y="0"/>
                  </a:lnTo>
                  <a:lnTo>
                    <a:pt x="4215361" y="2692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307954" y="2810433"/>
              <a:ext cx="4215361" cy="353151"/>
            </a:xfrm>
            <a:custGeom>
              <a:avLst/>
              <a:pathLst>
                <a:path w="4215361" h="353151">
                  <a:moveTo>
                    <a:pt x="0" y="233717"/>
                  </a:moveTo>
                  <a:lnTo>
                    <a:pt x="2107680" y="353151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307954" y="2272811"/>
              <a:ext cx="4215361" cy="344494"/>
            </a:xfrm>
            <a:custGeom>
              <a:avLst/>
              <a:pathLst>
                <a:path w="4215361" h="344494">
                  <a:moveTo>
                    <a:pt x="0" y="344494"/>
                  </a:moveTo>
                  <a:lnTo>
                    <a:pt x="2107680" y="293415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307954" y="2413409"/>
              <a:ext cx="4215361" cy="56733"/>
            </a:xfrm>
            <a:custGeom>
              <a:avLst/>
              <a:pathLst>
                <a:path w="4215361" h="56733">
                  <a:moveTo>
                    <a:pt x="0" y="56733"/>
                  </a:moveTo>
                  <a:lnTo>
                    <a:pt x="2107680" y="50408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307954" y="2648302"/>
              <a:ext cx="4215361" cy="113986"/>
            </a:xfrm>
            <a:custGeom>
              <a:avLst/>
              <a:pathLst>
                <a:path w="4215361" h="113986">
                  <a:moveTo>
                    <a:pt x="0" y="3241"/>
                  </a:moveTo>
                  <a:lnTo>
                    <a:pt x="2107680" y="113986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307954" y="2704378"/>
              <a:ext cx="4215361" cy="240044"/>
            </a:xfrm>
            <a:custGeom>
              <a:avLst/>
              <a:pathLst>
                <a:path w="4215361" h="240044">
                  <a:moveTo>
                    <a:pt x="0" y="0"/>
                  </a:moveTo>
                  <a:lnTo>
                    <a:pt x="2107680" y="181129"/>
                  </a:lnTo>
                  <a:lnTo>
                    <a:pt x="4215361" y="24004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307954" y="2965736"/>
              <a:ext cx="4215361" cy="334944"/>
            </a:xfrm>
            <a:custGeom>
              <a:avLst/>
              <a:pathLst>
                <a:path w="4215361" h="334944">
                  <a:moveTo>
                    <a:pt x="0" y="334944"/>
                  </a:moveTo>
                  <a:lnTo>
                    <a:pt x="2107680" y="263437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307954" y="3006658"/>
              <a:ext cx="4215361" cy="136554"/>
            </a:xfrm>
            <a:custGeom>
              <a:avLst/>
              <a:pathLst>
                <a:path w="4215361" h="136554">
                  <a:moveTo>
                    <a:pt x="0" y="0"/>
                  </a:moveTo>
                  <a:lnTo>
                    <a:pt x="2107680" y="136554"/>
                  </a:lnTo>
                  <a:lnTo>
                    <a:pt x="4215361" y="70536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307954" y="2969933"/>
              <a:ext cx="4215361" cy="426198"/>
            </a:xfrm>
            <a:custGeom>
              <a:avLst/>
              <a:pathLst>
                <a:path w="4215361" h="426198">
                  <a:moveTo>
                    <a:pt x="0" y="0"/>
                  </a:moveTo>
                  <a:lnTo>
                    <a:pt x="2107680" y="426198"/>
                  </a:lnTo>
                  <a:lnTo>
                    <a:pt x="4215361" y="17168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307954" y="2558324"/>
              <a:ext cx="4215361" cy="465482"/>
            </a:xfrm>
            <a:custGeom>
              <a:avLst/>
              <a:pathLst>
                <a:path w="4215361" h="465482">
                  <a:moveTo>
                    <a:pt x="0" y="465482"/>
                  </a:moveTo>
                  <a:lnTo>
                    <a:pt x="2107680" y="0"/>
                  </a:lnTo>
                  <a:lnTo>
                    <a:pt x="4215361" y="11884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2181493" y="2725015"/>
              <a:ext cx="252921" cy="0"/>
            </a:xfrm>
            <a:custGeom>
              <a:avLst/>
              <a:pathLst>
                <a:path w="252921" h="0">
                  <a:moveTo>
                    <a:pt x="0" y="0"/>
                  </a:moveTo>
                  <a:lnTo>
                    <a:pt x="25292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2307954" y="2725015"/>
              <a:ext cx="0" cy="125257"/>
            </a:xfrm>
            <a:custGeom>
              <a:avLst/>
              <a:pathLst>
                <a:path w="0" h="125257">
                  <a:moveTo>
                    <a:pt x="0" y="0"/>
                  </a:moveTo>
                  <a:lnTo>
                    <a:pt x="0" y="125257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2181493" y="2850273"/>
              <a:ext cx="252921" cy="0"/>
            </a:xfrm>
            <a:custGeom>
              <a:avLst/>
              <a:pathLst>
                <a:path w="252921" h="0">
                  <a:moveTo>
                    <a:pt x="0" y="0"/>
                  </a:moveTo>
                  <a:lnTo>
                    <a:pt x="25292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4289174" y="2821291"/>
              <a:ext cx="252921" cy="0"/>
            </a:xfrm>
            <a:custGeom>
              <a:avLst/>
              <a:pathLst>
                <a:path w="252921" h="0">
                  <a:moveTo>
                    <a:pt x="0" y="0"/>
                  </a:moveTo>
                  <a:lnTo>
                    <a:pt x="25292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4415635" y="2821291"/>
              <a:ext cx="0" cy="116734"/>
            </a:xfrm>
            <a:custGeom>
              <a:avLst/>
              <a:pathLst>
                <a:path w="0" h="116734">
                  <a:moveTo>
                    <a:pt x="0" y="0"/>
                  </a:moveTo>
                  <a:lnTo>
                    <a:pt x="0" y="116734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4289174" y="2938025"/>
              <a:ext cx="252921" cy="0"/>
            </a:xfrm>
            <a:custGeom>
              <a:avLst/>
              <a:pathLst>
                <a:path w="252921" h="0">
                  <a:moveTo>
                    <a:pt x="0" y="0"/>
                  </a:moveTo>
                  <a:lnTo>
                    <a:pt x="25292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6396855" y="2774628"/>
              <a:ext cx="252921" cy="0"/>
            </a:xfrm>
            <a:custGeom>
              <a:avLst/>
              <a:pathLst>
                <a:path w="252921" h="0">
                  <a:moveTo>
                    <a:pt x="0" y="0"/>
                  </a:moveTo>
                  <a:lnTo>
                    <a:pt x="25292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6523316" y="2774628"/>
              <a:ext cx="0" cy="111196"/>
            </a:xfrm>
            <a:custGeom>
              <a:avLst/>
              <a:pathLst>
                <a:path w="0" h="111196">
                  <a:moveTo>
                    <a:pt x="0" y="0"/>
                  </a:moveTo>
                  <a:lnTo>
                    <a:pt x="0" y="111196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6396855" y="2885824"/>
              <a:ext cx="252921" cy="0"/>
            </a:xfrm>
            <a:custGeom>
              <a:avLst/>
              <a:pathLst>
                <a:path w="252921" h="0">
                  <a:moveTo>
                    <a:pt x="0" y="0"/>
                  </a:moveTo>
                  <a:lnTo>
                    <a:pt x="25292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307954" y="2787644"/>
              <a:ext cx="4215361" cy="92013"/>
            </a:xfrm>
            <a:custGeom>
              <a:avLst/>
              <a:pathLst>
                <a:path w="4215361" h="92013">
                  <a:moveTo>
                    <a:pt x="0" y="0"/>
                  </a:moveTo>
                  <a:lnTo>
                    <a:pt x="2107680" y="92013"/>
                  </a:lnTo>
                  <a:lnTo>
                    <a:pt x="4215361" y="42581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2270933" y="2750623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4378613" y="2842636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6486294" y="2793204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1043346" y="5724839"/>
              <a:ext cx="6744578" cy="0"/>
            </a:xfrm>
            <a:custGeom>
              <a:avLst/>
              <a:pathLst>
                <a:path w="6744578" h="0">
                  <a:moveTo>
                    <a:pt x="0" y="0"/>
                  </a:moveTo>
                  <a:lnTo>
                    <a:pt x="6744578" y="0"/>
                  </a:lnTo>
                  <a:lnTo>
                    <a:pt x="674457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1043346" y="5223308"/>
              <a:ext cx="6744578" cy="0"/>
            </a:xfrm>
            <a:custGeom>
              <a:avLst/>
              <a:pathLst>
                <a:path w="6744578" h="0">
                  <a:moveTo>
                    <a:pt x="0" y="0"/>
                  </a:moveTo>
                  <a:lnTo>
                    <a:pt x="6744578" y="0"/>
                  </a:lnTo>
                  <a:lnTo>
                    <a:pt x="674457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1043346" y="4721777"/>
              <a:ext cx="6744578" cy="0"/>
            </a:xfrm>
            <a:custGeom>
              <a:avLst/>
              <a:pathLst>
                <a:path w="6744578" h="0">
                  <a:moveTo>
                    <a:pt x="0" y="0"/>
                  </a:moveTo>
                  <a:lnTo>
                    <a:pt x="6744578" y="0"/>
                  </a:lnTo>
                  <a:lnTo>
                    <a:pt x="674457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307954" y="4235759"/>
              <a:ext cx="0" cy="1769222"/>
            </a:xfrm>
            <a:custGeom>
              <a:avLst/>
              <a:pathLst>
                <a:path w="0" h="1769222">
                  <a:moveTo>
                    <a:pt x="0" y="17692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4415635" y="4235759"/>
              <a:ext cx="0" cy="1769222"/>
            </a:xfrm>
            <a:custGeom>
              <a:avLst/>
              <a:pathLst>
                <a:path w="0" h="1769222">
                  <a:moveTo>
                    <a:pt x="0" y="17692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523316" y="4235759"/>
              <a:ext cx="0" cy="1769222"/>
            </a:xfrm>
            <a:custGeom>
              <a:avLst/>
              <a:pathLst>
                <a:path w="0" h="1769222">
                  <a:moveTo>
                    <a:pt x="0" y="17692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1043346" y="4972542"/>
              <a:ext cx="6744578" cy="0"/>
            </a:xfrm>
            <a:custGeom>
              <a:avLst/>
              <a:pathLst>
                <a:path w="6744578" h="0">
                  <a:moveTo>
                    <a:pt x="0" y="0"/>
                  </a:moveTo>
                  <a:lnTo>
                    <a:pt x="6744578" y="0"/>
                  </a:lnTo>
                  <a:lnTo>
                    <a:pt x="6744578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2307954" y="5464556"/>
              <a:ext cx="4215361" cy="142790"/>
            </a:xfrm>
            <a:custGeom>
              <a:avLst/>
              <a:pathLst>
                <a:path w="4215361" h="142790">
                  <a:moveTo>
                    <a:pt x="0" y="114969"/>
                  </a:moveTo>
                  <a:lnTo>
                    <a:pt x="2107680" y="0"/>
                  </a:lnTo>
                  <a:lnTo>
                    <a:pt x="4215361" y="14279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2307954" y="5000030"/>
              <a:ext cx="4215361" cy="200853"/>
            </a:xfrm>
            <a:custGeom>
              <a:avLst/>
              <a:pathLst>
                <a:path w="4215361" h="200853">
                  <a:moveTo>
                    <a:pt x="0" y="0"/>
                  </a:moveTo>
                  <a:lnTo>
                    <a:pt x="2107680" y="6820"/>
                  </a:lnTo>
                  <a:lnTo>
                    <a:pt x="4215361" y="20085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2307954" y="4883724"/>
              <a:ext cx="4215361" cy="137630"/>
            </a:xfrm>
            <a:custGeom>
              <a:avLst/>
              <a:pathLst>
                <a:path w="4215361" h="137630">
                  <a:moveTo>
                    <a:pt x="0" y="0"/>
                  </a:moveTo>
                  <a:lnTo>
                    <a:pt x="2107680" y="137630"/>
                  </a:lnTo>
                  <a:lnTo>
                    <a:pt x="4215361" y="8205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2307954" y="5484578"/>
              <a:ext cx="4215361" cy="116106"/>
            </a:xfrm>
            <a:custGeom>
              <a:avLst/>
              <a:pathLst>
                <a:path w="4215361" h="116106">
                  <a:moveTo>
                    <a:pt x="0" y="116106"/>
                  </a:moveTo>
                  <a:lnTo>
                    <a:pt x="2107680" y="26767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2307954" y="5390743"/>
              <a:ext cx="4215361" cy="144307"/>
            </a:xfrm>
            <a:custGeom>
              <a:avLst/>
              <a:pathLst>
                <a:path w="4215361" h="144307">
                  <a:moveTo>
                    <a:pt x="0" y="0"/>
                  </a:moveTo>
                  <a:lnTo>
                    <a:pt x="2107680" y="144307"/>
                  </a:lnTo>
                  <a:lnTo>
                    <a:pt x="4215361" y="88997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2307954" y="5162401"/>
              <a:ext cx="4215361" cy="186167"/>
            </a:xfrm>
            <a:custGeom>
              <a:avLst/>
              <a:pathLst>
                <a:path w="4215361" h="186167">
                  <a:moveTo>
                    <a:pt x="0" y="0"/>
                  </a:moveTo>
                  <a:lnTo>
                    <a:pt x="2107680" y="66331"/>
                  </a:lnTo>
                  <a:lnTo>
                    <a:pt x="4215361" y="186167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2307954" y="5057909"/>
              <a:ext cx="4215361" cy="404423"/>
            </a:xfrm>
            <a:custGeom>
              <a:avLst/>
              <a:pathLst>
                <a:path w="4215361" h="404423">
                  <a:moveTo>
                    <a:pt x="0" y="0"/>
                  </a:moveTo>
                  <a:lnTo>
                    <a:pt x="2107680" y="142601"/>
                  </a:lnTo>
                  <a:lnTo>
                    <a:pt x="4215361" y="40442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2307954" y="5285288"/>
              <a:ext cx="4215361" cy="135122"/>
            </a:xfrm>
            <a:custGeom>
              <a:avLst/>
              <a:pathLst>
                <a:path w="4215361" h="135122">
                  <a:moveTo>
                    <a:pt x="0" y="135122"/>
                  </a:moveTo>
                  <a:lnTo>
                    <a:pt x="2107680" y="62025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307954" y="5377541"/>
              <a:ext cx="4215361" cy="547021"/>
            </a:xfrm>
            <a:custGeom>
              <a:avLst/>
              <a:pathLst>
                <a:path w="4215361" h="547021">
                  <a:moveTo>
                    <a:pt x="0" y="0"/>
                  </a:moveTo>
                  <a:lnTo>
                    <a:pt x="2107680" y="547021"/>
                  </a:lnTo>
                  <a:lnTo>
                    <a:pt x="4215361" y="15113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307954" y="4860125"/>
              <a:ext cx="4215361" cy="290854"/>
            </a:xfrm>
            <a:custGeom>
              <a:avLst/>
              <a:pathLst>
                <a:path w="4215361" h="290854">
                  <a:moveTo>
                    <a:pt x="0" y="290854"/>
                  </a:moveTo>
                  <a:lnTo>
                    <a:pt x="2107680" y="0"/>
                  </a:lnTo>
                  <a:lnTo>
                    <a:pt x="4215361" y="7081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307954" y="4878695"/>
              <a:ext cx="4215361" cy="414693"/>
            </a:xfrm>
            <a:custGeom>
              <a:avLst/>
              <a:pathLst>
                <a:path w="4215361" h="414693">
                  <a:moveTo>
                    <a:pt x="0" y="0"/>
                  </a:moveTo>
                  <a:lnTo>
                    <a:pt x="2107680" y="125429"/>
                  </a:lnTo>
                  <a:lnTo>
                    <a:pt x="4215361" y="41469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307954" y="5427238"/>
              <a:ext cx="4215361" cy="196970"/>
            </a:xfrm>
            <a:custGeom>
              <a:avLst/>
              <a:pathLst>
                <a:path w="4215361" h="196970">
                  <a:moveTo>
                    <a:pt x="0" y="0"/>
                  </a:moveTo>
                  <a:lnTo>
                    <a:pt x="2107680" y="196970"/>
                  </a:lnTo>
                  <a:lnTo>
                    <a:pt x="4215361" y="17411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307954" y="5311214"/>
              <a:ext cx="4215361" cy="122698"/>
            </a:xfrm>
            <a:custGeom>
              <a:avLst/>
              <a:pathLst>
                <a:path w="4215361" h="122698">
                  <a:moveTo>
                    <a:pt x="0" y="84725"/>
                  </a:moveTo>
                  <a:lnTo>
                    <a:pt x="2107680" y="0"/>
                  </a:lnTo>
                  <a:lnTo>
                    <a:pt x="4215361" y="12269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307954" y="4316178"/>
              <a:ext cx="4215361" cy="514700"/>
            </a:xfrm>
            <a:custGeom>
              <a:avLst/>
              <a:pathLst>
                <a:path w="4215361" h="514700">
                  <a:moveTo>
                    <a:pt x="0" y="37127"/>
                  </a:moveTo>
                  <a:lnTo>
                    <a:pt x="2107680" y="0"/>
                  </a:lnTo>
                  <a:lnTo>
                    <a:pt x="4215361" y="51470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307954" y="5135479"/>
              <a:ext cx="4215361" cy="501446"/>
            </a:xfrm>
            <a:custGeom>
              <a:avLst/>
              <a:pathLst>
                <a:path w="4215361" h="501446">
                  <a:moveTo>
                    <a:pt x="0" y="501446"/>
                  </a:moveTo>
                  <a:lnTo>
                    <a:pt x="2107680" y="98302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2307954" y="5209298"/>
              <a:ext cx="4215361" cy="353418"/>
            </a:xfrm>
            <a:custGeom>
              <a:avLst/>
              <a:pathLst>
                <a:path w="4215361" h="353418">
                  <a:moveTo>
                    <a:pt x="0" y="353418"/>
                  </a:moveTo>
                  <a:lnTo>
                    <a:pt x="2107680" y="151342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2307954" y="5376528"/>
              <a:ext cx="4215361" cy="202108"/>
            </a:xfrm>
            <a:custGeom>
              <a:avLst/>
              <a:pathLst>
                <a:path w="4215361" h="202108">
                  <a:moveTo>
                    <a:pt x="0" y="77899"/>
                  </a:moveTo>
                  <a:lnTo>
                    <a:pt x="2107680" y="202108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2307954" y="5150545"/>
              <a:ext cx="4215361" cy="162858"/>
            </a:xfrm>
            <a:custGeom>
              <a:avLst/>
              <a:pathLst>
                <a:path w="4215361" h="162858">
                  <a:moveTo>
                    <a:pt x="0" y="69656"/>
                  </a:moveTo>
                  <a:lnTo>
                    <a:pt x="2107680" y="0"/>
                  </a:lnTo>
                  <a:lnTo>
                    <a:pt x="4215361" y="16285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2307954" y="5498443"/>
              <a:ext cx="4215361" cy="246058"/>
            </a:xfrm>
            <a:custGeom>
              <a:avLst/>
              <a:pathLst>
                <a:path w="4215361" h="246058">
                  <a:moveTo>
                    <a:pt x="0" y="0"/>
                  </a:moveTo>
                  <a:lnTo>
                    <a:pt x="2107680" y="246058"/>
                  </a:lnTo>
                  <a:lnTo>
                    <a:pt x="4215361" y="8223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307954" y="5419482"/>
              <a:ext cx="4215361" cy="225725"/>
            </a:xfrm>
            <a:custGeom>
              <a:avLst/>
              <a:pathLst>
                <a:path w="4215361" h="225725">
                  <a:moveTo>
                    <a:pt x="0" y="225725"/>
                  </a:moveTo>
                  <a:lnTo>
                    <a:pt x="2107680" y="0"/>
                  </a:lnTo>
                  <a:lnTo>
                    <a:pt x="4215361" y="20923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2307954" y="5073262"/>
              <a:ext cx="4215361" cy="82740"/>
            </a:xfrm>
            <a:custGeom>
              <a:avLst/>
              <a:pathLst>
                <a:path w="4215361" h="82740">
                  <a:moveTo>
                    <a:pt x="0" y="82740"/>
                  </a:moveTo>
                  <a:lnTo>
                    <a:pt x="2107680" y="40831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307954" y="5542099"/>
              <a:ext cx="4215361" cy="310739"/>
            </a:xfrm>
            <a:custGeom>
              <a:avLst/>
              <a:pathLst>
                <a:path w="4215361" h="310739">
                  <a:moveTo>
                    <a:pt x="0" y="0"/>
                  </a:moveTo>
                  <a:lnTo>
                    <a:pt x="2107680" y="210349"/>
                  </a:lnTo>
                  <a:lnTo>
                    <a:pt x="4215361" y="310739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307954" y="5544084"/>
              <a:ext cx="4215361" cy="231059"/>
            </a:xfrm>
            <a:custGeom>
              <a:avLst/>
              <a:pathLst>
                <a:path w="4215361" h="231059">
                  <a:moveTo>
                    <a:pt x="0" y="0"/>
                  </a:moveTo>
                  <a:lnTo>
                    <a:pt x="2107680" y="231059"/>
                  </a:lnTo>
                  <a:lnTo>
                    <a:pt x="4215361" y="68256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307954" y="5499690"/>
              <a:ext cx="4215361" cy="69483"/>
            </a:xfrm>
            <a:custGeom>
              <a:avLst/>
              <a:pathLst>
                <a:path w="4215361" h="69483">
                  <a:moveTo>
                    <a:pt x="0" y="69483"/>
                  </a:moveTo>
                  <a:lnTo>
                    <a:pt x="2107680" y="0"/>
                  </a:lnTo>
                  <a:lnTo>
                    <a:pt x="4215361" y="34279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307954" y="5203446"/>
              <a:ext cx="4215361" cy="325270"/>
            </a:xfrm>
            <a:custGeom>
              <a:avLst/>
              <a:pathLst>
                <a:path w="4215361" h="325270">
                  <a:moveTo>
                    <a:pt x="0" y="123008"/>
                  </a:moveTo>
                  <a:lnTo>
                    <a:pt x="2107680" y="0"/>
                  </a:lnTo>
                  <a:lnTo>
                    <a:pt x="4215361" y="32527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307954" y="5315551"/>
              <a:ext cx="4215361" cy="193753"/>
            </a:xfrm>
            <a:custGeom>
              <a:avLst/>
              <a:pathLst>
                <a:path w="4215361" h="193753">
                  <a:moveTo>
                    <a:pt x="0" y="193753"/>
                  </a:moveTo>
                  <a:lnTo>
                    <a:pt x="2107680" y="40143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307954" y="5136122"/>
              <a:ext cx="4215361" cy="418787"/>
            </a:xfrm>
            <a:custGeom>
              <a:avLst/>
              <a:pathLst>
                <a:path w="4215361" h="418787">
                  <a:moveTo>
                    <a:pt x="0" y="261432"/>
                  </a:moveTo>
                  <a:lnTo>
                    <a:pt x="2107680" y="418787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2307954" y="5289231"/>
              <a:ext cx="4215361" cy="246508"/>
            </a:xfrm>
            <a:custGeom>
              <a:avLst/>
              <a:pathLst>
                <a:path w="4215361" h="246508">
                  <a:moveTo>
                    <a:pt x="0" y="163599"/>
                  </a:moveTo>
                  <a:lnTo>
                    <a:pt x="2107680" y="246508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307954" y="5103072"/>
              <a:ext cx="4215361" cy="518280"/>
            </a:xfrm>
            <a:custGeom>
              <a:avLst/>
              <a:pathLst>
                <a:path w="4215361" h="518280">
                  <a:moveTo>
                    <a:pt x="0" y="518280"/>
                  </a:moveTo>
                  <a:lnTo>
                    <a:pt x="2107680" y="0"/>
                  </a:lnTo>
                  <a:lnTo>
                    <a:pt x="4215361" y="27200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2307954" y="5057271"/>
              <a:ext cx="4215361" cy="310425"/>
            </a:xfrm>
            <a:custGeom>
              <a:avLst/>
              <a:pathLst>
                <a:path w="4215361" h="310425">
                  <a:moveTo>
                    <a:pt x="0" y="310425"/>
                  </a:moveTo>
                  <a:lnTo>
                    <a:pt x="2107680" y="62210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307954" y="4814529"/>
              <a:ext cx="4215361" cy="351399"/>
            </a:xfrm>
            <a:custGeom>
              <a:avLst/>
              <a:pathLst>
                <a:path w="4215361" h="351399">
                  <a:moveTo>
                    <a:pt x="0" y="0"/>
                  </a:moveTo>
                  <a:lnTo>
                    <a:pt x="2107680" y="351399"/>
                  </a:lnTo>
                  <a:lnTo>
                    <a:pt x="4215361" y="6237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307954" y="5414450"/>
              <a:ext cx="4215361" cy="136896"/>
            </a:xfrm>
            <a:custGeom>
              <a:avLst/>
              <a:pathLst>
                <a:path w="4215361" h="136896">
                  <a:moveTo>
                    <a:pt x="0" y="41887"/>
                  </a:moveTo>
                  <a:lnTo>
                    <a:pt x="2107680" y="0"/>
                  </a:lnTo>
                  <a:lnTo>
                    <a:pt x="4215361" y="136896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307954" y="5352110"/>
              <a:ext cx="4215361" cy="206955"/>
            </a:xfrm>
            <a:custGeom>
              <a:avLst/>
              <a:pathLst>
                <a:path w="4215361" h="206955">
                  <a:moveTo>
                    <a:pt x="0" y="206955"/>
                  </a:moveTo>
                  <a:lnTo>
                    <a:pt x="2107680" y="128205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2307954" y="5293732"/>
              <a:ext cx="4215361" cy="125458"/>
            </a:xfrm>
            <a:custGeom>
              <a:avLst/>
              <a:pathLst>
                <a:path w="4215361" h="125458">
                  <a:moveTo>
                    <a:pt x="0" y="0"/>
                  </a:moveTo>
                  <a:lnTo>
                    <a:pt x="2107680" y="20487"/>
                  </a:lnTo>
                  <a:lnTo>
                    <a:pt x="4215361" y="12545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307954" y="4771477"/>
              <a:ext cx="4215361" cy="382933"/>
            </a:xfrm>
            <a:custGeom>
              <a:avLst/>
              <a:pathLst>
                <a:path w="4215361" h="382933">
                  <a:moveTo>
                    <a:pt x="0" y="0"/>
                  </a:moveTo>
                  <a:lnTo>
                    <a:pt x="2107680" y="382933"/>
                  </a:lnTo>
                  <a:lnTo>
                    <a:pt x="4215361" y="213236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307954" y="5591633"/>
              <a:ext cx="4215361" cy="184013"/>
            </a:xfrm>
            <a:custGeom>
              <a:avLst/>
              <a:pathLst>
                <a:path w="4215361" h="184013">
                  <a:moveTo>
                    <a:pt x="0" y="0"/>
                  </a:moveTo>
                  <a:lnTo>
                    <a:pt x="2107680" y="80210"/>
                  </a:lnTo>
                  <a:lnTo>
                    <a:pt x="4215361" y="18401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2307954" y="5250230"/>
              <a:ext cx="4215361" cy="207984"/>
            </a:xfrm>
            <a:custGeom>
              <a:avLst/>
              <a:pathLst>
                <a:path w="4215361" h="207984">
                  <a:moveTo>
                    <a:pt x="0" y="110463"/>
                  </a:moveTo>
                  <a:lnTo>
                    <a:pt x="2107680" y="0"/>
                  </a:lnTo>
                  <a:lnTo>
                    <a:pt x="4215361" y="20798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2307954" y="5262566"/>
              <a:ext cx="4215361" cy="195686"/>
            </a:xfrm>
            <a:custGeom>
              <a:avLst/>
              <a:pathLst>
                <a:path w="4215361" h="195686">
                  <a:moveTo>
                    <a:pt x="0" y="195686"/>
                  </a:moveTo>
                  <a:lnTo>
                    <a:pt x="2107680" y="0"/>
                  </a:lnTo>
                  <a:lnTo>
                    <a:pt x="4215361" y="61469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2307954" y="5456158"/>
              <a:ext cx="4215361" cy="241028"/>
            </a:xfrm>
            <a:custGeom>
              <a:avLst/>
              <a:pathLst>
                <a:path w="4215361" h="241028">
                  <a:moveTo>
                    <a:pt x="0" y="0"/>
                  </a:moveTo>
                  <a:lnTo>
                    <a:pt x="2107680" y="241028"/>
                  </a:lnTo>
                  <a:lnTo>
                    <a:pt x="4215361" y="99462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2307954" y="5230832"/>
              <a:ext cx="4215361" cy="352376"/>
            </a:xfrm>
            <a:custGeom>
              <a:avLst/>
              <a:pathLst>
                <a:path w="4215361" h="352376">
                  <a:moveTo>
                    <a:pt x="0" y="352376"/>
                  </a:moveTo>
                  <a:lnTo>
                    <a:pt x="2107680" y="0"/>
                  </a:lnTo>
                  <a:lnTo>
                    <a:pt x="4215361" y="9591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2307954" y="5282130"/>
              <a:ext cx="4215361" cy="140789"/>
            </a:xfrm>
            <a:custGeom>
              <a:avLst/>
              <a:pathLst>
                <a:path w="4215361" h="140789">
                  <a:moveTo>
                    <a:pt x="0" y="92133"/>
                  </a:moveTo>
                  <a:lnTo>
                    <a:pt x="2107680" y="0"/>
                  </a:lnTo>
                  <a:lnTo>
                    <a:pt x="4215361" y="140789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2307954" y="5467194"/>
              <a:ext cx="4215361" cy="243507"/>
            </a:xfrm>
            <a:custGeom>
              <a:avLst/>
              <a:pathLst>
                <a:path w="4215361" h="243507">
                  <a:moveTo>
                    <a:pt x="0" y="80414"/>
                  </a:moveTo>
                  <a:lnTo>
                    <a:pt x="2107680" y="243507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2307954" y="5377382"/>
              <a:ext cx="4215361" cy="139426"/>
            </a:xfrm>
            <a:custGeom>
              <a:avLst/>
              <a:pathLst>
                <a:path w="4215361" h="139426">
                  <a:moveTo>
                    <a:pt x="0" y="139426"/>
                  </a:moveTo>
                  <a:lnTo>
                    <a:pt x="2107680" y="0"/>
                  </a:lnTo>
                  <a:lnTo>
                    <a:pt x="4215361" y="173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2307954" y="4775877"/>
              <a:ext cx="4215361" cy="471214"/>
            </a:xfrm>
            <a:custGeom>
              <a:avLst/>
              <a:pathLst>
                <a:path w="4215361" h="471214">
                  <a:moveTo>
                    <a:pt x="0" y="471214"/>
                  </a:moveTo>
                  <a:lnTo>
                    <a:pt x="2107680" y="130420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2307954" y="5283273"/>
              <a:ext cx="4215361" cy="275338"/>
            </a:xfrm>
            <a:custGeom>
              <a:avLst/>
              <a:pathLst>
                <a:path w="4215361" h="275338">
                  <a:moveTo>
                    <a:pt x="0" y="0"/>
                  </a:moveTo>
                  <a:lnTo>
                    <a:pt x="2107680" y="275338"/>
                  </a:lnTo>
                  <a:lnTo>
                    <a:pt x="4215361" y="154682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2307954" y="5063872"/>
              <a:ext cx="4215361" cy="286592"/>
            </a:xfrm>
            <a:custGeom>
              <a:avLst/>
              <a:pathLst>
                <a:path w="4215361" h="286592">
                  <a:moveTo>
                    <a:pt x="0" y="286592"/>
                  </a:moveTo>
                  <a:lnTo>
                    <a:pt x="2107680" y="0"/>
                  </a:lnTo>
                  <a:lnTo>
                    <a:pt x="4215361" y="14325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2307954" y="5264080"/>
              <a:ext cx="4215361" cy="309680"/>
            </a:xfrm>
            <a:custGeom>
              <a:avLst/>
              <a:pathLst>
                <a:path w="4215361" h="309680">
                  <a:moveTo>
                    <a:pt x="0" y="146207"/>
                  </a:moveTo>
                  <a:lnTo>
                    <a:pt x="2107680" y="0"/>
                  </a:lnTo>
                  <a:lnTo>
                    <a:pt x="4215361" y="30968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2307954" y="4996698"/>
              <a:ext cx="4215361" cy="216826"/>
            </a:xfrm>
            <a:custGeom>
              <a:avLst/>
              <a:pathLst>
                <a:path w="4215361" h="216826">
                  <a:moveTo>
                    <a:pt x="0" y="74658"/>
                  </a:moveTo>
                  <a:lnTo>
                    <a:pt x="2107680" y="216826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2307954" y="5388151"/>
              <a:ext cx="4215361" cy="149552"/>
            </a:xfrm>
            <a:custGeom>
              <a:avLst/>
              <a:pathLst>
                <a:path w="4215361" h="149552">
                  <a:moveTo>
                    <a:pt x="0" y="108982"/>
                  </a:moveTo>
                  <a:lnTo>
                    <a:pt x="2107680" y="0"/>
                  </a:lnTo>
                  <a:lnTo>
                    <a:pt x="4215361" y="149552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2307954" y="5548663"/>
              <a:ext cx="4215361" cy="164118"/>
            </a:xfrm>
            <a:custGeom>
              <a:avLst/>
              <a:pathLst>
                <a:path w="4215361" h="164118">
                  <a:moveTo>
                    <a:pt x="0" y="60223"/>
                  </a:moveTo>
                  <a:lnTo>
                    <a:pt x="2107680" y="164118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307954" y="5317964"/>
              <a:ext cx="4215361" cy="383204"/>
            </a:xfrm>
            <a:custGeom>
              <a:avLst/>
              <a:pathLst>
                <a:path w="4215361" h="383204">
                  <a:moveTo>
                    <a:pt x="0" y="0"/>
                  </a:moveTo>
                  <a:lnTo>
                    <a:pt x="2107680" y="146100"/>
                  </a:lnTo>
                  <a:lnTo>
                    <a:pt x="4215361" y="38320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2307954" y="5166483"/>
              <a:ext cx="4215361" cy="242389"/>
            </a:xfrm>
            <a:custGeom>
              <a:avLst/>
              <a:pathLst>
                <a:path w="4215361" h="242389">
                  <a:moveTo>
                    <a:pt x="0" y="242389"/>
                  </a:moveTo>
                  <a:lnTo>
                    <a:pt x="2107680" y="0"/>
                  </a:lnTo>
                  <a:lnTo>
                    <a:pt x="4215361" y="11984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2307954" y="5209905"/>
              <a:ext cx="4215361" cy="87102"/>
            </a:xfrm>
            <a:custGeom>
              <a:avLst/>
              <a:pathLst>
                <a:path w="4215361" h="87102">
                  <a:moveTo>
                    <a:pt x="0" y="0"/>
                  </a:moveTo>
                  <a:lnTo>
                    <a:pt x="2107680" y="38592"/>
                  </a:lnTo>
                  <a:lnTo>
                    <a:pt x="4215361" y="87102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2307954" y="5098401"/>
              <a:ext cx="4215361" cy="519684"/>
            </a:xfrm>
            <a:custGeom>
              <a:avLst/>
              <a:pathLst>
                <a:path w="4215361" h="519684">
                  <a:moveTo>
                    <a:pt x="0" y="299293"/>
                  </a:moveTo>
                  <a:lnTo>
                    <a:pt x="2107680" y="0"/>
                  </a:lnTo>
                  <a:lnTo>
                    <a:pt x="4215361" y="51968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2307954" y="5131110"/>
              <a:ext cx="4215361" cy="186385"/>
            </a:xfrm>
            <a:custGeom>
              <a:avLst/>
              <a:pathLst>
                <a:path w="4215361" h="186385">
                  <a:moveTo>
                    <a:pt x="0" y="117631"/>
                  </a:moveTo>
                  <a:lnTo>
                    <a:pt x="2107680" y="0"/>
                  </a:lnTo>
                  <a:lnTo>
                    <a:pt x="4215361" y="18638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2307954" y="4955348"/>
              <a:ext cx="4215361" cy="423381"/>
            </a:xfrm>
            <a:custGeom>
              <a:avLst/>
              <a:pathLst>
                <a:path w="4215361" h="423381">
                  <a:moveTo>
                    <a:pt x="0" y="325571"/>
                  </a:moveTo>
                  <a:lnTo>
                    <a:pt x="2107680" y="423381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2307954" y="5386184"/>
              <a:ext cx="4215361" cy="143305"/>
            </a:xfrm>
            <a:custGeom>
              <a:avLst/>
              <a:pathLst>
                <a:path w="4215361" h="143305">
                  <a:moveTo>
                    <a:pt x="0" y="0"/>
                  </a:moveTo>
                  <a:lnTo>
                    <a:pt x="2107680" y="50595"/>
                  </a:lnTo>
                  <a:lnTo>
                    <a:pt x="4215361" y="14330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307954" y="5625114"/>
              <a:ext cx="4215361" cy="103050"/>
            </a:xfrm>
            <a:custGeom>
              <a:avLst/>
              <a:pathLst>
                <a:path w="4215361" h="103050">
                  <a:moveTo>
                    <a:pt x="0" y="2972"/>
                  </a:moveTo>
                  <a:lnTo>
                    <a:pt x="2107680" y="0"/>
                  </a:lnTo>
                  <a:lnTo>
                    <a:pt x="4215361" y="10305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307954" y="5419026"/>
              <a:ext cx="4215361" cy="389852"/>
            </a:xfrm>
            <a:custGeom>
              <a:avLst/>
              <a:pathLst>
                <a:path w="4215361" h="389852">
                  <a:moveTo>
                    <a:pt x="0" y="83747"/>
                  </a:moveTo>
                  <a:lnTo>
                    <a:pt x="2107680" y="0"/>
                  </a:lnTo>
                  <a:lnTo>
                    <a:pt x="4215361" y="389852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2307954" y="4673934"/>
              <a:ext cx="4215361" cy="705901"/>
            </a:xfrm>
            <a:custGeom>
              <a:avLst/>
              <a:pathLst>
                <a:path w="4215361" h="705901">
                  <a:moveTo>
                    <a:pt x="0" y="343615"/>
                  </a:moveTo>
                  <a:lnTo>
                    <a:pt x="2107680" y="705901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307954" y="5147416"/>
              <a:ext cx="4215361" cy="44879"/>
            </a:xfrm>
            <a:custGeom>
              <a:avLst/>
              <a:pathLst>
                <a:path w="4215361" h="44879">
                  <a:moveTo>
                    <a:pt x="0" y="44879"/>
                  </a:moveTo>
                  <a:lnTo>
                    <a:pt x="2107680" y="0"/>
                  </a:lnTo>
                  <a:lnTo>
                    <a:pt x="4215361" y="31022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307954" y="5140069"/>
              <a:ext cx="4215361" cy="215509"/>
            </a:xfrm>
            <a:custGeom>
              <a:avLst/>
              <a:pathLst>
                <a:path w="4215361" h="215509">
                  <a:moveTo>
                    <a:pt x="0" y="215509"/>
                  </a:moveTo>
                  <a:lnTo>
                    <a:pt x="2107680" y="0"/>
                  </a:lnTo>
                  <a:lnTo>
                    <a:pt x="4215361" y="40007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2307954" y="5550979"/>
              <a:ext cx="4215361" cy="353727"/>
            </a:xfrm>
            <a:custGeom>
              <a:avLst/>
              <a:pathLst>
                <a:path w="4215361" h="353727">
                  <a:moveTo>
                    <a:pt x="0" y="0"/>
                  </a:moveTo>
                  <a:lnTo>
                    <a:pt x="2107680" y="353727"/>
                  </a:lnTo>
                  <a:lnTo>
                    <a:pt x="4215361" y="27604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2307954" y="5311085"/>
              <a:ext cx="4215361" cy="222990"/>
            </a:xfrm>
            <a:custGeom>
              <a:avLst/>
              <a:pathLst>
                <a:path w="4215361" h="222990">
                  <a:moveTo>
                    <a:pt x="0" y="0"/>
                  </a:moveTo>
                  <a:lnTo>
                    <a:pt x="2107680" y="196142"/>
                  </a:lnTo>
                  <a:lnTo>
                    <a:pt x="4215361" y="22299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2307954" y="4984281"/>
              <a:ext cx="4215361" cy="200618"/>
            </a:xfrm>
            <a:custGeom>
              <a:avLst/>
              <a:pathLst>
                <a:path w="4215361" h="200618">
                  <a:moveTo>
                    <a:pt x="0" y="200618"/>
                  </a:moveTo>
                  <a:lnTo>
                    <a:pt x="2107680" y="0"/>
                  </a:lnTo>
                  <a:lnTo>
                    <a:pt x="4215361" y="4996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2307954" y="5372185"/>
              <a:ext cx="4215361" cy="184311"/>
            </a:xfrm>
            <a:custGeom>
              <a:avLst/>
              <a:pathLst>
                <a:path w="4215361" h="184311">
                  <a:moveTo>
                    <a:pt x="0" y="184311"/>
                  </a:moveTo>
                  <a:lnTo>
                    <a:pt x="2107680" y="66694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2307954" y="4917740"/>
              <a:ext cx="4215361" cy="150223"/>
            </a:xfrm>
            <a:custGeom>
              <a:avLst/>
              <a:pathLst>
                <a:path w="4215361" h="150223">
                  <a:moveTo>
                    <a:pt x="0" y="150223"/>
                  </a:moveTo>
                  <a:lnTo>
                    <a:pt x="2107680" y="8354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2307954" y="5352628"/>
              <a:ext cx="4215361" cy="72875"/>
            </a:xfrm>
            <a:custGeom>
              <a:avLst/>
              <a:pathLst>
                <a:path w="4215361" h="72875">
                  <a:moveTo>
                    <a:pt x="0" y="72875"/>
                  </a:moveTo>
                  <a:lnTo>
                    <a:pt x="2107680" y="0"/>
                  </a:lnTo>
                  <a:lnTo>
                    <a:pt x="4215361" y="32777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2307954" y="4600966"/>
              <a:ext cx="4215361" cy="646857"/>
            </a:xfrm>
            <a:custGeom>
              <a:avLst/>
              <a:pathLst>
                <a:path w="4215361" h="646857">
                  <a:moveTo>
                    <a:pt x="0" y="0"/>
                  </a:moveTo>
                  <a:lnTo>
                    <a:pt x="2107680" y="586907"/>
                  </a:lnTo>
                  <a:lnTo>
                    <a:pt x="4215361" y="646857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2307954" y="5534294"/>
              <a:ext cx="4215361" cy="46270"/>
            </a:xfrm>
            <a:custGeom>
              <a:avLst/>
              <a:pathLst>
                <a:path w="4215361" h="46270">
                  <a:moveTo>
                    <a:pt x="0" y="46270"/>
                  </a:moveTo>
                  <a:lnTo>
                    <a:pt x="2107680" y="0"/>
                  </a:lnTo>
                  <a:lnTo>
                    <a:pt x="4215361" y="1972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2307954" y="5313347"/>
              <a:ext cx="4215361" cy="85274"/>
            </a:xfrm>
            <a:custGeom>
              <a:avLst/>
              <a:pathLst>
                <a:path w="4215361" h="85274">
                  <a:moveTo>
                    <a:pt x="0" y="22091"/>
                  </a:moveTo>
                  <a:lnTo>
                    <a:pt x="2107680" y="0"/>
                  </a:lnTo>
                  <a:lnTo>
                    <a:pt x="4215361" y="8527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2307954" y="5304269"/>
              <a:ext cx="4215361" cy="111370"/>
            </a:xfrm>
            <a:custGeom>
              <a:avLst/>
              <a:pathLst>
                <a:path w="4215361" h="111370">
                  <a:moveTo>
                    <a:pt x="0" y="111370"/>
                  </a:moveTo>
                  <a:lnTo>
                    <a:pt x="2107680" y="109562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2307954" y="4914546"/>
              <a:ext cx="4215361" cy="355031"/>
            </a:xfrm>
            <a:custGeom>
              <a:avLst/>
              <a:pathLst>
                <a:path w="4215361" h="355031">
                  <a:moveTo>
                    <a:pt x="0" y="355031"/>
                  </a:moveTo>
                  <a:lnTo>
                    <a:pt x="2107680" y="149401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2307954" y="5062276"/>
              <a:ext cx="4215361" cy="152465"/>
            </a:xfrm>
            <a:custGeom>
              <a:avLst/>
              <a:pathLst>
                <a:path w="4215361" h="152465">
                  <a:moveTo>
                    <a:pt x="0" y="152465"/>
                  </a:moveTo>
                  <a:lnTo>
                    <a:pt x="2107680" y="110301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2307954" y="5591061"/>
              <a:ext cx="4215361" cy="83413"/>
            </a:xfrm>
            <a:custGeom>
              <a:avLst/>
              <a:pathLst>
                <a:path w="4215361" h="83413">
                  <a:moveTo>
                    <a:pt x="0" y="44974"/>
                  </a:moveTo>
                  <a:lnTo>
                    <a:pt x="2107680" y="83413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2307954" y="5594903"/>
              <a:ext cx="4215361" cy="261750"/>
            </a:xfrm>
            <a:custGeom>
              <a:avLst/>
              <a:pathLst>
                <a:path w="4215361" h="261750">
                  <a:moveTo>
                    <a:pt x="0" y="109590"/>
                  </a:moveTo>
                  <a:lnTo>
                    <a:pt x="2107680" y="261750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2307954" y="5447902"/>
              <a:ext cx="4215361" cy="241665"/>
            </a:xfrm>
            <a:custGeom>
              <a:avLst/>
              <a:pathLst>
                <a:path w="4215361" h="241665">
                  <a:moveTo>
                    <a:pt x="0" y="126480"/>
                  </a:moveTo>
                  <a:lnTo>
                    <a:pt x="2107680" y="0"/>
                  </a:lnTo>
                  <a:lnTo>
                    <a:pt x="4215361" y="24166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2181493" y="5291895"/>
              <a:ext cx="252921" cy="0"/>
            </a:xfrm>
            <a:custGeom>
              <a:avLst/>
              <a:pathLst>
                <a:path w="252921" h="0">
                  <a:moveTo>
                    <a:pt x="0" y="0"/>
                  </a:moveTo>
                  <a:lnTo>
                    <a:pt x="25292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2307954" y="5291895"/>
              <a:ext cx="0" cy="112604"/>
            </a:xfrm>
            <a:custGeom>
              <a:avLst/>
              <a:pathLst>
                <a:path w="0" h="112604">
                  <a:moveTo>
                    <a:pt x="0" y="0"/>
                  </a:moveTo>
                  <a:lnTo>
                    <a:pt x="0" y="112604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2181493" y="5404500"/>
              <a:ext cx="252921" cy="0"/>
            </a:xfrm>
            <a:custGeom>
              <a:avLst/>
              <a:pathLst>
                <a:path w="252921" h="0">
                  <a:moveTo>
                    <a:pt x="0" y="0"/>
                  </a:moveTo>
                  <a:lnTo>
                    <a:pt x="25292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4289174" y="5282214"/>
              <a:ext cx="252921" cy="0"/>
            </a:xfrm>
            <a:custGeom>
              <a:avLst/>
              <a:pathLst>
                <a:path w="252921" h="0">
                  <a:moveTo>
                    <a:pt x="0" y="0"/>
                  </a:moveTo>
                  <a:lnTo>
                    <a:pt x="25292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4415635" y="5282214"/>
              <a:ext cx="0" cy="121056"/>
            </a:xfrm>
            <a:custGeom>
              <a:avLst/>
              <a:pathLst>
                <a:path w="0" h="121056">
                  <a:moveTo>
                    <a:pt x="0" y="0"/>
                  </a:moveTo>
                  <a:lnTo>
                    <a:pt x="0" y="121056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4289174" y="5403271"/>
              <a:ext cx="252921" cy="0"/>
            </a:xfrm>
            <a:custGeom>
              <a:avLst/>
              <a:pathLst>
                <a:path w="252921" h="0">
                  <a:moveTo>
                    <a:pt x="0" y="0"/>
                  </a:moveTo>
                  <a:lnTo>
                    <a:pt x="25292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6396855" y="5292650"/>
              <a:ext cx="252921" cy="0"/>
            </a:xfrm>
            <a:custGeom>
              <a:avLst/>
              <a:pathLst>
                <a:path w="252921" h="0">
                  <a:moveTo>
                    <a:pt x="0" y="0"/>
                  </a:moveTo>
                  <a:lnTo>
                    <a:pt x="25292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6523316" y="5292650"/>
              <a:ext cx="0" cy="118329"/>
            </a:xfrm>
            <a:custGeom>
              <a:avLst/>
              <a:pathLst>
                <a:path w="0" h="118329">
                  <a:moveTo>
                    <a:pt x="0" y="0"/>
                  </a:moveTo>
                  <a:lnTo>
                    <a:pt x="0" y="118329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6396855" y="5410979"/>
              <a:ext cx="252921" cy="0"/>
            </a:xfrm>
            <a:custGeom>
              <a:avLst/>
              <a:pathLst>
                <a:path w="252921" h="0">
                  <a:moveTo>
                    <a:pt x="0" y="0"/>
                  </a:moveTo>
                  <a:lnTo>
                    <a:pt x="25292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2307954" y="5342743"/>
              <a:ext cx="4215361" cy="9071"/>
            </a:xfrm>
            <a:custGeom>
              <a:avLst/>
              <a:pathLst>
                <a:path w="4215361" h="9071">
                  <a:moveTo>
                    <a:pt x="0" y="5454"/>
                  </a:moveTo>
                  <a:lnTo>
                    <a:pt x="2107680" y="0"/>
                  </a:lnTo>
                  <a:lnTo>
                    <a:pt x="4215361" y="9071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2270933" y="5311176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4378613" y="5305721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6486294" y="5314793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tx198"/>
            <p:cNvSpPr/>
            <p:nvPr/>
          </p:nvSpPr>
          <p:spPr>
            <a:xfrm>
              <a:off x="3928107" y="4010801"/>
              <a:ext cx="975055" cy="1473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Reverse slope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3914772" y="1720035"/>
              <a:ext cx="1001725" cy="1473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Forward slope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2175795" y="604979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4249572" y="6050088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6357253" y="604979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805536" y="3169590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0.5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805536" y="2662364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1.0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805536" y="2155674"/>
              <a:ext cx="169485" cy="870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1.5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805536" y="5680756"/>
              <a:ext cx="169485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0.4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805536" y="5179106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0.8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805536" y="4679956"/>
              <a:ext cx="169485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1.2</a:t>
              </a:r>
            </a:p>
          </p:txBody>
        </p:sp>
        <p:sp>
          <p:nvSpPr>
            <p:cNvPr id="209" name="tx209"/>
            <p:cNvSpPr/>
            <p:nvPr/>
          </p:nvSpPr>
          <p:spPr>
            <a:xfrm rot="-5400000">
              <a:off x="-356594" y="3902954"/>
              <a:ext cx="2036861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Each person's own OLS slope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1043346" y="1402443"/>
              <a:ext cx="4780635" cy="164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Each person's own slopes (grey), mean and 95% CI (experience)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11091672" cy="3657600"/>
            <a:chOff x="548640" y="1371600"/>
            <a:chExt cx="11091672" cy="365760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11091672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548640" y="1371600"/>
              <a:ext cx="11091672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79061" y="4172415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79061" y="3618516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79061" y="3064616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79061" y="2510717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65720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43485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21250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79061" y="3064616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3550" cap="flat">
              <a:solidFill>
                <a:srgbClr val="999999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616832" y="2136970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665720" y="2136970"/>
              <a:ext cx="0" cy="68331"/>
            </a:xfrm>
            <a:custGeom>
              <a:avLst/>
              <a:pathLst>
                <a:path w="0" h="68331">
                  <a:moveTo>
                    <a:pt x="0" y="0"/>
                  </a:moveTo>
                  <a:lnTo>
                    <a:pt x="0" y="68331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616832" y="2205302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594597" y="2180249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643485" y="2180249"/>
              <a:ext cx="0" cy="57076"/>
            </a:xfrm>
            <a:custGeom>
              <a:avLst/>
              <a:pathLst>
                <a:path w="0" h="57076">
                  <a:moveTo>
                    <a:pt x="0" y="0"/>
                  </a:moveTo>
                  <a:lnTo>
                    <a:pt x="0" y="57076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94597" y="2237326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572362" y="2382461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621250" y="2382461"/>
              <a:ext cx="0" cy="65725"/>
            </a:xfrm>
            <a:custGeom>
              <a:avLst/>
              <a:pathLst>
                <a:path w="0" h="65725">
                  <a:moveTo>
                    <a:pt x="0" y="0"/>
                  </a:moveTo>
                  <a:lnTo>
                    <a:pt x="0" y="65725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572362" y="2448187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6832" y="3821206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665720" y="3821206"/>
              <a:ext cx="0" cy="62652"/>
            </a:xfrm>
            <a:custGeom>
              <a:avLst/>
              <a:pathLst>
                <a:path w="0" h="62652">
                  <a:moveTo>
                    <a:pt x="0" y="0"/>
                  </a:moveTo>
                  <a:lnTo>
                    <a:pt x="0" y="62652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616832" y="3883858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94597" y="3799466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43485" y="3799466"/>
              <a:ext cx="0" cy="81918"/>
            </a:xfrm>
            <a:custGeom>
              <a:avLst/>
              <a:pathLst>
                <a:path w="0" h="81918">
                  <a:moveTo>
                    <a:pt x="0" y="0"/>
                  </a:moveTo>
                  <a:lnTo>
                    <a:pt x="0" y="81918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94597" y="3881384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572362" y="4002733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621250" y="4002733"/>
              <a:ext cx="0" cy="64007"/>
            </a:xfrm>
            <a:custGeom>
              <a:avLst/>
              <a:pathLst>
                <a:path w="0" h="64007">
                  <a:moveTo>
                    <a:pt x="0" y="0"/>
                  </a:moveTo>
                  <a:lnTo>
                    <a:pt x="0" y="64007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572362" y="4066741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665720" y="2171136"/>
              <a:ext cx="1955529" cy="244188"/>
            </a:xfrm>
            <a:custGeom>
              <a:avLst/>
              <a:pathLst>
                <a:path w="1955529" h="244188">
                  <a:moveTo>
                    <a:pt x="0" y="0"/>
                  </a:moveTo>
                  <a:lnTo>
                    <a:pt x="977764" y="37651"/>
                  </a:lnTo>
                  <a:lnTo>
                    <a:pt x="1955529" y="244188"/>
                  </a:lnTo>
                </a:path>
              </a:pathLst>
            </a:custGeom>
            <a:ln w="24391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665720" y="3840425"/>
              <a:ext cx="1955529" cy="194311"/>
            </a:xfrm>
            <a:custGeom>
              <a:avLst/>
              <a:pathLst>
                <a:path w="1955529" h="194311">
                  <a:moveTo>
                    <a:pt x="0" y="12106"/>
                  </a:moveTo>
                  <a:lnTo>
                    <a:pt x="977764" y="0"/>
                  </a:lnTo>
                  <a:lnTo>
                    <a:pt x="1955529" y="194311"/>
                  </a:lnTo>
                </a:path>
              </a:pathLst>
            </a:custGeom>
            <a:ln w="24391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1631409" y="2136824"/>
              <a:ext cx="68622" cy="68622"/>
            </a:xfrm>
            <a:prstGeom prst="ellipse">
              <a:avLst/>
            </a:prstGeom>
            <a:solidFill>
              <a:srgbClr val="D98477">
                <a:alpha val="100000"/>
              </a:srgbClr>
            </a:solidFill>
            <a:ln w="9000" cap="rnd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609174" y="2174476"/>
              <a:ext cx="68622" cy="68622"/>
            </a:xfrm>
            <a:prstGeom prst="ellipse">
              <a:avLst/>
            </a:prstGeom>
            <a:solidFill>
              <a:srgbClr val="D98477">
                <a:alpha val="100000"/>
              </a:srgbClr>
            </a:solidFill>
            <a:ln w="9000" cap="rnd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86939" y="2381013"/>
              <a:ext cx="68622" cy="68622"/>
            </a:xfrm>
            <a:prstGeom prst="ellipse">
              <a:avLst/>
            </a:prstGeom>
            <a:solidFill>
              <a:srgbClr val="D98477">
                <a:alpha val="100000"/>
              </a:srgbClr>
            </a:solidFill>
            <a:ln w="9000" cap="rnd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631409" y="3818221"/>
              <a:ext cx="68622" cy="68622"/>
            </a:xfrm>
            <a:prstGeom prst="ellipse">
              <a:avLst/>
            </a:prstGeom>
            <a:solidFill>
              <a:srgbClr val="6FA0C8">
                <a:alpha val="100000"/>
              </a:srgbClr>
            </a:solidFill>
            <a:ln w="9000" cap="rnd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2609174" y="3806114"/>
              <a:ext cx="68622" cy="68622"/>
            </a:xfrm>
            <a:prstGeom prst="ellipse">
              <a:avLst/>
            </a:prstGeom>
            <a:solidFill>
              <a:srgbClr val="6FA0C8">
                <a:alpha val="100000"/>
              </a:srgbClr>
            </a:solidFill>
            <a:ln w="9000" cap="rnd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586939" y="4000426"/>
              <a:ext cx="68622" cy="68622"/>
            </a:xfrm>
            <a:prstGeom prst="ellipse">
              <a:avLst/>
            </a:prstGeom>
            <a:solidFill>
              <a:srgbClr val="6FA0C8">
                <a:alpha val="100000"/>
              </a:srgbClr>
            </a:solidFill>
            <a:ln w="9000" cap="rnd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463941" y="4172415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463941" y="3618516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463941" y="3064616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463941" y="2510717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050600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6028365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7006130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4463941" y="3064616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3550" cap="flat">
              <a:solidFill>
                <a:srgbClr val="999999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001712" y="3789312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050600" y="3789312"/>
              <a:ext cx="0" cy="75493"/>
            </a:xfrm>
            <a:custGeom>
              <a:avLst/>
              <a:pathLst>
                <a:path w="0" h="75493">
                  <a:moveTo>
                    <a:pt x="0" y="0"/>
                  </a:moveTo>
                  <a:lnTo>
                    <a:pt x="0" y="75493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5001712" y="3864805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5979477" y="3763049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6028365" y="3763049"/>
              <a:ext cx="0" cy="106754"/>
            </a:xfrm>
            <a:custGeom>
              <a:avLst/>
              <a:pathLst>
                <a:path w="0" h="106754">
                  <a:moveTo>
                    <a:pt x="0" y="0"/>
                  </a:moveTo>
                  <a:lnTo>
                    <a:pt x="0" y="106754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979477" y="3869804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6957242" y="4000601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006130" y="4000601"/>
              <a:ext cx="0" cy="78904"/>
            </a:xfrm>
            <a:custGeom>
              <a:avLst/>
              <a:pathLst>
                <a:path w="0" h="78904">
                  <a:moveTo>
                    <a:pt x="0" y="0"/>
                  </a:moveTo>
                  <a:lnTo>
                    <a:pt x="0" y="78904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6957242" y="4079505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001712" y="2112912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050600" y="2112912"/>
              <a:ext cx="0" cy="83467"/>
            </a:xfrm>
            <a:custGeom>
              <a:avLst/>
              <a:pathLst>
                <a:path w="0" h="83467">
                  <a:moveTo>
                    <a:pt x="0" y="0"/>
                  </a:moveTo>
                  <a:lnTo>
                    <a:pt x="0" y="83467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001712" y="2196379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979477" y="2184508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6028365" y="2184508"/>
              <a:ext cx="0" cy="66157"/>
            </a:xfrm>
            <a:custGeom>
              <a:avLst/>
              <a:pathLst>
                <a:path w="0" h="66157">
                  <a:moveTo>
                    <a:pt x="0" y="0"/>
                  </a:moveTo>
                  <a:lnTo>
                    <a:pt x="0" y="66157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979477" y="2250665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6957242" y="2386343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7006130" y="2386343"/>
              <a:ext cx="0" cy="78797"/>
            </a:xfrm>
            <a:custGeom>
              <a:avLst/>
              <a:pathLst>
                <a:path w="0" h="78797">
                  <a:moveTo>
                    <a:pt x="0" y="0"/>
                  </a:moveTo>
                  <a:lnTo>
                    <a:pt x="0" y="78797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6957242" y="2465140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050600" y="3816426"/>
              <a:ext cx="1955529" cy="223626"/>
            </a:xfrm>
            <a:custGeom>
              <a:avLst/>
              <a:pathLst>
                <a:path w="1955529" h="223626">
                  <a:moveTo>
                    <a:pt x="0" y="10632"/>
                  </a:moveTo>
                  <a:lnTo>
                    <a:pt x="977764" y="0"/>
                  </a:lnTo>
                  <a:lnTo>
                    <a:pt x="1955529" y="223626"/>
                  </a:lnTo>
                </a:path>
              </a:pathLst>
            </a:custGeom>
            <a:ln w="24391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050600" y="2154645"/>
              <a:ext cx="1955529" cy="271096"/>
            </a:xfrm>
            <a:custGeom>
              <a:avLst/>
              <a:pathLst>
                <a:path w="1955529" h="271096">
                  <a:moveTo>
                    <a:pt x="0" y="0"/>
                  </a:moveTo>
                  <a:lnTo>
                    <a:pt x="977764" y="62941"/>
                  </a:lnTo>
                  <a:lnTo>
                    <a:pt x="1955529" y="271096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5016289" y="3792747"/>
              <a:ext cx="68622" cy="68622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994054" y="3782115"/>
              <a:ext cx="68622" cy="68622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6971819" y="4005742"/>
              <a:ext cx="68622" cy="68622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016289" y="2120334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5994054" y="2183275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6971819" y="2391430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tx73"/>
            <p:cNvSpPr/>
            <p:nvPr/>
          </p:nvSpPr>
          <p:spPr>
            <a:xfrm>
              <a:off x="2183694" y="1817513"/>
              <a:ext cx="919581" cy="119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Fixed cutoffs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5228798" y="1787033"/>
              <a:ext cx="1599133" cy="1499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Report windows (+/- 2)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1533561" y="4222644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477423" y="4222942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455188" y="4222644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918441" y="4222644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862303" y="4222942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840067" y="4222644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875125" y="4129106"/>
              <a:ext cx="135612" cy="870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15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875125" y="3574373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875125" y="3020653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25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875125" y="2466753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85" name="tx85"/>
            <p:cNvSpPr/>
            <p:nvPr/>
          </p:nvSpPr>
          <p:spPr>
            <a:xfrm rot="-5400000">
              <a:off x="-575173" y="3024176"/>
              <a:ext cx="2613198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True colour behind the reports (+/- SE)</a:t>
              </a:r>
            </a:p>
          </p:txBody>
        </p:sp>
        <p:sp>
          <p:nvSpPr>
            <p:cNvPr id="86" name="pl86"/>
            <p:cNvSpPr/>
            <p:nvPr/>
          </p:nvSpPr>
          <p:spPr>
            <a:xfrm>
              <a:off x="1823354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1823354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1876825" y="4663740"/>
              <a:ext cx="68622" cy="68622"/>
            </a:xfrm>
            <a:prstGeom prst="ellipse">
              <a:avLst/>
            </a:prstGeom>
            <a:solidFill>
              <a:srgbClr val="D98477">
                <a:alpha val="100000"/>
              </a:srgbClr>
            </a:solidFill>
            <a:ln w="9000" cap="rnd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157082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157082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210553" y="4663740"/>
              <a:ext cx="68622" cy="68622"/>
            </a:xfrm>
            <a:prstGeom prst="ellipse">
              <a:avLst/>
            </a:prstGeom>
            <a:solidFill>
              <a:srgbClr val="6FA0C8">
                <a:alpha val="100000"/>
              </a:srgbClr>
            </a:solidFill>
            <a:ln w="9000" cap="rnd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4477178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4477178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4530649" y="4663740"/>
              <a:ext cx="68622" cy="68622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5722740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5722740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5776211" y="4663740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tx98"/>
            <p:cNvSpPr/>
            <p:nvPr/>
          </p:nvSpPr>
          <p:spPr>
            <a:xfrm>
              <a:off x="2096779" y="4628609"/>
              <a:ext cx="962441" cy="1131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Reports above 36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3430508" y="4628609"/>
              <a:ext cx="948809" cy="1131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Reports below 14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4750604" y="4628906"/>
              <a:ext cx="874275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Reports near 10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5996166" y="4628906"/>
              <a:ext cx="874275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Reports near 40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1079061" y="1472362"/>
              <a:ext cx="3477666" cy="1642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What lay behind extreme reports (experience)</a:t>
              </a:r>
            </a:p>
          </p:txBody>
        </p:sp>
        <p:sp>
          <p:nvSpPr>
            <p:cNvPr id="103" name="pl103"/>
            <p:cNvSpPr/>
            <p:nvPr/>
          </p:nvSpPr>
          <p:spPr>
            <a:xfrm>
              <a:off x="8237943" y="3815663"/>
              <a:ext cx="3256863" cy="0"/>
            </a:xfrm>
            <a:custGeom>
              <a:avLst/>
              <a:pathLst>
                <a:path w="3256863" h="0">
                  <a:moveTo>
                    <a:pt x="0" y="0"/>
                  </a:moveTo>
                  <a:lnTo>
                    <a:pt x="3256863" y="0"/>
                  </a:lnTo>
                  <a:lnTo>
                    <a:pt x="325686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8237943" y="3197876"/>
              <a:ext cx="3256863" cy="0"/>
            </a:xfrm>
            <a:custGeom>
              <a:avLst/>
              <a:pathLst>
                <a:path w="3256863" h="0">
                  <a:moveTo>
                    <a:pt x="0" y="0"/>
                  </a:moveTo>
                  <a:lnTo>
                    <a:pt x="3256863" y="0"/>
                  </a:lnTo>
                  <a:lnTo>
                    <a:pt x="325686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8237943" y="2580089"/>
              <a:ext cx="3256863" cy="0"/>
            </a:xfrm>
            <a:custGeom>
              <a:avLst/>
              <a:pathLst>
                <a:path w="3256863" h="0">
                  <a:moveTo>
                    <a:pt x="0" y="0"/>
                  </a:moveTo>
                  <a:lnTo>
                    <a:pt x="3256863" y="0"/>
                  </a:lnTo>
                  <a:lnTo>
                    <a:pt x="325686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8848605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9866375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10884145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8797717" y="2278035"/>
              <a:ext cx="101776" cy="0"/>
            </a:xfrm>
            <a:custGeom>
              <a:avLst/>
              <a:pathLst>
                <a:path w="101776" h="0">
                  <a:moveTo>
                    <a:pt x="0" y="0"/>
                  </a:moveTo>
                  <a:lnTo>
                    <a:pt x="10177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8848605" y="2278035"/>
              <a:ext cx="0" cy="1358936"/>
            </a:xfrm>
            <a:custGeom>
              <a:avLst/>
              <a:pathLst>
                <a:path w="0" h="1358936">
                  <a:moveTo>
                    <a:pt x="0" y="0"/>
                  </a:moveTo>
                  <a:lnTo>
                    <a:pt x="0" y="1358936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8797717" y="3636972"/>
              <a:ext cx="101776" cy="0"/>
            </a:xfrm>
            <a:custGeom>
              <a:avLst/>
              <a:pathLst>
                <a:path w="101776" h="0">
                  <a:moveTo>
                    <a:pt x="0" y="0"/>
                  </a:moveTo>
                  <a:lnTo>
                    <a:pt x="10177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9815487" y="2669771"/>
              <a:ext cx="101776" cy="0"/>
            </a:xfrm>
            <a:custGeom>
              <a:avLst/>
              <a:pathLst>
                <a:path w="101776" h="0">
                  <a:moveTo>
                    <a:pt x="0" y="0"/>
                  </a:moveTo>
                  <a:lnTo>
                    <a:pt x="10177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9866375" y="2669771"/>
              <a:ext cx="0" cy="1409734"/>
            </a:xfrm>
            <a:custGeom>
              <a:avLst/>
              <a:pathLst>
                <a:path w="0" h="1409734">
                  <a:moveTo>
                    <a:pt x="0" y="0"/>
                  </a:moveTo>
                  <a:lnTo>
                    <a:pt x="0" y="1409734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9815487" y="4079505"/>
              <a:ext cx="101776" cy="0"/>
            </a:xfrm>
            <a:custGeom>
              <a:avLst/>
              <a:pathLst>
                <a:path w="101776" h="0">
                  <a:moveTo>
                    <a:pt x="0" y="0"/>
                  </a:moveTo>
                  <a:lnTo>
                    <a:pt x="10177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10833257" y="2112912"/>
              <a:ext cx="101776" cy="0"/>
            </a:xfrm>
            <a:custGeom>
              <a:avLst/>
              <a:pathLst>
                <a:path w="101776" h="0">
                  <a:moveTo>
                    <a:pt x="0" y="0"/>
                  </a:moveTo>
                  <a:lnTo>
                    <a:pt x="10177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10884145" y="2112912"/>
              <a:ext cx="0" cy="1276757"/>
            </a:xfrm>
            <a:custGeom>
              <a:avLst/>
              <a:pathLst>
                <a:path w="0" h="1276757">
                  <a:moveTo>
                    <a:pt x="0" y="0"/>
                  </a:moveTo>
                  <a:lnTo>
                    <a:pt x="0" y="1276757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10833257" y="3389669"/>
              <a:ext cx="101776" cy="0"/>
            </a:xfrm>
            <a:custGeom>
              <a:avLst/>
              <a:pathLst>
                <a:path w="101776" h="0">
                  <a:moveTo>
                    <a:pt x="0" y="0"/>
                  </a:moveTo>
                  <a:lnTo>
                    <a:pt x="10177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8848605" y="2751290"/>
              <a:ext cx="2035539" cy="623347"/>
            </a:xfrm>
            <a:custGeom>
              <a:avLst/>
              <a:pathLst>
                <a:path w="2035539" h="623347">
                  <a:moveTo>
                    <a:pt x="0" y="206213"/>
                  </a:moveTo>
                  <a:lnTo>
                    <a:pt x="1017769" y="623347"/>
                  </a:lnTo>
                  <a:lnTo>
                    <a:pt x="2035539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8814294" y="2923192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9832064" y="3340327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10849834" y="2716979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tx122"/>
            <p:cNvSpPr/>
            <p:nvPr/>
          </p:nvSpPr>
          <p:spPr>
            <a:xfrm>
              <a:off x="7925601" y="3771580"/>
              <a:ext cx="244018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12%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7925601" y="3153912"/>
              <a:ext cx="244018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13%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7925601" y="2536065"/>
              <a:ext cx="244018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14%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8716446" y="4222644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9700313" y="4222942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10718083" y="4222644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128" name="tx128"/>
            <p:cNvSpPr/>
            <p:nvPr/>
          </p:nvSpPr>
          <p:spPr>
            <a:xfrm rot="-5400000">
              <a:off x="6653300" y="3024176"/>
              <a:ext cx="2257201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Share of extreme reports (+/- SE)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8237943" y="1475168"/>
              <a:ext cx="2467254" cy="1614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How often reports were extreme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6949440" cy="4297680"/>
            <a:chOff x="548640" y="1371600"/>
            <a:chExt cx="6949440" cy="429768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6949439" cy="42976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82266" y="4983878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82266" y="4034318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82266" y="3084758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82266" y="2135198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22809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25521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28233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230945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933657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82266" y="4034318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982266" y="4354592"/>
              <a:ext cx="3091932" cy="725745"/>
            </a:xfrm>
            <a:prstGeom prst="rect">
              <a:avLst/>
            </a:prstGeom>
            <a:solidFill>
              <a:srgbClr val="B03A2E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82266" y="4732833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1083077" y="4770060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1434433" y="4770060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1785789" y="4584105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2137145" y="4950591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2488501" y="4406975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839857" y="4914072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191213" y="4983711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542569" y="4300789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893925" y="4557546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30231" y="4983878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30231" y="4034318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330231" y="3084758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330231" y="2135198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470774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273873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076973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880072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330231" y="4034318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4330231" y="2751561"/>
              <a:ext cx="3091932" cy="710407"/>
            </a:xfrm>
            <a:prstGeom prst="rect">
              <a:avLst/>
            </a:prstGeom>
            <a:solidFill>
              <a:srgbClr val="B03A2E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30231" y="3130034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431042" y="3053382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832592" y="3204828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5234142" y="2269806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5635691" y="2054563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6037241" y="3529698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6438791" y="3638936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6840340" y="3705023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7241890" y="3266185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1612004" y="1720035"/>
              <a:ext cx="1832457" cy="1473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Pale end (reports up to 14)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871729" y="1717444"/>
              <a:ext cx="2008936" cy="1499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Vivid end (reports 36 and up)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088906" y="5297606"/>
              <a:ext cx="67806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6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791618" y="5297487"/>
              <a:ext cx="67806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8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460427" y="5297845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163139" y="5299869"/>
              <a:ext cx="135612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12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865851" y="5299928"/>
              <a:ext cx="135612" cy="854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14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402968" y="5297487"/>
              <a:ext cx="135612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36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5206067" y="5297487"/>
              <a:ext cx="135612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38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6009167" y="5297606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6812266" y="5299869"/>
              <a:ext cx="135612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42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05536" y="4942057"/>
              <a:ext cx="1084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-2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46137" y="3990473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46137" y="3042937"/>
              <a:ext cx="678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46137" y="2093437"/>
              <a:ext cx="67806" cy="854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3770167" y="5418566"/>
              <a:ext cx="864096" cy="141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 value</a:t>
              </a:r>
            </a:p>
          </p:txBody>
        </p:sp>
        <p:sp>
          <p:nvSpPr>
            <p:cNvPr id="60" name="tx60"/>
            <p:cNvSpPr/>
            <p:nvPr/>
          </p:nvSpPr>
          <p:spPr>
            <a:xfrm rot="-5400000">
              <a:off x="-628912" y="3516139"/>
              <a:ext cx="2583209" cy="1423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How much less extreme the array was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982266" y="1404589"/>
              <a:ext cx="5613730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Same report, 20 vs 2 squares, experience (each report value counted once)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11091672" cy="3749040"/>
            <a:chOff x="548640" y="1371600"/>
            <a:chExt cx="11091672" cy="374904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11091672" cy="37490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548640" y="1371600"/>
              <a:ext cx="11091671" cy="37490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51856" y="3519882"/>
              <a:ext cx="4902262" cy="0"/>
            </a:xfrm>
            <a:custGeom>
              <a:avLst/>
              <a:pathLst>
                <a:path w="4902262" h="0">
                  <a:moveTo>
                    <a:pt x="0" y="0"/>
                  </a:moveTo>
                  <a:lnTo>
                    <a:pt x="4902262" y="0"/>
                  </a:lnTo>
                  <a:lnTo>
                    <a:pt x="490226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51856" y="2737895"/>
              <a:ext cx="4902262" cy="0"/>
            </a:xfrm>
            <a:custGeom>
              <a:avLst/>
              <a:pathLst>
                <a:path w="4902262" h="0">
                  <a:moveTo>
                    <a:pt x="0" y="0"/>
                  </a:moveTo>
                  <a:lnTo>
                    <a:pt x="4902262" y="0"/>
                  </a:lnTo>
                  <a:lnTo>
                    <a:pt x="490226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51856" y="1955908"/>
              <a:ext cx="4902262" cy="0"/>
            </a:xfrm>
            <a:custGeom>
              <a:avLst/>
              <a:pathLst>
                <a:path w="4902262" h="0">
                  <a:moveTo>
                    <a:pt x="0" y="0"/>
                  </a:moveTo>
                  <a:lnTo>
                    <a:pt x="4902262" y="0"/>
                  </a:lnTo>
                  <a:lnTo>
                    <a:pt x="490226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60220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617137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051856" y="2737895"/>
              <a:ext cx="4902262" cy="0"/>
            </a:xfrm>
            <a:custGeom>
              <a:avLst/>
              <a:pathLst>
                <a:path w="4902262" h="0">
                  <a:moveTo>
                    <a:pt x="0" y="0"/>
                  </a:moveTo>
                  <a:lnTo>
                    <a:pt x="4902262" y="0"/>
                  </a:lnTo>
                  <a:lnTo>
                    <a:pt x="4902262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88678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999999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646069" y="1855399"/>
              <a:ext cx="4085218" cy="2126566"/>
            </a:xfrm>
            <a:custGeom>
              <a:avLst/>
              <a:pathLst>
                <a:path w="4085218" h="2126566">
                  <a:moveTo>
                    <a:pt x="0" y="875734"/>
                  </a:moveTo>
                  <a:lnTo>
                    <a:pt x="185691" y="756031"/>
                  </a:lnTo>
                  <a:lnTo>
                    <a:pt x="371383" y="772379"/>
                  </a:lnTo>
                  <a:lnTo>
                    <a:pt x="557075" y="618575"/>
                  </a:lnTo>
                  <a:lnTo>
                    <a:pt x="742766" y="606628"/>
                  </a:lnTo>
                  <a:lnTo>
                    <a:pt x="928458" y="211058"/>
                  </a:lnTo>
                  <a:lnTo>
                    <a:pt x="1114150" y="615724"/>
                  </a:lnTo>
                  <a:lnTo>
                    <a:pt x="1299842" y="247597"/>
                  </a:lnTo>
                  <a:lnTo>
                    <a:pt x="1485533" y="137899"/>
                  </a:lnTo>
                  <a:lnTo>
                    <a:pt x="1671225" y="0"/>
                  </a:lnTo>
                  <a:lnTo>
                    <a:pt x="1856917" y="238081"/>
                  </a:lnTo>
                  <a:lnTo>
                    <a:pt x="2228300" y="1873013"/>
                  </a:lnTo>
                  <a:lnTo>
                    <a:pt x="2413992" y="1831329"/>
                  </a:lnTo>
                  <a:lnTo>
                    <a:pt x="2599684" y="2126566"/>
                  </a:lnTo>
                  <a:lnTo>
                    <a:pt x="2785376" y="1573133"/>
                  </a:lnTo>
                  <a:lnTo>
                    <a:pt x="2971067" y="1679917"/>
                  </a:lnTo>
                  <a:lnTo>
                    <a:pt x="3156759" y="1587805"/>
                  </a:lnTo>
                  <a:lnTo>
                    <a:pt x="3342451" y="1133994"/>
                  </a:lnTo>
                  <a:lnTo>
                    <a:pt x="3528143" y="1743693"/>
                  </a:lnTo>
                  <a:lnTo>
                    <a:pt x="3713834" y="1788177"/>
                  </a:lnTo>
                  <a:lnTo>
                    <a:pt x="3899526" y="1891888"/>
                  </a:lnTo>
                  <a:lnTo>
                    <a:pt x="4085218" y="1638417"/>
                  </a:lnTo>
                </a:path>
              </a:pathLst>
            </a:custGeom>
            <a:ln w="2439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646069" y="2499735"/>
              <a:ext cx="4085218" cy="1465216"/>
            </a:xfrm>
            <a:custGeom>
              <a:avLst/>
              <a:pathLst>
                <a:path w="4085218" h="1465216">
                  <a:moveTo>
                    <a:pt x="0" y="1465216"/>
                  </a:moveTo>
                  <a:lnTo>
                    <a:pt x="185691" y="1167331"/>
                  </a:lnTo>
                  <a:lnTo>
                    <a:pt x="371383" y="1140406"/>
                  </a:lnTo>
                  <a:lnTo>
                    <a:pt x="557075" y="977255"/>
                  </a:lnTo>
                  <a:lnTo>
                    <a:pt x="742766" y="484737"/>
                  </a:lnTo>
                  <a:lnTo>
                    <a:pt x="928458" y="1244029"/>
                  </a:lnTo>
                  <a:lnTo>
                    <a:pt x="1114150" y="905994"/>
                  </a:lnTo>
                  <a:lnTo>
                    <a:pt x="1299842" y="560781"/>
                  </a:lnTo>
                  <a:lnTo>
                    <a:pt x="1485533" y="718607"/>
                  </a:lnTo>
                  <a:lnTo>
                    <a:pt x="1671225" y="438207"/>
                  </a:lnTo>
                  <a:lnTo>
                    <a:pt x="1856917" y="921234"/>
                  </a:lnTo>
                  <a:lnTo>
                    <a:pt x="2228300" y="197306"/>
                  </a:lnTo>
                  <a:lnTo>
                    <a:pt x="2413992" y="676837"/>
                  </a:lnTo>
                  <a:lnTo>
                    <a:pt x="2599684" y="0"/>
                  </a:lnTo>
                  <a:lnTo>
                    <a:pt x="2785376" y="291921"/>
                  </a:lnTo>
                  <a:lnTo>
                    <a:pt x="2971067" y="615034"/>
                  </a:lnTo>
                  <a:lnTo>
                    <a:pt x="3156759" y="471280"/>
                  </a:lnTo>
                  <a:lnTo>
                    <a:pt x="3342451" y="520445"/>
                  </a:lnTo>
                  <a:lnTo>
                    <a:pt x="3528143" y="304540"/>
                  </a:lnTo>
                  <a:lnTo>
                    <a:pt x="3713834" y="865097"/>
                  </a:lnTo>
                  <a:lnTo>
                    <a:pt x="3899526" y="912327"/>
                  </a:lnTo>
                  <a:lnTo>
                    <a:pt x="4085218" y="240331"/>
                  </a:lnTo>
                </a:path>
              </a:pathLst>
            </a:custGeom>
            <a:ln w="2439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274686" y="2529461"/>
              <a:ext cx="4085218" cy="1142842"/>
            </a:xfrm>
            <a:custGeom>
              <a:avLst/>
              <a:pathLst>
                <a:path w="4085218" h="1142842">
                  <a:moveTo>
                    <a:pt x="0" y="1142842"/>
                  </a:moveTo>
                  <a:lnTo>
                    <a:pt x="371383" y="1006712"/>
                  </a:lnTo>
                  <a:lnTo>
                    <a:pt x="742766" y="871972"/>
                  </a:lnTo>
                  <a:lnTo>
                    <a:pt x="1114150" y="582670"/>
                  </a:lnTo>
                  <a:lnTo>
                    <a:pt x="1485533" y="624751"/>
                  </a:lnTo>
                  <a:lnTo>
                    <a:pt x="1856917" y="659594"/>
                  </a:lnTo>
                  <a:lnTo>
                    <a:pt x="2228300" y="419705"/>
                  </a:lnTo>
                  <a:lnTo>
                    <a:pt x="2599684" y="114724"/>
                  </a:lnTo>
                  <a:lnTo>
                    <a:pt x="2971067" y="0"/>
                  </a:lnTo>
                  <a:lnTo>
                    <a:pt x="3342451" y="138381"/>
                  </a:lnTo>
                  <a:lnTo>
                    <a:pt x="3713834" y="455183"/>
                  </a:lnTo>
                  <a:lnTo>
                    <a:pt x="4085218" y="475282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1622598" y="2707662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1808290" y="2587959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1993982" y="2604308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2179673" y="245050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2365365" y="2438557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2551057" y="2042986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736749" y="2447653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922440" y="2079525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108132" y="1969827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293824" y="1831928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479516" y="2070009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850899" y="370494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036591" y="3663258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222283" y="395849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407974" y="340506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593666" y="3511845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779358" y="3419733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965050" y="2965923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150741" y="357562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336433" y="3620105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5522125" y="3723817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5707817" y="3470345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622598" y="3941481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808290" y="3643595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993982" y="3616671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2179673" y="345352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2365365" y="2961002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2551057" y="3720294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2736749" y="3382259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2922440" y="3037046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108132" y="3194872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293824" y="2914472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479516" y="3397499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850899" y="267357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4036591" y="3153102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222283" y="2476264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407974" y="2768186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593666" y="3091298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779358" y="2947545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965050" y="299671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5150741" y="2780805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5336433" y="3341362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5522125" y="3388592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5707817" y="2716596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1251215" y="3648832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1622598" y="3512703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1993982" y="3377962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2365365" y="308866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2736749" y="3130742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108132" y="3165584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479516" y="2925696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850899" y="2620714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222283" y="2505990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593666" y="264437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965050" y="2961174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336433" y="2981273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tx71"/>
            <p:cNvSpPr/>
            <p:nvPr/>
          </p:nvSpPr>
          <p:spPr>
            <a:xfrm>
              <a:off x="875125" y="3478061"/>
              <a:ext cx="1084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-2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915726" y="2694050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915726" y="1914088"/>
              <a:ext cx="678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2692413" y="4156201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549331" y="4156379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117596" y="4306092"/>
              <a:ext cx="770780" cy="1122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True colour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-122996" y="2847951"/>
              <a:ext cx="1711449" cy="1414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&lt; 0 = pulled to the middle</a:t>
              </a:r>
            </a:p>
          </p:txBody>
        </p:sp>
        <p:sp>
          <p:nvSpPr>
            <p:cNvPr id="78" name="pl78"/>
            <p:cNvSpPr/>
            <p:nvPr/>
          </p:nvSpPr>
          <p:spPr>
            <a:xfrm>
              <a:off x="2541676" y="47894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2605987" y="476602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177281" y="47894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241593" y="4766021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880693" y="47894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945004" y="476602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2815101" y="4722251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450707" y="4722549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154118" y="4722251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1051856" y="1474178"/>
              <a:ext cx="3562362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Forward: (report - true) x side of the true colour</a:t>
              </a:r>
            </a:p>
          </p:txBody>
        </p:sp>
        <p:sp>
          <p:nvSpPr>
            <p:cNvPr id="88" name="pl88"/>
            <p:cNvSpPr/>
            <p:nvPr/>
          </p:nvSpPr>
          <p:spPr>
            <a:xfrm>
              <a:off x="6592545" y="3687701"/>
              <a:ext cx="4902262" cy="0"/>
            </a:xfrm>
            <a:custGeom>
              <a:avLst/>
              <a:pathLst>
                <a:path w="4902262" h="0">
                  <a:moveTo>
                    <a:pt x="0" y="0"/>
                  </a:moveTo>
                  <a:lnTo>
                    <a:pt x="4902262" y="0"/>
                  </a:lnTo>
                  <a:lnTo>
                    <a:pt x="490226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6592545" y="3240798"/>
              <a:ext cx="4902262" cy="0"/>
            </a:xfrm>
            <a:custGeom>
              <a:avLst/>
              <a:pathLst>
                <a:path w="4902262" h="0">
                  <a:moveTo>
                    <a:pt x="0" y="0"/>
                  </a:moveTo>
                  <a:lnTo>
                    <a:pt x="4902262" y="0"/>
                  </a:lnTo>
                  <a:lnTo>
                    <a:pt x="490226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6592545" y="2793895"/>
              <a:ext cx="4902262" cy="0"/>
            </a:xfrm>
            <a:custGeom>
              <a:avLst/>
              <a:pathLst>
                <a:path w="4902262" h="0">
                  <a:moveTo>
                    <a:pt x="0" y="0"/>
                  </a:moveTo>
                  <a:lnTo>
                    <a:pt x="4902262" y="0"/>
                  </a:lnTo>
                  <a:lnTo>
                    <a:pt x="490226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6592545" y="2346992"/>
              <a:ext cx="4902262" cy="0"/>
            </a:xfrm>
            <a:custGeom>
              <a:avLst/>
              <a:pathLst>
                <a:path w="4902262" h="0">
                  <a:moveTo>
                    <a:pt x="0" y="0"/>
                  </a:moveTo>
                  <a:lnTo>
                    <a:pt x="4902262" y="0"/>
                  </a:lnTo>
                  <a:lnTo>
                    <a:pt x="490226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6592545" y="1900089"/>
              <a:ext cx="4902262" cy="0"/>
            </a:xfrm>
            <a:custGeom>
              <a:avLst/>
              <a:pathLst>
                <a:path w="4902262" h="0">
                  <a:moveTo>
                    <a:pt x="0" y="0"/>
                  </a:moveTo>
                  <a:lnTo>
                    <a:pt x="4902262" y="0"/>
                  </a:lnTo>
                  <a:lnTo>
                    <a:pt x="490226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7186759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8424704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9662649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10900594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6592545" y="3687701"/>
              <a:ext cx="4902262" cy="0"/>
            </a:xfrm>
            <a:custGeom>
              <a:avLst/>
              <a:pathLst>
                <a:path w="4902262" h="0">
                  <a:moveTo>
                    <a:pt x="0" y="0"/>
                  </a:moveTo>
                  <a:lnTo>
                    <a:pt x="4902262" y="0"/>
                  </a:lnTo>
                  <a:lnTo>
                    <a:pt x="4902262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9043676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999999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6815375" y="2007677"/>
              <a:ext cx="4209012" cy="1974288"/>
            </a:xfrm>
            <a:custGeom>
              <a:avLst/>
              <a:pathLst>
                <a:path w="4209012" h="1974288">
                  <a:moveTo>
                    <a:pt x="0" y="0"/>
                  </a:moveTo>
                  <a:lnTo>
                    <a:pt x="123794" y="11586"/>
                  </a:lnTo>
                  <a:lnTo>
                    <a:pt x="247588" y="291645"/>
                  </a:lnTo>
                  <a:lnTo>
                    <a:pt x="371383" y="310397"/>
                  </a:lnTo>
                  <a:lnTo>
                    <a:pt x="495177" y="249934"/>
                  </a:lnTo>
                  <a:lnTo>
                    <a:pt x="618972" y="527890"/>
                  </a:lnTo>
                  <a:lnTo>
                    <a:pt x="742766" y="815597"/>
                  </a:lnTo>
                  <a:lnTo>
                    <a:pt x="866561" y="818024"/>
                  </a:lnTo>
                  <a:lnTo>
                    <a:pt x="990355" y="948592"/>
                  </a:lnTo>
                  <a:lnTo>
                    <a:pt x="1114150" y="944868"/>
                  </a:lnTo>
                  <a:lnTo>
                    <a:pt x="1237944" y="1083420"/>
                  </a:lnTo>
                  <a:lnTo>
                    <a:pt x="1361739" y="1189945"/>
                  </a:lnTo>
                  <a:lnTo>
                    <a:pt x="1485533" y="1122885"/>
                  </a:lnTo>
                  <a:lnTo>
                    <a:pt x="1609328" y="1243548"/>
                  </a:lnTo>
                  <a:lnTo>
                    <a:pt x="1733122" y="1235516"/>
                  </a:lnTo>
                  <a:lnTo>
                    <a:pt x="1856917" y="1371373"/>
                  </a:lnTo>
                  <a:lnTo>
                    <a:pt x="1980711" y="1319368"/>
                  </a:lnTo>
                  <a:lnTo>
                    <a:pt x="2104506" y="1405610"/>
                  </a:lnTo>
                  <a:lnTo>
                    <a:pt x="2352095" y="1974288"/>
                  </a:lnTo>
                  <a:lnTo>
                    <a:pt x="2475889" y="1932965"/>
                  </a:lnTo>
                  <a:lnTo>
                    <a:pt x="2599684" y="1763562"/>
                  </a:lnTo>
                  <a:lnTo>
                    <a:pt x="2723478" y="1814095"/>
                  </a:lnTo>
                  <a:lnTo>
                    <a:pt x="2847273" y="1652479"/>
                  </a:lnTo>
                  <a:lnTo>
                    <a:pt x="2971067" y="1657679"/>
                  </a:lnTo>
                  <a:lnTo>
                    <a:pt x="3094862" y="1493294"/>
                  </a:lnTo>
                  <a:lnTo>
                    <a:pt x="3218656" y="1470528"/>
                  </a:lnTo>
                  <a:lnTo>
                    <a:pt x="3342451" y="1245180"/>
                  </a:lnTo>
                  <a:lnTo>
                    <a:pt x="3466245" y="1237230"/>
                  </a:lnTo>
                  <a:lnTo>
                    <a:pt x="3590040" y="1007101"/>
                  </a:lnTo>
                  <a:lnTo>
                    <a:pt x="3713834" y="752315"/>
                  </a:lnTo>
                  <a:lnTo>
                    <a:pt x="3837629" y="874452"/>
                  </a:lnTo>
                  <a:lnTo>
                    <a:pt x="3961423" y="529662"/>
                  </a:lnTo>
                  <a:lnTo>
                    <a:pt x="4085218" y="511692"/>
                  </a:lnTo>
                  <a:lnTo>
                    <a:pt x="4209012" y="98675"/>
                  </a:lnTo>
                </a:path>
              </a:pathLst>
            </a:custGeom>
            <a:ln w="2439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6815375" y="2132478"/>
              <a:ext cx="4456601" cy="1689813"/>
            </a:xfrm>
            <a:custGeom>
              <a:avLst/>
              <a:pathLst>
                <a:path w="4456601" h="1689813">
                  <a:moveTo>
                    <a:pt x="0" y="0"/>
                  </a:moveTo>
                  <a:lnTo>
                    <a:pt x="247588" y="9931"/>
                  </a:lnTo>
                  <a:lnTo>
                    <a:pt x="495177" y="455841"/>
                  </a:lnTo>
                  <a:lnTo>
                    <a:pt x="618972" y="449740"/>
                  </a:lnTo>
                  <a:lnTo>
                    <a:pt x="742766" y="668226"/>
                  </a:lnTo>
                  <a:lnTo>
                    <a:pt x="866561" y="893805"/>
                  </a:lnTo>
                  <a:lnTo>
                    <a:pt x="990355" y="839432"/>
                  </a:lnTo>
                  <a:lnTo>
                    <a:pt x="1114150" y="1086739"/>
                  </a:lnTo>
                  <a:lnTo>
                    <a:pt x="1237944" y="1054934"/>
                  </a:lnTo>
                  <a:lnTo>
                    <a:pt x="1361739" y="1076491"/>
                  </a:lnTo>
                  <a:lnTo>
                    <a:pt x="1485533" y="1388149"/>
                  </a:lnTo>
                  <a:lnTo>
                    <a:pt x="1609328" y="1378199"/>
                  </a:lnTo>
                  <a:lnTo>
                    <a:pt x="1733122" y="1537764"/>
                  </a:lnTo>
                  <a:lnTo>
                    <a:pt x="1856917" y="1404097"/>
                  </a:lnTo>
                  <a:lnTo>
                    <a:pt x="1980711" y="1367302"/>
                  </a:lnTo>
                  <a:lnTo>
                    <a:pt x="2104506" y="1689813"/>
                  </a:lnTo>
                  <a:lnTo>
                    <a:pt x="2352095" y="1508545"/>
                  </a:lnTo>
                  <a:lnTo>
                    <a:pt x="2475889" y="1448268"/>
                  </a:lnTo>
                  <a:lnTo>
                    <a:pt x="2599684" y="1284491"/>
                  </a:lnTo>
                  <a:lnTo>
                    <a:pt x="2723478" y="1455662"/>
                  </a:lnTo>
                  <a:lnTo>
                    <a:pt x="2847273" y="1346242"/>
                  </a:lnTo>
                  <a:lnTo>
                    <a:pt x="2971067" y="1118174"/>
                  </a:lnTo>
                  <a:lnTo>
                    <a:pt x="3094862" y="1124396"/>
                  </a:lnTo>
                  <a:lnTo>
                    <a:pt x="3218656" y="893093"/>
                  </a:lnTo>
                  <a:lnTo>
                    <a:pt x="3342451" y="970276"/>
                  </a:lnTo>
                  <a:lnTo>
                    <a:pt x="3466245" y="790273"/>
                  </a:lnTo>
                  <a:lnTo>
                    <a:pt x="3590040" y="881888"/>
                  </a:lnTo>
                  <a:lnTo>
                    <a:pt x="3713834" y="639873"/>
                  </a:lnTo>
                  <a:lnTo>
                    <a:pt x="3837629" y="355039"/>
                  </a:lnTo>
                  <a:lnTo>
                    <a:pt x="3961423" y="427371"/>
                  </a:lnTo>
                  <a:lnTo>
                    <a:pt x="4085218" y="359854"/>
                  </a:lnTo>
                  <a:lnTo>
                    <a:pt x="4209012" y="245300"/>
                  </a:lnTo>
                  <a:lnTo>
                    <a:pt x="4332807" y="158898"/>
                  </a:lnTo>
                  <a:lnTo>
                    <a:pt x="4456601" y="229639"/>
                  </a:lnTo>
                </a:path>
              </a:pathLst>
            </a:custGeom>
            <a:ln w="2439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6815375" y="1855399"/>
              <a:ext cx="4332807" cy="1996166"/>
            </a:xfrm>
            <a:custGeom>
              <a:avLst/>
              <a:pathLst>
                <a:path w="4332807" h="1996166">
                  <a:moveTo>
                    <a:pt x="0" y="402212"/>
                  </a:moveTo>
                  <a:lnTo>
                    <a:pt x="123794" y="283038"/>
                  </a:lnTo>
                  <a:lnTo>
                    <a:pt x="247588" y="787873"/>
                  </a:lnTo>
                  <a:lnTo>
                    <a:pt x="371383" y="642129"/>
                  </a:lnTo>
                  <a:lnTo>
                    <a:pt x="495177" y="756297"/>
                  </a:lnTo>
                  <a:lnTo>
                    <a:pt x="618972" y="988152"/>
                  </a:lnTo>
                  <a:lnTo>
                    <a:pt x="742766" y="1138818"/>
                  </a:lnTo>
                  <a:lnTo>
                    <a:pt x="866561" y="1159819"/>
                  </a:lnTo>
                  <a:lnTo>
                    <a:pt x="990355" y="1440304"/>
                  </a:lnTo>
                  <a:lnTo>
                    <a:pt x="1114150" y="1558574"/>
                  </a:lnTo>
                  <a:lnTo>
                    <a:pt x="1237944" y="1479993"/>
                  </a:lnTo>
                  <a:lnTo>
                    <a:pt x="1361739" y="1602033"/>
                  </a:lnTo>
                  <a:lnTo>
                    <a:pt x="1485533" y="1715172"/>
                  </a:lnTo>
                  <a:lnTo>
                    <a:pt x="1609328" y="1750059"/>
                  </a:lnTo>
                  <a:lnTo>
                    <a:pt x="1733122" y="1713837"/>
                  </a:lnTo>
                  <a:lnTo>
                    <a:pt x="1856917" y="1902029"/>
                  </a:lnTo>
                  <a:lnTo>
                    <a:pt x="1980711" y="1920441"/>
                  </a:lnTo>
                  <a:lnTo>
                    <a:pt x="2104506" y="1996166"/>
                  </a:lnTo>
                  <a:lnTo>
                    <a:pt x="2352095" y="1771419"/>
                  </a:lnTo>
                  <a:lnTo>
                    <a:pt x="2475889" y="1689665"/>
                  </a:lnTo>
                  <a:lnTo>
                    <a:pt x="2599684" y="1653753"/>
                  </a:lnTo>
                  <a:lnTo>
                    <a:pt x="2723478" y="1562670"/>
                  </a:lnTo>
                  <a:lnTo>
                    <a:pt x="2847273" y="1457967"/>
                  </a:lnTo>
                  <a:lnTo>
                    <a:pt x="2971067" y="1272454"/>
                  </a:lnTo>
                  <a:lnTo>
                    <a:pt x="3094862" y="1189798"/>
                  </a:lnTo>
                  <a:lnTo>
                    <a:pt x="3218656" y="1049157"/>
                  </a:lnTo>
                  <a:lnTo>
                    <a:pt x="3342451" y="1050614"/>
                  </a:lnTo>
                  <a:lnTo>
                    <a:pt x="3466245" y="871460"/>
                  </a:lnTo>
                  <a:lnTo>
                    <a:pt x="3590040" y="810942"/>
                  </a:lnTo>
                  <a:lnTo>
                    <a:pt x="3713834" y="612422"/>
                  </a:lnTo>
                  <a:lnTo>
                    <a:pt x="3837629" y="357522"/>
                  </a:lnTo>
                  <a:lnTo>
                    <a:pt x="3961423" y="0"/>
                  </a:lnTo>
                  <a:lnTo>
                    <a:pt x="4085218" y="497179"/>
                  </a:lnTo>
                  <a:lnTo>
                    <a:pt x="4209012" y="139657"/>
                  </a:lnTo>
                  <a:lnTo>
                    <a:pt x="4332807" y="223451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6791904" y="1984206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6915699" y="1995792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7039493" y="227585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7163288" y="229460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7287082" y="2234140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7410877" y="2512097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7534671" y="279980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7658466" y="280223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7782260" y="2932799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7906055" y="2929075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8029849" y="3067627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8153644" y="3174152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8277438" y="310709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8401233" y="3227755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8525027" y="3219722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8648822" y="3355579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8772616" y="330357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8896411" y="3389816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9144000" y="395849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9267794" y="391717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9391589" y="3747769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9515383" y="379830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9639178" y="3636685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9762972" y="3641885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9886767" y="347750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10010561" y="345473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10134356" y="3229386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10258150" y="3221436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10381945" y="2991307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10505739" y="273652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10629534" y="2858659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10753328" y="2513869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10877123" y="2495898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11000917" y="208288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6791904" y="2109008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7039493" y="2118939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7287082" y="2564849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7410877" y="2558748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7534671" y="2777234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7658466" y="3002814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7782260" y="294844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7906055" y="3195747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8029849" y="3163942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8153644" y="3185499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8277438" y="3497157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8401233" y="3487207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8525027" y="3646772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8648822" y="3513105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8772616" y="347631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8896411" y="3798821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9144000" y="3617553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9267794" y="3557276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9391589" y="339350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9515383" y="356467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9639178" y="345525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9762972" y="3227182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9886767" y="3233404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10010561" y="3002101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10134356" y="3079284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10258150" y="2899281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10381945" y="2990896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10505739" y="2748881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10629534" y="2464047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10753328" y="2536379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10877123" y="2468862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11000917" y="2354308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11124712" y="2267906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11248506" y="2338647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6791904" y="2234140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6915699" y="2114966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7039493" y="261980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7163288" y="2474057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7287082" y="2588225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7410877" y="2820080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7534671" y="2970746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7658466" y="2991747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7782260" y="3272232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7906055" y="3390502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8029849" y="331192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8153644" y="343396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8277438" y="354710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8401233" y="3581987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8525027" y="3545765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8648822" y="3733957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8772616" y="3752369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8896411" y="3828094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9144000" y="3603348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9267794" y="3521593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9391589" y="3485682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9515383" y="3394599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9639178" y="3289896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9762972" y="3104382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9886767" y="3021726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10010561" y="2881086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10134356" y="2882542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10258150" y="2703389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10381945" y="2642870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10505739" y="2444350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10629534" y="2189450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10753328" y="1831928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10877123" y="2329107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11000917" y="1971585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11124712" y="2055379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tx205"/>
            <p:cNvSpPr/>
            <p:nvPr/>
          </p:nvSpPr>
          <p:spPr>
            <a:xfrm>
              <a:off x="6354736" y="3643856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0.0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6354736" y="3196834"/>
              <a:ext cx="169485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2.5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6354736" y="2750050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5.0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6354736" y="2304754"/>
              <a:ext cx="169485" cy="859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7.5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6286930" y="1856244"/>
              <a:ext cx="237291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10.0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7118953" y="4156498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8356898" y="4156201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9594842" y="4156379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10832787" y="4156260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214" name="tx214"/>
            <p:cNvSpPr/>
            <p:nvPr/>
          </p:nvSpPr>
          <p:spPr>
            <a:xfrm>
              <a:off x="8814964" y="4277219"/>
              <a:ext cx="457423" cy="141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215" name="tx215"/>
            <p:cNvSpPr/>
            <p:nvPr/>
          </p:nvSpPr>
          <p:spPr>
            <a:xfrm rot="-5400000">
              <a:off x="4894673" y="2847505"/>
              <a:ext cx="2498824" cy="1423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&gt; 0 = report more extreme than array</a:t>
              </a:r>
            </a:p>
          </p:txBody>
        </p:sp>
        <p:sp>
          <p:nvSpPr>
            <p:cNvPr id="216" name="pl216"/>
            <p:cNvSpPr/>
            <p:nvPr/>
          </p:nvSpPr>
          <p:spPr>
            <a:xfrm>
              <a:off x="8082365" y="47894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8146677" y="476602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8717971" y="47894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8782282" y="4766021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9421382" y="47894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9485694" y="476602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tx222"/>
            <p:cNvSpPr/>
            <p:nvPr/>
          </p:nvSpPr>
          <p:spPr>
            <a:xfrm>
              <a:off x="8355791" y="4722251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8991396" y="4722549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9694808" y="4722251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6592545" y="1474178"/>
              <a:ext cx="3178009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Reverse: (report - true) x side of the report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6949440" cy="3931920"/>
            <a:chOff x="548640" y="1371600"/>
            <a:chExt cx="6949440" cy="393192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6949439" cy="393191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548640" y="1371600"/>
              <a:ext cx="6949439" cy="393191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180741" y="4915227"/>
              <a:ext cx="2800606" cy="0"/>
            </a:xfrm>
            <a:custGeom>
              <a:avLst/>
              <a:pathLst>
                <a:path w="2800606" h="0">
                  <a:moveTo>
                    <a:pt x="0" y="0"/>
                  </a:moveTo>
                  <a:lnTo>
                    <a:pt x="2800606" y="0"/>
                  </a:lnTo>
                  <a:lnTo>
                    <a:pt x="280060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180741" y="4311325"/>
              <a:ext cx="2800606" cy="0"/>
            </a:xfrm>
            <a:custGeom>
              <a:avLst/>
              <a:pathLst>
                <a:path w="2800606" h="0">
                  <a:moveTo>
                    <a:pt x="0" y="0"/>
                  </a:moveTo>
                  <a:lnTo>
                    <a:pt x="2800606" y="0"/>
                  </a:lnTo>
                  <a:lnTo>
                    <a:pt x="280060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180741" y="3707423"/>
              <a:ext cx="2800606" cy="0"/>
            </a:xfrm>
            <a:custGeom>
              <a:avLst/>
              <a:pathLst>
                <a:path w="2800606" h="0">
                  <a:moveTo>
                    <a:pt x="0" y="0"/>
                  </a:moveTo>
                  <a:lnTo>
                    <a:pt x="2800606" y="0"/>
                  </a:lnTo>
                  <a:lnTo>
                    <a:pt x="280060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80741" y="3103520"/>
              <a:ext cx="2800606" cy="0"/>
            </a:xfrm>
            <a:custGeom>
              <a:avLst/>
              <a:pathLst>
                <a:path w="2800606" h="0">
                  <a:moveTo>
                    <a:pt x="0" y="0"/>
                  </a:moveTo>
                  <a:lnTo>
                    <a:pt x="2800606" y="0"/>
                  </a:lnTo>
                  <a:lnTo>
                    <a:pt x="280060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180741" y="2499618"/>
              <a:ext cx="2800606" cy="0"/>
            </a:xfrm>
            <a:custGeom>
              <a:avLst/>
              <a:pathLst>
                <a:path w="2800606" h="0">
                  <a:moveTo>
                    <a:pt x="0" y="0"/>
                  </a:moveTo>
                  <a:lnTo>
                    <a:pt x="2800606" y="0"/>
                  </a:lnTo>
                  <a:lnTo>
                    <a:pt x="280060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180741" y="1895716"/>
              <a:ext cx="2800606" cy="0"/>
            </a:xfrm>
            <a:custGeom>
              <a:avLst/>
              <a:pathLst>
                <a:path w="2800606" h="0">
                  <a:moveTo>
                    <a:pt x="0" y="0"/>
                  </a:moveTo>
                  <a:lnTo>
                    <a:pt x="2800606" y="0"/>
                  </a:lnTo>
                  <a:lnTo>
                    <a:pt x="280060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705854" y="1749070"/>
              <a:ext cx="0" cy="3226202"/>
            </a:xfrm>
            <a:custGeom>
              <a:avLst/>
              <a:pathLst>
                <a:path w="0" h="3226202">
                  <a:moveTo>
                    <a:pt x="0" y="32262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581044" y="1749070"/>
              <a:ext cx="0" cy="3226202"/>
            </a:xfrm>
            <a:custGeom>
              <a:avLst/>
              <a:pathLst>
                <a:path w="0" h="3226202">
                  <a:moveTo>
                    <a:pt x="0" y="32262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456234" y="1749070"/>
              <a:ext cx="0" cy="3226202"/>
            </a:xfrm>
            <a:custGeom>
              <a:avLst/>
              <a:pathLst>
                <a:path w="0" h="3226202">
                  <a:moveTo>
                    <a:pt x="0" y="32262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180741" y="1895716"/>
              <a:ext cx="2800606" cy="0"/>
            </a:xfrm>
            <a:custGeom>
              <a:avLst/>
              <a:pathLst>
                <a:path w="2800606" h="0">
                  <a:moveTo>
                    <a:pt x="0" y="0"/>
                  </a:moveTo>
                  <a:lnTo>
                    <a:pt x="2800606" y="0"/>
                  </a:lnTo>
                  <a:lnTo>
                    <a:pt x="2800606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662095" y="1938668"/>
              <a:ext cx="87518" cy="0"/>
            </a:xfrm>
            <a:custGeom>
              <a:avLst/>
              <a:pathLst>
                <a:path w="87518" h="0">
                  <a:moveTo>
                    <a:pt x="0" y="0"/>
                  </a:moveTo>
                  <a:lnTo>
                    <a:pt x="8751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705854" y="1938668"/>
              <a:ext cx="0" cy="1867891"/>
            </a:xfrm>
            <a:custGeom>
              <a:avLst/>
              <a:pathLst>
                <a:path w="0" h="1867891">
                  <a:moveTo>
                    <a:pt x="0" y="0"/>
                  </a:moveTo>
                  <a:lnTo>
                    <a:pt x="0" y="1867891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662095" y="3806560"/>
              <a:ext cx="87518" cy="0"/>
            </a:xfrm>
            <a:custGeom>
              <a:avLst/>
              <a:pathLst>
                <a:path w="87518" h="0">
                  <a:moveTo>
                    <a:pt x="0" y="0"/>
                  </a:moveTo>
                  <a:lnTo>
                    <a:pt x="8751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37284" y="3095098"/>
              <a:ext cx="87518" cy="0"/>
            </a:xfrm>
            <a:custGeom>
              <a:avLst/>
              <a:pathLst>
                <a:path w="87518" h="0">
                  <a:moveTo>
                    <a:pt x="0" y="0"/>
                  </a:moveTo>
                  <a:lnTo>
                    <a:pt x="8751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81044" y="3095098"/>
              <a:ext cx="0" cy="1733529"/>
            </a:xfrm>
            <a:custGeom>
              <a:avLst/>
              <a:pathLst>
                <a:path w="0" h="1733529">
                  <a:moveTo>
                    <a:pt x="0" y="0"/>
                  </a:moveTo>
                  <a:lnTo>
                    <a:pt x="0" y="1733529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37284" y="4828627"/>
              <a:ext cx="87518" cy="0"/>
            </a:xfrm>
            <a:custGeom>
              <a:avLst/>
              <a:pathLst>
                <a:path w="87518" h="0">
                  <a:moveTo>
                    <a:pt x="0" y="0"/>
                  </a:moveTo>
                  <a:lnTo>
                    <a:pt x="8751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412474" y="2548661"/>
              <a:ext cx="87518" cy="0"/>
            </a:xfrm>
            <a:custGeom>
              <a:avLst/>
              <a:pathLst>
                <a:path w="87518" h="0">
                  <a:moveTo>
                    <a:pt x="0" y="0"/>
                  </a:moveTo>
                  <a:lnTo>
                    <a:pt x="8751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456234" y="2548661"/>
              <a:ext cx="0" cy="1719697"/>
            </a:xfrm>
            <a:custGeom>
              <a:avLst/>
              <a:pathLst>
                <a:path w="0" h="1719697">
                  <a:moveTo>
                    <a:pt x="0" y="0"/>
                  </a:moveTo>
                  <a:lnTo>
                    <a:pt x="0" y="1719697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412474" y="4268358"/>
              <a:ext cx="87518" cy="0"/>
            </a:xfrm>
            <a:custGeom>
              <a:avLst/>
              <a:pathLst>
                <a:path w="87518" h="0">
                  <a:moveTo>
                    <a:pt x="0" y="0"/>
                  </a:moveTo>
                  <a:lnTo>
                    <a:pt x="8751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705854" y="2872614"/>
              <a:ext cx="1750379" cy="1089248"/>
            </a:xfrm>
            <a:custGeom>
              <a:avLst/>
              <a:pathLst>
                <a:path w="1750379" h="1089248">
                  <a:moveTo>
                    <a:pt x="0" y="0"/>
                  </a:moveTo>
                  <a:lnTo>
                    <a:pt x="875189" y="1089248"/>
                  </a:lnTo>
                  <a:lnTo>
                    <a:pt x="1750379" y="535895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668833" y="2835592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544022" y="3924841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419212" y="3371488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875125" y="4871383"/>
              <a:ext cx="237291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0.75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875125" y="4267123"/>
              <a:ext cx="237291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0.80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875125" y="3663221"/>
              <a:ext cx="237291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0.85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875125" y="3059497"/>
              <a:ext cx="237291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0.90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875125" y="2455595"/>
              <a:ext cx="237291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0.95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875125" y="1851871"/>
              <a:ext cx="237291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573695" y="5020081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414982" y="5020379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290171" y="5020081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214731" y="3290138"/>
              <a:ext cx="1033388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Slope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180741" y="1474178"/>
              <a:ext cx="2078278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Forward slope (experience)</a:t>
              </a:r>
            </a:p>
          </p:txBody>
        </p:sp>
        <p:sp>
          <p:nvSpPr>
            <p:cNvPr id="39" name="pl39"/>
            <p:cNvSpPr/>
            <p:nvPr/>
          </p:nvSpPr>
          <p:spPr>
            <a:xfrm>
              <a:off x="4551969" y="4863512"/>
              <a:ext cx="2800606" cy="0"/>
            </a:xfrm>
            <a:custGeom>
              <a:avLst/>
              <a:pathLst>
                <a:path w="2800606" h="0">
                  <a:moveTo>
                    <a:pt x="0" y="0"/>
                  </a:moveTo>
                  <a:lnTo>
                    <a:pt x="2800606" y="0"/>
                  </a:lnTo>
                  <a:lnTo>
                    <a:pt x="280060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551969" y="4121563"/>
              <a:ext cx="2800606" cy="0"/>
            </a:xfrm>
            <a:custGeom>
              <a:avLst/>
              <a:pathLst>
                <a:path w="2800606" h="0">
                  <a:moveTo>
                    <a:pt x="0" y="0"/>
                  </a:moveTo>
                  <a:lnTo>
                    <a:pt x="2800606" y="0"/>
                  </a:lnTo>
                  <a:lnTo>
                    <a:pt x="280060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551969" y="3379614"/>
              <a:ext cx="2800606" cy="0"/>
            </a:xfrm>
            <a:custGeom>
              <a:avLst/>
              <a:pathLst>
                <a:path w="2800606" h="0">
                  <a:moveTo>
                    <a:pt x="0" y="0"/>
                  </a:moveTo>
                  <a:lnTo>
                    <a:pt x="2800606" y="0"/>
                  </a:lnTo>
                  <a:lnTo>
                    <a:pt x="280060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551969" y="2637665"/>
              <a:ext cx="2800606" cy="0"/>
            </a:xfrm>
            <a:custGeom>
              <a:avLst/>
              <a:pathLst>
                <a:path w="2800606" h="0">
                  <a:moveTo>
                    <a:pt x="0" y="0"/>
                  </a:moveTo>
                  <a:lnTo>
                    <a:pt x="2800606" y="0"/>
                  </a:lnTo>
                  <a:lnTo>
                    <a:pt x="280060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4551969" y="1895716"/>
              <a:ext cx="2800606" cy="0"/>
            </a:xfrm>
            <a:custGeom>
              <a:avLst/>
              <a:pathLst>
                <a:path w="2800606" h="0">
                  <a:moveTo>
                    <a:pt x="0" y="0"/>
                  </a:moveTo>
                  <a:lnTo>
                    <a:pt x="2800606" y="0"/>
                  </a:lnTo>
                  <a:lnTo>
                    <a:pt x="280060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077082" y="1749070"/>
              <a:ext cx="0" cy="3226202"/>
            </a:xfrm>
            <a:custGeom>
              <a:avLst/>
              <a:pathLst>
                <a:path w="0" h="3226202">
                  <a:moveTo>
                    <a:pt x="0" y="32262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952272" y="1749070"/>
              <a:ext cx="0" cy="3226202"/>
            </a:xfrm>
            <a:custGeom>
              <a:avLst/>
              <a:pathLst>
                <a:path w="0" h="3226202">
                  <a:moveTo>
                    <a:pt x="0" y="32262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6827461" y="1749070"/>
              <a:ext cx="0" cy="3226202"/>
            </a:xfrm>
            <a:custGeom>
              <a:avLst/>
              <a:pathLst>
                <a:path w="0" h="3226202">
                  <a:moveTo>
                    <a:pt x="0" y="32262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4551969" y="1895716"/>
              <a:ext cx="2800606" cy="0"/>
            </a:xfrm>
            <a:custGeom>
              <a:avLst/>
              <a:pathLst>
                <a:path w="2800606" h="0">
                  <a:moveTo>
                    <a:pt x="0" y="0"/>
                  </a:moveTo>
                  <a:lnTo>
                    <a:pt x="2800606" y="0"/>
                  </a:lnTo>
                  <a:lnTo>
                    <a:pt x="2800606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033323" y="3963104"/>
              <a:ext cx="87518" cy="0"/>
            </a:xfrm>
            <a:custGeom>
              <a:avLst/>
              <a:pathLst>
                <a:path w="87518" h="0">
                  <a:moveTo>
                    <a:pt x="0" y="0"/>
                  </a:moveTo>
                  <a:lnTo>
                    <a:pt x="8751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5077082" y="3963104"/>
              <a:ext cx="0" cy="802354"/>
            </a:xfrm>
            <a:custGeom>
              <a:avLst/>
              <a:pathLst>
                <a:path w="0" h="802354">
                  <a:moveTo>
                    <a:pt x="0" y="0"/>
                  </a:moveTo>
                  <a:lnTo>
                    <a:pt x="0" y="802354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5033323" y="4765459"/>
              <a:ext cx="87518" cy="0"/>
            </a:xfrm>
            <a:custGeom>
              <a:avLst/>
              <a:pathLst>
                <a:path w="87518" h="0">
                  <a:moveTo>
                    <a:pt x="0" y="0"/>
                  </a:moveTo>
                  <a:lnTo>
                    <a:pt x="8751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5908512" y="3785556"/>
              <a:ext cx="87518" cy="0"/>
            </a:xfrm>
            <a:custGeom>
              <a:avLst/>
              <a:pathLst>
                <a:path w="87518" h="0">
                  <a:moveTo>
                    <a:pt x="0" y="0"/>
                  </a:moveTo>
                  <a:lnTo>
                    <a:pt x="8751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952272" y="3785556"/>
              <a:ext cx="0" cy="793019"/>
            </a:xfrm>
            <a:custGeom>
              <a:avLst/>
              <a:pathLst>
                <a:path w="0" h="793019">
                  <a:moveTo>
                    <a:pt x="0" y="0"/>
                  </a:moveTo>
                  <a:lnTo>
                    <a:pt x="0" y="793019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908512" y="4578576"/>
              <a:ext cx="87518" cy="0"/>
            </a:xfrm>
            <a:custGeom>
              <a:avLst/>
              <a:pathLst>
                <a:path w="87518" h="0">
                  <a:moveTo>
                    <a:pt x="0" y="0"/>
                  </a:moveTo>
                  <a:lnTo>
                    <a:pt x="8751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6783702" y="4040425"/>
              <a:ext cx="87518" cy="0"/>
            </a:xfrm>
            <a:custGeom>
              <a:avLst/>
              <a:pathLst>
                <a:path w="87518" h="0">
                  <a:moveTo>
                    <a:pt x="0" y="0"/>
                  </a:moveTo>
                  <a:lnTo>
                    <a:pt x="8751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6827461" y="4040425"/>
              <a:ext cx="0" cy="788202"/>
            </a:xfrm>
            <a:custGeom>
              <a:avLst/>
              <a:pathLst>
                <a:path w="0" h="788202">
                  <a:moveTo>
                    <a:pt x="0" y="0"/>
                  </a:moveTo>
                  <a:lnTo>
                    <a:pt x="0" y="788202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6783702" y="4828627"/>
              <a:ext cx="87518" cy="0"/>
            </a:xfrm>
            <a:custGeom>
              <a:avLst/>
              <a:pathLst>
                <a:path w="87518" h="0">
                  <a:moveTo>
                    <a:pt x="0" y="0"/>
                  </a:moveTo>
                  <a:lnTo>
                    <a:pt x="8751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077082" y="4182066"/>
              <a:ext cx="1750379" cy="252459"/>
            </a:xfrm>
            <a:custGeom>
              <a:avLst/>
              <a:pathLst>
                <a:path w="1750379" h="252459">
                  <a:moveTo>
                    <a:pt x="0" y="182215"/>
                  </a:moveTo>
                  <a:lnTo>
                    <a:pt x="875189" y="0"/>
                  </a:lnTo>
                  <a:lnTo>
                    <a:pt x="1750379" y="252459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5040061" y="4327260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5915250" y="4145044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6790440" y="4397504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4314159" y="4819310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0.6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314159" y="4077718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0.7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4314159" y="3335412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0.8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314159" y="2593641"/>
              <a:ext cx="169485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0.9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314159" y="1851871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4944923" y="5020081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5786209" y="5020379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6661399" y="5020081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69" name="tx69"/>
            <p:cNvSpPr/>
            <p:nvPr/>
          </p:nvSpPr>
          <p:spPr>
            <a:xfrm rot="-5400000">
              <a:off x="3653765" y="3290138"/>
              <a:ext cx="1033388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Slope (95% CI)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551969" y="1474178"/>
              <a:ext cx="2049386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Reverse slope (experience)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355080" y="1417320"/>
            <a:ext cx="5285232" cy="3566160"/>
            <a:chOff x="6355080" y="1417320"/>
            <a:chExt cx="5285232" cy="3566160"/>
          </a:xfrm>
        </p:grpSpPr>
        <p:sp>
          <p:nvSpPr>
            <p:cNvPr id="3" name="rc3"/>
            <p:cNvSpPr/>
            <p:nvPr/>
          </p:nvSpPr>
          <p:spPr>
            <a:xfrm>
              <a:off x="6355080" y="1417320"/>
              <a:ext cx="5285232" cy="3566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6883718" y="3916381"/>
              <a:ext cx="4680677" cy="0"/>
            </a:xfrm>
            <a:custGeom>
              <a:avLst/>
              <a:pathLst>
                <a:path w="4680677" h="0">
                  <a:moveTo>
                    <a:pt x="0" y="0"/>
                  </a:moveTo>
                  <a:lnTo>
                    <a:pt x="4680677" y="0"/>
                  </a:lnTo>
                  <a:lnTo>
                    <a:pt x="468067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6883718" y="3346206"/>
              <a:ext cx="4680677" cy="0"/>
            </a:xfrm>
            <a:custGeom>
              <a:avLst/>
              <a:pathLst>
                <a:path w="4680677" h="0">
                  <a:moveTo>
                    <a:pt x="0" y="0"/>
                  </a:moveTo>
                  <a:lnTo>
                    <a:pt x="4680677" y="0"/>
                  </a:lnTo>
                  <a:lnTo>
                    <a:pt x="468067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6883718" y="2776032"/>
              <a:ext cx="4680677" cy="0"/>
            </a:xfrm>
            <a:custGeom>
              <a:avLst/>
              <a:pathLst>
                <a:path w="4680677" h="0">
                  <a:moveTo>
                    <a:pt x="0" y="0"/>
                  </a:moveTo>
                  <a:lnTo>
                    <a:pt x="4680677" y="0"/>
                  </a:lnTo>
                  <a:lnTo>
                    <a:pt x="468067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6883718" y="2205858"/>
              <a:ext cx="4680677" cy="0"/>
            </a:xfrm>
            <a:custGeom>
              <a:avLst/>
              <a:pathLst>
                <a:path w="4680677" h="0">
                  <a:moveTo>
                    <a:pt x="0" y="0"/>
                  </a:moveTo>
                  <a:lnTo>
                    <a:pt x="4680677" y="0"/>
                  </a:lnTo>
                  <a:lnTo>
                    <a:pt x="468067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096476" y="172520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930822" y="172520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765167" y="172520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599513" y="172520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433858" y="172520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1268204" y="172520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7138194" y="3916381"/>
              <a:ext cx="83434" cy="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7221628" y="3904977"/>
              <a:ext cx="83434" cy="11403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7305063" y="3893574"/>
              <a:ext cx="83434" cy="2280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7388497" y="3893574"/>
              <a:ext cx="83434" cy="2280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7471932" y="3836556"/>
              <a:ext cx="83434" cy="79824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7555366" y="3619890"/>
              <a:ext cx="83434" cy="29649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7638801" y="3688311"/>
              <a:ext cx="83434" cy="228069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7722236" y="3562873"/>
              <a:ext cx="83434" cy="353508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7805670" y="3471645"/>
              <a:ext cx="83434" cy="44473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7889105" y="3403224"/>
              <a:ext cx="83434" cy="51315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7972539" y="3243575"/>
              <a:ext cx="83434" cy="67280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8055974" y="3209365"/>
              <a:ext cx="83434" cy="70701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8139408" y="2787436"/>
              <a:ext cx="83434" cy="1128944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8222843" y="2661997"/>
              <a:ext cx="83434" cy="1254383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8306277" y="2821646"/>
              <a:ext cx="83434" cy="1094734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8389712" y="2445331"/>
              <a:ext cx="83434" cy="1471049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8473146" y="2479542"/>
              <a:ext cx="83434" cy="1436838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8556581" y="2228665"/>
              <a:ext cx="83434" cy="168771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8640015" y="2137437"/>
              <a:ext cx="83434" cy="1778943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8723450" y="1932174"/>
              <a:ext cx="83434" cy="198420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8806885" y="2069016"/>
              <a:ext cx="83434" cy="1847364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8890319" y="2011999"/>
              <a:ext cx="83434" cy="1904381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8973754" y="1954981"/>
              <a:ext cx="83434" cy="1961399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9057188" y="2228665"/>
              <a:ext cx="83434" cy="168771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9140623" y="1977788"/>
              <a:ext cx="83434" cy="1938592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9224057" y="2297086"/>
              <a:ext cx="83434" cy="1619294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9307492" y="2376910"/>
              <a:ext cx="83434" cy="153947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9390926" y="2308489"/>
              <a:ext cx="83434" cy="1607891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9474361" y="2445331"/>
              <a:ext cx="83434" cy="1471049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9557795" y="2490945"/>
              <a:ext cx="83434" cy="142543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9641230" y="2570770"/>
              <a:ext cx="83434" cy="1345611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9724665" y="3072523"/>
              <a:ext cx="83434" cy="843857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9808099" y="2935681"/>
              <a:ext cx="83434" cy="980699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9891534" y="3061119"/>
              <a:ext cx="83434" cy="855261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9974968" y="3083926"/>
              <a:ext cx="83434" cy="832454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0058403" y="3334803"/>
              <a:ext cx="83434" cy="581577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10141837" y="3403224"/>
              <a:ext cx="83434" cy="51315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10225272" y="3460241"/>
              <a:ext cx="83434" cy="456139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10308706" y="3528662"/>
              <a:ext cx="83434" cy="387718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10392141" y="3631294"/>
              <a:ext cx="83434" cy="285087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10475575" y="3745328"/>
              <a:ext cx="83434" cy="171052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10559010" y="3813749"/>
              <a:ext cx="83434" cy="102631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10642444" y="3825153"/>
              <a:ext cx="83434" cy="91227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10725879" y="3802346"/>
              <a:ext cx="83434" cy="114034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10809314" y="3870767"/>
              <a:ext cx="83434" cy="45613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10892748" y="3859363"/>
              <a:ext cx="83434" cy="57017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10976183" y="3893574"/>
              <a:ext cx="83434" cy="2280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11059617" y="3916381"/>
              <a:ext cx="83434" cy="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11143052" y="3802346"/>
              <a:ext cx="83434" cy="114034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11226486" y="3916381"/>
              <a:ext cx="83434" cy="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7138194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7221628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7305063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7388497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7471932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7555366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7638801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7722236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7805670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7889105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7972539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8055974" y="3323400"/>
              <a:ext cx="83434" cy="592981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8139408" y="3266382"/>
              <a:ext cx="83434" cy="649998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8222843" y="2228665"/>
              <a:ext cx="83434" cy="1687715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8306277" y="2160244"/>
              <a:ext cx="83434" cy="1756136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8389712" y="2228665"/>
              <a:ext cx="83434" cy="1687715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8473146" y="1943578"/>
              <a:ext cx="83434" cy="1972802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8556581" y="2354103"/>
              <a:ext cx="83434" cy="1562277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8640015" y="2217262"/>
              <a:ext cx="83434" cy="1699119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8723450" y="2091823"/>
              <a:ext cx="83434" cy="1824557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8806885" y="2217262"/>
              <a:ext cx="83434" cy="1699119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8890319" y="2137437"/>
              <a:ext cx="83434" cy="1778943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8973754" y="1920771"/>
              <a:ext cx="83434" cy="1995609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9057188" y="1966385"/>
              <a:ext cx="83434" cy="1949995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9140623" y="2228665"/>
              <a:ext cx="83434" cy="1687715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9224057" y="1829543"/>
              <a:ext cx="83434" cy="2086837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9307492" y="2433928"/>
              <a:ext cx="83434" cy="1482452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9390926" y="2205858"/>
              <a:ext cx="83434" cy="1710522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9474361" y="2114630"/>
              <a:ext cx="83434" cy="180175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9557795" y="2240069"/>
              <a:ext cx="83434" cy="1676312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9641230" y="2137437"/>
              <a:ext cx="83434" cy="1778943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9724665" y="2342700"/>
              <a:ext cx="83434" cy="157368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9808099" y="2297086"/>
              <a:ext cx="83434" cy="1619294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9891534" y="2513752"/>
              <a:ext cx="83434" cy="1402628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9974968" y="2798839"/>
              <a:ext cx="83434" cy="1117541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10058403" y="2719015"/>
              <a:ext cx="83434" cy="1197365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10141837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10225272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10308706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10392141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10475575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10559010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10642444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10725879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10809314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10892748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10976183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11059617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11143052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11226486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14" name="tx114"/>
            <p:cNvSpPr/>
            <p:nvPr/>
          </p:nvSpPr>
          <p:spPr>
            <a:xfrm>
              <a:off x="6747588" y="3872536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6679782" y="3302362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6611976" y="2732188"/>
              <a:ext cx="203418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100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6611976" y="2162013"/>
              <a:ext cx="203418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150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7062573" y="408892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7863016" y="408892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8697361" y="4088630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9531707" y="4088808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10366052" y="4088689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11200397" y="408892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9003717" y="4235247"/>
              <a:ext cx="440680" cy="1154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Shade</a:t>
              </a:r>
            </a:p>
          </p:txBody>
        </p:sp>
        <p:sp>
          <p:nvSpPr>
            <p:cNvPr id="125" name="tx125"/>
            <p:cNvSpPr/>
            <p:nvPr/>
          </p:nvSpPr>
          <p:spPr>
            <a:xfrm rot="-5400000">
              <a:off x="6297868" y="2816779"/>
              <a:ext cx="372516" cy="1123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Trials</a:t>
              </a:r>
            </a:p>
          </p:txBody>
        </p:sp>
        <p:sp>
          <p:nvSpPr>
            <p:cNvPr id="126" name="rc126"/>
            <p:cNvSpPr/>
            <p:nvPr/>
          </p:nvSpPr>
          <p:spPr>
            <a:xfrm>
              <a:off x="7856116" y="4621193"/>
              <a:ext cx="201455" cy="20145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8593341" y="4621193"/>
              <a:ext cx="201455" cy="201456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28" name="tx128"/>
            <p:cNvSpPr/>
            <p:nvPr/>
          </p:nvSpPr>
          <p:spPr>
            <a:xfrm>
              <a:off x="8142487" y="465277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8879712" y="4649799"/>
              <a:ext cx="1721286" cy="115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True colour (displayed average)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6883718" y="1450309"/>
              <a:ext cx="3379762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Clean trials, experience: shown and reported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417320"/>
            <a:ext cx="6035040" cy="4206240"/>
            <a:chOff x="548640" y="1417320"/>
            <a:chExt cx="6035040" cy="4206240"/>
          </a:xfrm>
        </p:grpSpPr>
        <p:sp>
          <p:nvSpPr>
            <p:cNvPr id="3" name="rc3"/>
            <p:cNvSpPr/>
            <p:nvPr/>
          </p:nvSpPr>
          <p:spPr>
            <a:xfrm>
              <a:off x="548640" y="1417320"/>
              <a:ext cx="6035040" cy="42062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43346" y="5199460"/>
              <a:ext cx="5464418" cy="0"/>
            </a:xfrm>
            <a:custGeom>
              <a:avLst/>
              <a:pathLst>
                <a:path w="5464418" h="0">
                  <a:moveTo>
                    <a:pt x="0" y="0"/>
                  </a:moveTo>
                  <a:lnTo>
                    <a:pt x="5464418" y="0"/>
                  </a:lnTo>
                  <a:lnTo>
                    <a:pt x="546441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43346" y="4096521"/>
              <a:ext cx="5464418" cy="0"/>
            </a:xfrm>
            <a:custGeom>
              <a:avLst/>
              <a:pathLst>
                <a:path w="5464418" h="0">
                  <a:moveTo>
                    <a:pt x="0" y="0"/>
                  </a:moveTo>
                  <a:lnTo>
                    <a:pt x="5464418" y="0"/>
                  </a:lnTo>
                  <a:lnTo>
                    <a:pt x="546441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43346" y="2993582"/>
              <a:ext cx="5464418" cy="0"/>
            </a:xfrm>
            <a:custGeom>
              <a:avLst/>
              <a:pathLst>
                <a:path w="5464418" h="0">
                  <a:moveTo>
                    <a:pt x="0" y="0"/>
                  </a:moveTo>
                  <a:lnTo>
                    <a:pt x="5464418" y="0"/>
                  </a:lnTo>
                  <a:lnTo>
                    <a:pt x="546441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43346" y="1890642"/>
              <a:ext cx="5464418" cy="0"/>
            </a:xfrm>
            <a:custGeom>
              <a:avLst/>
              <a:pathLst>
                <a:path w="5464418" h="0">
                  <a:moveTo>
                    <a:pt x="0" y="0"/>
                  </a:moveTo>
                  <a:lnTo>
                    <a:pt x="5464418" y="0"/>
                  </a:lnTo>
                  <a:lnTo>
                    <a:pt x="546441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067924" y="1725201"/>
              <a:ext cx="0" cy="3639700"/>
            </a:xfrm>
            <a:custGeom>
              <a:avLst/>
              <a:pathLst>
                <a:path w="0" h="3639700">
                  <a:moveTo>
                    <a:pt x="0" y="36397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75555" y="1725201"/>
              <a:ext cx="0" cy="3639700"/>
            </a:xfrm>
            <a:custGeom>
              <a:avLst/>
              <a:pathLst>
                <a:path w="0" h="3639700">
                  <a:moveTo>
                    <a:pt x="0" y="36397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483186" y="1725201"/>
              <a:ext cx="0" cy="3639700"/>
            </a:xfrm>
            <a:custGeom>
              <a:avLst/>
              <a:pathLst>
                <a:path w="0" h="3639700">
                  <a:moveTo>
                    <a:pt x="0" y="36397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982543" y="2643508"/>
              <a:ext cx="170763" cy="0"/>
            </a:xfrm>
            <a:custGeom>
              <a:avLst/>
              <a:pathLst>
                <a:path w="170763" h="0">
                  <a:moveTo>
                    <a:pt x="0" y="0"/>
                  </a:moveTo>
                  <a:lnTo>
                    <a:pt x="170763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067924" y="2643508"/>
              <a:ext cx="0" cy="767467"/>
            </a:xfrm>
            <a:custGeom>
              <a:avLst/>
              <a:pathLst>
                <a:path w="0" h="767467">
                  <a:moveTo>
                    <a:pt x="0" y="0"/>
                  </a:moveTo>
                  <a:lnTo>
                    <a:pt x="0" y="767467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982543" y="3410975"/>
              <a:ext cx="170763" cy="0"/>
            </a:xfrm>
            <a:custGeom>
              <a:avLst/>
              <a:pathLst>
                <a:path w="170763" h="0">
                  <a:moveTo>
                    <a:pt x="0" y="0"/>
                  </a:moveTo>
                  <a:lnTo>
                    <a:pt x="170763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690173" y="2570058"/>
              <a:ext cx="170763" cy="0"/>
            </a:xfrm>
            <a:custGeom>
              <a:avLst/>
              <a:pathLst>
                <a:path w="170763" h="0">
                  <a:moveTo>
                    <a:pt x="0" y="0"/>
                  </a:moveTo>
                  <a:lnTo>
                    <a:pt x="170763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775555" y="2570058"/>
              <a:ext cx="0" cy="932862"/>
            </a:xfrm>
            <a:custGeom>
              <a:avLst/>
              <a:pathLst>
                <a:path w="0" h="932862">
                  <a:moveTo>
                    <a:pt x="0" y="0"/>
                  </a:moveTo>
                  <a:lnTo>
                    <a:pt x="0" y="932862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90173" y="3502920"/>
              <a:ext cx="170763" cy="0"/>
            </a:xfrm>
            <a:custGeom>
              <a:avLst/>
              <a:pathLst>
                <a:path w="170763" h="0">
                  <a:moveTo>
                    <a:pt x="0" y="0"/>
                  </a:moveTo>
                  <a:lnTo>
                    <a:pt x="170763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397804" y="2612364"/>
              <a:ext cx="170763" cy="0"/>
            </a:xfrm>
            <a:custGeom>
              <a:avLst/>
              <a:pathLst>
                <a:path w="170763" h="0">
                  <a:moveTo>
                    <a:pt x="0" y="0"/>
                  </a:moveTo>
                  <a:lnTo>
                    <a:pt x="170763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483186" y="2612364"/>
              <a:ext cx="0" cy="772000"/>
            </a:xfrm>
            <a:custGeom>
              <a:avLst/>
              <a:pathLst>
                <a:path w="0" h="772000">
                  <a:moveTo>
                    <a:pt x="0" y="0"/>
                  </a:moveTo>
                  <a:lnTo>
                    <a:pt x="0" y="77200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397804" y="3384364"/>
              <a:ext cx="170763" cy="0"/>
            </a:xfrm>
            <a:custGeom>
              <a:avLst/>
              <a:pathLst>
                <a:path w="170763" h="0">
                  <a:moveTo>
                    <a:pt x="0" y="0"/>
                  </a:moveTo>
                  <a:lnTo>
                    <a:pt x="170763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067924" y="2968131"/>
              <a:ext cx="3415261" cy="29680"/>
            </a:xfrm>
            <a:custGeom>
              <a:avLst/>
              <a:pathLst>
                <a:path w="3415261" h="29680">
                  <a:moveTo>
                    <a:pt x="0" y="29680"/>
                  </a:moveTo>
                  <a:lnTo>
                    <a:pt x="1707630" y="24891"/>
                  </a:lnTo>
                  <a:lnTo>
                    <a:pt x="341526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028192" y="2958080"/>
              <a:ext cx="79463" cy="7946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735823" y="2953292"/>
              <a:ext cx="79463" cy="7946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443454" y="2928400"/>
              <a:ext cx="79463" cy="7946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tx24"/>
            <p:cNvSpPr/>
            <p:nvPr/>
          </p:nvSpPr>
          <p:spPr>
            <a:xfrm>
              <a:off x="805536" y="5155258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0.6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805536" y="4052676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0.7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805536" y="2949380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0.8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805536" y="1846619"/>
              <a:ext cx="169485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0.9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1935765" y="540971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3609492" y="5410008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5317123" y="540971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31" name="tx31"/>
            <p:cNvSpPr/>
            <p:nvPr/>
          </p:nvSpPr>
          <p:spPr>
            <a:xfrm rot="-5400000">
              <a:off x="103210" y="3473353"/>
              <a:ext cx="1117922" cy="1433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Mean r (95% CI)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1043346" y="1448163"/>
              <a:ext cx="4534636" cy="164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Tracking: correlation of report with true colour (experience)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5852160" cy="3566160"/>
            <a:chOff x="548640" y="1371600"/>
            <a:chExt cx="5852160" cy="356616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5852160" cy="3566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2519418" y="3975003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2519418" y="3515898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519418" y="3056794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519418" y="2597690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519418" y="2138586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519418" y="1679481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19418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978522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37626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896730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355835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814939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519418" y="1679481"/>
              <a:ext cx="2295521" cy="2295521"/>
            </a:xfrm>
            <a:custGeom>
              <a:avLst/>
              <a:pathLst>
                <a:path w="2295521" h="2295521">
                  <a:moveTo>
                    <a:pt x="0" y="2295521"/>
                  </a:moveTo>
                  <a:lnTo>
                    <a:pt x="2295521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162164" y="2522069"/>
              <a:ext cx="1010029" cy="890290"/>
            </a:xfrm>
            <a:custGeom>
              <a:avLst/>
              <a:pathLst>
                <a:path w="1010029" h="890290">
                  <a:moveTo>
                    <a:pt x="0" y="890290"/>
                  </a:moveTo>
                  <a:lnTo>
                    <a:pt x="34828" y="859590"/>
                  </a:lnTo>
                  <a:lnTo>
                    <a:pt x="69657" y="828890"/>
                  </a:lnTo>
                  <a:lnTo>
                    <a:pt x="104485" y="798191"/>
                  </a:lnTo>
                  <a:lnTo>
                    <a:pt x="139314" y="767491"/>
                  </a:lnTo>
                  <a:lnTo>
                    <a:pt x="174142" y="736791"/>
                  </a:lnTo>
                  <a:lnTo>
                    <a:pt x="208971" y="706092"/>
                  </a:lnTo>
                  <a:lnTo>
                    <a:pt x="243800" y="675392"/>
                  </a:lnTo>
                  <a:lnTo>
                    <a:pt x="278628" y="644692"/>
                  </a:lnTo>
                  <a:lnTo>
                    <a:pt x="313457" y="613993"/>
                  </a:lnTo>
                  <a:lnTo>
                    <a:pt x="348285" y="583293"/>
                  </a:lnTo>
                  <a:lnTo>
                    <a:pt x="383114" y="552593"/>
                  </a:lnTo>
                  <a:lnTo>
                    <a:pt x="417943" y="521894"/>
                  </a:lnTo>
                  <a:lnTo>
                    <a:pt x="452771" y="491194"/>
                  </a:lnTo>
                  <a:lnTo>
                    <a:pt x="487600" y="460494"/>
                  </a:lnTo>
                  <a:lnTo>
                    <a:pt x="522428" y="429795"/>
                  </a:lnTo>
                  <a:lnTo>
                    <a:pt x="557257" y="399095"/>
                  </a:lnTo>
                  <a:lnTo>
                    <a:pt x="592086" y="368395"/>
                  </a:lnTo>
                  <a:lnTo>
                    <a:pt x="626914" y="337696"/>
                  </a:lnTo>
                  <a:lnTo>
                    <a:pt x="661743" y="306996"/>
                  </a:lnTo>
                  <a:lnTo>
                    <a:pt x="696571" y="276296"/>
                  </a:lnTo>
                  <a:lnTo>
                    <a:pt x="731400" y="245597"/>
                  </a:lnTo>
                  <a:lnTo>
                    <a:pt x="766229" y="214897"/>
                  </a:lnTo>
                  <a:lnTo>
                    <a:pt x="801057" y="184197"/>
                  </a:lnTo>
                  <a:lnTo>
                    <a:pt x="835886" y="153498"/>
                  </a:lnTo>
                  <a:lnTo>
                    <a:pt x="870714" y="122798"/>
                  </a:lnTo>
                  <a:lnTo>
                    <a:pt x="905543" y="92098"/>
                  </a:lnTo>
                  <a:lnTo>
                    <a:pt x="940372" y="61399"/>
                  </a:lnTo>
                  <a:lnTo>
                    <a:pt x="975200" y="30699"/>
                  </a:lnTo>
                  <a:lnTo>
                    <a:pt x="1010029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171346" y="2432256"/>
              <a:ext cx="1010029" cy="808504"/>
            </a:xfrm>
            <a:custGeom>
              <a:avLst/>
              <a:pathLst>
                <a:path w="1010029" h="808504">
                  <a:moveTo>
                    <a:pt x="0" y="808504"/>
                  </a:moveTo>
                  <a:lnTo>
                    <a:pt x="34828" y="780624"/>
                  </a:lnTo>
                  <a:lnTo>
                    <a:pt x="69657" y="752745"/>
                  </a:lnTo>
                  <a:lnTo>
                    <a:pt x="104485" y="724865"/>
                  </a:lnTo>
                  <a:lnTo>
                    <a:pt x="139314" y="696986"/>
                  </a:lnTo>
                  <a:lnTo>
                    <a:pt x="174142" y="669106"/>
                  </a:lnTo>
                  <a:lnTo>
                    <a:pt x="208971" y="641227"/>
                  </a:lnTo>
                  <a:lnTo>
                    <a:pt x="243800" y="613348"/>
                  </a:lnTo>
                  <a:lnTo>
                    <a:pt x="278628" y="585468"/>
                  </a:lnTo>
                  <a:lnTo>
                    <a:pt x="313457" y="557589"/>
                  </a:lnTo>
                  <a:lnTo>
                    <a:pt x="348285" y="529709"/>
                  </a:lnTo>
                  <a:lnTo>
                    <a:pt x="383114" y="501830"/>
                  </a:lnTo>
                  <a:lnTo>
                    <a:pt x="417943" y="473950"/>
                  </a:lnTo>
                  <a:lnTo>
                    <a:pt x="452771" y="446071"/>
                  </a:lnTo>
                  <a:lnTo>
                    <a:pt x="487600" y="418191"/>
                  </a:lnTo>
                  <a:lnTo>
                    <a:pt x="522428" y="390312"/>
                  </a:lnTo>
                  <a:lnTo>
                    <a:pt x="557257" y="362432"/>
                  </a:lnTo>
                  <a:lnTo>
                    <a:pt x="592086" y="334553"/>
                  </a:lnTo>
                  <a:lnTo>
                    <a:pt x="626914" y="306674"/>
                  </a:lnTo>
                  <a:lnTo>
                    <a:pt x="661743" y="278794"/>
                  </a:lnTo>
                  <a:lnTo>
                    <a:pt x="696571" y="250915"/>
                  </a:lnTo>
                  <a:lnTo>
                    <a:pt x="731400" y="223035"/>
                  </a:lnTo>
                  <a:lnTo>
                    <a:pt x="766229" y="195156"/>
                  </a:lnTo>
                  <a:lnTo>
                    <a:pt x="801057" y="167276"/>
                  </a:lnTo>
                  <a:lnTo>
                    <a:pt x="835886" y="139397"/>
                  </a:lnTo>
                  <a:lnTo>
                    <a:pt x="870714" y="111517"/>
                  </a:lnTo>
                  <a:lnTo>
                    <a:pt x="905543" y="83638"/>
                  </a:lnTo>
                  <a:lnTo>
                    <a:pt x="940372" y="55758"/>
                  </a:lnTo>
                  <a:lnTo>
                    <a:pt x="975200" y="27879"/>
                  </a:lnTo>
                  <a:lnTo>
                    <a:pt x="1010029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093298" y="2432146"/>
              <a:ext cx="1010029" cy="894965"/>
            </a:xfrm>
            <a:custGeom>
              <a:avLst/>
              <a:pathLst>
                <a:path w="1010029" h="894965">
                  <a:moveTo>
                    <a:pt x="0" y="894965"/>
                  </a:moveTo>
                  <a:lnTo>
                    <a:pt x="34828" y="864104"/>
                  </a:lnTo>
                  <a:lnTo>
                    <a:pt x="69657" y="833243"/>
                  </a:lnTo>
                  <a:lnTo>
                    <a:pt x="104485" y="802382"/>
                  </a:lnTo>
                  <a:lnTo>
                    <a:pt x="139314" y="771521"/>
                  </a:lnTo>
                  <a:lnTo>
                    <a:pt x="174142" y="740660"/>
                  </a:lnTo>
                  <a:lnTo>
                    <a:pt x="208971" y="709800"/>
                  </a:lnTo>
                  <a:lnTo>
                    <a:pt x="243800" y="678939"/>
                  </a:lnTo>
                  <a:lnTo>
                    <a:pt x="278628" y="648078"/>
                  </a:lnTo>
                  <a:lnTo>
                    <a:pt x="313457" y="617217"/>
                  </a:lnTo>
                  <a:lnTo>
                    <a:pt x="348285" y="586356"/>
                  </a:lnTo>
                  <a:lnTo>
                    <a:pt x="383114" y="555495"/>
                  </a:lnTo>
                  <a:lnTo>
                    <a:pt x="417943" y="524634"/>
                  </a:lnTo>
                  <a:lnTo>
                    <a:pt x="452771" y="493773"/>
                  </a:lnTo>
                  <a:lnTo>
                    <a:pt x="487600" y="462913"/>
                  </a:lnTo>
                  <a:lnTo>
                    <a:pt x="522428" y="432052"/>
                  </a:lnTo>
                  <a:lnTo>
                    <a:pt x="557257" y="401191"/>
                  </a:lnTo>
                  <a:lnTo>
                    <a:pt x="592086" y="370330"/>
                  </a:lnTo>
                  <a:lnTo>
                    <a:pt x="626914" y="339469"/>
                  </a:lnTo>
                  <a:lnTo>
                    <a:pt x="661743" y="308608"/>
                  </a:lnTo>
                  <a:lnTo>
                    <a:pt x="696571" y="277747"/>
                  </a:lnTo>
                  <a:lnTo>
                    <a:pt x="731400" y="246886"/>
                  </a:lnTo>
                  <a:lnTo>
                    <a:pt x="766229" y="216026"/>
                  </a:lnTo>
                  <a:lnTo>
                    <a:pt x="801057" y="185165"/>
                  </a:lnTo>
                  <a:lnTo>
                    <a:pt x="835886" y="154304"/>
                  </a:lnTo>
                  <a:lnTo>
                    <a:pt x="870714" y="123443"/>
                  </a:lnTo>
                  <a:lnTo>
                    <a:pt x="905543" y="92582"/>
                  </a:lnTo>
                  <a:lnTo>
                    <a:pt x="940372" y="61721"/>
                  </a:lnTo>
                  <a:lnTo>
                    <a:pt x="975200" y="30860"/>
                  </a:lnTo>
                  <a:lnTo>
                    <a:pt x="1010029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2383288" y="3931158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2315482" y="3472054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315482" y="3012652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2315482" y="2553726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315482" y="2094503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315482" y="1635636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485515" y="404320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910716" y="404320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369820" y="4042910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3828924" y="4043088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288029" y="4042969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747133" y="404320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591374" y="4160208"/>
              <a:ext cx="2151608" cy="144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True colour (displayed average)</a:t>
              </a:r>
            </a:p>
          </p:txBody>
        </p:sp>
        <p:sp>
          <p:nvSpPr>
            <p:cNvPr id="33" name="tx33"/>
            <p:cNvSpPr/>
            <p:nvPr/>
          </p:nvSpPr>
          <p:spPr>
            <a:xfrm rot="-5400000">
              <a:off x="1630940" y="2756511"/>
              <a:ext cx="1084287" cy="1414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Predicted report</a:t>
              </a:r>
            </a:p>
          </p:txBody>
        </p:sp>
        <p:sp>
          <p:nvSpPr>
            <p:cNvPr id="34" name="pl34"/>
            <p:cNvSpPr/>
            <p:nvPr/>
          </p:nvSpPr>
          <p:spPr>
            <a:xfrm>
              <a:off x="2705867" y="46762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341473" y="46762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044884" y="46762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2979293" y="460896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3614898" y="4609258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4318310" y="460896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2519418" y="1402443"/>
              <a:ext cx="3881170" cy="164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Regression lines: report on true colour (experience)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629400" y="1371600"/>
            <a:ext cx="5010912" cy="1828800"/>
            <a:chOff x="6629400" y="1371600"/>
            <a:chExt cx="5010912" cy="1828800"/>
          </a:xfrm>
        </p:grpSpPr>
        <p:sp>
          <p:nvSpPr>
            <p:cNvPr id="3" name="rc3"/>
            <p:cNvSpPr/>
            <p:nvPr/>
          </p:nvSpPr>
          <p:spPr>
            <a:xfrm>
              <a:off x="6629400" y="1371600"/>
              <a:ext cx="5010912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7124106" y="2847287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7124106" y="2477144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7124106" y="2107000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7124106" y="1736857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956660" y="1679481"/>
              <a:ext cx="0" cy="1262260"/>
            </a:xfrm>
            <a:custGeom>
              <a:avLst/>
              <a:pathLst>
                <a:path w="0" h="1262260">
                  <a:moveTo>
                    <a:pt x="0" y="12622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344251" y="1679481"/>
              <a:ext cx="0" cy="1262260"/>
            </a:xfrm>
            <a:custGeom>
              <a:avLst/>
              <a:pathLst>
                <a:path w="0" h="1262260">
                  <a:moveTo>
                    <a:pt x="0" y="12622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0731842" y="1679481"/>
              <a:ext cx="0" cy="1262260"/>
            </a:xfrm>
            <a:custGeom>
              <a:avLst/>
              <a:pathLst>
                <a:path w="0" h="1262260">
                  <a:moveTo>
                    <a:pt x="0" y="12622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124106" y="1736857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887281" y="1751419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956660" y="1751419"/>
              <a:ext cx="0" cy="848485"/>
            </a:xfrm>
            <a:custGeom>
              <a:avLst/>
              <a:pathLst>
                <a:path w="0" h="848485">
                  <a:moveTo>
                    <a:pt x="0" y="0"/>
                  </a:moveTo>
                  <a:lnTo>
                    <a:pt x="0" y="848485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887281" y="2599905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274871" y="2066398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344251" y="2066398"/>
              <a:ext cx="0" cy="817968"/>
            </a:xfrm>
            <a:custGeom>
              <a:avLst/>
              <a:pathLst>
                <a:path w="0" h="817968">
                  <a:moveTo>
                    <a:pt x="0" y="0"/>
                  </a:moveTo>
                  <a:lnTo>
                    <a:pt x="0" y="817968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274871" y="2884366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0662462" y="1753664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0731842" y="1753664"/>
              <a:ext cx="0" cy="809731"/>
            </a:xfrm>
            <a:custGeom>
              <a:avLst/>
              <a:pathLst>
                <a:path w="0" h="809731">
                  <a:moveTo>
                    <a:pt x="0" y="0"/>
                  </a:moveTo>
                  <a:lnTo>
                    <a:pt x="0" y="809731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0662462" y="2563395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956660" y="2158530"/>
              <a:ext cx="2775181" cy="316851"/>
            </a:xfrm>
            <a:custGeom>
              <a:avLst/>
              <a:pathLst>
                <a:path w="2775181" h="316851">
                  <a:moveTo>
                    <a:pt x="0" y="17132"/>
                  </a:moveTo>
                  <a:lnTo>
                    <a:pt x="1387590" y="316851"/>
                  </a:lnTo>
                  <a:lnTo>
                    <a:pt x="277518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7919639" y="2138641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9307229" y="2438360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10694820" y="2121508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tx25"/>
            <p:cNvSpPr/>
            <p:nvPr/>
          </p:nvSpPr>
          <p:spPr>
            <a:xfrm>
              <a:off x="6886296" y="2803442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0.7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886296" y="2432942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0.8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886296" y="2062977"/>
              <a:ext cx="169485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0.9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886296" y="1693012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824501" y="298655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9178188" y="2986848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0565779" y="298655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32" name="tx32"/>
            <p:cNvSpPr/>
            <p:nvPr/>
          </p:nvSpPr>
          <p:spPr>
            <a:xfrm rot="-5400000">
              <a:off x="6225902" y="2238578"/>
              <a:ext cx="1033388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Slope (95% CI)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7124106" y="1404589"/>
              <a:ext cx="2751556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Forward slope per level (experience)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629400" y="3246120"/>
            <a:ext cx="5010912" cy="3108960"/>
            <a:chOff x="6629400" y="3246120"/>
            <a:chExt cx="5010912" cy="3108960"/>
          </a:xfrm>
        </p:grpSpPr>
        <p:sp>
          <p:nvSpPr>
            <p:cNvPr id="3" name="rc3"/>
            <p:cNvSpPr/>
            <p:nvPr/>
          </p:nvSpPr>
          <p:spPr>
            <a:xfrm>
              <a:off x="6629400" y="3246120"/>
              <a:ext cx="5010912" cy="31089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7090232" y="599292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7090232" y="557894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7090232" y="516495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7090232" y="475097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090232" y="433699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090232" y="392300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278904" y="5413349"/>
              <a:ext cx="943357" cy="55444"/>
            </a:xfrm>
            <a:custGeom>
              <a:avLst/>
              <a:pathLst>
                <a:path w="943357" h="55444">
                  <a:moveTo>
                    <a:pt x="0" y="0"/>
                  </a:moveTo>
                  <a:lnTo>
                    <a:pt x="943357" y="55444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278904" y="5371950"/>
              <a:ext cx="943357" cy="80408"/>
            </a:xfrm>
            <a:custGeom>
              <a:avLst/>
              <a:pathLst>
                <a:path w="943357" h="80408">
                  <a:moveTo>
                    <a:pt x="0" y="0"/>
                  </a:moveTo>
                  <a:lnTo>
                    <a:pt x="943357" y="80408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278904" y="5330552"/>
              <a:ext cx="943357" cy="35294"/>
            </a:xfrm>
            <a:custGeom>
              <a:avLst/>
              <a:pathLst>
                <a:path w="943357" h="35294">
                  <a:moveTo>
                    <a:pt x="0" y="0"/>
                  </a:moveTo>
                  <a:lnTo>
                    <a:pt x="943357" y="35294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278904" y="5289154"/>
              <a:ext cx="943357" cy="81810"/>
            </a:xfrm>
            <a:custGeom>
              <a:avLst/>
              <a:pathLst>
                <a:path w="943357" h="81810">
                  <a:moveTo>
                    <a:pt x="0" y="0"/>
                  </a:moveTo>
                  <a:lnTo>
                    <a:pt x="943357" y="8181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278904" y="5247755"/>
              <a:ext cx="943357" cy="132998"/>
            </a:xfrm>
            <a:custGeom>
              <a:avLst/>
              <a:pathLst>
                <a:path w="943357" h="132998">
                  <a:moveTo>
                    <a:pt x="0" y="0"/>
                  </a:moveTo>
                  <a:lnTo>
                    <a:pt x="943357" y="132998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278904" y="5206357"/>
              <a:ext cx="943357" cy="68134"/>
            </a:xfrm>
            <a:custGeom>
              <a:avLst/>
              <a:pathLst>
                <a:path w="943357" h="68134">
                  <a:moveTo>
                    <a:pt x="0" y="0"/>
                  </a:moveTo>
                  <a:lnTo>
                    <a:pt x="943357" y="68134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278904" y="5164959"/>
              <a:ext cx="943357" cy="154084"/>
            </a:xfrm>
            <a:custGeom>
              <a:avLst/>
              <a:pathLst>
                <a:path w="943357" h="154084">
                  <a:moveTo>
                    <a:pt x="0" y="0"/>
                  </a:moveTo>
                  <a:lnTo>
                    <a:pt x="943357" y="154084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278904" y="5123560"/>
              <a:ext cx="943357" cy="112366"/>
            </a:xfrm>
            <a:custGeom>
              <a:avLst/>
              <a:pathLst>
                <a:path w="943357" h="112366">
                  <a:moveTo>
                    <a:pt x="0" y="0"/>
                  </a:moveTo>
                  <a:lnTo>
                    <a:pt x="943357" y="112366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278904" y="5082162"/>
              <a:ext cx="943357" cy="69430"/>
            </a:xfrm>
            <a:custGeom>
              <a:avLst/>
              <a:pathLst>
                <a:path w="943357" h="69430">
                  <a:moveTo>
                    <a:pt x="0" y="0"/>
                  </a:moveTo>
                  <a:lnTo>
                    <a:pt x="943357" y="6943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278904" y="5040764"/>
              <a:ext cx="943357" cy="156312"/>
            </a:xfrm>
            <a:custGeom>
              <a:avLst/>
              <a:pathLst>
                <a:path w="943357" h="156312">
                  <a:moveTo>
                    <a:pt x="0" y="0"/>
                  </a:moveTo>
                  <a:lnTo>
                    <a:pt x="943357" y="156312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278904" y="4999365"/>
              <a:ext cx="943357" cy="131094"/>
            </a:xfrm>
            <a:custGeom>
              <a:avLst/>
              <a:pathLst>
                <a:path w="943357" h="131094">
                  <a:moveTo>
                    <a:pt x="0" y="0"/>
                  </a:moveTo>
                  <a:lnTo>
                    <a:pt x="943357" y="131094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278904" y="4957967"/>
              <a:ext cx="943357" cy="134927"/>
            </a:xfrm>
            <a:custGeom>
              <a:avLst/>
              <a:pathLst>
                <a:path w="943357" h="134927">
                  <a:moveTo>
                    <a:pt x="0" y="0"/>
                  </a:moveTo>
                  <a:lnTo>
                    <a:pt x="943357" y="134927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278904" y="4916569"/>
              <a:ext cx="943357" cy="119595"/>
            </a:xfrm>
            <a:custGeom>
              <a:avLst/>
              <a:pathLst>
                <a:path w="943357" h="119595">
                  <a:moveTo>
                    <a:pt x="0" y="0"/>
                  </a:moveTo>
                  <a:lnTo>
                    <a:pt x="943357" y="119595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278904" y="4875170"/>
              <a:ext cx="943357" cy="181274"/>
            </a:xfrm>
            <a:custGeom>
              <a:avLst/>
              <a:pathLst>
                <a:path w="943357" h="181274">
                  <a:moveTo>
                    <a:pt x="0" y="0"/>
                  </a:moveTo>
                  <a:lnTo>
                    <a:pt x="943357" y="181274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278904" y="4833772"/>
              <a:ext cx="943357" cy="75896"/>
            </a:xfrm>
            <a:custGeom>
              <a:avLst/>
              <a:pathLst>
                <a:path w="943357" h="75896">
                  <a:moveTo>
                    <a:pt x="0" y="0"/>
                  </a:moveTo>
                  <a:lnTo>
                    <a:pt x="943357" y="75896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278904" y="4792374"/>
              <a:ext cx="943357" cy="165133"/>
            </a:xfrm>
            <a:custGeom>
              <a:avLst/>
              <a:pathLst>
                <a:path w="943357" h="165133">
                  <a:moveTo>
                    <a:pt x="0" y="0"/>
                  </a:moveTo>
                  <a:lnTo>
                    <a:pt x="943357" y="165133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7278904" y="4750975"/>
              <a:ext cx="943357" cy="163005"/>
            </a:xfrm>
            <a:custGeom>
              <a:avLst/>
              <a:pathLst>
                <a:path w="943357" h="163005">
                  <a:moveTo>
                    <a:pt x="0" y="0"/>
                  </a:moveTo>
                  <a:lnTo>
                    <a:pt x="943357" y="163005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7278904" y="4709577"/>
              <a:ext cx="943357" cy="164315"/>
            </a:xfrm>
            <a:custGeom>
              <a:avLst/>
              <a:pathLst>
                <a:path w="943357" h="164315">
                  <a:moveTo>
                    <a:pt x="0" y="0"/>
                  </a:moveTo>
                  <a:lnTo>
                    <a:pt x="943357" y="164315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278904" y="4668179"/>
              <a:ext cx="943357" cy="87166"/>
            </a:xfrm>
            <a:custGeom>
              <a:avLst/>
              <a:pathLst>
                <a:path w="943357" h="87166">
                  <a:moveTo>
                    <a:pt x="0" y="0"/>
                  </a:moveTo>
                  <a:lnTo>
                    <a:pt x="943357" y="87166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278904" y="4626780"/>
              <a:ext cx="943357" cy="171700"/>
            </a:xfrm>
            <a:custGeom>
              <a:avLst/>
              <a:pathLst>
                <a:path w="943357" h="171700">
                  <a:moveTo>
                    <a:pt x="0" y="0"/>
                  </a:moveTo>
                  <a:lnTo>
                    <a:pt x="943357" y="17170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278904" y="4585382"/>
              <a:ext cx="943357" cy="170336"/>
            </a:xfrm>
            <a:custGeom>
              <a:avLst/>
              <a:pathLst>
                <a:path w="943357" h="170336">
                  <a:moveTo>
                    <a:pt x="0" y="0"/>
                  </a:moveTo>
                  <a:lnTo>
                    <a:pt x="943357" y="170336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278904" y="4543984"/>
              <a:ext cx="943357" cy="162574"/>
            </a:xfrm>
            <a:custGeom>
              <a:avLst/>
              <a:pathLst>
                <a:path w="943357" h="162574">
                  <a:moveTo>
                    <a:pt x="0" y="0"/>
                  </a:moveTo>
                  <a:lnTo>
                    <a:pt x="943357" y="162574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7278904" y="4502585"/>
              <a:ext cx="943357" cy="207891"/>
            </a:xfrm>
            <a:custGeom>
              <a:avLst/>
              <a:pathLst>
                <a:path w="943357" h="207891">
                  <a:moveTo>
                    <a:pt x="0" y="0"/>
                  </a:moveTo>
                  <a:lnTo>
                    <a:pt x="943357" y="207891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7263563" y="539800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7263563" y="535661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7263563" y="531521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7263563" y="527381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7263563" y="523241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7263563" y="519101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7263563" y="514961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7263563" y="510822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7263563" y="506682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7263563" y="502542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7263563" y="498402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7263563" y="494262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7263563" y="490122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7263563" y="485983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7263563" y="481843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7263563" y="477703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7263563" y="473563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7263563" y="469423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7263563" y="465283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7263563" y="461144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7263563" y="457004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7263563" y="452864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7263563" y="448724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8206920" y="545345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8206920" y="543701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8206920" y="535050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8206920" y="535562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8206920" y="536541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8206920" y="525915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8206920" y="530370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8206920" y="522058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8206920" y="513625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8206920" y="518173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8206920" y="511512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8206920" y="507755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8206920" y="502082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8206920" y="504110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8206920" y="4894329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8206920" y="494216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8206920" y="489864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8206920" y="4858552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8206920" y="474000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8206920" y="478314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8206920" y="4740379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8206920" y="469121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8206920" y="469513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8666964" y="599292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8666964" y="557894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8666964" y="516495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8666964" y="475097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8666964" y="433699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8666964" y="392300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8855636" y="5350975"/>
              <a:ext cx="943357" cy="62373"/>
            </a:xfrm>
            <a:custGeom>
              <a:avLst/>
              <a:pathLst>
                <a:path w="943357" h="62373">
                  <a:moveTo>
                    <a:pt x="0" y="6237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8855636" y="5336509"/>
              <a:ext cx="943357" cy="35441"/>
            </a:xfrm>
            <a:custGeom>
              <a:avLst/>
              <a:pathLst>
                <a:path w="943357" h="35441">
                  <a:moveTo>
                    <a:pt x="0" y="3544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8855636" y="5281731"/>
              <a:ext cx="943357" cy="48820"/>
            </a:xfrm>
            <a:custGeom>
              <a:avLst/>
              <a:pathLst>
                <a:path w="943357" h="48820">
                  <a:moveTo>
                    <a:pt x="0" y="4882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8855636" y="5172450"/>
              <a:ext cx="943357" cy="116703"/>
            </a:xfrm>
            <a:custGeom>
              <a:avLst/>
              <a:pathLst>
                <a:path w="943357" h="116703">
                  <a:moveTo>
                    <a:pt x="0" y="11670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8855636" y="5099963"/>
              <a:ext cx="943357" cy="147792"/>
            </a:xfrm>
            <a:custGeom>
              <a:avLst/>
              <a:pathLst>
                <a:path w="943357" h="147792">
                  <a:moveTo>
                    <a:pt x="0" y="147792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8855636" y="5206357"/>
              <a:ext cx="943357" cy="23528"/>
            </a:xfrm>
            <a:custGeom>
              <a:avLst/>
              <a:pathLst>
                <a:path w="943357" h="23528">
                  <a:moveTo>
                    <a:pt x="0" y="0"/>
                  </a:moveTo>
                  <a:lnTo>
                    <a:pt x="943357" y="23528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8855636" y="5154371"/>
              <a:ext cx="943357" cy="10587"/>
            </a:xfrm>
            <a:custGeom>
              <a:avLst/>
              <a:pathLst>
                <a:path w="943357" h="10587">
                  <a:moveTo>
                    <a:pt x="0" y="1058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8855636" y="5103245"/>
              <a:ext cx="943357" cy="20315"/>
            </a:xfrm>
            <a:custGeom>
              <a:avLst/>
              <a:pathLst>
                <a:path w="943357" h="20315">
                  <a:moveTo>
                    <a:pt x="0" y="2031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8855636" y="5082162"/>
              <a:ext cx="943357" cy="246"/>
            </a:xfrm>
            <a:custGeom>
              <a:avLst/>
              <a:pathLst>
                <a:path w="943357" h="246">
                  <a:moveTo>
                    <a:pt x="0" y="0"/>
                  </a:moveTo>
                  <a:lnTo>
                    <a:pt x="943357" y="246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8855636" y="5007760"/>
              <a:ext cx="943357" cy="33003"/>
            </a:xfrm>
            <a:custGeom>
              <a:avLst/>
              <a:pathLst>
                <a:path w="943357" h="33003">
                  <a:moveTo>
                    <a:pt x="0" y="3300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8855636" y="4994107"/>
              <a:ext cx="943357" cy="5258"/>
            </a:xfrm>
            <a:custGeom>
              <a:avLst/>
              <a:pathLst>
                <a:path w="943357" h="5258">
                  <a:moveTo>
                    <a:pt x="0" y="5258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8855636" y="4938746"/>
              <a:ext cx="943357" cy="19220"/>
            </a:xfrm>
            <a:custGeom>
              <a:avLst/>
              <a:pathLst>
                <a:path w="943357" h="19220">
                  <a:moveTo>
                    <a:pt x="0" y="1922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8855636" y="4907996"/>
              <a:ext cx="943357" cy="8572"/>
            </a:xfrm>
            <a:custGeom>
              <a:avLst/>
              <a:pathLst>
                <a:path w="943357" h="8572">
                  <a:moveTo>
                    <a:pt x="0" y="8572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8855636" y="4875170"/>
              <a:ext cx="943357" cy="37948"/>
            </a:xfrm>
            <a:custGeom>
              <a:avLst/>
              <a:pathLst>
                <a:path w="943357" h="37948">
                  <a:moveTo>
                    <a:pt x="0" y="0"/>
                  </a:moveTo>
                  <a:lnTo>
                    <a:pt x="943357" y="37948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8855636" y="4833772"/>
              <a:ext cx="943357" cy="5785"/>
            </a:xfrm>
            <a:custGeom>
              <a:avLst/>
              <a:pathLst>
                <a:path w="943357" h="5785">
                  <a:moveTo>
                    <a:pt x="0" y="0"/>
                  </a:moveTo>
                  <a:lnTo>
                    <a:pt x="943357" y="5785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855636" y="4792374"/>
              <a:ext cx="943357" cy="29266"/>
            </a:xfrm>
            <a:custGeom>
              <a:avLst/>
              <a:pathLst>
                <a:path w="943357" h="29266">
                  <a:moveTo>
                    <a:pt x="0" y="0"/>
                  </a:moveTo>
                  <a:lnTo>
                    <a:pt x="943357" y="29266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8855636" y="4750975"/>
              <a:ext cx="943357" cy="24149"/>
            </a:xfrm>
            <a:custGeom>
              <a:avLst/>
              <a:pathLst>
                <a:path w="943357" h="24149">
                  <a:moveTo>
                    <a:pt x="0" y="0"/>
                  </a:moveTo>
                  <a:lnTo>
                    <a:pt x="943357" y="24149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8855636" y="4709577"/>
              <a:ext cx="943357" cy="117366"/>
            </a:xfrm>
            <a:custGeom>
              <a:avLst/>
              <a:pathLst>
                <a:path w="943357" h="117366">
                  <a:moveTo>
                    <a:pt x="0" y="0"/>
                  </a:moveTo>
                  <a:lnTo>
                    <a:pt x="943357" y="117366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8855636" y="4668179"/>
              <a:ext cx="943357" cy="27748"/>
            </a:xfrm>
            <a:custGeom>
              <a:avLst/>
              <a:pathLst>
                <a:path w="943357" h="27748">
                  <a:moveTo>
                    <a:pt x="0" y="0"/>
                  </a:moveTo>
                  <a:lnTo>
                    <a:pt x="943357" y="27748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8855636" y="4626780"/>
              <a:ext cx="943357" cy="6644"/>
            </a:xfrm>
            <a:custGeom>
              <a:avLst/>
              <a:pathLst>
                <a:path w="943357" h="6644">
                  <a:moveTo>
                    <a:pt x="0" y="0"/>
                  </a:moveTo>
                  <a:lnTo>
                    <a:pt x="943357" y="6644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8855636" y="4585382"/>
              <a:ext cx="943357" cy="97171"/>
            </a:xfrm>
            <a:custGeom>
              <a:avLst/>
              <a:pathLst>
                <a:path w="943357" h="97171">
                  <a:moveTo>
                    <a:pt x="0" y="0"/>
                  </a:moveTo>
                  <a:lnTo>
                    <a:pt x="943357" y="97171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8855636" y="4543984"/>
              <a:ext cx="943357" cy="90030"/>
            </a:xfrm>
            <a:custGeom>
              <a:avLst/>
              <a:pathLst>
                <a:path w="943357" h="90030">
                  <a:moveTo>
                    <a:pt x="0" y="0"/>
                  </a:moveTo>
                  <a:lnTo>
                    <a:pt x="943357" y="9003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8855636" y="4502585"/>
              <a:ext cx="943357" cy="130572"/>
            </a:xfrm>
            <a:custGeom>
              <a:avLst/>
              <a:pathLst>
                <a:path w="943357" h="130572">
                  <a:moveTo>
                    <a:pt x="0" y="0"/>
                  </a:moveTo>
                  <a:lnTo>
                    <a:pt x="943357" y="130572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8840295" y="539800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8840295" y="535661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8840295" y="531521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8840295" y="527381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8840295" y="523241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8840295" y="519101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8840295" y="514961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8840295" y="510822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8840295" y="506682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8840295" y="502542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8840295" y="498402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8840295" y="494262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8840295" y="490122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8840295" y="485983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8840295" y="481843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8840295" y="477703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8840295" y="473563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8840295" y="469423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8840295" y="465283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8840295" y="461144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8840295" y="457004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8840295" y="452864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8840295" y="448724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9783652" y="533563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9783652" y="532116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9783652" y="526639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9783652" y="5157109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9783652" y="508462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9783652" y="521454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9783652" y="513903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9783652" y="508790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9783652" y="506706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9783652" y="499242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9783652" y="497876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9783652" y="492340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9783652" y="489265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9783652" y="489777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9783652" y="482421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9783652" y="480630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9783652" y="475978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9783652" y="481160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9783652" y="468058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9783652" y="461808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9783652" y="466721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9783652" y="461867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9783652" y="461781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10243696" y="599292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10243696" y="557894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10243696" y="516495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10243696" y="475097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10243696" y="433699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10243696" y="392300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10432368" y="5379842"/>
              <a:ext cx="943357" cy="116303"/>
            </a:xfrm>
            <a:custGeom>
              <a:avLst/>
              <a:pathLst>
                <a:path w="943357" h="116303">
                  <a:moveTo>
                    <a:pt x="0" y="11630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10432368" y="5348435"/>
              <a:ext cx="943357" cy="64913"/>
            </a:xfrm>
            <a:custGeom>
              <a:avLst/>
              <a:pathLst>
                <a:path w="943357" h="64913">
                  <a:moveTo>
                    <a:pt x="0" y="6491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10432368" y="5271326"/>
              <a:ext cx="943357" cy="59225"/>
            </a:xfrm>
            <a:custGeom>
              <a:avLst/>
              <a:pathLst>
                <a:path w="943357" h="59225">
                  <a:moveTo>
                    <a:pt x="0" y="5922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10432368" y="5219163"/>
              <a:ext cx="943357" cy="28592"/>
            </a:xfrm>
            <a:custGeom>
              <a:avLst/>
              <a:pathLst>
                <a:path w="943357" h="28592">
                  <a:moveTo>
                    <a:pt x="0" y="28592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10432368" y="5115472"/>
              <a:ext cx="943357" cy="49486"/>
            </a:xfrm>
            <a:custGeom>
              <a:avLst/>
              <a:pathLst>
                <a:path w="943357" h="49486">
                  <a:moveTo>
                    <a:pt x="0" y="4948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10432368" y="5080255"/>
              <a:ext cx="943357" cy="1907"/>
            </a:xfrm>
            <a:custGeom>
              <a:avLst/>
              <a:pathLst>
                <a:path w="943357" h="1907">
                  <a:moveTo>
                    <a:pt x="0" y="190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10432368" y="4981183"/>
              <a:ext cx="943357" cy="18182"/>
            </a:xfrm>
            <a:custGeom>
              <a:avLst/>
              <a:pathLst>
                <a:path w="943357" h="18182">
                  <a:moveTo>
                    <a:pt x="0" y="18182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10432368" y="4916569"/>
              <a:ext cx="943357" cy="45047"/>
            </a:xfrm>
            <a:custGeom>
              <a:avLst/>
              <a:pathLst>
                <a:path w="943357" h="45047">
                  <a:moveTo>
                    <a:pt x="0" y="0"/>
                  </a:moveTo>
                  <a:lnTo>
                    <a:pt x="943357" y="45047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10432368" y="4827991"/>
              <a:ext cx="943357" cy="5780"/>
            </a:xfrm>
            <a:custGeom>
              <a:avLst/>
              <a:pathLst>
                <a:path w="943357" h="5780">
                  <a:moveTo>
                    <a:pt x="0" y="578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10432368" y="4717409"/>
              <a:ext cx="943357" cy="33566"/>
            </a:xfrm>
            <a:custGeom>
              <a:avLst/>
              <a:pathLst>
                <a:path w="943357" h="33566">
                  <a:moveTo>
                    <a:pt x="0" y="3356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10432368" y="4668179"/>
              <a:ext cx="943357" cy="2641"/>
            </a:xfrm>
            <a:custGeom>
              <a:avLst/>
              <a:pathLst>
                <a:path w="943357" h="2641">
                  <a:moveTo>
                    <a:pt x="0" y="0"/>
                  </a:moveTo>
                  <a:lnTo>
                    <a:pt x="943357" y="2641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10432368" y="4585382"/>
              <a:ext cx="943357" cy="15179"/>
            </a:xfrm>
            <a:custGeom>
              <a:avLst/>
              <a:pathLst>
                <a:path w="943357" h="15179">
                  <a:moveTo>
                    <a:pt x="0" y="0"/>
                  </a:moveTo>
                  <a:lnTo>
                    <a:pt x="943357" y="15179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10417027" y="548080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10417027" y="539800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10417027" y="531521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10417027" y="523241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10417027" y="514961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10417027" y="506682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10417027" y="498402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10417027" y="490122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10417027" y="481843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10417027" y="473563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10417027" y="465283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10417027" y="457004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11360384" y="5364502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11360384" y="533309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11360384" y="525598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11360384" y="5203822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11360384" y="5100132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11360384" y="506491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11360384" y="4965842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11360384" y="494627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11360384" y="481265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11360384" y="4702069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11360384" y="465548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11360384" y="458522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tx196"/>
            <p:cNvSpPr/>
            <p:nvPr/>
          </p:nvSpPr>
          <p:spPr>
            <a:xfrm>
              <a:off x="7592543" y="3597298"/>
              <a:ext cx="316077" cy="1446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9132318" y="3597298"/>
              <a:ext cx="389991" cy="1446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10701430" y="3597298"/>
              <a:ext cx="405231" cy="1446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7153561" y="6162483"/>
              <a:ext cx="250686" cy="89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True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8039292" y="613932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8730293" y="6162483"/>
              <a:ext cx="250686" cy="89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True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9616023" y="613932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10307025" y="6162483"/>
              <a:ext cx="250686" cy="89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True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11192755" y="613932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6954102" y="5949081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6886296" y="553509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6886296" y="5120816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6886296" y="4707012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6886296" y="4292909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6886296" y="3879164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211" name="tx211"/>
            <p:cNvSpPr/>
            <p:nvPr/>
          </p:nvSpPr>
          <p:spPr>
            <a:xfrm rot="-5400000">
              <a:off x="6536544" y="4900222"/>
              <a:ext cx="440680" cy="1154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Shade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7090232" y="3279109"/>
              <a:ext cx="3587622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Galton: true colour to mean report (experience)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5852160" cy="3566160"/>
            <a:chOff x="548640" y="1371600"/>
            <a:chExt cx="5852160" cy="356616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5852160" cy="3566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2519418" y="3975003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2519418" y="3515898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519418" y="3056794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519418" y="2597690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519418" y="2138586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519418" y="1679481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19418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978522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37626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896730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355835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814939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519418" y="1679481"/>
              <a:ext cx="2295521" cy="2295521"/>
            </a:xfrm>
            <a:custGeom>
              <a:avLst/>
              <a:pathLst>
                <a:path w="2295521" h="2295521">
                  <a:moveTo>
                    <a:pt x="0" y="2295521"/>
                  </a:moveTo>
                  <a:lnTo>
                    <a:pt x="2295521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840791" y="2321116"/>
              <a:ext cx="1423223" cy="986262"/>
            </a:xfrm>
            <a:custGeom>
              <a:avLst/>
              <a:pathLst>
                <a:path w="1423223" h="986262">
                  <a:moveTo>
                    <a:pt x="0" y="986262"/>
                  </a:moveTo>
                  <a:lnTo>
                    <a:pt x="49076" y="952253"/>
                  </a:lnTo>
                  <a:lnTo>
                    <a:pt x="98153" y="918244"/>
                  </a:lnTo>
                  <a:lnTo>
                    <a:pt x="147229" y="884235"/>
                  </a:lnTo>
                  <a:lnTo>
                    <a:pt x="196306" y="850226"/>
                  </a:lnTo>
                  <a:lnTo>
                    <a:pt x="245383" y="816217"/>
                  </a:lnTo>
                  <a:lnTo>
                    <a:pt x="294459" y="782208"/>
                  </a:lnTo>
                  <a:lnTo>
                    <a:pt x="343536" y="748199"/>
                  </a:lnTo>
                  <a:lnTo>
                    <a:pt x="392613" y="714190"/>
                  </a:lnTo>
                  <a:lnTo>
                    <a:pt x="441689" y="680181"/>
                  </a:lnTo>
                  <a:lnTo>
                    <a:pt x="490766" y="646172"/>
                  </a:lnTo>
                  <a:lnTo>
                    <a:pt x="539843" y="612163"/>
                  </a:lnTo>
                  <a:lnTo>
                    <a:pt x="588919" y="578154"/>
                  </a:lnTo>
                  <a:lnTo>
                    <a:pt x="637996" y="544145"/>
                  </a:lnTo>
                  <a:lnTo>
                    <a:pt x="687073" y="510135"/>
                  </a:lnTo>
                  <a:lnTo>
                    <a:pt x="736149" y="476126"/>
                  </a:lnTo>
                  <a:lnTo>
                    <a:pt x="785226" y="442117"/>
                  </a:lnTo>
                  <a:lnTo>
                    <a:pt x="834303" y="408108"/>
                  </a:lnTo>
                  <a:lnTo>
                    <a:pt x="883379" y="374099"/>
                  </a:lnTo>
                  <a:lnTo>
                    <a:pt x="932456" y="340090"/>
                  </a:lnTo>
                  <a:lnTo>
                    <a:pt x="981533" y="306081"/>
                  </a:lnTo>
                  <a:lnTo>
                    <a:pt x="1030609" y="272072"/>
                  </a:lnTo>
                  <a:lnTo>
                    <a:pt x="1079686" y="238063"/>
                  </a:lnTo>
                  <a:lnTo>
                    <a:pt x="1128763" y="204054"/>
                  </a:lnTo>
                  <a:lnTo>
                    <a:pt x="1177839" y="170045"/>
                  </a:lnTo>
                  <a:lnTo>
                    <a:pt x="1226916" y="136036"/>
                  </a:lnTo>
                  <a:lnTo>
                    <a:pt x="1275993" y="102027"/>
                  </a:lnTo>
                  <a:lnTo>
                    <a:pt x="1325069" y="68018"/>
                  </a:lnTo>
                  <a:lnTo>
                    <a:pt x="1374146" y="34009"/>
                  </a:lnTo>
                  <a:lnTo>
                    <a:pt x="1423223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978522" y="2293092"/>
              <a:ext cx="1377312" cy="1034327"/>
            </a:xfrm>
            <a:custGeom>
              <a:avLst/>
              <a:pathLst>
                <a:path w="1377312" h="1034327">
                  <a:moveTo>
                    <a:pt x="0" y="1034327"/>
                  </a:moveTo>
                  <a:lnTo>
                    <a:pt x="47493" y="998661"/>
                  </a:lnTo>
                  <a:lnTo>
                    <a:pt x="94987" y="962994"/>
                  </a:lnTo>
                  <a:lnTo>
                    <a:pt x="142480" y="927328"/>
                  </a:lnTo>
                  <a:lnTo>
                    <a:pt x="189974" y="891661"/>
                  </a:lnTo>
                  <a:lnTo>
                    <a:pt x="237467" y="855995"/>
                  </a:lnTo>
                  <a:lnTo>
                    <a:pt x="284961" y="820329"/>
                  </a:lnTo>
                  <a:lnTo>
                    <a:pt x="332454" y="784662"/>
                  </a:lnTo>
                  <a:lnTo>
                    <a:pt x="379948" y="748996"/>
                  </a:lnTo>
                  <a:lnTo>
                    <a:pt x="427441" y="713329"/>
                  </a:lnTo>
                  <a:lnTo>
                    <a:pt x="474935" y="677663"/>
                  </a:lnTo>
                  <a:lnTo>
                    <a:pt x="522428" y="641996"/>
                  </a:lnTo>
                  <a:lnTo>
                    <a:pt x="569922" y="606330"/>
                  </a:lnTo>
                  <a:lnTo>
                    <a:pt x="617416" y="570663"/>
                  </a:lnTo>
                  <a:lnTo>
                    <a:pt x="664909" y="534997"/>
                  </a:lnTo>
                  <a:lnTo>
                    <a:pt x="712403" y="499330"/>
                  </a:lnTo>
                  <a:lnTo>
                    <a:pt x="759896" y="463664"/>
                  </a:lnTo>
                  <a:lnTo>
                    <a:pt x="807390" y="427997"/>
                  </a:lnTo>
                  <a:lnTo>
                    <a:pt x="854883" y="392331"/>
                  </a:lnTo>
                  <a:lnTo>
                    <a:pt x="902377" y="356664"/>
                  </a:lnTo>
                  <a:lnTo>
                    <a:pt x="949870" y="320998"/>
                  </a:lnTo>
                  <a:lnTo>
                    <a:pt x="997364" y="285331"/>
                  </a:lnTo>
                  <a:lnTo>
                    <a:pt x="1044857" y="249665"/>
                  </a:lnTo>
                  <a:lnTo>
                    <a:pt x="1092351" y="213998"/>
                  </a:lnTo>
                  <a:lnTo>
                    <a:pt x="1139845" y="178332"/>
                  </a:lnTo>
                  <a:lnTo>
                    <a:pt x="1187338" y="142665"/>
                  </a:lnTo>
                  <a:lnTo>
                    <a:pt x="1234832" y="106999"/>
                  </a:lnTo>
                  <a:lnTo>
                    <a:pt x="1282325" y="71332"/>
                  </a:lnTo>
                  <a:lnTo>
                    <a:pt x="1329819" y="35666"/>
                  </a:lnTo>
                  <a:lnTo>
                    <a:pt x="1377312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886701" y="2323413"/>
              <a:ext cx="1560954" cy="1083723"/>
            </a:xfrm>
            <a:custGeom>
              <a:avLst/>
              <a:pathLst>
                <a:path w="1560954" h="1083723">
                  <a:moveTo>
                    <a:pt x="0" y="1083723"/>
                  </a:moveTo>
                  <a:lnTo>
                    <a:pt x="53826" y="1046353"/>
                  </a:lnTo>
                  <a:lnTo>
                    <a:pt x="107652" y="1008984"/>
                  </a:lnTo>
                  <a:lnTo>
                    <a:pt x="161478" y="971614"/>
                  </a:lnTo>
                  <a:lnTo>
                    <a:pt x="215304" y="934244"/>
                  </a:lnTo>
                  <a:lnTo>
                    <a:pt x="269130" y="896874"/>
                  </a:lnTo>
                  <a:lnTo>
                    <a:pt x="322956" y="859504"/>
                  </a:lnTo>
                  <a:lnTo>
                    <a:pt x="376782" y="822135"/>
                  </a:lnTo>
                  <a:lnTo>
                    <a:pt x="430608" y="784765"/>
                  </a:lnTo>
                  <a:lnTo>
                    <a:pt x="484434" y="747395"/>
                  </a:lnTo>
                  <a:lnTo>
                    <a:pt x="538260" y="710025"/>
                  </a:lnTo>
                  <a:lnTo>
                    <a:pt x="592086" y="672656"/>
                  </a:lnTo>
                  <a:lnTo>
                    <a:pt x="645912" y="635286"/>
                  </a:lnTo>
                  <a:lnTo>
                    <a:pt x="699738" y="597916"/>
                  </a:lnTo>
                  <a:lnTo>
                    <a:pt x="753564" y="560546"/>
                  </a:lnTo>
                  <a:lnTo>
                    <a:pt x="807390" y="523176"/>
                  </a:lnTo>
                  <a:lnTo>
                    <a:pt x="861216" y="485807"/>
                  </a:lnTo>
                  <a:lnTo>
                    <a:pt x="915042" y="448437"/>
                  </a:lnTo>
                  <a:lnTo>
                    <a:pt x="968868" y="411067"/>
                  </a:lnTo>
                  <a:lnTo>
                    <a:pt x="1022694" y="373697"/>
                  </a:lnTo>
                  <a:lnTo>
                    <a:pt x="1076520" y="336328"/>
                  </a:lnTo>
                  <a:lnTo>
                    <a:pt x="1130346" y="298958"/>
                  </a:lnTo>
                  <a:lnTo>
                    <a:pt x="1184172" y="261588"/>
                  </a:lnTo>
                  <a:lnTo>
                    <a:pt x="1237998" y="224218"/>
                  </a:lnTo>
                  <a:lnTo>
                    <a:pt x="1291824" y="186848"/>
                  </a:lnTo>
                  <a:lnTo>
                    <a:pt x="1345650" y="149479"/>
                  </a:lnTo>
                  <a:lnTo>
                    <a:pt x="1399476" y="112109"/>
                  </a:lnTo>
                  <a:lnTo>
                    <a:pt x="1453302" y="74739"/>
                  </a:lnTo>
                  <a:lnTo>
                    <a:pt x="1507128" y="37369"/>
                  </a:lnTo>
                  <a:lnTo>
                    <a:pt x="1560954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2383288" y="3931158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2315482" y="3472054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315482" y="3012652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2315482" y="2553726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315482" y="2094503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315482" y="1635636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485515" y="404320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910716" y="404320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369820" y="4042910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3828924" y="4043088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288029" y="4042969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747133" y="404320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438467" y="4163928"/>
              <a:ext cx="457423" cy="141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33" name="tx33"/>
            <p:cNvSpPr/>
            <p:nvPr/>
          </p:nvSpPr>
          <p:spPr>
            <a:xfrm rot="-5400000">
              <a:off x="1484419" y="2770948"/>
              <a:ext cx="1406202" cy="1125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Predicted true colour</a:t>
              </a:r>
            </a:p>
          </p:txBody>
        </p:sp>
        <p:sp>
          <p:nvSpPr>
            <p:cNvPr id="34" name="pl34"/>
            <p:cNvSpPr/>
            <p:nvPr/>
          </p:nvSpPr>
          <p:spPr>
            <a:xfrm>
              <a:off x="2705867" y="46762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341473" y="46762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044884" y="46762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2979293" y="460896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3614898" y="4609258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4318310" y="460896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2519418" y="1402443"/>
              <a:ext cx="3881170" cy="164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Regression lines: true colour on report (experience)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629400" y="1371600"/>
            <a:ext cx="5010912" cy="1828800"/>
            <a:chOff x="6629400" y="1371600"/>
            <a:chExt cx="5010912" cy="1828800"/>
          </a:xfrm>
        </p:grpSpPr>
        <p:sp>
          <p:nvSpPr>
            <p:cNvPr id="3" name="rc3"/>
            <p:cNvSpPr/>
            <p:nvPr/>
          </p:nvSpPr>
          <p:spPr>
            <a:xfrm>
              <a:off x="6629400" y="1371600"/>
              <a:ext cx="5010912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7124106" y="2938770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7124106" y="2638291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7124106" y="2337813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7124106" y="2037335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124106" y="1736857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956660" y="1679481"/>
              <a:ext cx="0" cy="1262260"/>
            </a:xfrm>
            <a:custGeom>
              <a:avLst/>
              <a:pathLst>
                <a:path w="0" h="1262260">
                  <a:moveTo>
                    <a:pt x="0" y="12622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344251" y="1679481"/>
              <a:ext cx="0" cy="1262260"/>
            </a:xfrm>
            <a:custGeom>
              <a:avLst/>
              <a:pathLst>
                <a:path w="0" h="1262260">
                  <a:moveTo>
                    <a:pt x="0" y="12622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731842" y="1679481"/>
              <a:ext cx="0" cy="1262260"/>
            </a:xfrm>
            <a:custGeom>
              <a:avLst/>
              <a:pathLst>
                <a:path w="0" h="1262260">
                  <a:moveTo>
                    <a:pt x="0" y="12622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124106" y="1736857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887281" y="2434414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956660" y="2434414"/>
              <a:ext cx="0" cy="449951"/>
            </a:xfrm>
            <a:custGeom>
              <a:avLst/>
              <a:pathLst>
                <a:path w="0" h="449951">
                  <a:moveTo>
                    <a:pt x="0" y="0"/>
                  </a:moveTo>
                  <a:lnTo>
                    <a:pt x="0" y="449951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887281" y="2884366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274871" y="2245378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344251" y="2245378"/>
              <a:ext cx="0" cy="479487"/>
            </a:xfrm>
            <a:custGeom>
              <a:avLst/>
              <a:pathLst>
                <a:path w="0" h="479487">
                  <a:moveTo>
                    <a:pt x="0" y="0"/>
                  </a:moveTo>
                  <a:lnTo>
                    <a:pt x="0" y="479487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274871" y="2724865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0662462" y="2431650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0731842" y="2431650"/>
              <a:ext cx="0" cy="447719"/>
            </a:xfrm>
            <a:custGeom>
              <a:avLst/>
              <a:pathLst>
                <a:path w="0" h="447719">
                  <a:moveTo>
                    <a:pt x="0" y="0"/>
                  </a:moveTo>
                  <a:lnTo>
                    <a:pt x="0" y="447719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0662462" y="2879369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956660" y="2485122"/>
              <a:ext cx="2775181" cy="174268"/>
            </a:xfrm>
            <a:custGeom>
              <a:avLst/>
              <a:pathLst>
                <a:path w="2775181" h="174268">
                  <a:moveTo>
                    <a:pt x="0" y="174268"/>
                  </a:moveTo>
                  <a:lnTo>
                    <a:pt x="1387590" y="0"/>
                  </a:lnTo>
                  <a:lnTo>
                    <a:pt x="2775181" y="170387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7919639" y="2622368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9307229" y="2448100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0694820" y="2618488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886296" y="2894568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0.6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886296" y="2594447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0.7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886296" y="2293611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0.8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886296" y="1993312"/>
              <a:ext cx="169485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0.9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886296" y="1693012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824501" y="298655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9178188" y="2986848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0565779" y="298655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34" name="tx34"/>
            <p:cNvSpPr/>
            <p:nvPr/>
          </p:nvSpPr>
          <p:spPr>
            <a:xfrm rot="-5400000">
              <a:off x="6225902" y="2238578"/>
              <a:ext cx="1033388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Slope (95% CI)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124106" y="1404589"/>
              <a:ext cx="2722664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Reverse slope per level (experience)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629400" y="3246120"/>
            <a:ext cx="5010912" cy="3108960"/>
            <a:chOff x="6629400" y="3246120"/>
            <a:chExt cx="5010912" cy="3108960"/>
          </a:xfrm>
        </p:grpSpPr>
        <p:sp>
          <p:nvSpPr>
            <p:cNvPr id="3" name="rc3"/>
            <p:cNvSpPr/>
            <p:nvPr/>
          </p:nvSpPr>
          <p:spPr>
            <a:xfrm>
              <a:off x="6629400" y="3246120"/>
              <a:ext cx="5010912" cy="31089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7090232" y="599292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7090232" y="557894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7090232" y="516495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7090232" y="475097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090232" y="433699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090232" y="392300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278904" y="5181518"/>
              <a:ext cx="943357" cy="604415"/>
            </a:xfrm>
            <a:custGeom>
              <a:avLst/>
              <a:pathLst>
                <a:path w="943357" h="604415">
                  <a:moveTo>
                    <a:pt x="0" y="60441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278904" y="5242581"/>
              <a:ext cx="943357" cy="501954"/>
            </a:xfrm>
            <a:custGeom>
              <a:avLst/>
              <a:pathLst>
                <a:path w="943357" h="501954">
                  <a:moveTo>
                    <a:pt x="0" y="501954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278904" y="5303643"/>
              <a:ext cx="943357" cy="399493"/>
            </a:xfrm>
            <a:custGeom>
              <a:avLst/>
              <a:pathLst>
                <a:path w="943357" h="399493">
                  <a:moveTo>
                    <a:pt x="0" y="39949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278904" y="5195145"/>
              <a:ext cx="943357" cy="466593"/>
            </a:xfrm>
            <a:custGeom>
              <a:avLst/>
              <a:pathLst>
                <a:path w="943357" h="466593">
                  <a:moveTo>
                    <a:pt x="0" y="46659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278904" y="5301475"/>
              <a:ext cx="943357" cy="318865"/>
            </a:xfrm>
            <a:custGeom>
              <a:avLst/>
              <a:pathLst>
                <a:path w="943357" h="318865">
                  <a:moveTo>
                    <a:pt x="0" y="31886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278904" y="5207575"/>
              <a:ext cx="943357" cy="371367"/>
            </a:xfrm>
            <a:custGeom>
              <a:avLst/>
              <a:pathLst>
                <a:path w="943357" h="371367">
                  <a:moveTo>
                    <a:pt x="0" y="37136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278904" y="5267798"/>
              <a:ext cx="943357" cy="269746"/>
            </a:xfrm>
            <a:custGeom>
              <a:avLst/>
              <a:pathLst>
                <a:path w="943357" h="269746">
                  <a:moveTo>
                    <a:pt x="0" y="26974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278904" y="5252001"/>
              <a:ext cx="943357" cy="244144"/>
            </a:xfrm>
            <a:custGeom>
              <a:avLst/>
              <a:pathLst>
                <a:path w="943357" h="244144">
                  <a:moveTo>
                    <a:pt x="0" y="244144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278904" y="5130774"/>
              <a:ext cx="943357" cy="323973"/>
            </a:xfrm>
            <a:custGeom>
              <a:avLst/>
              <a:pathLst>
                <a:path w="943357" h="323973">
                  <a:moveTo>
                    <a:pt x="0" y="32397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278904" y="5188286"/>
              <a:ext cx="943357" cy="225062"/>
            </a:xfrm>
            <a:custGeom>
              <a:avLst/>
              <a:pathLst>
                <a:path w="943357" h="225062">
                  <a:moveTo>
                    <a:pt x="0" y="225062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278904" y="5163855"/>
              <a:ext cx="943357" cy="208095"/>
            </a:xfrm>
            <a:custGeom>
              <a:avLst/>
              <a:pathLst>
                <a:path w="943357" h="208095">
                  <a:moveTo>
                    <a:pt x="0" y="20809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278904" y="5143915"/>
              <a:ext cx="943357" cy="186637"/>
            </a:xfrm>
            <a:custGeom>
              <a:avLst/>
              <a:pathLst>
                <a:path w="943357" h="186637">
                  <a:moveTo>
                    <a:pt x="0" y="18663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278904" y="5148202"/>
              <a:ext cx="943357" cy="140951"/>
            </a:xfrm>
            <a:custGeom>
              <a:avLst/>
              <a:pathLst>
                <a:path w="943357" h="140951">
                  <a:moveTo>
                    <a:pt x="0" y="14095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278904" y="5109515"/>
              <a:ext cx="943357" cy="138240"/>
            </a:xfrm>
            <a:custGeom>
              <a:avLst/>
              <a:pathLst>
                <a:path w="943357" h="138240">
                  <a:moveTo>
                    <a:pt x="0" y="13824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278904" y="5038147"/>
              <a:ext cx="943357" cy="168210"/>
            </a:xfrm>
            <a:custGeom>
              <a:avLst/>
              <a:pathLst>
                <a:path w="943357" h="168210">
                  <a:moveTo>
                    <a:pt x="0" y="16821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278904" y="5030728"/>
              <a:ext cx="943357" cy="134230"/>
            </a:xfrm>
            <a:custGeom>
              <a:avLst/>
              <a:pathLst>
                <a:path w="943357" h="134230">
                  <a:moveTo>
                    <a:pt x="0" y="13423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7278904" y="4996748"/>
              <a:ext cx="943357" cy="126812"/>
            </a:xfrm>
            <a:custGeom>
              <a:avLst/>
              <a:pathLst>
                <a:path w="943357" h="126812">
                  <a:moveTo>
                    <a:pt x="0" y="126812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7278904" y="4955385"/>
              <a:ext cx="943357" cy="126776"/>
            </a:xfrm>
            <a:custGeom>
              <a:avLst/>
              <a:pathLst>
                <a:path w="943357" h="126776">
                  <a:moveTo>
                    <a:pt x="0" y="12677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278904" y="4944398"/>
              <a:ext cx="943357" cy="96366"/>
            </a:xfrm>
            <a:custGeom>
              <a:avLst/>
              <a:pathLst>
                <a:path w="943357" h="96366">
                  <a:moveTo>
                    <a:pt x="0" y="9636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278904" y="4861647"/>
              <a:ext cx="943357" cy="137718"/>
            </a:xfrm>
            <a:custGeom>
              <a:avLst/>
              <a:pathLst>
                <a:path w="943357" h="137718">
                  <a:moveTo>
                    <a:pt x="0" y="137718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278904" y="4914474"/>
              <a:ext cx="943357" cy="43492"/>
            </a:xfrm>
            <a:custGeom>
              <a:avLst/>
              <a:pathLst>
                <a:path w="943357" h="43492">
                  <a:moveTo>
                    <a:pt x="0" y="43492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278904" y="4824917"/>
              <a:ext cx="943357" cy="91651"/>
            </a:xfrm>
            <a:custGeom>
              <a:avLst/>
              <a:pathLst>
                <a:path w="943357" h="91651">
                  <a:moveTo>
                    <a:pt x="0" y="9165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7278904" y="4806587"/>
              <a:ext cx="943357" cy="68583"/>
            </a:xfrm>
            <a:custGeom>
              <a:avLst/>
              <a:pathLst>
                <a:path w="943357" h="68583">
                  <a:moveTo>
                    <a:pt x="0" y="6858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7278904" y="4765761"/>
              <a:ext cx="943357" cy="68011"/>
            </a:xfrm>
            <a:custGeom>
              <a:avLst/>
              <a:pathLst>
                <a:path w="943357" h="68011">
                  <a:moveTo>
                    <a:pt x="0" y="6801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7278904" y="4721877"/>
              <a:ext cx="943357" cy="70497"/>
            </a:xfrm>
            <a:custGeom>
              <a:avLst/>
              <a:pathLst>
                <a:path w="943357" h="70497">
                  <a:moveTo>
                    <a:pt x="0" y="7049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7278904" y="4745518"/>
              <a:ext cx="943357" cy="5457"/>
            </a:xfrm>
            <a:custGeom>
              <a:avLst/>
              <a:pathLst>
                <a:path w="943357" h="5457">
                  <a:moveTo>
                    <a:pt x="0" y="545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7278904" y="4693770"/>
              <a:ext cx="943357" cy="15806"/>
            </a:xfrm>
            <a:custGeom>
              <a:avLst/>
              <a:pathLst>
                <a:path w="943357" h="15806">
                  <a:moveTo>
                    <a:pt x="0" y="1580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7278904" y="4668179"/>
              <a:ext cx="943357" cy="2874"/>
            </a:xfrm>
            <a:custGeom>
              <a:avLst/>
              <a:pathLst>
                <a:path w="943357" h="2874">
                  <a:moveTo>
                    <a:pt x="0" y="0"/>
                  </a:moveTo>
                  <a:lnTo>
                    <a:pt x="943357" y="2874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7278904" y="4626780"/>
              <a:ext cx="943357" cy="48298"/>
            </a:xfrm>
            <a:custGeom>
              <a:avLst/>
              <a:pathLst>
                <a:path w="943357" h="48298">
                  <a:moveTo>
                    <a:pt x="0" y="0"/>
                  </a:moveTo>
                  <a:lnTo>
                    <a:pt x="943357" y="4829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7278904" y="4585382"/>
              <a:ext cx="943357" cy="73740"/>
            </a:xfrm>
            <a:custGeom>
              <a:avLst/>
              <a:pathLst>
                <a:path w="943357" h="73740">
                  <a:moveTo>
                    <a:pt x="0" y="0"/>
                  </a:moveTo>
                  <a:lnTo>
                    <a:pt x="943357" y="7374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7278904" y="4543984"/>
              <a:ext cx="943357" cy="106562"/>
            </a:xfrm>
            <a:custGeom>
              <a:avLst/>
              <a:pathLst>
                <a:path w="943357" h="106562">
                  <a:moveTo>
                    <a:pt x="0" y="0"/>
                  </a:moveTo>
                  <a:lnTo>
                    <a:pt x="943357" y="106562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278904" y="4502585"/>
              <a:ext cx="943357" cy="126076"/>
            </a:xfrm>
            <a:custGeom>
              <a:avLst/>
              <a:pathLst>
                <a:path w="943357" h="126076">
                  <a:moveTo>
                    <a:pt x="0" y="0"/>
                  </a:moveTo>
                  <a:lnTo>
                    <a:pt x="943357" y="126076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7278904" y="4461187"/>
              <a:ext cx="943357" cy="186292"/>
            </a:xfrm>
            <a:custGeom>
              <a:avLst/>
              <a:pathLst>
                <a:path w="943357" h="186292">
                  <a:moveTo>
                    <a:pt x="0" y="0"/>
                  </a:moveTo>
                  <a:lnTo>
                    <a:pt x="943357" y="186292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7278904" y="4419789"/>
              <a:ext cx="943357" cy="217341"/>
            </a:xfrm>
            <a:custGeom>
              <a:avLst/>
              <a:pathLst>
                <a:path w="943357" h="217341">
                  <a:moveTo>
                    <a:pt x="0" y="0"/>
                  </a:moveTo>
                  <a:lnTo>
                    <a:pt x="943357" y="217341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7278904" y="4336992"/>
              <a:ext cx="943357" cy="276540"/>
            </a:xfrm>
            <a:custGeom>
              <a:avLst/>
              <a:pathLst>
                <a:path w="943357" h="276540">
                  <a:moveTo>
                    <a:pt x="0" y="0"/>
                  </a:moveTo>
                  <a:lnTo>
                    <a:pt x="943357" y="27654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7263563" y="577059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7263563" y="572919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7263563" y="568779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7263563" y="564639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7263563" y="560500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7263563" y="556360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7263563" y="552220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7263563" y="548080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7263563" y="543940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7263563" y="539800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7263563" y="535661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7263563" y="531521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7263563" y="527381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7263563" y="523241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7263563" y="519101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7263563" y="514961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7263563" y="510822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7263563" y="506682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7263563" y="502542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7263563" y="498402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7263563" y="494262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7263563" y="490122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7263563" y="485983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7263563" y="481843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7263563" y="477703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7263563" y="473563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7263563" y="469423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7263563" y="465283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7263563" y="461144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7263563" y="457004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7263563" y="452864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7263563" y="448724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7263563" y="444584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7263563" y="440444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7263563" y="432165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8206920" y="516617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8206920" y="522724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8206920" y="528830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8206920" y="517980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8206920" y="528613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8206920" y="519223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8206920" y="525245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8206920" y="523666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8206920" y="511543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8206920" y="517294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8206920" y="514851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8206920" y="512857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8206920" y="513286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8206920" y="509417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8206920" y="502280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8206920" y="501538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8206920" y="498140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8206920" y="494004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8206920" y="492905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8206920" y="484630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8206920" y="489913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8206920" y="480957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8206920" y="479124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8206920" y="475042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8206920" y="470653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8206920" y="473017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8206920" y="467843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8206920" y="465571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8206920" y="465973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8206920" y="464378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8206920" y="463520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8206920" y="461332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8206920" y="463213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8206920" y="462179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8206920" y="459819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8666964" y="599292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8666964" y="557894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8666964" y="516495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8666964" y="475097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8666964" y="433699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8666964" y="392300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8855636" y="5310444"/>
              <a:ext cx="943357" cy="351294"/>
            </a:xfrm>
            <a:custGeom>
              <a:avLst/>
              <a:pathLst>
                <a:path w="943357" h="351294">
                  <a:moveTo>
                    <a:pt x="0" y="351294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8855636" y="5291224"/>
              <a:ext cx="943357" cy="329116"/>
            </a:xfrm>
            <a:custGeom>
              <a:avLst/>
              <a:pathLst>
                <a:path w="943357" h="329116">
                  <a:moveTo>
                    <a:pt x="0" y="32911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8855636" y="5212567"/>
              <a:ext cx="943357" cy="366375"/>
            </a:xfrm>
            <a:custGeom>
              <a:avLst/>
              <a:pathLst>
                <a:path w="943357" h="366375">
                  <a:moveTo>
                    <a:pt x="0" y="36637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8855636" y="5291224"/>
              <a:ext cx="943357" cy="246320"/>
            </a:xfrm>
            <a:custGeom>
              <a:avLst/>
              <a:pathLst>
                <a:path w="943357" h="246320">
                  <a:moveTo>
                    <a:pt x="0" y="24632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8855636" y="5314880"/>
              <a:ext cx="943357" cy="181265"/>
            </a:xfrm>
            <a:custGeom>
              <a:avLst/>
              <a:pathLst>
                <a:path w="943357" h="181265">
                  <a:moveTo>
                    <a:pt x="0" y="18126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8855636" y="5272249"/>
              <a:ext cx="943357" cy="182497"/>
            </a:xfrm>
            <a:custGeom>
              <a:avLst/>
              <a:pathLst>
                <a:path w="943357" h="182497">
                  <a:moveTo>
                    <a:pt x="0" y="18249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8855636" y="5198391"/>
              <a:ext cx="943357" cy="214957"/>
            </a:xfrm>
            <a:custGeom>
              <a:avLst/>
              <a:pathLst>
                <a:path w="943357" h="214957">
                  <a:moveTo>
                    <a:pt x="0" y="21495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8855636" y="5301573"/>
              <a:ext cx="943357" cy="70377"/>
            </a:xfrm>
            <a:custGeom>
              <a:avLst/>
              <a:pathLst>
                <a:path w="943357" h="70377">
                  <a:moveTo>
                    <a:pt x="0" y="7037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8855636" y="5265125"/>
              <a:ext cx="943357" cy="65427"/>
            </a:xfrm>
            <a:custGeom>
              <a:avLst/>
              <a:pathLst>
                <a:path w="943357" h="65427">
                  <a:moveTo>
                    <a:pt x="0" y="6542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8855636" y="5170115"/>
              <a:ext cx="943357" cy="119038"/>
            </a:xfrm>
            <a:custGeom>
              <a:avLst/>
              <a:pathLst>
                <a:path w="943357" h="119038">
                  <a:moveTo>
                    <a:pt x="0" y="119038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8855636" y="5238510"/>
              <a:ext cx="943357" cy="9245"/>
            </a:xfrm>
            <a:custGeom>
              <a:avLst/>
              <a:pathLst>
                <a:path w="943357" h="9245">
                  <a:moveTo>
                    <a:pt x="0" y="924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8855636" y="5164935"/>
              <a:ext cx="943357" cy="41422"/>
            </a:xfrm>
            <a:custGeom>
              <a:avLst/>
              <a:pathLst>
                <a:path w="943357" h="41422">
                  <a:moveTo>
                    <a:pt x="0" y="41422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8855636" y="5103527"/>
              <a:ext cx="943357" cy="61431"/>
            </a:xfrm>
            <a:custGeom>
              <a:avLst/>
              <a:pathLst>
                <a:path w="943357" h="61431">
                  <a:moveTo>
                    <a:pt x="0" y="6143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8855636" y="5123560"/>
              <a:ext cx="943357" cy="5647"/>
            </a:xfrm>
            <a:custGeom>
              <a:avLst/>
              <a:pathLst>
                <a:path w="943357" h="5647">
                  <a:moveTo>
                    <a:pt x="0" y="0"/>
                  </a:moveTo>
                  <a:lnTo>
                    <a:pt x="943357" y="5647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8855636" y="5000127"/>
              <a:ext cx="943357" cy="82035"/>
            </a:xfrm>
            <a:custGeom>
              <a:avLst/>
              <a:pathLst>
                <a:path w="943357" h="82035">
                  <a:moveTo>
                    <a:pt x="0" y="8203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8855636" y="4995416"/>
              <a:ext cx="943357" cy="45347"/>
            </a:xfrm>
            <a:custGeom>
              <a:avLst/>
              <a:pathLst>
                <a:path w="943357" h="45347">
                  <a:moveTo>
                    <a:pt x="0" y="4534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8855636" y="4979603"/>
              <a:ext cx="943357" cy="19762"/>
            </a:xfrm>
            <a:custGeom>
              <a:avLst/>
              <a:pathLst>
                <a:path w="943357" h="19762">
                  <a:moveTo>
                    <a:pt x="0" y="19762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8855636" y="4902716"/>
              <a:ext cx="943357" cy="55250"/>
            </a:xfrm>
            <a:custGeom>
              <a:avLst/>
              <a:pathLst>
                <a:path w="943357" h="55250">
                  <a:moveTo>
                    <a:pt x="0" y="5525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8855636" y="4902930"/>
              <a:ext cx="943357" cy="13638"/>
            </a:xfrm>
            <a:custGeom>
              <a:avLst/>
              <a:pathLst>
                <a:path w="943357" h="13638">
                  <a:moveTo>
                    <a:pt x="0" y="13638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8855636" y="4875170"/>
              <a:ext cx="943357" cy="60186"/>
            </a:xfrm>
            <a:custGeom>
              <a:avLst/>
              <a:pathLst>
                <a:path w="943357" h="60186">
                  <a:moveTo>
                    <a:pt x="0" y="0"/>
                  </a:moveTo>
                  <a:lnTo>
                    <a:pt x="943357" y="60186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8855636" y="4814014"/>
              <a:ext cx="943357" cy="19758"/>
            </a:xfrm>
            <a:custGeom>
              <a:avLst/>
              <a:pathLst>
                <a:path w="943357" h="19758">
                  <a:moveTo>
                    <a:pt x="0" y="19758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8855636" y="4789321"/>
              <a:ext cx="943357" cy="3052"/>
            </a:xfrm>
            <a:custGeom>
              <a:avLst/>
              <a:pathLst>
                <a:path w="943357" h="3052">
                  <a:moveTo>
                    <a:pt x="0" y="3052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8855636" y="4750975"/>
              <a:ext cx="943357" cy="71120"/>
            </a:xfrm>
            <a:custGeom>
              <a:avLst/>
              <a:pathLst>
                <a:path w="943357" h="71120">
                  <a:moveTo>
                    <a:pt x="0" y="0"/>
                  </a:moveTo>
                  <a:lnTo>
                    <a:pt x="943357" y="7112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8855636" y="4709577"/>
              <a:ext cx="943357" cy="13374"/>
            </a:xfrm>
            <a:custGeom>
              <a:avLst/>
              <a:pathLst>
                <a:path w="943357" h="13374">
                  <a:moveTo>
                    <a:pt x="0" y="0"/>
                  </a:moveTo>
                  <a:lnTo>
                    <a:pt x="943357" y="13374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8855636" y="4668179"/>
              <a:ext cx="943357" cy="55953"/>
            </a:xfrm>
            <a:custGeom>
              <a:avLst/>
              <a:pathLst>
                <a:path w="943357" h="55953">
                  <a:moveTo>
                    <a:pt x="0" y="0"/>
                  </a:moveTo>
                  <a:lnTo>
                    <a:pt x="943357" y="5595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8855636" y="4626780"/>
              <a:ext cx="943357" cy="32790"/>
            </a:xfrm>
            <a:custGeom>
              <a:avLst/>
              <a:pathLst>
                <a:path w="943357" h="32790">
                  <a:moveTo>
                    <a:pt x="0" y="0"/>
                  </a:moveTo>
                  <a:lnTo>
                    <a:pt x="943357" y="3279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8855636" y="4585382"/>
              <a:ext cx="943357" cy="128146"/>
            </a:xfrm>
            <a:custGeom>
              <a:avLst/>
              <a:pathLst>
                <a:path w="943357" h="128146">
                  <a:moveTo>
                    <a:pt x="0" y="0"/>
                  </a:moveTo>
                  <a:lnTo>
                    <a:pt x="943357" y="128146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8855636" y="4543984"/>
              <a:ext cx="943357" cy="80266"/>
            </a:xfrm>
            <a:custGeom>
              <a:avLst/>
              <a:pathLst>
                <a:path w="943357" h="80266">
                  <a:moveTo>
                    <a:pt x="0" y="0"/>
                  </a:moveTo>
                  <a:lnTo>
                    <a:pt x="943357" y="80266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8855636" y="4502585"/>
              <a:ext cx="943357" cy="216226"/>
            </a:xfrm>
            <a:custGeom>
              <a:avLst/>
              <a:pathLst>
                <a:path w="943357" h="216226">
                  <a:moveTo>
                    <a:pt x="0" y="0"/>
                  </a:moveTo>
                  <a:lnTo>
                    <a:pt x="943357" y="216226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8855636" y="4461187"/>
              <a:ext cx="943357" cy="206991"/>
            </a:xfrm>
            <a:custGeom>
              <a:avLst/>
              <a:pathLst>
                <a:path w="943357" h="206991">
                  <a:moveTo>
                    <a:pt x="0" y="0"/>
                  </a:moveTo>
                  <a:lnTo>
                    <a:pt x="943357" y="206991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8855636" y="4419789"/>
              <a:ext cx="943357" cy="212511"/>
            </a:xfrm>
            <a:custGeom>
              <a:avLst/>
              <a:pathLst>
                <a:path w="943357" h="212511">
                  <a:moveTo>
                    <a:pt x="0" y="0"/>
                  </a:moveTo>
                  <a:lnTo>
                    <a:pt x="943357" y="212511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8855636" y="4378390"/>
              <a:ext cx="943357" cy="256669"/>
            </a:xfrm>
            <a:custGeom>
              <a:avLst/>
              <a:pathLst>
                <a:path w="943357" h="256669">
                  <a:moveTo>
                    <a:pt x="0" y="0"/>
                  </a:moveTo>
                  <a:lnTo>
                    <a:pt x="943357" y="256669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8855636" y="4336992"/>
              <a:ext cx="943357" cy="390918"/>
            </a:xfrm>
            <a:custGeom>
              <a:avLst/>
              <a:pathLst>
                <a:path w="943357" h="390918">
                  <a:moveTo>
                    <a:pt x="0" y="0"/>
                  </a:moveTo>
                  <a:lnTo>
                    <a:pt x="943357" y="39091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8855636" y="4295594"/>
              <a:ext cx="943357" cy="322907"/>
            </a:xfrm>
            <a:custGeom>
              <a:avLst/>
              <a:pathLst>
                <a:path w="943357" h="322907">
                  <a:moveTo>
                    <a:pt x="0" y="0"/>
                  </a:moveTo>
                  <a:lnTo>
                    <a:pt x="943357" y="322907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8840295" y="564639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8840295" y="560500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8840295" y="556360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8840295" y="552220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8840295" y="548080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8840295" y="543940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8840295" y="539800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8840295" y="535661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8840295" y="531521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8840295" y="527381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8840295" y="523241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8840295" y="519101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8840295" y="514961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8840295" y="510822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8840295" y="506682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8840295" y="502542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8840295" y="498402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8840295" y="494262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8840295" y="490122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8840295" y="485983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8840295" y="481843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8840295" y="477703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8840295" y="473563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8840295" y="469423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8840295" y="465283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8840295" y="461144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8840295" y="457004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8840295" y="452864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8840295" y="448724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8840295" y="444584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8840295" y="440444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8840295" y="436305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8840295" y="432165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8840295" y="428025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9783652" y="529510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9783652" y="527588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9783652" y="519722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9783652" y="527588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9783652" y="529953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9783652" y="525690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9783652" y="518305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9783652" y="528623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9783652" y="524978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9783652" y="515477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9783652" y="522316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9783652" y="514959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9783652" y="508818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9783652" y="511386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9783652" y="498478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9783652" y="498007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9783652" y="496426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9783652" y="488737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9783652" y="488759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9783652" y="492001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9783652" y="479867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9783652" y="477398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9783652" y="480675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9783652" y="470761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9783652" y="470879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9783652" y="464423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9783652" y="469818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9783652" y="460891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9783652" y="470347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9783652" y="465283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9783652" y="461696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9783652" y="461972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9783652" y="471257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9783652" y="460316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10243696" y="599292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10243696" y="557894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10243696" y="516495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10243696" y="475097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10243696" y="433699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10243696" y="392300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10432368" y="5361601"/>
              <a:ext cx="943357" cy="382934"/>
            </a:xfrm>
            <a:custGeom>
              <a:avLst/>
              <a:pathLst>
                <a:path w="943357" h="382934">
                  <a:moveTo>
                    <a:pt x="0" y="382934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10432368" y="5369651"/>
              <a:ext cx="943357" cy="292088"/>
            </a:xfrm>
            <a:custGeom>
              <a:avLst/>
              <a:pathLst>
                <a:path w="943357" h="292088">
                  <a:moveTo>
                    <a:pt x="0" y="292088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10432368" y="5376550"/>
              <a:ext cx="943357" cy="243790"/>
            </a:xfrm>
            <a:custGeom>
              <a:avLst/>
              <a:pathLst>
                <a:path w="943357" h="243790">
                  <a:moveTo>
                    <a:pt x="0" y="24379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10432368" y="5281268"/>
              <a:ext cx="943357" cy="297673"/>
            </a:xfrm>
            <a:custGeom>
              <a:avLst/>
              <a:pathLst>
                <a:path w="943357" h="297673">
                  <a:moveTo>
                    <a:pt x="0" y="29767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10432368" y="5345502"/>
              <a:ext cx="943357" cy="192042"/>
            </a:xfrm>
            <a:custGeom>
              <a:avLst/>
              <a:pathLst>
                <a:path w="943357" h="192042">
                  <a:moveTo>
                    <a:pt x="0" y="192042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10432368" y="5296054"/>
              <a:ext cx="943357" cy="200091"/>
            </a:xfrm>
            <a:custGeom>
              <a:avLst/>
              <a:pathLst>
                <a:path w="943357" h="200091">
                  <a:moveTo>
                    <a:pt x="0" y="20009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10432368" y="5350734"/>
              <a:ext cx="943357" cy="104013"/>
            </a:xfrm>
            <a:custGeom>
              <a:avLst/>
              <a:pathLst>
                <a:path w="943357" h="104013">
                  <a:moveTo>
                    <a:pt x="0" y="10401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10432368" y="5289781"/>
              <a:ext cx="943357" cy="123567"/>
            </a:xfrm>
            <a:custGeom>
              <a:avLst/>
              <a:pathLst>
                <a:path w="943357" h="123567">
                  <a:moveTo>
                    <a:pt x="0" y="12356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10432368" y="5284883"/>
              <a:ext cx="943357" cy="87067"/>
            </a:xfrm>
            <a:custGeom>
              <a:avLst/>
              <a:pathLst>
                <a:path w="943357" h="87067">
                  <a:moveTo>
                    <a:pt x="0" y="8706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10432368" y="5226918"/>
              <a:ext cx="943357" cy="103633"/>
            </a:xfrm>
            <a:custGeom>
              <a:avLst/>
              <a:pathLst>
                <a:path w="943357" h="103633">
                  <a:moveTo>
                    <a:pt x="0" y="10363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10432368" y="5268593"/>
              <a:ext cx="943357" cy="20561"/>
            </a:xfrm>
            <a:custGeom>
              <a:avLst/>
              <a:pathLst>
                <a:path w="943357" h="20561">
                  <a:moveTo>
                    <a:pt x="0" y="2056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10432368" y="5239899"/>
              <a:ext cx="943357" cy="7856"/>
            </a:xfrm>
            <a:custGeom>
              <a:avLst/>
              <a:pathLst>
                <a:path w="943357" h="7856">
                  <a:moveTo>
                    <a:pt x="0" y="785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10432368" y="5162276"/>
              <a:ext cx="943357" cy="44081"/>
            </a:xfrm>
            <a:custGeom>
              <a:avLst/>
              <a:pathLst>
                <a:path w="943357" h="44081">
                  <a:moveTo>
                    <a:pt x="0" y="4408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10432368" y="5150380"/>
              <a:ext cx="943357" cy="14578"/>
            </a:xfrm>
            <a:custGeom>
              <a:avLst/>
              <a:pathLst>
                <a:path w="943357" h="14578">
                  <a:moveTo>
                    <a:pt x="0" y="14578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10432368" y="5108571"/>
              <a:ext cx="943357" cy="14989"/>
            </a:xfrm>
            <a:custGeom>
              <a:avLst/>
              <a:pathLst>
                <a:path w="943357" h="14989">
                  <a:moveTo>
                    <a:pt x="0" y="14989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10432368" y="5082162"/>
              <a:ext cx="943357" cy="16055"/>
            </a:xfrm>
            <a:custGeom>
              <a:avLst/>
              <a:pathLst>
                <a:path w="943357" h="16055">
                  <a:moveTo>
                    <a:pt x="0" y="0"/>
                  </a:moveTo>
                  <a:lnTo>
                    <a:pt x="943357" y="16055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10432368" y="5026849"/>
              <a:ext cx="943357" cy="13914"/>
            </a:xfrm>
            <a:custGeom>
              <a:avLst/>
              <a:pathLst>
                <a:path w="943357" h="13914">
                  <a:moveTo>
                    <a:pt x="0" y="13914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10432368" y="4999365"/>
              <a:ext cx="943357" cy="24518"/>
            </a:xfrm>
            <a:custGeom>
              <a:avLst/>
              <a:pathLst>
                <a:path w="943357" h="24518">
                  <a:moveTo>
                    <a:pt x="0" y="0"/>
                  </a:moveTo>
                  <a:lnTo>
                    <a:pt x="943357" y="2451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10432368" y="4957967"/>
              <a:ext cx="943357" cy="78472"/>
            </a:xfrm>
            <a:custGeom>
              <a:avLst/>
              <a:pathLst>
                <a:path w="943357" h="78472">
                  <a:moveTo>
                    <a:pt x="0" y="0"/>
                  </a:moveTo>
                  <a:lnTo>
                    <a:pt x="943357" y="78472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10432368" y="4916569"/>
              <a:ext cx="943357" cy="9818"/>
            </a:xfrm>
            <a:custGeom>
              <a:avLst/>
              <a:pathLst>
                <a:path w="943357" h="9818">
                  <a:moveTo>
                    <a:pt x="0" y="0"/>
                  </a:moveTo>
                  <a:lnTo>
                    <a:pt x="943357" y="981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10432368" y="4875170"/>
              <a:ext cx="943357" cy="32965"/>
            </a:xfrm>
            <a:custGeom>
              <a:avLst/>
              <a:pathLst>
                <a:path w="943357" h="32965">
                  <a:moveTo>
                    <a:pt x="0" y="0"/>
                  </a:moveTo>
                  <a:lnTo>
                    <a:pt x="943357" y="32965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10432368" y="4833772"/>
              <a:ext cx="943357" cy="55785"/>
            </a:xfrm>
            <a:custGeom>
              <a:avLst/>
              <a:pathLst>
                <a:path w="943357" h="55785">
                  <a:moveTo>
                    <a:pt x="0" y="0"/>
                  </a:moveTo>
                  <a:lnTo>
                    <a:pt x="943357" y="55785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10432368" y="4792374"/>
              <a:ext cx="943357" cy="48298"/>
            </a:xfrm>
            <a:custGeom>
              <a:avLst/>
              <a:pathLst>
                <a:path w="943357" h="48298">
                  <a:moveTo>
                    <a:pt x="0" y="0"/>
                  </a:moveTo>
                  <a:lnTo>
                    <a:pt x="943357" y="4829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10432368" y="4750975"/>
              <a:ext cx="943357" cy="104933"/>
            </a:xfrm>
            <a:custGeom>
              <a:avLst/>
              <a:pathLst>
                <a:path w="943357" h="104933">
                  <a:moveTo>
                    <a:pt x="0" y="0"/>
                  </a:moveTo>
                  <a:lnTo>
                    <a:pt x="943357" y="10493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10432368" y="4709577"/>
              <a:ext cx="943357" cy="65164"/>
            </a:xfrm>
            <a:custGeom>
              <a:avLst/>
              <a:pathLst>
                <a:path w="943357" h="65164">
                  <a:moveTo>
                    <a:pt x="0" y="0"/>
                  </a:moveTo>
                  <a:lnTo>
                    <a:pt x="943357" y="65164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10432368" y="4668179"/>
              <a:ext cx="943357" cy="80361"/>
            </a:xfrm>
            <a:custGeom>
              <a:avLst/>
              <a:pathLst>
                <a:path w="943357" h="80361">
                  <a:moveTo>
                    <a:pt x="0" y="0"/>
                  </a:moveTo>
                  <a:lnTo>
                    <a:pt x="943357" y="80361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10432368" y="4626780"/>
              <a:ext cx="943357" cy="175367"/>
            </a:xfrm>
            <a:custGeom>
              <a:avLst/>
              <a:pathLst>
                <a:path w="943357" h="175367">
                  <a:moveTo>
                    <a:pt x="0" y="0"/>
                  </a:moveTo>
                  <a:lnTo>
                    <a:pt x="943357" y="175367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10432368" y="4585382"/>
              <a:ext cx="943357" cy="113845"/>
            </a:xfrm>
            <a:custGeom>
              <a:avLst/>
              <a:pathLst>
                <a:path w="943357" h="113845">
                  <a:moveTo>
                    <a:pt x="0" y="0"/>
                  </a:moveTo>
                  <a:lnTo>
                    <a:pt x="943357" y="113845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10432368" y="4543984"/>
              <a:ext cx="943357" cy="205266"/>
            </a:xfrm>
            <a:custGeom>
              <a:avLst/>
              <a:pathLst>
                <a:path w="943357" h="205266">
                  <a:moveTo>
                    <a:pt x="0" y="0"/>
                  </a:moveTo>
                  <a:lnTo>
                    <a:pt x="943357" y="205266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10432368" y="4502585"/>
              <a:ext cx="943357" cy="159679"/>
            </a:xfrm>
            <a:custGeom>
              <a:avLst/>
              <a:pathLst>
                <a:path w="943357" h="159679">
                  <a:moveTo>
                    <a:pt x="0" y="0"/>
                  </a:moveTo>
                  <a:lnTo>
                    <a:pt x="943357" y="159679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10432368" y="4461187"/>
              <a:ext cx="943357" cy="250689"/>
            </a:xfrm>
            <a:custGeom>
              <a:avLst/>
              <a:pathLst>
                <a:path w="943357" h="250689">
                  <a:moveTo>
                    <a:pt x="0" y="0"/>
                  </a:moveTo>
                  <a:lnTo>
                    <a:pt x="943357" y="250689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10432368" y="4419789"/>
              <a:ext cx="943357" cy="269089"/>
            </a:xfrm>
            <a:custGeom>
              <a:avLst/>
              <a:pathLst>
                <a:path w="943357" h="269089">
                  <a:moveTo>
                    <a:pt x="0" y="0"/>
                  </a:moveTo>
                  <a:lnTo>
                    <a:pt x="943357" y="269089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10432368" y="4378390"/>
              <a:ext cx="943357" cy="374973"/>
            </a:xfrm>
            <a:custGeom>
              <a:avLst/>
              <a:pathLst>
                <a:path w="943357" h="374973">
                  <a:moveTo>
                    <a:pt x="0" y="0"/>
                  </a:moveTo>
                  <a:lnTo>
                    <a:pt x="943357" y="37497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10432368" y="4336992"/>
              <a:ext cx="943357" cy="372585"/>
            </a:xfrm>
            <a:custGeom>
              <a:avLst/>
              <a:pathLst>
                <a:path w="943357" h="372585">
                  <a:moveTo>
                    <a:pt x="0" y="0"/>
                  </a:moveTo>
                  <a:lnTo>
                    <a:pt x="943357" y="372585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10432368" y="4254195"/>
              <a:ext cx="943357" cy="393284"/>
            </a:xfrm>
            <a:custGeom>
              <a:avLst/>
              <a:pathLst>
                <a:path w="943357" h="393284">
                  <a:moveTo>
                    <a:pt x="0" y="0"/>
                  </a:moveTo>
                  <a:lnTo>
                    <a:pt x="943357" y="393284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10432368" y="4171399"/>
              <a:ext cx="943357" cy="551977"/>
            </a:xfrm>
            <a:custGeom>
              <a:avLst/>
              <a:pathLst>
                <a:path w="943357" h="551977">
                  <a:moveTo>
                    <a:pt x="0" y="0"/>
                  </a:moveTo>
                  <a:lnTo>
                    <a:pt x="943357" y="551977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10417027" y="572919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10417027" y="564639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10417027" y="560500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10417027" y="556360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10417027" y="552220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10417027" y="548080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10417027" y="543940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10417027" y="539800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10417027" y="535661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10417027" y="531521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10417027" y="527381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10417027" y="523241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10417027" y="519101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10417027" y="514961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10417027" y="510822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10417027" y="506682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10417027" y="502542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10417027" y="498402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10417027" y="494262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10417027" y="490122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10417027" y="485983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10417027" y="481843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10417027" y="477703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10417027" y="473563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10417027" y="469423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10417027" y="465283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10417027" y="461144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10417027" y="457004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10417027" y="452864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10417027" y="448724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10417027" y="444584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10417027" y="440444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10417027" y="436305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10417027" y="432165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10417027" y="423885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10417027" y="415605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11360384" y="534626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11360384" y="535431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11360384" y="536121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11360384" y="526592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11360384" y="533016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11360384" y="528071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11360384" y="533539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11360384" y="527444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11360384" y="526954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11360384" y="521157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11360384" y="525325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11360384" y="522455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11360384" y="514693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11360384" y="513504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11360384" y="509323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11360384" y="508287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11360384" y="501150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11360384" y="500854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11360384" y="502109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11360384" y="491104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11360384" y="489279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11360384" y="487421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11360384" y="482533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11360384" y="484056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11360384" y="475940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11360384" y="473320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11360384" y="478680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11360384" y="468388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11360384" y="473391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11360384" y="464692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11360384" y="469653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11360384" y="467353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11360384" y="473802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11360384" y="469423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11360384" y="463213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11360384" y="470803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tx337"/>
            <p:cNvSpPr/>
            <p:nvPr/>
          </p:nvSpPr>
          <p:spPr>
            <a:xfrm>
              <a:off x="7592543" y="3597298"/>
              <a:ext cx="316077" cy="1446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338" name="tx338"/>
            <p:cNvSpPr/>
            <p:nvPr/>
          </p:nvSpPr>
          <p:spPr>
            <a:xfrm>
              <a:off x="9132318" y="3597298"/>
              <a:ext cx="389991" cy="1446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339" name="tx339"/>
            <p:cNvSpPr/>
            <p:nvPr/>
          </p:nvSpPr>
          <p:spPr>
            <a:xfrm>
              <a:off x="10701430" y="3597298"/>
              <a:ext cx="405231" cy="1446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340" name="tx340"/>
            <p:cNvSpPr/>
            <p:nvPr/>
          </p:nvSpPr>
          <p:spPr>
            <a:xfrm>
              <a:off x="7095934" y="613932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341" name="tx341"/>
            <p:cNvSpPr/>
            <p:nvPr/>
          </p:nvSpPr>
          <p:spPr>
            <a:xfrm>
              <a:off x="8096918" y="6162483"/>
              <a:ext cx="250686" cy="89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True</a:t>
              </a:r>
            </a:p>
          </p:txBody>
        </p:sp>
        <p:sp>
          <p:nvSpPr>
            <p:cNvPr id="342" name="tx342"/>
            <p:cNvSpPr/>
            <p:nvPr/>
          </p:nvSpPr>
          <p:spPr>
            <a:xfrm>
              <a:off x="8672666" y="613932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343" name="tx343"/>
            <p:cNvSpPr/>
            <p:nvPr/>
          </p:nvSpPr>
          <p:spPr>
            <a:xfrm>
              <a:off x="9673650" y="6162483"/>
              <a:ext cx="250686" cy="89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True</a:t>
              </a:r>
            </a:p>
          </p:txBody>
        </p:sp>
        <p:sp>
          <p:nvSpPr>
            <p:cNvPr id="344" name="tx344"/>
            <p:cNvSpPr/>
            <p:nvPr/>
          </p:nvSpPr>
          <p:spPr>
            <a:xfrm>
              <a:off x="10249398" y="613932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345" name="tx345"/>
            <p:cNvSpPr/>
            <p:nvPr/>
          </p:nvSpPr>
          <p:spPr>
            <a:xfrm>
              <a:off x="11250382" y="6162483"/>
              <a:ext cx="250686" cy="89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True</a:t>
              </a:r>
            </a:p>
          </p:txBody>
        </p:sp>
        <p:sp>
          <p:nvSpPr>
            <p:cNvPr id="346" name="tx346"/>
            <p:cNvSpPr/>
            <p:nvPr/>
          </p:nvSpPr>
          <p:spPr>
            <a:xfrm>
              <a:off x="6954102" y="5949081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347" name="tx347"/>
            <p:cNvSpPr/>
            <p:nvPr/>
          </p:nvSpPr>
          <p:spPr>
            <a:xfrm>
              <a:off x="6886296" y="553509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348" name="tx348"/>
            <p:cNvSpPr/>
            <p:nvPr/>
          </p:nvSpPr>
          <p:spPr>
            <a:xfrm>
              <a:off x="6886296" y="5120816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349" name="tx349"/>
            <p:cNvSpPr/>
            <p:nvPr/>
          </p:nvSpPr>
          <p:spPr>
            <a:xfrm>
              <a:off x="6886296" y="4707012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350" name="tx350"/>
            <p:cNvSpPr/>
            <p:nvPr/>
          </p:nvSpPr>
          <p:spPr>
            <a:xfrm>
              <a:off x="6886296" y="4292909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351" name="tx351"/>
            <p:cNvSpPr/>
            <p:nvPr/>
          </p:nvSpPr>
          <p:spPr>
            <a:xfrm>
              <a:off x="6886296" y="3879164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352" name="tx352"/>
            <p:cNvSpPr/>
            <p:nvPr/>
          </p:nvSpPr>
          <p:spPr>
            <a:xfrm rot="-5400000">
              <a:off x="6536544" y="4900222"/>
              <a:ext cx="440680" cy="1154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Shade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7090232" y="3279109"/>
              <a:ext cx="3587623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Galton: report to mean true colour (experience)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7223760" cy="4846320"/>
            <a:chOff x="548640" y="1371600"/>
            <a:chExt cx="7223760" cy="484632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7223760" cy="48463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43346" y="5776795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43346" y="4928112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43346" y="4079430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43346" y="3230747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43346" y="2382064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43074" y="1944993"/>
              <a:ext cx="0" cy="4014268"/>
            </a:xfrm>
            <a:custGeom>
              <a:avLst/>
              <a:pathLst>
                <a:path w="0" h="4014268">
                  <a:moveTo>
                    <a:pt x="0" y="4014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42622" y="1944993"/>
              <a:ext cx="0" cy="4014268"/>
            </a:xfrm>
            <a:custGeom>
              <a:avLst/>
              <a:pathLst>
                <a:path w="0" h="4014268">
                  <a:moveTo>
                    <a:pt x="0" y="4014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42170" y="1944993"/>
              <a:ext cx="0" cy="4014268"/>
            </a:xfrm>
            <a:custGeom>
              <a:avLst/>
              <a:pathLst>
                <a:path w="0" h="4014268">
                  <a:moveTo>
                    <a:pt x="0" y="4014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43346" y="4079430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1615977" y="465898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2566799" y="542603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672344" y="493057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1547417" y="477832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2662529" y="481133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3578656" y="478214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1532051" y="487110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2635975" y="460861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552416" y="481879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1633703" y="440948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2563112" y="490556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597166" y="485393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584081" y="485641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647407" y="389193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537002" y="422303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1657650" y="400846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618496" y="513439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658983" y="432772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1691868" y="463217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620844" y="430867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646172" y="460082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603352" y="410162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633909" y="381529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683122" y="368012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511230" y="431933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2635043" y="442809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640809" y="444351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1626883" y="370154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2609949" y="368431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571304" y="361260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1612178" y="450574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2675566" y="466746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728605" y="465767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503202" y="536083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699079" y="518611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698921" y="518578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594221" y="437939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607392" y="449482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548263" y="445796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523295" y="418048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710519" y="438417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527718" y="435355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1544258" y="435006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2538322" y="442804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540565" y="428139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1683618" y="400297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538252" y="430263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733435" y="390451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1602931" y="324958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2671178" y="353437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515269" y="339711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1572674" y="396466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2730924" y="373903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647383" y="356957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1712565" y="460038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2731201" y="501533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505257" y="453739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1507079" y="466837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2701696" y="457211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732056" y="403735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1657074" y="328218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2617972" y="431957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695693" y="375007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1600391" y="398343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2727847" y="430060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564241" y="406327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1635922" y="446083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2567164" y="449616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560256" y="406239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1711558" y="416571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2572793" y="427573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694709" y="458683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1584839" y="377073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2501085" y="450059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3728589" y="424988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1520313" y="398414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2640745" y="398786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656648" y="467569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1675879" y="409694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2511781" y="457868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599505" y="432912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1566177" y="439956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700780" y="403036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518611" y="338143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1734813" y="459730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2635239" y="440686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603007" y="418476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1547549" y="427781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2619378" y="429862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502757" y="395269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1580845" y="448060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2516718" y="478123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572480" y="475641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1536069" y="417075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675906" y="403479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565259" y="425291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1599911" y="392321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592215" y="451705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587444" y="371110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1628800" y="309335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720419" y="368740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3685269" y="312546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1560810" y="449543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2671604" y="426380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3578589" y="427323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1633661" y="404069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2638525" y="416076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667663" y="424614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1550264" y="439101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2673218" y="457033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3634815" y="464534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1606114" y="432772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2622499" y="467021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3650632" y="511540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1568108" y="4123356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1643074" y="4123356"/>
              <a:ext cx="0" cy="299700"/>
            </a:xfrm>
            <a:custGeom>
              <a:avLst/>
              <a:pathLst>
                <a:path w="0" h="299700">
                  <a:moveTo>
                    <a:pt x="0" y="0"/>
                  </a:moveTo>
                  <a:lnTo>
                    <a:pt x="0" y="29970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1568108" y="4423056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567656" y="4281054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642622" y="4281054"/>
              <a:ext cx="0" cy="283125"/>
            </a:xfrm>
            <a:custGeom>
              <a:avLst/>
              <a:pathLst>
                <a:path w="0" h="283125">
                  <a:moveTo>
                    <a:pt x="0" y="0"/>
                  </a:moveTo>
                  <a:lnTo>
                    <a:pt x="0" y="283125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567656" y="4564179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3567204" y="4123223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3642170" y="4123223"/>
              <a:ext cx="0" cy="325038"/>
            </a:xfrm>
            <a:custGeom>
              <a:avLst/>
              <a:pathLst>
                <a:path w="0" h="325038">
                  <a:moveTo>
                    <a:pt x="0" y="0"/>
                  </a:moveTo>
                  <a:lnTo>
                    <a:pt x="0" y="325038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3567204" y="4448261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1597922" y="4228054"/>
              <a:ext cx="90303" cy="9030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2597470" y="4377465"/>
              <a:ext cx="90303" cy="9030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597018" y="4240590"/>
              <a:ext cx="90303" cy="9030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1382485" y="2216276"/>
              <a:ext cx="521178" cy="161840"/>
            </a:xfrm>
            <a:custGeom>
              <a:avLst/>
              <a:pathLst>
                <a:path w="521178" h="161840">
                  <a:moveTo>
                    <a:pt x="22114" y="161840"/>
                  </a:moveTo>
                  <a:lnTo>
                    <a:pt x="499064" y="161840"/>
                  </a:lnTo>
                  <a:lnTo>
                    <a:pt x="498173" y="161822"/>
                  </a:lnTo>
                  <a:lnTo>
                    <a:pt x="501729" y="161679"/>
                  </a:lnTo>
                  <a:lnTo>
                    <a:pt x="505216" y="160967"/>
                  </a:lnTo>
                  <a:lnTo>
                    <a:pt x="508544" y="159705"/>
                  </a:lnTo>
                  <a:lnTo>
                    <a:pt x="511626" y="157925"/>
                  </a:lnTo>
                  <a:lnTo>
                    <a:pt x="514383" y="155674"/>
                  </a:lnTo>
                  <a:lnTo>
                    <a:pt x="516743" y="153010"/>
                  </a:lnTo>
                  <a:lnTo>
                    <a:pt x="518645" y="150002"/>
                  </a:lnTo>
                  <a:lnTo>
                    <a:pt x="520040" y="146728"/>
                  </a:lnTo>
                  <a:lnTo>
                    <a:pt x="520892" y="143273"/>
                  </a:lnTo>
                  <a:lnTo>
                    <a:pt x="521178" y="139725"/>
                  </a:lnTo>
                  <a:lnTo>
                    <a:pt x="521178" y="22114"/>
                  </a:lnTo>
                  <a:lnTo>
                    <a:pt x="520892" y="18567"/>
                  </a:lnTo>
                  <a:lnTo>
                    <a:pt x="520040" y="15111"/>
                  </a:lnTo>
                  <a:lnTo>
                    <a:pt x="518645" y="11837"/>
                  </a:lnTo>
                  <a:lnTo>
                    <a:pt x="516743" y="8829"/>
                  </a:lnTo>
                  <a:lnTo>
                    <a:pt x="514383" y="6165"/>
                  </a:lnTo>
                  <a:lnTo>
                    <a:pt x="511626" y="3914"/>
                  </a:lnTo>
                  <a:lnTo>
                    <a:pt x="508544" y="2135"/>
                  </a:lnTo>
                  <a:lnTo>
                    <a:pt x="505216" y="873"/>
                  </a:lnTo>
                  <a:lnTo>
                    <a:pt x="501729" y="161"/>
                  </a:lnTo>
                  <a:lnTo>
                    <a:pt x="499064" y="0"/>
                  </a:lnTo>
                  <a:lnTo>
                    <a:pt x="22114" y="0"/>
                  </a:lnTo>
                  <a:lnTo>
                    <a:pt x="24780" y="161"/>
                  </a:lnTo>
                  <a:lnTo>
                    <a:pt x="21224" y="17"/>
                  </a:lnTo>
                  <a:lnTo>
                    <a:pt x="17691" y="446"/>
                  </a:lnTo>
                  <a:lnTo>
                    <a:pt x="14272" y="1437"/>
                  </a:lnTo>
                  <a:lnTo>
                    <a:pt x="11057" y="2962"/>
                  </a:lnTo>
                  <a:lnTo>
                    <a:pt x="8128" y="4984"/>
                  </a:lnTo>
                  <a:lnTo>
                    <a:pt x="5561" y="7449"/>
                  </a:lnTo>
                  <a:lnTo>
                    <a:pt x="3423" y="10295"/>
                  </a:lnTo>
                  <a:lnTo>
                    <a:pt x="1769" y="13446"/>
                  </a:lnTo>
                  <a:lnTo>
                    <a:pt x="642" y="16822"/>
                  </a:lnTo>
                  <a:lnTo>
                    <a:pt x="71" y="20335"/>
                  </a:lnTo>
                  <a:lnTo>
                    <a:pt x="0" y="22114"/>
                  </a:lnTo>
                  <a:lnTo>
                    <a:pt x="0" y="139725"/>
                  </a:lnTo>
                  <a:lnTo>
                    <a:pt x="71" y="137946"/>
                  </a:lnTo>
                  <a:lnTo>
                    <a:pt x="71" y="141505"/>
                  </a:lnTo>
                  <a:lnTo>
                    <a:pt x="642" y="145018"/>
                  </a:lnTo>
                  <a:lnTo>
                    <a:pt x="1769" y="148393"/>
                  </a:lnTo>
                  <a:lnTo>
                    <a:pt x="3423" y="151545"/>
                  </a:lnTo>
                  <a:lnTo>
                    <a:pt x="5561" y="154390"/>
                  </a:lnTo>
                  <a:lnTo>
                    <a:pt x="8128" y="156855"/>
                  </a:lnTo>
                  <a:lnTo>
                    <a:pt x="11057" y="158877"/>
                  </a:lnTo>
                  <a:lnTo>
                    <a:pt x="14272" y="160403"/>
                  </a:lnTo>
                  <a:lnTo>
                    <a:pt x="17691" y="161393"/>
                  </a:lnTo>
                  <a:lnTo>
                    <a:pt x="21224" y="161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tx140"/>
            <p:cNvSpPr/>
            <p:nvPr/>
          </p:nvSpPr>
          <p:spPr>
            <a:xfrm>
              <a:off x="1419343" y="2229438"/>
              <a:ext cx="447463" cy="1118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p = .025</a:t>
              </a:r>
            </a:p>
          </p:txBody>
        </p:sp>
        <p:sp>
          <p:nvSpPr>
            <p:cNvPr id="141" name="pg141"/>
            <p:cNvSpPr/>
            <p:nvPr/>
          </p:nvSpPr>
          <p:spPr>
            <a:xfrm>
              <a:off x="2382033" y="2216276"/>
              <a:ext cx="521178" cy="161840"/>
            </a:xfrm>
            <a:custGeom>
              <a:avLst/>
              <a:pathLst>
                <a:path w="521178" h="161840">
                  <a:moveTo>
                    <a:pt x="22114" y="161840"/>
                  </a:moveTo>
                  <a:lnTo>
                    <a:pt x="499064" y="161840"/>
                  </a:lnTo>
                  <a:lnTo>
                    <a:pt x="498173" y="161822"/>
                  </a:lnTo>
                  <a:lnTo>
                    <a:pt x="501729" y="161679"/>
                  </a:lnTo>
                  <a:lnTo>
                    <a:pt x="505216" y="160967"/>
                  </a:lnTo>
                  <a:lnTo>
                    <a:pt x="508544" y="159705"/>
                  </a:lnTo>
                  <a:lnTo>
                    <a:pt x="511626" y="157925"/>
                  </a:lnTo>
                  <a:lnTo>
                    <a:pt x="514383" y="155674"/>
                  </a:lnTo>
                  <a:lnTo>
                    <a:pt x="516743" y="153010"/>
                  </a:lnTo>
                  <a:lnTo>
                    <a:pt x="518645" y="150002"/>
                  </a:lnTo>
                  <a:lnTo>
                    <a:pt x="520040" y="146728"/>
                  </a:lnTo>
                  <a:lnTo>
                    <a:pt x="520892" y="143273"/>
                  </a:lnTo>
                  <a:lnTo>
                    <a:pt x="521178" y="139725"/>
                  </a:lnTo>
                  <a:lnTo>
                    <a:pt x="521178" y="22114"/>
                  </a:lnTo>
                  <a:lnTo>
                    <a:pt x="520892" y="18567"/>
                  </a:lnTo>
                  <a:lnTo>
                    <a:pt x="520040" y="15111"/>
                  </a:lnTo>
                  <a:lnTo>
                    <a:pt x="518645" y="11837"/>
                  </a:lnTo>
                  <a:lnTo>
                    <a:pt x="516743" y="8829"/>
                  </a:lnTo>
                  <a:lnTo>
                    <a:pt x="514383" y="6165"/>
                  </a:lnTo>
                  <a:lnTo>
                    <a:pt x="511626" y="3914"/>
                  </a:lnTo>
                  <a:lnTo>
                    <a:pt x="508544" y="2135"/>
                  </a:lnTo>
                  <a:lnTo>
                    <a:pt x="505216" y="873"/>
                  </a:lnTo>
                  <a:lnTo>
                    <a:pt x="501729" y="161"/>
                  </a:lnTo>
                  <a:lnTo>
                    <a:pt x="499064" y="0"/>
                  </a:lnTo>
                  <a:lnTo>
                    <a:pt x="22114" y="0"/>
                  </a:lnTo>
                  <a:lnTo>
                    <a:pt x="24780" y="161"/>
                  </a:lnTo>
                  <a:lnTo>
                    <a:pt x="21224" y="17"/>
                  </a:lnTo>
                  <a:lnTo>
                    <a:pt x="17691" y="446"/>
                  </a:lnTo>
                  <a:lnTo>
                    <a:pt x="14272" y="1437"/>
                  </a:lnTo>
                  <a:lnTo>
                    <a:pt x="11057" y="2962"/>
                  </a:lnTo>
                  <a:lnTo>
                    <a:pt x="8128" y="4984"/>
                  </a:lnTo>
                  <a:lnTo>
                    <a:pt x="5561" y="7449"/>
                  </a:lnTo>
                  <a:lnTo>
                    <a:pt x="3423" y="10295"/>
                  </a:lnTo>
                  <a:lnTo>
                    <a:pt x="1769" y="13446"/>
                  </a:lnTo>
                  <a:lnTo>
                    <a:pt x="642" y="16822"/>
                  </a:lnTo>
                  <a:lnTo>
                    <a:pt x="71" y="20335"/>
                  </a:lnTo>
                  <a:lnTo>
                    <a:pt x="0" y="22114"/>
                  </a:lnTo>
                  <a:lnTo>
                    <a:pt x="0" y="139725"/>
                  </a:lnTo>
                  <a:lnTo>
                    <a:pt x="71" y="137946"/>
                  </a:lnTo>
                  <a:lnTo>
                    <a:pt x="71" y="141505"/>
                  </a:lnTo>
                  <a:lnTo>
                    <a:pt x="642" y="145018"/>
                  </a:lnTo>
                  <a:lnTo>
                    <a:pt x="1769" y="148393"/>
                  </a:lnTo>
                  <a:lnTo>
                    <a:pt x="3423" y="151545"/>
                  </a:lnTo>
                  <a:lnTo>
                    <a:pt x="5561" y="154390"/>
                  </a:lnTo>
                  <a:lnTo>
                    <a:pt x="8128" y="156855"/>
                  </a:lnTo>
                  <a:lnTo>
                    <a:pt x="11057" y="158877"/>
                  </a:lnTo>
                  <a:lnTo>
                    <a:pt x="14272" y="160403"/>
                  </a:lnTo>
                  <a:lnTo>
                    <a:pt x="17691" y="161393"/>
                  </a:lnTo>
                  <a:lnTo>
                    <a:pt x="21224" y="161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tx142"/>
            <p:cNvSpPr/>
            <p:nvPr/>
          </p:nvSpPr>
          <p:spPr>
            <a:xfrm>
              <a:off x="2418890" y="2229738"/>
              <a:ext cx="447463" cy="111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p &lt; .001</a:t>
              </a:r>
            </a:p>
          </p:txBody>
        </p:sp>
        <p:sp>
          <p:nvSpPr>
            <p:cNvPr id="143" name="pg143"/>
            <p:cNvSpPr/>
            <p:nvPr/>
          </p:nvSpPr>
          <p:spPr>
            <a:xfrm>
              <a:off x="3381581" y="2216276"/>
              <a:ext cx="521178" cy="161840"/>
            </a:xfrm>
            <a:custGeom>
              <a:avLst/>
              <a:pathLst>
                <a:path w="521178" h="161840">
                  <a:moveTo>
                    <a:pt x="22114" y="161840"/>
                  </a:moveTo>
                  <a:lnTo>
                    <a:pt x="499064" y="161840"/>
                  </a:lnTo>
                  <a:lnTo>
                    <a:pt x="498173" y="161822"/>
                  </a:lnTo>
                  <a:lnTo>
                    <a:pt x="501729" y="161679"/>
                  </a:lnTo>
                  <a:lnTo>
                    <a:pt x="505216" y="160967"/>
                  </a:lnTo>
                  <a:lnTo>
                    <a:pt x="508544" y="159705"/>
                  </a:lnTo>
                  <a:lnTo>
                    <a:pt x="511626" y="157925"/>
                  </a:lnTo>
                  <a:lnTo>
                    <a:pt x="514383" y="155674"/>
                  </a:lnTo>
                  <a:lnTo>
                    <a:pt x="516743" y="153010"/>
                  </a:lnTo>
                  <a:lnTo>
                    <a:pt x="518645" y="150002"/>
                  </a:lnTo>
                  <a:lnTo>
                    <a:pt x="520040" y="146728"/>
                  </a:lnTo>
                  <a:lnTo>
                    <a:pt x="520892" y="143273"/>
                  </a:lnTo>
                  <a:lnTo>
                    <a:pt x="521178" y="139725"/>
                  </a:lnTo>
                  <a:lnTo>
                    <a:pt x="521178" y="22114"/>
                  </a:lnTo>
                  <a:lnTo>
                    <a:pt x="520892" y="18567"/>
                  </a:lnTo>
                  <a:lnTo>
                    <a:pt x="520040" y="15111"/>
                  </a:lnTo>
                  <a:lnTo>
                    <a:pt x="518645" y="11837"/>
                  </a:lnTo>
                  <a:lnTo>
                    <a:pt x="516743" y="8829"/>
                  </a:lnTo>
                  <a:lnTo>
                    <a:pt x="514383" y="6165"/>
                  </a:lnTo>
                  <a:lnTo>
                    <a:pt x="511626" y="3914"/>
                  </a:lnTo>
                  <a:lnTo>
                    <a:pt x="508544" y="2135"/>
                  </a:lnTo>
                  <a:lnTo>
                    <a:pt x="505216" y="873"/>
                  </a:lnTo>
                  <a:lnTo>
                    <a:pt x="501729" y="161"/>
                  </a:lnTo>
                  <a:lnTo>
                    <a:pt x="499064" y="0"/>
                  </a:lnTo>
                  <a:lnTo>
                    <a:pt x="22114" y="0"/>
                  </a:lnTo>
                  <a:lnTo>
                    <a:pt x="24780" y="161"/>
                  </a:lnTo>
                  <a:lnTo>
                    <a:pt x="21224" y="17"/>
                  </a:lnTo>
                  <a:lnTo>
                    <a:pt x="17691" y="446"/>
                  </a:lnTo>
                  <a:lnTo>
                    <a:pt x="14272" y="1437"/>
                  </a:lnTo>
                  <a:lnTo>
                    <a:pt x="11057" y="2962"/>
                  </a:lnTo>
                  <a:lnTo>
                    <a:pt x="8128" y="4984"/>
                  </a:lnTo>
                  <a:lnTo>
                    <a:pt x="5561" y="7449"/>
                  </a:lnTo>
                  <a:lnTo>
                    <a:pt x="3423" y="10295"/>
                  </a:lnTo>
                  <a:lnTo>
                    <a:pt x="1769" y="13446"/>
                  </a:lnTo>
                  <a:lnTo>
                    <a:pt x="642" y="16822"/>
                  </a:lnTo>
                  <a:lnTo>
                    <a:pt x="71" y="20335"/>
                  </a:lnTo>
                  <a:lnTo>
                    <a:pt x="0" y="22114"/>
                  </a:lnTo>
                  <a:lnTo>
                    <a:pt x="0" y="139725"/>
                  </a:lnTo>
                  <a:lnTo>
                    <a:pt x="71" y="137946"/>
                  </a:lnTo>
                  <a:lnTo>
                    <a:pt x="71" y="141505"/>
                  </a:lnTo>
                  <a:lnTo>
                    <a:pt x="642" y="145018"/>
                  </a:lnTo>
                  <a:lnTo>
                    <a:pt x="1769" y="148393"/>
                  </a:lnTo>
                  <a:lnTo>
                    <a:pt x="3423" y="151545"/>
                  </a:lnTo>
                  <a:lnTo>
                    <a:pt x="5561" y="154390"/>
                  </a:lnTo>
                  <a:lnTo>
                    <a:pt x="8128" y="156855"/>
                  </a:lnTo>
                  <a:lnTo>
                    <a:pt x="11057" y="158877"/>
                  </a:lnTo>
                  <a:lnTo>
                    <a:pt x="14272" y="160403"/>
                  </a:lnTo>
                  <a:lnTo>
                    <a:pt x="17691" y="161393"/>
                  </a:lnTo>
                  <a:lnTo>
                    <a:pt x="21224" y="161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tx144"/>
            <p:cNvSpPr/>
            <p:nvPr/>
          </p:nvSpPr>
          <p:spPr>
            <a:xfrm>
              <a:off x="3418438" y="2229438"/>
              <a:ext cx="447463" cy="1118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p = .025</a:t>
              </a:r>
            </a:p>
          </p:txBody>
        </p:sp>
        <p:sp>
          <p:nvSpPr>
            <p:cNvPr id="145" name="pl145"/>
            <p:cNvSpPr/>
            <p:nvPr/>
          </p:nvSpPr>
          <p:spPr>
            <a:xfrm>
              <a:off x="4497931" y="5776795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4497931" y="4928112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4497931" y="4079430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4497931" y="3230747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4497931" y="2382064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097660" y="1944993"/>
              <a:ext cx="0" cy="4014268"/>
            </a:xfrm>
            <a:custGeom>
              <a:avLst/>
              <a:pathLst>
                <a:path w="0" h="4014268">
                  <a:moveTo>
                    <a:pt x="0" y="4014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6097208" y="1944993"/>
              <a:ext cx="0" cy="4014268"/>
            </a:xfrm>
            <a:custGeom>
              <a:avLst/>
              <a:pathLst>
                <a:path w="0" h="4014268">
                  <a:moveTo>
                    <a:pt x="0" y="4014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7096755" y="1944993"/>
              <a:ext cx="0" cy="4014268"/>
            </a:xfrm>
            <a:custGeom>
              <a:avLst/>
              <a:pathLst>
                <a:path w="0" h="4014268">
                  <a:moveTo>
                    <a:pt x="0" y="4014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4497931" y="4079430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5188934" y="463814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6013954" y="520913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7161695" y="475646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5122217" y="413524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5968928" y="365361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7024856" y="411948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5035179" y="419280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6136711" y="383999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7116187" y="391933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969111" y="473617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6092098" y="412394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6965403" y="473578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5027993" y="473580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6023617" y="475941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7134603" y="454234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965885" y="480553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6148219" y="534616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6976507" y="503279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5194086" y="448196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6160747" y="490181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6978719" y="489742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5020028" y="433661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6094848" y="438816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7129156" y="452614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5192696" y="441959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6108014" y="452264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7159730" y="433917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5164045" y="478500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6033324" y="467774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7133336" y="460761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4981490" y="380247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6006187" y="362529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6961147" y="367408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5155664" y="472336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6135404" y="424275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7025500" y="375803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5109216" y="427738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6099183" y="416105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7188157" y="457875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5157524" y="409380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6157804" y="393267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7135541" y="411255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5093658" y="493063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6049100" y="467901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7019258" y="462708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5143576" y="442885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166798" y="448779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7064565" y="463523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5058456" y="475120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6189656" y="476681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7042971" y="476454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5067577" y="451429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5991120" y="461390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6971398" y="465594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5072373" y="450395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6172219" y="445264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6997759" y="437864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5192831" y="433705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6005220" y="427808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7081078" y="464394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5114367" y="494400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6164595" y="504096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7142763" y="476741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5020029" y="456924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5984872" y="434139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6982971" y="459461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5126714" y="427020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6104569" y="400712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7016241" y="428677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4985608" y="461331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6143388" y="413395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7039453" y="423109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5192262" y="495451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6112684" y="435457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7083170" y="468196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5157261" y="464010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6071837" y="450392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7159245" y="452206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5083331" y="452369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6140207" y="441085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7063961" y="439451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4958240" y="411550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6069200" y="467913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6966056" y="488410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4962346" y="476649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6182408" y="421866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6970211" y="431546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957858" y="434985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6081424" y="417838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7123146" y="460907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4971794" y="472093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6048529" y="426728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6963420" y="424361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5061672" y="463964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6087157" y="450150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6991548" y="438870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5038669" y="492528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5975534" y="508946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7142650" y="499697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4967201" y="505651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6008000" y="507811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7040364" y="496655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5064523" y="430525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6180053" y="432017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7087696" y="425299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5141210" y="437831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6159344" y="422972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6973288" y="460198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5011408" y="452333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6180687" y="420699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7083399" y="455246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5039930" y="472302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6109950" y="487025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6983437" y="498738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5022694" y="4473124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5097660" y="4473124"/>
              <a:ext cx="0" cy="184782"/>
            </a:xfrm>
            <a:custGeom>
              <a:avLst/>
              <a:pathLst>
                <a:path w="0" h="184782">
                  <a:moveTo>
                    <a:pt x="0" y="0"/>
                  </a:moveTo>
                  <a:lnTo>
                    <a:pt x="0" y="184782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5022694" y="4657907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6022241" y="4338215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6097208" y="4338215"/>
              <a:ext cx="0" cy="267547"/>
            </a:xfrm>
            <a:custGeom>
              <a:avLst/>
              <a:pathLst>
                <a:path w="0" h="267547">
                  <a:moveTo>
                    <a:pt x="0" y="0"/>
                  </a:moveTo>
                  <a:lnTo>
                    <a:pt x="0" y="267547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6022241" y="4605762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7021789" y="4430472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7096755" y="4430472"/>
              <a:ext cx="0" cy="213979"/>
            </a:xfrm>
            <a:custGeom>
              <a:avLst/>
              <a:pathLst>
                <a:path w="0" h="213979">
                  <a:moveTo>
                    <a:pt x="0" y="0"/>
                  </a:moveTo>
                  <a:lnTo>
                    <a:pt x="0" y="213979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7021789" y="4644452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5052508" y="4520363"/>
              <a:ext cx="90303" cy="9030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6052056" y="4426837"/>
              <a:ext cx="90303" cy="9030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7051604" y="4492310"/>
              <a:ext cx="90303" cy="9030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837070" y="2216276"/>
              <a:ext cx="521178" cy="161840"/>
            </a:xfrm>
            <a:custGeom>
              <a:avLst/>
              <a:pathLst>
                <a:path w="521178" h="161840">
                  <a:moveTo>
                    <a:pt x="22114" y="161840"/>
                  </a:moveTo>
                  <a:lnTo>
                    <a:pt x="499064" y="161840"/>
                  </a:lnTo>
                  <a:lnTo>
                    <a:pt x="498173" y="161822"/>
                  </a:lnTo>
                  <a:lnTo>
                    <a:pt x="501729" y="161679"/>
                  </a:lnTo>
                  <a:lnTo>
                    <a:pt x="505216" y="160967"/>
                  </a:lnTo>
                  <a:lnTo>
                    <a:pt x="508544" y="159705"/>
                  </a:lnTo>
                  <a:lnTo>
                    <a:pt x="511626" y="157925"/>
                  </a:lnTo>
                  <a:lnTo>
                    <a:pt x="514383" y="155674"/>
                  </a:lnTo>
                  <a:lnTo>
                    <a:pt x="516743" y="153010"/>
                  </a:lnTo>
                  <a:lnTo>
                    <a:pt x="518645" y="150002"/>
                  </a:lnTo>
                  <a:lnTo>
                    <a:pt x="520040" y="146728"/>
                  </a:lnTo>
                  <a:lnTo>
                    <a:pt x="520892" y="143273"/>
                  </a:lnTo>
                  <a:lnTo>
                    <a:pt x="521178" y="139725"/>
                  </a:lnTo>
                  <a:lnTo>
                    <a:pt x="521178" y="22114"/>
                  </a:lnTo>
                  <a:lnTo>
                    <a:pt x="520892" y="18567"/>
                  </a:lnTo>
                  <a:lnTo>
                    <a:pt x="520040" y="15111"/>
                  </a:lnTo>
                  <a:lnTo>
                    <a:pt x="518645" y="11837"/>
                  </a:lnTo>
                  <a:lnTo>
                    <a:pt x="516743" y="8829"/>
                  </a:lnTo>
                  <a:lnTo>
                    <a:pt x="514383" y="6165"/>
                  </a:lnTo>
                  <a:lnTo>
                    <a:pt x="511626" y="3914"/>
                  </a:lnTo>
                  <a:lnTo>
                    <a:pt x="508544" y="2135"/>
                  </a:lnTo>
                  <a:lnTo>
                    <a:pt x="505216" y="873"/>
                  </a:lnTo>
                  <a:lnTo>
                    <a:pt x="501729" y="161"/>
                  </a:lnTo>
                  <a:lnTo>
                    <a:pt x="499064" y="0"/>
                  </a:lnTo>
                  <a:lnTo>
                    <a:pt x="22114" y="0"/>
                  </a:lnTo>
                  <a:lnTo>
                    <a:pt x="24780" y="161"/>
                  </a:lnTo>
                  <a:lnTo>
                    <a:pt x="21224" y="17"/>
                  </a:lnTo>
                  <a:lnTo>
                    <a:pt x="17691" y="446"/>
                  </a:lnTo>
                  <a:lnTo>
                    <a:pt x="14272" y="1437"/>
                  </a:lnTo>
                  <a:lnTo>
                    <a:pt x="11057" y="2962"/>
                  </a:lnTo>
                  <a:lnTo>
                    <a:pt x="8128" y="4984"/>
                  </a:lnTo>
                  <a:lnTo>
                    <a:pt x="5561" y="7449"/>
                  </a:lnTo>
                  <a:lnTo>
                    <a:pt x="3423" y="10295"/>
                  </a:lnTo>
                  <a:lnTo>
                    <a:pt x="1769" y="13446"/>
                  </a:lnTo>
                  <a:lnTo>
                    <a:pt x="642" y="16822"/>
                  </a:lnTo>
                  <a:lnTo>
                    <a:pt x="71" y="20335"/>
                  </a:lnTo>
                  <a:lnTo>
                    <a:pt x="0" y="22114"/>
                  </a:lnTo>
                  <a:lnTo>
                    <a:pt x="0" y="139725"/>
                  </a:lnTo>
                  <a:lnTo>
                    <a:pt x="71" y="137946"/>
                  </a:lnTo>
                  <a:lnTo>
                    <a:pt x="71" y="141505"/>
                  </a:lnTo>
                  <a:lnTo>
                    <a:pt x="642" y="145018"/>
                  </a:lnTo>
                  <a:lnTo>
                    <a:pt x="1769" y="148393"/>
                  </a:lnTo>
                  <a:lnTo>
                    <a:pt x="3423" y="151545"/>
                  </a:lnTo>
                  <a:lnTo>
                    <a:pt x="5561" y="154390"/>
                  </a:lnTo>
                  <a:lnTo>
                    <a:pt x="8128" y="156855"/>
                  </a:lnTo>
                  <a:lnTo>
                    <a:pt x="11057" y="158877"/>
                  </a:lnTo>
                  <a:lnTo>
                    <a:pt x="14272" y="160403"/>
                  </a:lnTo>
                  <a:lnTo>
                    <a:pt x="17691" y="161393"/>
                  </a:lnTo>
                  <a:lnTo>
                    <a:pt x="21224" y="161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" name="tx281"/>
            <p:cNvSpPr/>
            <p:nvPr/>
          </p:nvSpPr>
          <p:spPr>
            <a:xfrm>
              <a:off x="4873928" y="2229738"/>
              <a:ext cx="447463" cy="111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p &lt; .001</a:t>
              </a:r>
            </a:p>
          </p:txBody>
        </p:sp>
        <p:sp>
          <p:nvSpPr>
            <p:cNvPr id="282" name="pg282"/>
            <p:cNvSpPr/>
            <p:nvPr/>
          </p:nvSpPr>
          <p:spPr>
            <a:xfrm>
              <a:off x="5836618" y="2216276"/>
              <a:ext cx="521178" cy="161840"/>
            </a:xfrm>
            <a:custGeom>
              <a:avLst/>
              <a:pathLst>
                <a:path w="521178" h="161840">
                  <a:moveTo>
                    <a:pt x="22114" y="161840"/>
                  </a:moveTo>
                  <a:lnTo>
                    <a:pt x="499064" y="161840"/>
                  </a:lnTo>
                  <a:lnTo>
                    <a:pt x="498173" y="161822"/>
                  </a:lnTo>
                  <a:lnTo>
                    <a:pt x="501729" y="161679"/>
                  </a:lnTo>
                  <a:lnTo>
                    <a:pt x="505216" y="160967"/>
                  </a:lnTo>
                  <a:lnTo>
                    <a:pt x="508544" y="159705"/>
                  </a:lnTo>
                  <a:lnTo>
                    <a:pt x="511626" y="157925"/>
                  </a:lnTo>
                  <a:lnTo>
                    <a:pt x="514383" y="155674"/>
                  </a:lnTo>
                  <a:lnTo>
                    <a:pt x="516743" y="153010"/>
                  </a:lnTo>
                  <a:lnTo>
                    <a:pt x="518645" y="150002"/>
                  </a:lnTo>
                  <a:lnTo>
                    <a:pt x="520040" y="146728"/>
                  </a:lnTo>
                  <a:lnTo>
                    <a:pt x="520892" y="143273"/>
                  </a:lnTo>
                  <a:lnTo>
                    <a:pt x="521178" y="139725"/>
                  </a:lnTo>
                  <a:lnTo>
                    <a:pt x="521178" y="22114"/>
                  </a:lnTo>
                  <a:lnTo>
                    <a:pt x="520892" y="18567"/>
                  </a:lnTo>
                  <a:lnTo>
                    <a:pt x="520040" y="15111"/>
                  </a:lnTo>
                  <a:lnTo>
                    <a:pt x="518645" y="11837"/>
                  </a:lnTo>
                  <a:lnTo>
                    <a:pt x="516743" y="8829"/>
                  </a:lnTo>
                  <a:lnTo>
                    <a:pt x="514383" y="6165"/>
                  </a:lnTo>
                  <a:lnTo>
                    <a:pt x="511626" y="3914"/>
                  </a:lnTo>
                  <a:lnTo>
                    <a:pt x="508544" y="2135"/>
                  </a:lnTo>
                  <a:lnTo>
                    <a:pt x="505216" y="873"/>
                  </a:lnTo>
                  <a:lnTo>
                    <a:pt x="501729" y="161"/>
                  </a:lnTo>
                  <a:lnTo>
                    <a:pt x="499064" y="0"/>
                  </a:lnTo>
                  <a:lnTo>
                    <a:pt x="22114" y="0"/>
                  </a:lnTo>
                  <a:lnTo>
                    <a:pt x="24780" y="161"/>
                  </a:lnTo>
                  <a:lnTo>
                    <a:pt x="21224" y="17"/>
                  </a:lnTo>
                  <a:lnTo>
                    <a:pt x="17691" y="446"/>
                  </a:lnTo>
                  <a:lnTo>
                    <a:pt x="14272" y="1437"/>
                  </a:lnTo>
                  <a:lnTo>
                    <a:pt x="11057" y="2962"/>
                  </a:lnTo>
                  <a:lnTo>
                    <a:pt x="8128" y="4984"/>
                  </a:lnTo>
                  <a:lnTo>
                    <a:pt x="5561" y="7449"/>
                  </a:lnTo>
                  <a:lnTo>
                    <a:pt x="3423" y="10295"/>
                  </a:lnTo>
                  <a:lnTo>
                    <a:pt x="1769" y="13446"/>
                  </a:lnTo>
                  <a:lnTo>
                    <a:pt x="642" y="16822"/>
                  </a:lnTo>
                  <a:lnTo>
                    <a:pt x="71" y="20335"/>
                  </a:lnTo>
                  <a:lnTo>
                    <a:pt x="0" y="22114"/>
                  </a:lnTo>
                  <a:lnTo>
                    <a:pt x="0" y="139725"/>
                  </a:lnTo>
                  <a:lnTo>
                    <a:pt x="71" y="137946"/>
                  </a:lnTo>
                  <a:lnTo>
                    <a:pt x="71" y="141505"/>
                  </a:lnTo>
                  <a:lnTo>
                    <a:pt x="642" y="145018"/>
                  </a:lnTo>
                  <a:lnTo>
                    <a:pt x="1769" y="148393"/>
                  </a:lnTo>
                  <a:lnTo>
                    <a:pt x="3423" y="151545"/>
                  </a:lnTo>
                  <a:lnTo>
                    <a:pt x="5561" y="154390"/>
                  </a:lnTo>
                  <a:lnTo>
                    <a:pt x="8128" y="156855"/>
                  </a:lnTo>
                  <a:lnTo>
                    <a:pt x="11057" y="158877"/>
                  </a:lnTo>
                  <a:lnTo>
                    <a:pt x="14272" y="160403"/>
                  </a:lnTo>
                  <a:lnTo>
                    <a:pt x="17691" y="161393"/>
                  </a:lnTo>
                  <a:lnTo>
                    <a:pt x="21224" y="161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" name="tx283"/>
            <p:cNvSpPr/>
            <p:nvPr/>
          </p:nvSpPr>
          <p:spPr>
            <a:xfrm>
              <a:off x="5873476" y="2229738"/>
              <a:ext cx="447463" cy="111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p &lt; .001</a:t>
              </a:r>
            </a:p>
          </p:txBody>
        </p:sp>
        <p:sp>
          <p:nvSpPr>
            <p:cNvPr id="284" name="pg284"/>
            <p:cNvSpPr/>
            <p:nvPr/>
          </p:nvSpPr>
          <p:spPr>
            <a:xfrm>
              <a:off x="6836166" y="2216276"/>
              <a:ext cx="521178" cy="161840"/>
            </a:xfrm>
            <a:custGeom>
              <a:avLst/>
              <a:pathLst>
                <a:path w="521178" h="161840">
                  <a:moveTo>
                    <a:pt x="22114" y="161840"/>
                  </a:moveTo>
                  <a:lnTo>
                    <a:pt x="499064" y="161840"/>
                  </a:lnTo>
                  <a:lnTo>
                    <a:pt x="498173" y="161822"/>
                  </a:lnTo>
                  <a:lnTo>
                    <a:pt x="501729" y="161679"/>
                  </a:lnTo>
                  <a:lnTo>
                    <a:pt x="505216" y="160967"/>
                  </a:lnTo>
                  <a:lnTo>
                    <a:pt x="508544" y="159705"/>
                  </a:lnTo>
                  <a:lnTo>
                    <a:pt x="511626" y="157925"/>
                  </a:lnTo>
                  <a:lnTo>
                    <a:pt x="514383" y="155674"/>
                  </a:lnTo>
                  <a:lnTo>
                    <a:pt x="516743" y="153010"/>
                  </a:lnTo>
                  <a:lnTo>
                    <a:pt x="518645" y="150002"/>
                  </a:lnTo>
                  <a:lnTo>
                    <a:pt x="520040" y="146728"/>
                  </a:lnTo>
                  <a:lnTo>
                    <a:pt x="520892" y="143273"/>
                  </a:lnTo>
                  <a:lnTo>
                    <a:pt x="521178" y="139725"/>
                  </a:lnTo>
                  <a:lnTo>
                    <a:pt x="521178" y="22114"/>
                  </a:lnTo>
                  <a:lnTo>
                    <a:pt x="520892" y="18567"/>
                  </a:lnTo>
                  <a:lnTo>
                    <a:pt x="520040" y="15111"/>
                  </a:lnTo>
                  <a:lnTo>
                    <a:pt x="518645" y="11837"/>
                  </a:lnTo>
                  <a:lnTo>
                    <a:pt x="516743" y="8829"/>
                  </a:lnTo>
                  <a:lnTo>
                    <a:pt x="514383" y="6165"/>
                  </a:lnTo>
                  <a:lnTo>
                    <a:pt x="511626" y="3914"/>
                  </a:lnTo>
                  <a:lnTo>
                    <a:pt x="508544" y="2135"/>
                  </a:lnTo>
                  <a:lnTo>
                    <a:pt x="505216" y="873"/>
                  </a:lnTo>
                  <a:lnTo>
                    <a:pt x="501729" y="161"/>
                  </a:lnTo>
                  <a:lnTo>
                    <a:pt x="499064" y="0"/>
                  </a:lnTo>
                  <a:lnTo>
                    <a:pt x="22114" y="0"/>
                  </a:lnTo>
                  <a:lnTo>
                    <a:pt x="24780" y="161"/>
                  </a:lnTo>
                  <a:lnTo>
                    <a:pt x="21224" y="17"/>
                  </a:lnTo>
                  <a:lnTo>
                    <a:pt x="17691" y="446"/>
                  </a:lnTo>
                  <a:lnTo>
                    <a:pt x="14272" y="1437"/>
                  </a:lnTo>
                  <a:lnTo>
                    <a:pt x="11057" y="2962"/>
                  </a:lnTo>
                  <a:lnTo>
                    <a:pt x="8128" y="4984"/>
                  </a:lnTo>
                  <a:lnTo>
                    <a:pt x="5561" y="7449"/>
                  </a:lnTo>
                  <a:lnTo>
                    <a:pt x="3423" y="10295"/>
                  </a:lnTo>
                  <a:lnTo>
                    <a:pt x="1769" y="13446"/>
                  </a:lnTo>
                  <a:lnTo>
                    <a:pt x="642" y="16822"/>
                  </a:lnTo>
                  <a:lnTo>
                    <a:pt x="71" y="20335"/>
                  </a:lnTo>
                  <a:lnTo>
                    <a:pt x="0" y="22114"/>
                  </a:lnTo>
                  <a:lnTo>
                    <a:pt x="0" y="139725"/>
                  </a:lnTo>
                  <a:lnTo>
                    <a:pt x="71" y="137946"/>
                  </a:lnTo>
                  <a:lnTo>
                    <a:pt x="71" y="141505"/>
                  </a:lnTo>
                  <a:lnTo>
                    <a:pt x="642" y="145018"/>
                  </a:lnTo>
                  <a:lnTo>
                    <a:pt x="1769" y="148393"/>
                  </a:lnTo>
                  <a:lnTo>
                    <a:pt x="3423" y="151545"/>
                  </a:lnTo>
                  <a:lnTo>
                    <a:pt x="5561" y="154390"/>
                  </a:lnTo>
                  <a:lnTo>
                    <a:pt x="8128" y="156855"/>
                  </a:lnTo>
                  <a:lnTo>
                    <a:pt x="11057" y="158877"/>
                  </a:lnTo>
                  <a:lnTo>
                    <a:pt x="14272" y="160403"/>
                  </a:lnTo>
                  <a:lnTo>
                    <a:pt x="17691" y="161393"/>
                  </a:lnTo>
                  <a:lnTo>
                    <a:pt x="21224" y="161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" name="tx285"/>
            <p:cNvSpPr/>
            <p:nvPr/>
          </p:nvSpPr>
          <p:spPr>
            <a:xfrm>
              <a:off x="6873024" y="2229738"/>
              <a:ext cx="447463" cy="111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p &lt; .001</a:t>
              </a:r>
            </a:p>
          </p:txBody>
        </p:sp>
        <p:sp>
          <p:nvSpPr>
            <p:cNvPr id="286" name="tx286"/>
            <p:cNvSpPr/>
            <p:nvPr/>
          </p:nvSpPr>
          <p:spPr>
            <a:xfrm>
              <a:off x="2141760" y="1720035"/>
              <a:ext cx="1001725" cy="1473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Forward slope</a:t>
              </a:r>
            </a:p>
          </p:txBody>
        </p:sp>
        <p:sp>
          <p:nvSpPr>
            <p:cNvPr id="287" name="tx287"/>
            <p:cNvSpPr/>
            <p:nvPr/>
          </p:nvSpPr>
          <p:spPr>
            <a:xfrm>
              <a:off x="5609680" y="1720035"/>
              <a:ext cx="975055" cy="1473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Reverse slope</a:t>
              </a:r>
            </a:p>
          </p:txBody>
        </p:sp>
        <p:sp>
          <p:nvSpPr>
            <p:cNvPr id="288" name="tx288"/>
            <p:cNvSpPr/>
            <p:nvPr/>
          </p:nvSpPr>
          <p:spPr>
            <a:xfrm>
              <a:off x="1510915" y="600407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289" name="tx289"/>
            <p:cNvSpPr/>
            <p:nvPr/>
          </p:nvSpPr>
          <p:spPr>
            <a:xfrm>
              <a:off x="2476560" y="6004368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290" name="tx290"/>
            <p:cNvSpPr/>
            <p:nvPr/>
          </p:nvSpPr>
          <p:spPr>
            <a:xfrm>
              <a:off x="3476108" y="600407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291" name="tx291"/>
            <p:cNvSpPr/>
            <p:nvPr/>
          </p:nvSpPr>
          <p:spPr>
            <a:xfrm>
              <a:off x="4965500" y="600407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292" name="tx292"/>
            <p:cNvSpPr/>
            <p:nvPr/>
          </p:nvSpPr>
          <p:spPr>
            <a:xfrm>
              <a:off x="5931145" y="6004368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293" name="tx293"/>
            <p:cNvSpPr/>
            <p:nvPr/>
          </p:nvSpPr>
          <p:spPr>
            <a:xfrm>
              <a:off x="6930693" y="600407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294" name="tx294"/>
            <p:cNvSpPr/>
            <p:nvPr/>
          </p:nvSpPr>
          <p:spPr>
            <a:xfrm>
              <a:off x="805536" y="5732950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0.0</a:t>
              </a:r>
            </a:p>
          </p:txBody>
        </p:sp>
        <p:sp>
          <p:nvSpPr>
            <p:cNvPr id="295" name="tx295"/>
            <p:cNvSpPr/>
            <p:nvPr/>
          </p:nvSpPr>
          <p:spPr>
            <a:xfrm>
              <a:off x="805536" y="4884267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0.5</a:t>
              </a:r>
            </a:p>
          </p:txBody>
        </p:sp>
        <p:sp>
          <p:nvSpPr>
            <p:cNvPr id="296" name="tx296"/>
            <p:cNvSpPr/>
            <p:nvPr/>
          </p:nvSpPr>
          <p:spPr>
            <a:xfrm>
              <a:off x="805536" y="4035585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1.0</a:t>
              </a:r>
            </a:p>
          </p:txBody>
        </p:sp>
        <p:sp>
          <p:nvSpPr>
            <p:cNvPr id="297" name="tx297"/>
            <p:cNvSpPr/>
            <p:nvPr/>
          </p:nvSpPr>
          <p:spPr>
            <a:xfrm>
              <a:off x="805536" y="3187438"/>
              <a:ext cx="169485" cy="870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1.5</a:t>
              </a:r>
            </a:p>
          </p:txBody>
        </p:sp>
        <p:sp>
          <p:nvSpPr>
            <p:cNvPr id="298" name="tx298"/>
            <p:cNvSpPr/>
            <p:nvPr/>
          </p:nvSpPr>
          <p:spPr>
            <a:xfrm>
              <a:off x="805536" y="2337922"/>
              <a:ext cx="169485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2.0</a:t>
              </a:r>
            </a:p>
          </p:txBody>
        </p:sp>
        <p:sp>
          <p:nvSpPr>
            <p:cNvPr id="299" name="tx299"/>
            <p:cNvSpPr/>
            <p:nvPr/>
          </p:nvSpPr>
          <p:spPr>
            <a:xfrm rot="-5400000">
              <a:off x="-890254" y="3880094"/>
              <a:ext cx="3104182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Each person's slope (dots); mean and 95% CI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1043346" y="1404589"/>
              <a:ext cx="5082108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Is the slope different from 1 at each level? (experience; p vs 1, Holm)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7315200" cy="4892040"/>
            <a:chOff x="548640" y="1371600"/>
            <a:chExt cx="7315200" cy="489204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7315200" cy="48920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111152" y="3392265"/>
              <a:ext cx="6676772" cy="0"/>
            </a:xfrm>
            <a:custGeom>
              <a:avLst/>
              <a:pathLst>
                <a:path w="6676772" h="0">
                  <a:moveTo>
                    <a:pt x="0" y="0"/>
                  </a:moveTo>
                  <a:lnTo>
                    <a:pt x="6676772" y="0"/>
                  </a:lnTo>
                  <a:lnTo>
                    <a:pt x="667677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111152" y="2924130"/>
              <a:ext cx="6676772" cy="0"/>
            </a:xfrm>
            <a:custGeom>
              <a:avLst/>
              <a:pathLst>
                <a:path w="6676772" h="0">
                  <a:moveTo>
                    <a:pt x="0" y="0"/>
                  </a:moveTo>
                  <a:lnTo>
                    <a:pt x="6676772" y="0"/>
                  </a:lnTo>
                  <a:lnTo>
                    <a:pt x="667677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111152" y="2455995"/>
              <a:ext cx="6676772" cy="0"/>
            </a:xfrm>
            <a:custGeom>
              <a:avLst/>
              <a:pathLst>
                <a:path w="6676772" h="0">
                  <a:moveTo>
                    <a:pt x="0" y="0"/>
                  </a:moveTo>
                  <a:lnTo>
                    <a:pt x="6676772" y="0"/>
                  </a:lnTo>
                  <a:lnTo>
                    <a:pt x="667677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111152" y="1987859"/>
              <a:ext cx="6676772" cy="0"/>
            </a:xfrm>
            <a:custGeom>
              <a:avLst/>
              <a:pathLst>
                <a:path w="6676772" h="0">
                  <a:moveTo>
                    <a:pt x="0" y="0"/>
                  </a:moveTo>
                  <a:lnTo>
                    <a:pt x="6676772" y="0"/>
                  </a:lnTo>
                  <a:lnTo>
                    <a:pt x="667677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363047" y="1944993"/>
              <a:ext cx="0" cy="1769222"/>
            </a:xfrm>
            <a:custGeom>
              <a:avLst/>
              <a:pathLst>
                <a:path w="0" h="1769222">
                  <a:moveTo>
                    <a:pt x="0" y="17692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449538" y="1944993"/>
              <a:ext cx="0" cy="1769222"/>
            </a:xfrm>
            <a:custGeom>
              <a:avLst/>
              <a:pathLst>
                <a:path w="0" h="1769222">
                  <a:moveTo>
                    <a:pt x="0" y="17692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536029" y="1944993"/>
              <a:ext cx="0" cy="1769222"/>
            </a:xfrm>
            <a:custGeom>
              <a:avLst/>
              <a:pathLst>
                <a:path w="0" h="1769222">
                  <a:moveTo>
                    <a:pt x="0" y="17692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111152" y="2690062"/>
              <a:ext cx="6676772" cy="0"/>
            </a:xfrm>
            <a:custGeom>
              <a:avLst/>
              <a:pathLst>
                <a:path w="6676772" h="0">
                  <a:moveTo>
                    <a:pt x="0" y="0"/>
                  </a:moveTo>
                  <a:lnTo>
                    <a:pt x="6676772" y="0"/>
                  </a:lnTo>
                  <a:lnTo>
                    <a:pt x="6676772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363047" y="3104916"/>
              <a:ext cx="4172982" cy="528880"/>
            </a:xfrm>
            <a:custGeom>
              <a:avLst/>
              <a:pathLst>
                <a:path w="4172982" h="528880">
                  <a:moveTo>
                    <a:pt x="0" y="0"/>
                  </a:moveTo>
                  <a:lnTo>
                    <a:pt x="2086491" y="528880"/>
                  </a:lnTo>
                  <a:lnTo>
                    <a:pt x="4172982" y="18726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363047" y="3187198"/>
              <a:ext cx="4172982" cy="22763"/>
            </a:xfrm>
            <a:custGeom>
              <a:avLst/>
              <a:pathLst>
                <a:path w="4172982" h="22763">
                  <a:moveTo>
                    <a:pt x="0" y="0"/>
                  </a:moveTo>
                  <a:lnTo>
                    <a:pt x="2086491" y="22763"/>
                  </a:lnTo>
                  <a:lnTo>
                    <a:pt x="4172982" y="263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363047" y="3070189"/>
              <a:ext cx="4172982" cy="180981"/>
            </a:xfrm>
            <a:custGeom>
              <a:avLst/>
              <a:pathLst>
                <a:path w="4172982" h="180981">
                  <a:moveTo>
                    <a:pt x="0" y="180981"/>
                  </a:moveTo>
                  <a:lnTo>
                    <a:pt x="2086491" y="0"/>
                  </a:lnTo>
                  <a:lnTo>
                    <a:pt x="4172982" y="14491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63047" y="2932884"/>
              <a:ext cx="4172982" cy="342050"/>
            </a:xfrm>
            <a:custGeom>
              <a:avLst/>
              <a:pathLst>
                <a:path w="4172982" h="342050">
                  <a:moveTo>
                    <a:pt x="0" y="0"/>
                  </a:moveTo>
                  <a:lnTo>
                    <a:pt x="2086491" y="342050"/>
                  </a:lnTo>
                  <a:lnTo>
                    <a:pt x="4172982" y="30645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363047" y="2576034"/>
              <a:ext cx="4172982" cy="665009"/>
            </a:xfrm>
            <a:custGeom>
              <a:avLst/>
              <a:pathLst>
                <a:path w="4172982" h="665009">
                  <a:moveTo>
                    <a:pt x="0" y="665009"/>
                  </a:moveTo>
                  <a:lnTo>
                    <a:pt x="2086491" y="0"/>
                  </a:lnTo>
                  <a:lnTo>
                    <a:pt x="4172982" y="22829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3047" y="2656381"/>
              <a:ext cx="4172982" cy="776328"/>
            </a:xfrm>
            <a:custGeom>
              <a:avLst/>
              <a:pathLst>
                <a:path w="4172982" h="776328">
                  <a:moveTo>
                    <a:pt x="0" y="0"/>
                  </a:moveTo>
                  <a:lnTo>
                    <a:pt x="2086491" y="776328"/>
                  </a:lnTo>
                  <a:lnTo>
                    <a:pt x="4172982" y="22013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363047" y="2863378"/>
              <a:ext cx="4172982" cy="223050"/>
            </a:xfrm>
            <a:custGeom>
              <a:avLst/>
              <a:pathLst>
                <a:path w="4172982" h="223050">
                  <a:moveTo>
                    <a:pt x="0" y="223050"/>
                  </a:moveTo>
                  <a:lnTo>
                    <a:pt x="2086491" y="0"/>
                  </a:lnTo>
                  <a:lnTo>
                    <a:pt x="4172982" y="201436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363047" y="2429991"/>
              <a:ext cx="4172982" cy="290626"/>
            </a:xfrm>
            <a:custGeom>
              <a:avLst/>
              <a:pathLst>
                <a:path w="4172982" h="290626">
                  <a:moveTo>
                    <a:pt x="0" y="290626"/>
                  </a:moveTo>
                  <a:lnTo>
                    <a:pt x="2086491" y="93200"/>
                  </a:lnTo>
                  <a:lnTo>
                    <a:pt x="4172982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363047" y="2870726"/>
              <a:ext cx="4172982" cy="85624"/>
            </a:xfrm>
            <a:custGeom>
              <a:avLst/>
              <a:pathLst>
                <a:path w="4172982" h="85624">
                  <a:moveTo>
                    <a:pt x="0" y="0"/>
                  </a:moveTo>
                  <a:lnTo>
                    <a:pt x="2086491" y="74991"/>
                  </a:lnTo>
                  <a:lnTo>
                    <a:pt x="4172982" y="8562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363047" y="2383437"/>
              <a:ext cx="4172982" cy="61321"/>
            </a:xfrm>
            <a:custGeom>
              <a:avLst/>
              <a:pathLst>
                <a:path w="4172982" h="61321">
                  <a:moveTo>
                    <a:pt x="0" y="61321"/>
                  </a:moveTo>
                  <a:lnTo>
                    <a:pt x="2086491" y="49438"/>
                  </a:lnTo>
                  <a:lnTo>
                    <a:pt x="4172982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363047" y="2999253"/>
              <a:ext cx="4172982" cy="111512"/>
            </a:xfrm>
            <a:custGeom>
              <a:avLst/>
              <a:pathLst>
                <a:path w="4172982" h="111512">
                  <a:moveTo>
                    <a:pt x="0" y="0"/>
                  </a:moveTo>
                  <a:lnTo>
                    <a:pt x="2086491" y="111512"/>
                  </a:lnTo>
                  <a:lnTo>
                    <a:pt x="4172982" y="10475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3047" y="3468145"/>
              <a:ext cx="4172982" cy="120697"/>
            </a:xfrm>
            <a:custGeom>
              <a:avLst/>
              <a:pathLst>
                <a:path w="4172982" h="120697">
                  <a:moveTo>
                    <a:pt x="0" y="120697"/>
                  </a:moveTo>
                  <a:lnTo>
                    <a:pt x="2086491" y="229"/>
                  </a:lnTo>
                  <a:lnTo>
                    <a:pt x="4172982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363047" y="2912138"/>
              <a:ext cx="4172982" cy="79586"/>
            </a:xfrm>
            <a:custGeom>
              <a:avLst/>
              <a:pathLst>
                <a:path w="4172982" h="79586">
                  <a:moveTo>
                    <a:pt x="0" y="0"/>
                  </a:moveTo>
                  <a:lnTo>
                    <a:pt x="2086491" y="79586"/>
                  </a:lnTo>
                  <a:lnTo>
                    <a:pt x="4172982" y="54171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363047" y="2774987"/>
              <a:ext cx="4172982" cy="140448"/>
            </a:xfrm>
            <a:custGeom>
              <a:avLst/>
              <a:pathLst>
                <a:path w="4172982" h="140448">
                  <a:moveTo>
                    <a:pt x="0" y="0"/>
                  </a:moveTo>
                  <a:lnTo>
                    <a:pt x="2086491" y="140448"/>
                  </a:lnTo>
                  <a:lnTo>
                    <a:pt x="4172982" y="11933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363047" y="2844566"/>
              <a:ext cx="4172982" cy="101113"/>
            </a:xfrm>
            <a:custGeom>
              <a:avLst/>
              <a:pathLst>
                <a:path w="4172982" h="101113">
                  <a:moveTo>
                    <a:pt x="0" y="47345"/>
                  </a:moveTo>
                  <a:lnTo>
                    <a:pt x="2086491" y="101113"/>
                  </a:lnTo>
                  <a:lnTo>
                    <a:pt x="4172982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363047" y="2584707"/>
              <a:ext cx="4172982" cy="274501"/>
            </a:xfrm>
            <a:custGeom>
              <a:avLst/>
              <a:pathLst>
                <a:path w="4172982" h="274501">
                  <a:moveTo>
                    <a:pt x="0" y="67890"/>
                  </a:moveTo>
                  <a:lnTo>
                    <a:pt x="2086491" y="274501"/>
                  </a:lnTo>
                  <a:lnTo>
                    <a:pt x="4172982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63047" y="2133131"/>
              <a:ext cx="4172982" cy="196360"/>
            </a:xfrm>
            <a:custGeom>
              <a:avLst/>
              <a:pathLst>
                <a:path w="4172982" h="196360">
                  <a:moveTo>
                    <a:pt x="0" y="0"/>
                  </a:moveTo>
                  <a:lnTo>
                    <a:pt x="2086491" y="196360"/>
                  </a:lnTo>
                  <a:lnTo>
                    <a:pt x="4172982" y="10172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363047" y="2353762"/>
              <a:ext cx="4172982" cy="272414"/>
            </a:xfrm>
            <a:custGeom>
              <a:avLst/>
              <a:pathLst>
                <a:path w="4172982" h="272414">
                  <a:moveTo>
                    <a:pt x="0" y="272414"/>
                  </a:moveTo>
                  <a:lnTo>
                    <a:pt x="2086491" y="116845"/>
                  </a:lnTo>
                  <a:lnTo>
                    <a:pt x="4172982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363047" y="3021081"/>
              <a:ext cx="4172982" cy="329538"/>
            </a:xfrm>
            <a:custGeom>
              <a:avLst/>
              <a:pathLst>
                <a:path w="4172982" h="329538">
                  <a:moveTo>
                    <a:pt x="0" y="43430"/>
                  </a:moveTo>
                  <a:lnTo>
                    <a:pt x="2086491" y="329538"/>
                  </a:lnTo>
                  <a:lnTo>
                    <a:pt x="4172982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363047" y="2676301"/>
              <a:ext cx="4172982" cy="435091"/>
            </a:xfrm>
            <a:custGeom>
              <a:avLst/>
              <a:pathLst>
                <a:path w="4172982" h="435091">
                  <a:moveTo>
                    <a:pt x="0" y="435091"/>
                  </a:moveTo>
                  <a:lnTo>
                    <a:pt x="2086491" y="368718"/>
                  </a:lnTo>
                  <a:lnTo>
                    <a:pt x="4172982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363047" y="2155611"/>
              <a:ext cx="4172982" cy="715278"/>
            </a:xfrm>
            <a:custGeom>
              <a:avLst/>
              <a:pathLst>
                <a:path w="4172982" h="715278">
                  <a:moveTo>
                    <a:pt x="0" y="0"/>
                  </a:moveTo>
                  <a:lnTo>
                    <a:pt x="2086491" y="715278"/>
                  </a:lnTo>
                  <a:lnTo>
                    <a:pt x="4172982" y="32260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363047" y="2639126"/>
              <a:ext cx="4172982" cy="218683"/>
            </a:xfrm>
            <a:custGeom>
              <a:avLst/>
              <a:pathLst>
                <a:path w="4172982" h="218683">
                  <a:moveTo>
                    <a:pt x="0" y="0"/>
                  </a:moveTo>
                  <a:lnTo>
                    <a:pt x="2086491" y="218683"/>
                  </a:lnTo>
                  <a:lnTo>
                    <a:pt x="4172982" y="5504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363047" y="2693568"/>
              <a:ext cx="4172982" cy="299086"/>
            </a:xfrm>
            <a:custGeom>
              <a:avLst/>
              <a:pathLst>
                <a:path w="4172982" h="299086">
                  <a:moveTo>
                    <a:pt x="0" y="274725"/>
                  </a:moveTo>
                  <a:lnTo>
                    <a:pt x="2086491" y="299086"/>
                  </a:lnTo>
                  <a:lnTo>
                    <a:pt x="4172982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363047" y="2764804"/>
              <a:ext cx="4172982" cy="290364"/>
            </a:xfrm>
            <a:custGeom>
              <a:avLst/>
              <a:pathLst>
                <a:path w="4172982" h="290364">
                  <a:moveTo>
                    <a:pt x="0" y="0"/>
                  </a:moveTo>
                  <a:lnTo>
                    <a:pt x="2086491" y="75862"/>
                  </a:lnTo>
                  <a:lnTo>
                    <a:pt x="4172982" y="29036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363047" y="2492462"/>
              <a:ext cx="4172982" cy="503242"/>
            </a:xfrm>
            <a:custGeom>
              <a:avLst/>
              <a:pathLst>
                <a:path w="4172982" h="503242">
                  <a:moveTo>
                    <a:pt x="0" y="0"/>
                  </a:moveTo>
                  <a:lnTo>
                    <a:pt x="2086491" y="503242"/>
                  </a:lnTo>
                  <a:lnTo>
                    <a:pt x="4172982" y="33038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363047" y="2639614"/>
              <a:ext cx="4172982" cy="476825"/>
            </a:xfrm>
            <a:custGeom>
              <a:avLst/>
              <a:pathLst>
                <a:path w="4172982" h="476825">
                  <a:moveTo>
                    <a:pt x="0" y="0"/>
                  </a:moveTo>
                  <a:lnTo>
                    <a:pt x="2086491" y="2559"/>
                  </a:lnTo>
                  <a:lnTo>
                    <a:pt x="4172982" y="47682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363047" y="2717385"/>
              <a:ext cx="4172982" cy="332161"/>
            </a:xfrm>
            <a:custGeom>
              <a:avLst/>
              <a:pathLst>
                <a:path w="4172982" h="332161">
                  <a:moveTo>
                    <a:pt x="0" y="0"/>
                  </a:moveTo>
                  <a:lnTo>
                    <a:pt x="2086491" y="332161"/>
                  </a:lnTo>
                  <a:lnTo>
                    <a:pt x="4172982" y="160091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363047" y="2224041"/>
              <a:ext cx="4172982" cy="702003"/>
            </a:xfrm>
            <a:custGeom>
              <a:avLst/>
              <a:pathLst>
                <a:path w="4172982" h="702003">
                  <a:moveTo>
                    <a:pt x="0" y="702003"/>
                  </a:moveTo>
                  <a:lnTo>
                    <a:pt x="2086491" y="447440"/>
                  </a:lnTo>
                  <a:lnTo>
                    <a:pt x="4172982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363047" y="2777941"/>
              <a:ext cx="4172982" cy="284448"/>
            </a:xfrm>
            <a:custGeom>
              <a:avLst/>
              <a:pathLst>
                <a:path w="4172982" h="284448">
                  <a:moveTo>
                    <a:pt x="0" y="284448"/>
                  </a:moveTo>
                  <a:lnTo>
                    <a:pt x="2086491" y="153138"/>
                  </a:lnTo>
                  <a:lnTo>
                    <a:pt x="4172982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363047" y="2617924"/>
              <a:ext cx="4172982" cy="238521"/>
            </a:xfrm>
            <a:custGeom>
              <a:avLst/>
              <a:pathLst>
                <a:path w="4172982" h="238521">
                  <a:moveTo>
                    <a:pt x="0" y="224175"/>
                  </a:moveTo>
                  <a:lnTo>
                    <a:pt x="2086491" y="238521"/>
                  </a:lnTo>
                  <a:lnTo>
                    <a:pt x="4172982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363047" y="2981925"/>
              <a:ext cx="4172982" cy="207279"/>
            </a:xfrm>
            <a:custGeom>
              <a:avLst/>
              <a:pathLst>
                <a:path w="4172982" h="207279">
                  <a:moveTo>
                    <a:pt x="0" y="0"/>
                  </a:moveTo>
                  <a:lnTo>
                    <a:pt x="2086491" y="207279"/>
                  </a:lnTo>
                  <a:lnTo>
                    <a:pt x="4172982" y="190167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363047" y="2674534"/>
              <a:ext cx="4172982" cy="150395"/>
            </a:xfrm>
            <a:custGeom>
              <a:avLst/>
              <a:pathLst>
                <a:path w="4172982" h="150395">
                  <a:moveTo>
                    <a:pt x="0" y="93745"/>
                  </a:moveTo>
                  <a:lnTo>
                    <a:pt x="2086491" y="0"/>
                  </a:lnTo>
                  <a:lnTo>
                    <a:pt x="4172982" y="15039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363047" y="2451353"/>
              <a:ext cx="4172982" cy="555703"/>
            </a:xfrm>
            <a:custGeom>
              <a:avLst/>
              <a:pathLst>
                <a:path w="4172982" h="555703">
                  <a:moveTo>
                    <a:pt x="0" y="146250"/>
                  </a:moveTo>
                  <a:lnTo>
                    <a:pt x="2086491" y="555703"/>
                  </a:lnTo>
                  <a:lnTo>
                    <a:pt x="4172982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363047" y="2025412"/>
              <a:ext cx="4172982" cy="409595"/>
            </a:xfrm>
            <a:custGeom>
              <a:avLst/>
              <a:pathLst>
                <a:path w="4172982" h="409595">
                  <a:moveTo>
                    <a:pt x="0" y="0"/>
                  </a:moveTo>
                  <a:lnTo>
                    <a:pt x="2086491" y="409595"/>
                  </a:lnTo>
                  <a:lnTo>
                    <a:pt x="4172982" y="2213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363047" y="2832441"/>
              <a:ext cx="4172982" cy="159708"/>
            </a:xfrm>
            <a:custGeom>
              <a:avLst/>
              <a:pathLst>
                <a:path w="4172982" h="159708">
                  <a:moveTo>
                    <a:pt x="0" y="159708"/>
                  </a:moveTo>
                  <a:lnTo>
                    <a:pt x="2086491" y="0"/>
                  </a:lnTo>
                  <a:lnTo>
                    <a:pt x="4172982" y="6496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363047" y="2678605"/>
              <a:ext cx="4172982" cy="141656"/>
            </a:xfrm>
            <a:custGeom>
              <a:avLst/>
              <a:pathLst>
                <a:path w="4172982" h="141656">
                  <a:moveTo>
                    <a:pt x="0" y="0"/>
                  </a:moveTo>
                  <a:lnTo>
                    <a:pt x="2086491" y="82784"/>
                  </a:lnTo>
                  <a:lnTo>
                    <a:pt x="4172982" y="141656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363047" y="2920148"/>
              <a:ext cx="4172982" cy="175364"/>
            </a:xfrm>
            <a:custGeom>
              <a:avLst/>
              <a:pathLst>
                <a:path w="4172982" h="175364">
                  <a:moveTo>
                    <a:pt x="0" y="0"/>
                  </a:moveTo>
                  <a:lnTo>
                    <a:pt x="2086491" y="123645"/>
                  </a:lnTo>
                  <a:lnTo>
                    <a:pt x="4172982" y="17536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363047" y="2876513"/>
              <a:ext cx="4172982" cy="543103"/>
            </a:xfrm>
            <a:custGeom>
              <a:avLst/>
              <a:pathLst>
                <a:path w="4172982" h="543103">
                  <a:moveTo>
                    <a:pt x="0" y="0"/>
                  </a:moveTo>
                  <a:lnTo>
                    <a:pt x="2086491" y="236144"/>
                  </a:lnTo>
                  <a:lnTo>
                    <a:pt x="4172982" y="54310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237857" y="2723725"/>
              <a:ext cx="250378" cy="0"/>
            </a:xfrm>
            <a:custGeom>
              <a:avLst/>
              <a:pathLst>
                <a:path w="250378" h="0">
                  <a:moveTo>
                    <a:pt x="0" y="0"/>
                  </a:moveTo>
                  <a:lnTo>
                    <a:pt x="250378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363047" y="2723725"/>
              <a:ext cx="0" cy="199893"/>
            </a:xfrm>
            <a:custGeom>
              <a:avLst/>
              <a:pathLst>
                <a:path w="0" h="199893">
                  <a:moveTo>
                    <a:pt x="0" y="0"/>
                  </a:moveTo>
                  <a:lnTo>
                    <a:pt x="0" y="199893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237857" y="2923619"/>
              <a:ext cx="250378" cy="0"/>
            </a:xfrm>
            <a:custGeom>
              <a:avLst/>
              <a:pathLst>
                <a:path w="250378" h="0">
                  <a:moveTo>
                    <a:pt x="0" y="0"/>
                  </a:moveTo>
                  <a:lnTo>
                    <a:pt x="250378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4324348" y="2832272"/>
              <a:ext cx="250378" cy="0"/>
            </a:xfrm>
            <a:custGeom>
              <a:avLst/>
              <a:pathLst>
                <a:path w="250378" h="0">
                  <a:moveTo>
                    <a:pt x="0" y="0"/>
                  </a:moveTo>
                  <a:lnTo>
                    <a:pt x="250378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449538" y="2832272"/>
              <a:ext cx="0" cy="188838"/>
            </a:xfrm>
            <a:custGeom>
              <a:avLst/>
              <a:pathLst>
                <a:path w="0" h="188838">
                  <a:moveTo>
                    <a:pt x="0" y="0"/>
                  </a:moveTo>
                  <a:lnTo>
                    <a:pt x="0" y="188838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324348" y="3021110"/>
              <a:ext cx="250378" cy="0"/>
            </a:xfrm>
            <a:custGeom>
              <a:avLst/>
              <a:pathLst>
                <a:path w="250378" h="0">
                  <a:moveTo>
                    <a:pt x="0" y="0"/>
                  </a:moveTo>
                  <a:lnTo>
                    <a:pt x="250378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6410840" y="2723919"/>
              <a:ext cx="250378" cy="0"/>
            </a:xfrm>
            <a:custGeom>
              <a:avLst/>
              <a:pathLst>
                <a:path w="250378" h="0">
                  <a:moveTo>
                    <a:pt x="0" y="0"/>
                  </a:moveTo>
                  <a:lnTo>
                    <a:pt x="250378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536029" y="2723919"/>
              <a:ext cx="0" cy="216793"/>
            </a:xfrm>
            <a:custGeom>
              <a:avLst/>
              <a:pathLst>
                <a:path w="0" h="216793">
                  <a:moveTo>
                    <a:pt x="0" y="0"/>
                  </a:moveTo>
                  <a:lnTo>
                    <a:pt x="0" y="216793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410840" y="2940712"/>
              <a:ext cx="250378" cy="0"/>
            </a:xfrm>
            <a:custGeom>
              <a:avLst/>
              <a:pathLst>
                <a:path w="250378" h="0">
                  <a:moveTo>
                    <a:pt x="0" y="0"/>
                  </a:moveTo>
                  <a:lnTo>
                    <a:pt x="250378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363047" y="2823672"/>
              <a:ext cx="4172982" cy="103018"/>
            </a:xfrm>
            <a:custGeom>
              <a:avLst/>
              <a:pathLst>
                <a:path w="4172982" h="103018">
                  <a:moveTo>
                    <a:pt x="0" y="0"/>
                  </a:moveTo>
                  <a:lnTo>
                    <a:pt x="2086491" y="103018"/>
                  </a:lnTo>
                  <a:lnTo>
                    <a:pt x="4172982" y="8643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2326025" y="2786650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412516" y="2889669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6499008" y="2795294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111152" y="5909770"/>
              <a:ext cx="6676772" cy="0"/>
            </a:xfrm>
            <a:custGeom>
              <a:avLst/>
              <a:pathLst>
                <a:path w="6676772" h="0">
                  <a:moveTo>
                    <a:pt x="0" y="0"/>
                  </a:moveTo>
                  <a:lnTo>
                    <a:pt x="6676772" y="0"/>
                  </a:lnTo>
                  <a:lnTo>
                    <a:pt x="667677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111152" y="5513166"/>
              <a:ext cx="6676772" cy="0"/>
            </a:xfrm>
            <a:custGeom>
              <a:avLst/>
              <a:pathLst>
                <a:path w="6676772" h="0">
                  <a:moveTo>
                    <a:pt x="0" y="0"/>
                  </a:moveTo>
                  <a:lnTo>
                    <a:pt x="6676772" y="0"/>
                  </a:lnTo>
                  <a:lnTo>
                    <a:pt x="667677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111152" y="5116561"/>
              <a:ext cx="6676772" cy="0"/>
            </a:xfrm>
            <a:custGeom>
              <a:avLst/>
              <a:pathLst>
                <a:path w="6676772" h="0">
                  <a:moveTo>
                    <a:pt x="0" y="0"/>
                  </a:moveTo>
                  <a:lnTo>
                    <a:pt x="6676772" y="0"/>
                  </a:lnTo>
                  <a:lnTo>
                    <a:pt x="667677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111152" y="4719957"/>
              <a:ext cx="6676772" cy="0"/>
            </a:xfrm>
            <a:custGeom>
              <a:avLst/>
              <a:pathLst>
                <a:path w="6676772" h="0">
                  <a:moveTo>
                    <a:pt x="0" y="0"/>
                  </a:moveTo>
                  <a:lnTo>
                    <a:pt x="6676772" y="0"/>
                  </a:lnTo>
                  <a:lnTo>
                    <a:pt x="667677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111152" y="4323352"/>
              <a:ext cx="6676772" cy="0"/>
            </a:xfrm>
            <a:custGeom>
              <a:avLst/>
              <a:pathLst>
                <a:path w="6676772" h="0">
                  <a:moveTo>
                    <a:pt x="0" y="0"/>
                  </a:moveTo>
                  <a:lnTo>
                    <a:pt x="6676772" y="0"/>
                  </a:lnTo>
                  <a:lnTo>
                    <a:pt x="667677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363047" y="4235759"/>
              <a:ext cx="0" cy="1769222"/>
            </a:xfrm>
            <a:custGeom>
              <a:avLst/>
              <a:pathLst>
                <a:path w="0" h="1769222">
                  <a:moveTo>
                    <a:pt x="0" y="17692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9538" y="4235759"/>
              <a:ext cx="0" cy="1769222"/>
            </a:xfrm>
            <a:custGeom>
              <a:avLst/>
              <a:pathLst>
                <a:path w="0" h="1769222">
                  <a:moveTo>
                    <a:pt x="0" y="17692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6536029" y="4235759"/>
              <a:ext cx="0" cy="1769222"/>
            </a:xfrm>
            <a:custGeom>
              <a:avLst/>
              <a:pathLst>
                <a:path w="0" h="1769222">
                  <a:moveTo>
                    <a:pt x="0" y="17692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1111152" y="4719957"/>
              <a:ext cx="6676772" cy="0"/>
            </a:xfrm>
            <a:custGeom>
              <a:avLst/>
              <a:pathLst>
                <a:path w="6676772" h="0">
                  <a:moveTo>
                    <a:pt x="0" y="0"/>
                  </a:moveTo>
                  <a:lnTo>
                    <a:pt x="6676772" y="0"/>
                  </a:lnTo>
                  <a:lnTo>
                    <a:pt x="6676772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363047" y="5262825"/>
              <a:ext cx="4172982" cy="533661"/>
            </a:xfrm>
            <a:custGeom>
              <a:avLst/>
              <a:pathLst>
                <a:path w="4172982" h="533661">
                  <a:moveTo>
                    <a:pt x="0" y="0"/>
                  </a:moveTo>
                  <a:lnTo>
                    <a:pt x="2086491" y="533661"/>
                  </a:lnTo>
                  <a:lnTo>
                    <a:pt x="4172982" y="110579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363047" y="4342648"/>
              <a:ext cx="4172982" cy="450150"/>
            </a:xfrm>
            <a:custGeom>
              <a:avLst/>
              <a:pathLst>
                <a:path w="4172982" h="450150">
                  <a:moveTo>
                    <a:pt x="0" y="450150"/>
                  </a:moveTo>
                  <a:lnTo>
                    <a:pt x="2086491" y="0"/>
                  </a:lnTo>
                  <a:lnTo>
                    <a:pt x="4172982" y="43541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363047" y="4516843"/>
              <a:ext cx="4172982" cy="329747"/>
            </a:xfrm>
            <a:custGeom>
              <a:avLst/>
              <a:pathLst>
                <a:path w="4172982" h="329747">
                  <a:moveTo>
                    <a:pt x="0" y="329747"/>
                  </a:moveTo>
                  <a:lnTo>
                    <a:pt x="2086491" y="0"/>
                  </a:lnTo>
                  <a:lnTo>
                    <a:pt x="4172982" y="7415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363047" y="4782235"/>
              <a:ext cx="4172982" cy="572212"/>
            </a:xfrm>
            <a:custGeom>
              <a:avLst/>
              <a:pathLst>
                <a:path w="4172982" h="572212">
                  <a:moveTo>
                    <a:pt x="0" y="572212"/>
                  </a:moveTo>
                  <a:lnTo>
                    <a:pt x="2086491" y="0"/>
                  </a:lnTo>
                  <a:lnTo>
                    <a:pt x="4172982" y="571841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363047" y="5173288"/>
              <a:ext cx="4172982" cy="202874"/>
            </a:xfrm>
            <a:custGeom>
              <a:avLst/>
              <a:pathLst>
                <a:path w="4172982" h="202874">
                  <a:moveTo>
                    <a:pt x="0" y="180813"/>
                  </a:moveTo>
                  <a:lnTo>
                    <a:pt x="2086491" y="202874"/>
                  </a:lnTo>
                  <a:lnTo>
                    <a:pt x="4172982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363047" y="5419269"/>
              <a:ext cx="4172982" cy="505293"/>
            </a:xfrm>
            <a:custGeom>
              <a:avLst/>
              <a:pathLst>
                <a:path w="4172982" h="505293">
                  <a:moveTo>
                    <a:pt x="0" y="0"/>
                  </a:moveTo>
                  <a:lnTo>
                    <a:pt x="2086491" y="505293"/>
                  </a:lnTo>
                  <a:lnTo>
                    <a:pt x="4172982" y="21241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363047" y="5116849"/>
              <a:ext cx="4172982" cy="392408"/>
            </a:xfrm>
            <a:custGeom>
              <a:avLst/>
              <a:pathLst>
                <a:path w="4172982" h="392408">
                  <a:moveTo>
                    <a:pt x="0" y="0"/>
                  </a:moveTo>
                  <a:lnTo>
                    <a:pt x="2086491" y="392408"/>
                  </a:lnTo>
                  <a:lnTo>
                    <a:pt x="4172982" y="38830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363047" y="4980997"/>
              <a:ext cx="4172982" cy="177145"/>
            </a:xfrm>
            <a:custGeom>
              <a:avLst/>
              <a:pathLst>
                <a:path w="4172982" h="177145">
                  <a:moveTo>
                    <a:pt x="0" y="0"/>
                  </a:moveTo>
                  <a:lnTo>
                    <a:pt x="2086491" y="48182"/>
                  </a:lnTo>
                  <a:lnTo>
                    <a:pt x="4172982" y="17714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363047" y="4983393"/>
              <a:ext cx="4172982" cy="171480"/>
            </a:xfrm>
            <a:custGeom>
              <a:avLst/>
              <a:pathLst>
                <a:path w="4172982" h="171480">
                  <a:moveTo>
                    <a:pt x="0" y="75168"/>
                  </a:moveTo>
                  <a:lnTo>
                    <a:pt x="2086491" y="171480"/>
                  </a:lnTo>
                  <a:lnTo>
                    <a:pt x="4172982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363047" y="5234289"/>
              <a:ext cx="4172982" cy="165789"/>
            </a:xfrm>
            <a:custGeom>
              <a:avLst/>
              <a:pathLst>
                <a:path w="4172982" h="165789">
                  <a:moveTo>
                    <a:pt x="0" y="165789"/>
                  </a:moveTo>
                  <a:lnTo>
                    <a:pt x="2086491" y="65547"/>
                  </a:lnTo>
                  <a:lnTo>
                    <a:pt x="4172982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363047" y="4316178"/>
              <a:ext cx="4172982" cy="165595"/>
            </a:xfrm>
            <a:custGeom>
              <a:avLst/>
              <a:pathLst>
                <a:path w="4172982" h="165595">
                  <a:moveTo>
                    <a:pt x="0" y="165595"/>
                  </a:moveTo>
                  <a:lnTo>
                    <a:pt x="2086491" y="0"/>
                  </a:lnTo>
                  <a:lnTo>
                    <a:pt x="4172982" y="4559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363047" y="4440242"/>
              <a:ext cx="4172982" cy="902233"/>
            </a:xfrm>
            <a:custGeom>
              <a:avLst/>
              <a:pathLst>
                <a:path w="4172982" h="902233">
                  <a:moveTo>
                    <a:pt x="0" y="902233"/>
                  </a:moveTo>
                  <a:lnTo>
                    <a:pt x="2086491" y="453034"/>
                  </a:lnTo>
                  <a:lnTo>
                    <a:pt x="4172982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363047" y="4816916"/>
              <a:ext cx="4172982" cy="390398"/>
            </a:xfrm>
            <a:custGeom>
              <a:avLst/>
              <a:pathLst>
                <a:path w="4172982" h="390398">
                  <a:moveTo>
                    <a:pt x="0" y="108730"/>
                  </a:moveTo>
                  <a:lnTo>
                    <a:pt x="2086491" y="0"/>
                  </a:lnTo>
                  <a:lnTo>
                    <a:pt x="4172982" y="39039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363047" y="4603468"/>
              <a:ext cx="4172982" cy="168123"/>
            </a:xfrm>
            <a:custGeom>
              <a:avLst/>
              <a:pathLst>
                <a:path w="4172982" h="168123">
                  <a:moveTo>
                    <a:pt x="0" y="150596"/>
                  </a:moveTo>
                  <a:lnTo>
                    <a:pt x="2086491" y="0"/>
                  </a:lnTo>
                  <a:lnTo>
                    <a:pt x="4172982" y="16812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363047" y="5252485"/>
              <a:ext cx="4172982" cy="283707"/>
            </a:xfrm>
            <a:custGeom>
              <a:avLst/>
              <a:pathLst>
                <a:path w="4172982" h="283707">
                  <a:moveTo>
                    <a:pt x="0" y="283707"/>
                  </a:moveTo>
                  <a:lnTo>
                    <a:pt x="2086491" y="48535"/>
                  </a:lnTo>
                  <a:lnTo>
                    <a:pt x="4172982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363047" y="5067213"/>
              <a:ext cx="4172982" cy="192886"/>
            </a:xfrm>
            <a:custGeom>
              <a:avLst/>
              <a:pathLst>
                <a:path w="4172982" h="192886">
                  <a:moveTo>
                    <a:pt x="0" y="0"/>
                  </a:moveTo>
                  <a:lnTo>
                    <a:pt x="2086491" y="55084"/>
                  </a:lnTo>
                  <a:lnTo>
                    <a:pt x="4172982" y="192886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2363047" y="5368496"/>
              <a:ext cx="4172982" cy="14586"/>
            </a:xfrm>
            <a:custGeom>
              <a:avLst/>
              <a:pathLst>
                <a:path w="4172982" h="14586">
                  <a:moveTo>
                    <a:pt x="0" y="0"/>
                  </a:moveTo>
                  <a:lnTo>
                    <a:pt x="2086491" y="14586"/>
                  </a:lnTo>
                  <a:lnTo>
                    <a:pt x="4172982" y="1246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2363047" y="5147068"/>
              <a:ext cx="4172982" cy="132392"/>
            </a:xfrm>
            <a:custGeom>
              <a:avLst/>
              <a:pathLst>
                <a:path w="4172982" h="132392">
                  <a:moveTo>
                    <a:pt x="0" y="0"/>
                  </a:moveTo>
                  <a:lnTo>
                    <a:pt x="2086491" y="93101"/>
                  </a:lnTo>
                  <a:lnTo>
                    <a:pt x="4172982" y="132392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2363047" y="5020282"/>
              <a:ext cx="4172982" cy="117125"/>
            </a:xfrm>
            <a:custGeom>
              <a:avLst/>
              <a:pathLst>
                <a:path w="4172982" h="117125">
                  <a:moveTo>
                    <a:pt x="0" y="117125"/>
                  </a:moveTo>
                  <a:lnTo>
                    <a:pt x="2086491" y="69164"/>
                  </a:lnTo>
                  <a:lnTo>
                    <a:pt x="4172982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363047" y="4926300"/>
              <a:ext cx="4172982" cy="341943"/>
            </a:xfrm>
            <a:custGeom>
              <a:avLst/>
              <a:pathLst>
                <a:path w="4172982" h="341943">
                  <a:moveTo>
                    <a:pt x="0" y="55109"/>
                  </a:moveTo>
                  <a:lnTo>
                    <a:pt x="2086491" y="0"/>
                  </a:lnTo>
                  <a:lnTo>
                    <a:pt x="4172982" y="34194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363047" y="5383642"/>
              <a:ext cx="4172982" cy="255668"/>
            </a:xfrm>
            <a:custGeom>
              <a:avLst/>
              <a:pathLst>
                <a:path w="4172982" h="255668">
                  <a:moveTo>
                    <a:pt x="0" y="165044"/>
                  </a:moveTo>
                  <a:lnTo>
                    <a:pt x="2086491" y="255668"/>
                  </a:lnTo>
                  <a:lnTo>
                    <a:pt x="4172982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363047" y="4985469"/>
              <a:ext cx="4172982" cy="236667"/>
            </a:xfrm>
            <a:custGeom>
              <a:avLst/>
              <a:pathLst>
                <a:path w="4172982" h="236667">
                  <a:moveTo>
                    <a:pt x="0" y="212960"/>
                  </a:moveTo>
                  <a:lnTo>
                    <a:pt x="2086491" y="0"/>
                  </a:lnTo>
                  <a:lnTo>
                    <a:pt x="4172982" y="236667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363047" y="4673049"/>
              <a:ext cx="4172982" cy="261368"/>
            </a:xfrm>
            <a:custGeom>
              <a:avLst/>
              <a:pathLst>
                <a:path w="4172982" h="261368">
                  <a:moveTo>
                    <a:pt x="0" y="245880"/>
                  </a:moveTo>
                  <a:lnTo>
                    <a:pt x="2086491" y="0"/>
                  </a:lnTo>
                  <a:lnTo>
                    <a:pt x="4172982" y="26136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363047" y="4791591"/>
              <a:ext cx="4172982" cy="448021"/>
            </a:xfrm>
            <a:custGeom>
              <a:avLst/>
              <a:pathLst>
                <a:path w="4172982" h="448021">
                  <a:moveTo>
                    <a:pt x="0" y="448021"/>
                  </a:moveTo>
                  <a:lnTo>
                    <a:pt x="2086491" y="0"/>
                  </a:lnTo>
                  <a:lnTo>
                    <a:pt x="4172982" y="9079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363047" y="4997788"/>
              <a:ext cx="4172982" cy="560721"/>
            </a:xfrm>
            <a:custGeom>
              <a:avLst/>
              <a:pathLst>
                <a:path w="4172982" h="560721">
                  <a:moveTo>
                    <a:pt x="0" y="560721"/>
                  </a:moveTo>
                  <a:lnTo>
                    <a:pt x="2086491" y="0"/>
                  </a:lnTo>
                  <a:lnTo>
                    <a:pt x="4172982" y="305992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363047" y="5137376"/>
              <a:ext cx="4172982" cy="127273"/>
            </a:xfrm>
            <a:custGeom>
              <a:avLst/>
              <a:pathLst>
                <a:path w="4172982" h="127273">
                  <a:moveTo>
                    <a:pt x="0" y="127273"/>
                  </a:moveTo>
                  <a:lnTo>
                    <a:pt x="2086491" y="0"/>
                  </a:lnTo>
                  <a:lnTo>
                    <a:pt x="4172982" y="16956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363047" y="5035119"/>
              <a:ext cx="4172982" cy="120738"/>
            </a:xfrm>
            <a:custGeom>
              <a:avLst/>
              <a:pathLst>
                <a:path w="4172982" h="120738">
                  <a:moveTo>
                    <a:pt x="0" y="120738"/>
                  </a:moveTo>
                  <a:lnTo>
                    <a:pt x="2086491" y="15269"/>
                  </a:lnTo>
                  <a:lnTo>
                    <a:pt x="4172982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363047" y="4774348"/>
              <a:ext cx="4172982" cy="718360"/>
            </a:xfrm>
            <a:custGeom>
              <a:avLst/>
              <a:pathLst>
                <a:path w="4172982" h="718360">
                  <a:moveTo>
                    <a:pt x="0" y="0"/>
                  </a:moveTo>
                  <a:lnTo>
                    <a:pt x="2086491" y="526782"/>
                  </a:lnTo>
                  <a:lnTo>
                    <a:pt x="4172982" y="71836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363047" y="4870760"/>
              <a:ext cx="4172982" cy="512023"/>
            </a:xfrm>
            <a:custGeom>
              <a:avLst/>
              <a:pathLst>
                <a:path w="4172982" h="512023">
                  <a:moveTo>
                    <a:pt x="0" y="512023"/>
                  </a:moveTo>
                  <a:lnTo>
                    <a:pt x="2086491" y="0"/>
                  </a:lnTo>
                  <a:lnTo>
                    <a:pt x="4172982" y="90471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363047" y="4833111"/>
              <a:ext cx="4172982" cy="402544"/>
            </a:xfrm>
            <a:custGeom>
              <a:avLst/>
              <a:pathLst>
                <a:path w="4172982" h="402544">
                  <a:moveTo>
                    <a:pt x="0" y="160262"/>
                  </a:moveTo>
                  <a:lnTo>
                    <a:pt x="2086491" y="0"/>
                  </a:lnTo>
                  <a:lnTo>
                    <a:pt x="4172982" y="40254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363047" y="4894079"/>
              <a:ext cx="4172982" cy="446122"/>
            </a:xfrm>
            <a:custGeom>
              <a:avLst/>
              <a:pathLst>
                <a:path w="4172982" h="446122">
                  <a:moveTo>
                    <a:pt x="0" y="446122"/>
                  </a:moveTo>
                  <a:lnTo>
                    <a:pt x="2086491" y="22128"/>
                  </a:lnTo>
                  <a:lnTo>
                    <a:pt x="4172982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363047" y="5029682"/>
              <a:ext cx="4172982" cy="234542"/>
            </a:xfrm>
            <a:custGeom>
              <a:avLst/>
              <a:pathLst>
                <a:path w="4172982" h="234542">
                  <a:moveTo>
                    <a:pt x="0" y="234542"/>
                  </a:moveTo>
                  <a:lnTo>
                    <a:pt x="2086491" y="105433"/>
                  </a:lnTo>
                  <a:lnTo>
                    <a:pt x="4172982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363047" y="5531189"/>
              <a:ext cx="4172982" cy="153451"/>
            </a:xfrm>
            <a:custGeom>
              <a:avLst/>
              <a:pathLst>
                <a:path w="4172982" h="153451">
                  <a:moveTo>
                    <a:pt x="0" y="0"/>
                  </a:moveTo>
                  <a:lnTo>
                    <a:pt x="2086491" y="153451"/>
                  </a:lnTo>
                  <a:lnTo>
                    <a:pt x="4172982" y="6700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363047" y="5569765"/>
              <a:ext cx="4172982" cy="104264"/>
            </a:xfrm>
            <a:custGeom>
              <a:avLst/>
              <a:pathLst>
                <a:path w="4172982" h="104264">
                  <a:moveTo>
                    <a:pt x="0" y="84081"/>
                  </a:moveTo>
                  <a:lnTo>
                    <a:pt x="2086491" y="104264"/>
                  </a:lnTo>
                  <a:lnTo>
                    <a:pt x="4172982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363047" y="4902852"/>
              <a:ext cx="4172982" cy="62782"/>
            </a:xfrm>
            <a:custGeom>
              <a:avLst/>
              <a:pathLst>
                <a:path w="4172982" h="62782">
                  <a:moveTo>
                    <a:pt x="0" y="48842"/>
                  </a:moveTo>
                  <a:lnTo>
                    <a:pt x="2086491" y="62782"/>
                  </a:lnTo>
                  <a:lnTo>
                    <a:pt x="4172982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363047" y="4881100"/>
              <a:ext cx="4172982" cy="347926"/>
            </a:xfrm>
            <a:custGeom>
              <a:avLst/>
              <a:pathLst>
                <a:path w="4172982" h="347926">
                  <a:moveTo>
                    <a:pt x="0" y="138879"/>
                  </a:moveTo>
                  <a:lnTo>
                    <a:pt x="2086491" y="0"/>
                  </a:lnTo>
                  <a:lnTo>
                    <a:pt x="4172982" y="347926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2363047" y="4859857"/>
              <a:ext cx="4172982" cy="322889"/>
            </a:xfrm>
            <a:custGeom>
              <a:avLst/>
              <a:pathLst>
                <a:path w="4172982" h="322889">
                  <a:moveTo>
                    <a:pt x="0" y="295658"/>
                  </a:moveTo>
                  <a:lnTo>
                    <a:pt x="2086491" y="0"/>
                  </a:lnTo>
                  <a:lnTo>
                    <a:pt x="4172982" y="322889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2363047" y="5342155"/>
              <a:ext cx="4172982" cy="247079"/>
            </a:xfrm>
            <a:custGeom>
              <a:avLst/>
              <a:pathLst>
                <a:path w="4172982" h="247079">
                  <a:moveTo>
                    <a:pt x="0" y="0"/>
                  </a:moveTo>
                  <a:lnTo>
                    <a:pt x="2086491" y="137600"/>
                  </a:lnTo>
                  <a:lnTo>
                    <a:pt x="4172982" y="247079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2237857" y="5090739"/>
              <a:ext cx="250378" cy="0"/>
            </a:xfrm>
            <a:custGeom>
              <a:avLst/>
              <a:pathLst>
                <a:path w="250378" h="0">
                  <a:moveTo>
                    <a:pt x="0" y="0"/>
                  </a:moveTo>
                  <a:lnTo>
                    <a:pt x="250378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2363047" y="5090739"/>
              <a:ext cx="0" cy="167062"/>
            </a:xfrm>
            <a:custGeom>
              <a:avLst/>
              <a:pathLst>
                <a:path w="0" h="167062">
                  <a:moveTo>
                    <a:pt x="0" y="0"/>
                  </a:moveTo>
                  <a:lnTo>
                    <a:pt x="0" y="167062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2237857" y="5257801"/>
              <a:ext cx="250378" cy="0"/>
            </a:xfrm>
            <a:custGeom>
              <a:avLst/>
              <a:pathLst>
                <a:path w="250378" h="0">
                  <a:moveTo>
                    <a:pt x="0" y="0"/>
                  </a:moveTo>
                  <a:lnTo>
                    <a:pt x="250378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4324348" y="4965912"/>
              <a:ext cx="250378" cy="0"/>
            </a:xfrm>
            <a:custGeom>
              <a:avLst/>
              <a:pathLst>
                <a:path w="250378" h="0">
                  <a:moveTo>
                    <a:pt x="0" y="0"/>
                  </a:moveTo>
                  <a:lnTo>
                    <a:pt x="250378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4449538" y="4965912"/>
              <a:ext cx="0" cy="241890"/>
            </a:xfrm>
            <a:custGeom>
              <a:avLst/>
              <a:pathLst>
                <a:path w="0" h="241890">
                  <a:moveTo>
                    <a:pt x="0" y="0"/>
                  </a:moveTo>
                  <a:lnTo>
                    <a:pt x="0" y="24189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4324348" y="5207802"/>
              <a:ext cx="250378" cy="0"/>
            </a:xfrm>
            <a:custGeom>
              <a:avLst/>
              <a:pathLst>
                <a:path w="250378" h="0">
                  <a:moveTo>
                    <a:pt x="0" y="0"/>
                  </a:moveTo>
                  <a:lnTo>
                    <a:pt x="250378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6410840" y="5051321"/>
              <a:ext cx="250378" cy="0"/>
            </a:xfrm>
            <a:custGeom>
              <a:avLst/>
              <a:pathLst>
                <a:path w="250378" h="0">
                  <a:moveTo>
                    <a:pt x="0" y="0"/>
                  </a:moveTo>
                  <a:lnTo>
                    <a:pt x="250378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6536029" y="5051321"/>
              <a:ext cx="0" cy="193459"/>
            </a:xfrm>
            <a:custGeom>
              <a:avLst/>
              <a:pathLst>
                <a:path w="0" h="193459">
                  <a:moveTo>
                    <a:pt x="0" y="0"/>
                  </a:moveTo>
                  <a:lnTo>
                    <a:pt x="0" y="193459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6410840" y="5244780"/>
              <a:ext cx="250378" cy="0"/>
            </a:xfrm>
            <a:custGeom>
              <a:avLst/>
              <a:pathLst>
                <a:path w="250378" h="0">
                  <a:moveTo>
                    <a:pt x="0" y="0"/>
                  </a:moveTo>
                  <a:lnTo>
                    <a:pt x="250378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363047" y="5086857"/>
              <a:ext cx="4172982" cy="87413"/>
            </a:xfrm>
            <a:custGeom>
              <a:avLst/>
              <a:pathLst>
                <a:path w="4172982" h="87413">
                  <a:moveTo>
                    <a:pt x="0" y="87413"/>
                  </a:moveTo>
                  <a:lnTo>
                    <a:pt x="2086491" y="0"/>
                  </a:lnTo>
                  <a:lnTo>
                    <a:pt x="4172982" y="61193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2326025" y="5137248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412516" y="5049835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6499008" y="5111029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tx123"/>
            <p:cNvSpPr/>
            <p:nvPr/>
          </p:nvSpPr>
          <p:spPr>
            <a:xfrm>
              <a:off x="3962010" y="4010801"/>
              <a:ext cx="975055" cy="1473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Reverse slope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948675" y="1720035"/>
              <a:ext cx="1001725" cy="1473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Forward slope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2230887" y="6049790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4283475" y="6050088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6369967" y="6049790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873342" y="3348182"/>
              <a:ext cx="169485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0.4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873342" y="2879928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0.8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873342" y="2414174"/>
              <a:ext cx="169485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1.2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873342" y="1943776"/>
              <a:ext cx="169485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1.6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805536" y="5865628"/>
              <a:ext cx="237291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0.25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805536" y="5469321"/>
              <a:ext cx="237291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0.50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805536" y="5072717"/>
              <a:ext cx="237291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0.75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805536" y="4676112"/>
              <a:ext cx="237291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1.00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805536" y="4279389"/>
              <a:ext cx="237291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1.25</a:t>
              </a:r>
            </a:p>
          </p:txBody>
        </p:sp>
        <p:sp>
          <p:nvSpPr>
            <p:cNvPr id="137" name="tx137"/>
            <p:cNvSpPr/>
            <p:nvPr/>
          </p:nvSpPr>
          <p:spPr>
            <a:xfrm rot="-5400000">
              <a:off x="-356594" y="3902954"/>
              <a:ext cx="2036861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Each person's own OLS slope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1111152" y="1402443"/>
              <a:ext cx="4780635" cy="164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Each person's own slopes (grey), mean and 95% CI (experience)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11091672" cy="3657600"/>
            <a:chOff x="548640" y="1371600"/>
            <a:chExt cx="11091672" cy="365760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11091672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548640" y="1371600"/>
              <a:ext cx="11091672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79061" y="4108120"/>
              <a:ext cx="3094954" cy="0"/>
            </a:xfrm>
            <a:custGeom>
              <a:avLst/>
              <a:pathLst>
                <a:path w="3094954" h="0">
                  <a:moveTo>
                    <a:pt x="0" y="0"/>
                  </a:moveTo>
                  <a:lnTo>
                    <a:pt x="3094954" y="0"/>
                  </a:lnTo>
                  <a:lnTo>
                    <a:pt x="309495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79061" y="3575869"/>
              <a:ext cx="3094954" cy="0"/>
            </a:xfrm>
            <a:custGeom>
              <a:avLst/>
              <a:pathLst>
                <a:path w="3094954" h="0">
                  <a:moveTo>
                    <a:pt x="0" y="0"/>
                  </a:moveTo>
                  <a:lnTo>
                    <a:pt x="3094954" y="0"/>
                  </a:lnTo>
                  <a:lnTo>
                    <a:pt x="309495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79061" y="3043618"/>
              <a:ext cx="3094954" cy="0"/>
            </a:xfrm>
            <a:custGeom>
              <a:avLst/>
              <a:pathLst>
                <a:path w="3094954" h="0">
                  <a:moveTo>
                    <a:pt x="0" y="0"/>
                  </a:moveTo>
                  <a:lnTo>
                    <a:pt x="3094954" y="0"/>
                  </a:lnTo>
                  <a:lnTo>
                    <a:pt x="309495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79061" y="2511367"/>
              <a:ext cx="3094954" cy="0"/>
            </a:xfrm>
            <a:custGeom>
              <a:avLst/>
              <a:pathLst>
                <a:path w="3094954" h="0">
                  <a:moveTo>
                    <a:pt x="0" y="0"/>
                  </a:moveTo>
                  <a:lnTo>
                    <a:pt x="3094954" y="0"/>
                  </a:lnTo>
                  <a:lnTo>
                    <a:pt x="309495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59365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26539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93712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79061" y="3043618"/>
              <a:ext cx="3094954" cy="0"/>
            </a:xfrm>
            <a:custGeom>
              <a:avLst/>
              <a:pathLst>
                <a:path w="3094954" h="0">
                  <a:moveTo>
                    <a:pt x="0" y="0"/>
                  </a:moveTo>
                  <a:lnTo>
                    <a:pt x="3094954" y="0"/>
                  </a:lnTo>
                  <a:lnTo>
                    <a:pt x="3094954" y="0"/>
                  </a:lnTo>
                </a:path>
              </a:pathLst>
            </a:custGeom>
            <a:ln w="13550" cap="flat">
              <a:solidFill>
                <a:srgbClr val="999999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611007" y="2132379"/>
              <a:ext cx="96717" cy="0"/>
            </a:xfrm>
            <a:custGeom>
              <a:avLst/>
              <a:pathLst>
                <a:path w="96717" h="0">
                  <a:moveTo>
                    <a:pt x="0" y="0"/>
                  </a:moveTo>
                  <a:lnTo>
                    <a:pt x="96717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659365" y="2132379"/>
              <a:ext cx="0" cy="142068"/>
            </a:xfrm>
            <a:custGeom>
              <a:avLst/>
              <a:pathLst>
                <a:path w="0" h="142068">
                  <a:moveTo>
                    <a:pt x="0" y="0"/>
                  </a:moveTo>
                  <a:lnTo>
                    <a:pt x="0" y="142068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611007" y="2274448"/>
              <a:ext cx="96717" cy="0"/>
            </a:xfrm>
            <a:custGeom>
              <a:avLst/>
              <a:pathLst>
                <a:path w="96717" h="0">
                  <a:moveTo>
                    <a:pt x="0" y="0"/>
                  </a:moveTo>
                  <a:lnTo>
                    <a:pt x="96717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578180" y="2163885"/>
              <a:ext cx="96717" cy="0"/>
            </a:xfrm>
            <a:custGeom>
              <a:avLst/>
              <a:pathLst>
                <a:path w="96717" h="0">
                  <a:moveTo>
                    <a:pt x="0" y="0"/>
                  </a:moveTo>
                  <a:lnTo>
                    <a:pt x="96717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626539" y="2163885"/>
              <a:ext cx="0" cy="106563"/>
            </a:xfrm>
            <a:custGeom>
              <a:avLst/>
              <a:pathLst>
                <a:path w="0" h="106563">
                  <a:moveTo>
                    <a:pt x="0" y="0"/>
                  </a:moveTo>
                  <a:lnTo>
                    <a:pt x="0" y="106563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78180" y="2270449"/>
              <a:ext cx="96717" cy="0"/>
            </a:xfrm>
            <a:custGeom>
              <a:avLst/>
              <a:pathLst>
                <a:path w="96717" h="0">
                  <a:moveTo>
                    <a:pt x="0" y="0"/>
                  </a:moveTo>
                  <a:lnTo>
                    <a:pt x="96717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545353" y="2311717"/>
              <a:ext cx="96717" cy="0"/>
            </a:xfrm>
            <a:custGeom>
              <a:avLst/>
              <a:pathLst>
                <a:path w="96717" h="0">
                  <a:moveTo>
                    <a:pt x="0" y="0"/>
                  </a:moveTo>
                  <a:lnTo>
                    <a:pt x="96717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593712" y="2311717"/>
              <a:ext cx="0" cy="108855"/>
            </a:xfrm>
            <a:custGeom>
              <a:avLst/>
              <a:pathLst>
                <a:path w="0" h="108855">
                  <a:moveTo>
                    <a:pt x="0" y="0"/>
                  </a:moveTo>
                  <a:lnTo>
                    <a:pt x="0" y="108855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545353" y="2420572"/>
              <a:ext cx="96717" cy="0"/>
            </a:xfrm>
            <a:custGeom>
              <a:avLst/>
              <a:pathLst>
                <a:path w="96717" h="0">
                  <a:moveTo>
                    <a:pt x="0" y="0"/>
                  </a:moveTo>
                  <a:lnTo>
                    <a:pt x="96717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1007" y="3693295"/>
              <a:ext cx="96717" cy="0"/>
            </a:xfrm>
            <a:custGeom>
              <a:avLst/>
              <a:pathLst>
                <a:path w="96717" h="0">
                  <a:moveTo>
                    <a:pt x="0" y="0"/>
                  </a:moveTo>
                  <a:lnTo>
                    <a:pt x="96717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659365" y="3693295"/>
              <a:ext cx="0" cy="72116"/>
            </a:xfrm>
            <a:custGeom>
              <a:avLst/>
              <a:pathLst>
                <a:path w="0" h="72116">
                  <a:moveTo>
                    <a:pt x="0" y="0"/>
                  </a:moveTo>
                  <a:lnTo>
                    <a:pt x="0" y="72116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611007" y="3765411"/>
              <a:ext cx="96717" cy="0"/>
            </a:xfrm>
            <a:custGeom>
              <a:avLst/>
              <a:pathLst>
                <a:path w="96717" h="0">
                  <a:moveTo>
                    <a:pt x="0" y="0"/>
                  </a:moveTo>
                  <a:lnTo>
                    <a:pt x="96717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78180" y="3807520"/>
              <a:ext cx="96717" cy="0"/>
            </a:xfrm>
            <a:custGeom>
              <a:avLst/>
              <a:pathLst>
                <a:path w="96717" h="0">
                  <a:moveTo>
                    <a:pt x="0" y="0"/>
                  </a:moveTo>
                  <a:lnTo>
                    <a:pt x="96717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26539" y="3807520"/>
              <a:ext cx="0" cy="95735"/>
            </a:xfrm>
            <a:custGeom>
              <a:avLst/>
              <a:pathLst>
                <a:path w="0" h="95735">
                  <a:moveTo>
                    <a:pt x="0" y="0"/>
                  </a:moveTo>
                  <a:lnTo>
                    <a:pt x="0" y="95735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78180" y="3903255"/>
              <a:ext cx="96717" cy="0"/>
            </a:xfrm>
            <a:custGeom>
              <a:avLst/>
              <a:pathLst>
                <a:path w="96717" h="0">
                  <a:moveTo>
                    <a:pt x="0" y="0"/>
                  </a:moveTo>
                  <a:lnTo>
                    <a:pt x="96717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545353" y="3989942"/>
              <a:ext cx="96717" cy="0"/>
            </a:xfrm>
            <a:custGeom>
              <a:avLst/>
              <a:pathLst>
                <a:path w="96717" h="0">
                  <a:moveTo>
                    <a:pt x="0" y="0"/>
                  </a:moveTo>
                  <a:lnTo>
                    <a:pt x="96717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593712" y="3989942"/>
              <a:ext cx="0" cy="89563"/>
            </a:xfrm>
            <a:custGeom>
              <a:avLst/>
              <a:pathLst>
                <a:path w="0" h="89563">
                  <a:moveTo>
                    <a:pt x="0" y="0"/>
                  </a:moveTo>
                  <a:lnTo>
                    <a:pt x="0" y="89563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545353" y="4079505"/>
              <a:ext cx="96717" cy="0"/>
            </a:xfrm>
            <a:custGeom>
              <a:avLst/>
              <a:pathLst>
                <a:path w="96717" h="0">
                  <a:moveTo>
                    <a:pt x="0" y="0"/>
                  </a:moveTo>
                  <a:lnTo>
                    <a:pt x="96717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659365" y="2203413"/>
              <a:ext cx="1934346" cy="162731"/>
            </a:xfrm>
            <a:custGeom>
              <a:avLst/>
              <a:pathLst>
                <a:path w="1934346" h="162731">
                  <a:moveTo>
                    <a:pt x="0" y="0"/>
                  </a:moveTo>
                  <a:lnTo>
                    <a:pt x="967173" y="13753"/>
                  </a:lnTo>
                  <a:lnTo>
                    <a:pt x="1934346" y="162731"/>
                  </a:lnTo>
                </a:path>
              </a:pathLst>
            </a:custGeom>
            <a:ln w="24391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659365" y="3729353"/>
              <a:ext cx="1934346" cy="305370"/>
            </a:xfrm>
            <a:custGeom>
              <a:avLst/>
              <a:pathLst>
                <a:path w="1934346" h="305370">
                  <a:moveTo>
                    <a:pt x="0" y="0"/>
                  </a:moveTo>
                  <a:lnTo>
                    <a:pt x="967173" y="126034"/>
                  </a:lnTo>
                  <a:lnTo>
                    <a:pt x="1934346" y="305370"/>
                  </a:lnTo>
                </a:path>
              </a:pathLst>
            </a:custGeom>
            <a:ln w="24391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1625054" y="2169102"/>
              <a:ext cx="68622" cy="68622"/>
            </a:xfrm>
            <a:prstGeom prst="ellipse">
              <a:avLst/>
            </a:prstGeom>
            <a:solidFill>
              <a:srgbClr val="D98477">
                <a:alpha val="100000"/>
              </a:srgbClr>
            </a:solidFill>
            <a:ln w="9000" cap="rnd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592227" y="2182856"/>
              <a:ext cx="68622" cy="68622"/>
            </a:xfrm>
            <a:prstGeom prst="ellipse">
              <a:avLst/>
            </a:prstGeom>
            <a:solidFill>
              <a:srgbClr val="D98477">
                <a:alpha val="100000"/>
              </a:srgbClr>
            </a:solidFill>
            <a:ln w="9000" cap="rnd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59401" y="2331833"/>
              <a:ext cx="68622" cy="68622"/>
            </a:xfrm>
            <a:prstGeom prst="ellipse">
              <a:avLst/>
            </a:prstGeom>
            <a:solidFill>
              <a:srgbClr val="D98477">
                <a:alpha val="100000"/>
              </a:srgbClr>
            </a:solidFill>
            <a:ln w="9000" cap="rnd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625054" y="3695042"/>
              <a:ext cx="68622" cy="68622"/>
            </a:xfrm>
            <a:prstGeom prst="ellipse">
              <a:avLst/>
            </a:prstGeom>
            <a:solidFill>
              <a:srgbClr val="6FA0C8">
                <a:alpha val="100000"/>
              </a:srgbClr>
            </a:solidFill>
            <a:ln w="9000" cap="rnd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2592227" y="3821076"/>
              <a:ext cx="68622" cy="68622"/>
            </a:xfrm>
            <a:prstGeom prst="ellipse">
              <a:avLst/>
            </a:prstGeom>
            <a:solidFill>
              <a:srgbClr val="6FA0C8">
                <a:alpha val="100000"/>
              </a:srgbClr>
            </a:solidFill>
            <a:ln w="9000" cap="rnd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559401" y="4000412"/>
              <a:ext cx="68622" cy="68622"/>
            </a:xfrm>
            <a:prstGeom prst="ellipse">
              <a:avLst/>
            </a:prstGeom>
            <a:solidFill>
              <a:srgbClr val="6FA0C8">
                <a:alpha val="100000"/>
              </a:srgbClr>
            </a:solidFill>
            <a:ln w="9000" cap="rnd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430048" y="4108120"/>
              <a:ext cx="3094954" cy="0"/>
            </a:xfrm>
            <a:custGeom>
              <a:avLst/>
              <a:pathLst>
                <a:path w="3094954" h="0">
                  <a:moveTo>
                    <a:pt x="0" y="0"/>
                  </a:moveTo>
                  <a:lnTo>
                    <a:pt x="3094954" y="0"/>
                  </a:lnTo>
                  <a:lnTo>
                    <a:pt x="309495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430048" y="3575869"/>
              <a:ext cx="3094954" cy="0"/>
            </a:xfrm>
            <a:custGeom>
              <a:avLst/>
              <a:pathLst>
                <a:path w="3094954" h="0">
                  <a:moveTo>
                    <a:pt x="0" y="0"/>
                  </a:moveTo>
                  <a:lnTo>
                    <a:pt x="3094954" y="0"/>
                  </a:lnTo>
                  <a:lnTo>
                    <a:pt x="309495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430048" y="3043618"/>
              <a:ext cx="3094954" cy="0"/>
            </a:xfrm>
            <a:custGeom>
              <a:avLst/>
              <a:pathLst>
                <a:path w="3094954" h="0">
                  <a:moveTo>
                    <a:pt x="0" y="0"/>
                  </a:moveTo>
                  <a:lnTo>
                    <a:pt x="3094954" y="0"/>
                  </a:lnTo>
                  <a:lnTo>
                    <a:pt x="309495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430048" y="2511367"/>
              <a:ext cx="3094954" cy="0"/>
            </a:xfrm>
            <a:custGeom>
              <a:avLst/>
              <a:pathLst>
                <a:path w="3094954" h="0">
                  <a:moveTo>
                    <a:pt x="0" y="0"/>
                  </a:moveTo>
                  <a:lnTo>
                    <a:pt x="3094954" y="0"/>
                  </a:lnTo>
                  <a:lnTo>
                    <a:pt x="309495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010352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977525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6944699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4430048" y="3043618"/>
              <a:ext cx="3094954" cy="0"/>
            </a:xfrm>
            <a:custGeom>
              <a:avLst/>
              <a:pathLst>
                <a:path w="3094954" h="0">
                  <a:moveTo>
                    <a:pt x="0" y="0"/>
                  </a:moveTo>
                  <a:lnTo>
                    <a:pt x="3094954" y="0"/>
                  </a:lnTo>
                  <a:lnTo>
                    <a:pt x="3094954" y="0"/>
                  </a:lnTo>
                </a:path>
              </a:pathLst>
            </a:custGeom>
            <a:ln w="13550" cap="flat">
              <a:solidFill>
                <a:srgbClr val="999999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4961993" y="3739264"/>
              <a:ext cx="96717" cy="0"/>
            </a:xfrm>
            <a:custGeom>
              <a:avLst/>
              <a:pathLst>
                <a:path w="96717" h="0">
                  <a:moveTo>
                    <a:pt x="0" y="0"/>
                  </a:moveTo>
                  <a:lnTo>
                    <a:pt x="96717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010352" y="3739264"/>
              <a:ext cx="0" cy="92256"/>
            </a:xfrm>
            <a:custGeom>
              <a:avLst/>
              <a:pathLst>
                <a:path w="0" h="92256">
                  <a:moveTo>
                    <a:pt x="0" y="0"/>
                  </a:moveTo>
                  <a:lnTo>
                    <a:pt x="0" y="92256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61993" y="3831521"/>
              <a:ext cx="96717" cy="0"/>
            </a:xfrm>
            <a:custGeom>
              <a:avLst/>
              <a:pathLst>
                <a:path w="96717" h="0">
                  <a:moveTo>
                    <a:pt x="0" y="0"/>
                  </a:moveTo>
                  <a:lnTo>
                    <a:pt x="96717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5929167" y="3823793"/>
              <a:ext cx="96717" cy="0"/>
            </a:xfrm>
            <a:custGeom>
              <a:avLst/>
              <a:pathLst>
                <a:path w="96717" h="0">
                  <a:moveTo>
                    <a:pt x="0" y="0"/>
                  </a:moveTo>
                  <a:lnTo>
                    <a:pt x="96717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5977525" y="3823793"/>
              <a:ext cx="0" cy="120476"/>
            </a:xfrm>
            <a:custGeom>
              <a:avLst/>
              <a:pathLst>
                <a:path w="0" h="120476">
                  <a:moveTo>
                    <a:pt x="0" y="0"/>
                  </a:moveTo>
                  <a:lnTo>
                    <a:pt x="0" y="120476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929167" y="3944269"/>
              <a:ext cx="96717" cy="0"/>
            </a:xfrm>
            <a:custGeom>
              <a:avLst/>
              <a:pathLst>
                <a:path w="96717" h="0">
                  <a:moveTo>
                    <a:pt x="0" y="0"/>
                  </a:moveTo>
                  <a:lnTo>
                    <a:pt x="96717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6896340" y="3958100"/>
              <a:ext cx="96717" cy="0"/>
            </a:xfrm>
            <a:custGeom>
              <a:avLst/>
              <a:pathLst>
                <a:path w="96717" h="0">
                  <a:moveTo>
                    <a:pt x="0" y="0"/>
                  </a:moveTo>
                  <a:lnTo>
                    <a:pt x="96717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6944699" y="3958100"/>
              <a:ext cx="0" cy="113642"/>
            </a:xfrm>
            <a:custGeom>
              <a:avLst/>
              <a:pathLst>
                <a:path w="0" h="113642">
                  <a:moveTo>
                    <a:pt x="0" y="0"/>
                  </a:moveTo>
                  <a:lnTo>
                    <a:pt x="0" y="113642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6896340" y="4071743"/>
              <a:ext cx="96717" cy="0"/>
            </a:xfrm>
            <a:custGeom>
              <a:avLst/>
              <a:pathLst>
                <a:path w="96717" h="0">
                  <a:moveTo>
                    <a:pt x="0" y="0"/>
                  </a:moveTo>
                  <a:lnTo>
                    <a:pt x="96717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4961993" y="2112912"/>
              <a:ext cx="96717" cy="0"/>
            </a:xfrm>
            <a:custGeom>
              <a:avLst/>
              <a:pathLst>
                <a:path w="96717" h="0">
                  <a:moveTo>
                    <a:pt x="0" y="0"/>
                  </a:moveTo>
                  <a:lnTo>
                    <a:pt x="96717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010352" y="2112912"/>
              <a:ext cx="0" cy="177504"/>
            </a:xfrm>
            <a:custGeom>
              <a:avLst/>
              <a:pathLst>
                <a:path w="0" h="177504">
                  <a:moveTo>
                    <a:pt x="0" y="0"/>
                  </a:moveTo>
                  <a:lnTo>
                    <a:pt x="0" y="177504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4961993" y="2290416"/>
              <a:ext cx="96717" cy="0"/>
            </a:xfrm>
            <a:custGeom>
              <a:avLst/>
              <a:pathLst>
                <a:path w="96717" h="0">
                  <a:moveTo>
                    <a:pt x="0" y="0"/>
                  </a:moveTo>
                  <a:lnTo>
                    <a:pt x="96717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929167" y="2164368"/>
              <a:ext cx="96717" cy="0"/>
            </a:xfrm>
            <a:custGeom>
              <a:avLst/>
              <a:pathLst>
                <a:path w="96717" h="0">
                  <a:moveTo>
                    <a:pt x="0" y="0"/>
                  </a:moveTo>
                  <a:lnTo>
                    <a:pt x="96717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977525" y="2164368"/>
              <a:ext cx="0" cy="132881"/>
            </a:xfrm>
            <a:custGeom>
              <a:avLst/>
              <a:pathLst>
                <a:path w="0" h="132881">
                  <a:moveTo>
                    <a:pt x="0" y="0"/>
                  </a:moveTo>
                  <a:lnTo>
                    <a:pt x="0" y="132881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929167" y="2297250"/>
              <a:ext cx="96717" cy="0"/>
            </a:xfrm>
            <a:custGeom>
              <a:avLst/>
              <a:pathLst>
                <a:path w="96717" h="0">
                  <a:moveTo>
                    <a:pt x="0" y="0"/>
                  </a:moveTo>
                  <a:lnTo>
                    <a:pt x="96717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6896340" y="2323206"/>
              <a:ext cx="96717" cy="0"/>
            </a:xfrm>
            <a:custGeom>
              <a:avLst/>
              <a:pathLst>
                <a:path w="96717" h="0">
                  <a:moveTo>
                    <a:pt x="0" y="0"/>
                  </a:moveTo>
                  <a:lnTo>
                    <a:pt x="96717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6944699" y="2323206"/>
              <a:ext cx="0" cy="137778"/>
            </a:xfrm>
            <a:custGeom>
              <a:avLst/>
              <a:pathLst>
                <a:path w="0" h="137778">
                  <a:moveTo>
                    <a:pt x="0" y="0"/>
                  </a:moveTo>
                  <a:lnTo>
                    <a:pt x="0" y="137778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6896340" y="2460984"/>
              <a:ext cx="96717" cy="0"/>
            </a:xfrm>
            <a:custGeom>
              <a:avLst/>
              <a:pathLst>
                <a:path w="96717" h="0">
                  <a:moveTo>
                    <a:pt x="0" y="0"/>
                  </a:moveTo>
                  <a:lnTo>
                    <a:pt x="96717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010352" y="3785392"/>
              <a:ext cx="1934346" cy="229529"/>
            </a:xfrm>
            <a:custGeom>
              <a:avLst/>
              <a:pathLst>
                <a:path w="1934346" h="229529">
                  <a:moveTo>
                    <a:pt x="0" y="0"/>
                  </a:moveTo>
                  <a:lnTo>
                    <a:pt x="967173" y="98638"/>
                  </a:lnTo>
                  <a:lnTo>
                    <a:pt x="1934346" y="229529"/>
                  </a:lnTo>
                </a:path>
              </a:pathLst>
            </a:custGeom>
            <a:ln w="24391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010352" y="2201664"/>
              <a:ext cx="1934346" cy="190430"/>
            </a:xfrm>
            <a:custGeom>
              <a:avLst/>
              <a:pathLst>
                <a:path w="1934346" h="190430">
                  <a:moveTo>
                    <a:pt x="0" y="0"/>
                  </a:moveTo>
                  <a:lnTo>
                    <a:pt x="967173" y="29145"/>
                  </a:lnTo>
                  <a:lnTo>
                    <a:pt x="1934346" y="19043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976041" y="3751081"/>
              <a:ext cx="68622" cy="68622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943214" y="3849720"/>
              <a:ext cx="68622" cy="68622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6910387" y="3980610"/>
              <a:ext cx="68622" cy="68622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976041" y="2167353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5943214" y="2196498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6910387" y="2357784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tx73"/>
            <p:cNvSpPr/>
            <p:nvPr/>
          </p:nvSpPr>
          <p:spPr>
            <a:xfrm>
              <a:off x="2166748" y="1817513"/>
              <a:ext cx="919581" cy="119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Fixed cutoffs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5177959" y="1787033"/>
              <a:ext cx="1599133" cy="1499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Report windows (+/- 2)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1527206" y="4222644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460476" y="4222942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427650" y="4222644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878193" y="4222644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811463" y="4222942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778636" y="4222644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875125" y="4064811"/>
              <a:ext cx="135612" cy="870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15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875125" y="3531727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875125" y="2999654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25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875125" y="2467403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85" name="tx85"/>
            <p:cNvSpPr/>
            <p:nvPr/>
          </p:nvSpPr>
          <p:spPr>
            <a:xfrm rot="-5400000">
              <a:off x="-575173" y="3024176"/>
              <a:ext cx="2613198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True colour behind the reports (+/- SE)</a:t>
              </a:r>
            </a:p>
          </p:txBody>
        </p:sp>
        <p:sp>
          <p:nvSpPr>
            <p:cNvPr id="86" name="pl86"/>
            <p:cNvSpPr/>
            <p:nvPr/>
          </p:nvSpPr>
          <p:spPr>
            <a:xfrm>
              <a:off x="1789461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1789461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1842932" y="4663740"/>
              <a:ext cx="68622" cy="68622"/>
            </a:xfrm>
            <a:prstGeom prst="ellipse">
              <a:avLst/>
            </a:prstGeom>
            <a:solidFill>
              <a:srgbClr val="D98477">
                <a:alpha val="100000"/>
              </a:srgbClr>
            </a:solidFill>
            <a:ln w="9000" cap="rnd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123189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123189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176660" y="4663740"/>
              <a:ext cx="68622" cy="68622"/>
            </a:xfrm>
            <a:prstGeom prst="ellipse">
              <a:avLst/>
            </a:prstGeom>
            <a:solidFill>
              <a:srgbClr val="6FA0C8">
                <a:alpha val="100000"/>
              </a:srgbClr>
            </a:solidFill>
            <a:ln w="9000" cap="rnd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4443285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4443285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4496756" y="4663740"/>
              <a:ext cx="68622" cy="68622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5688847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5688847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5742318" y="4663740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tx98"/>
            <p:cNvSpPr/>
            <p:nvPr/>
          </p:nvSpPr>
          <p:spPr>
            <a:xfrm>
              <a:off x="2062886" y="4628609"/>
              <a:ext cx="962441" cy="1131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Reports above 36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3396615" y="4628609"/>
              <a:ext cx="948809" cy="1131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Reports below 14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4716710" y="4628906"/>
              <a:ext cx="874275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Reports near 10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5962273" y="4628906"/>
              <a:ext cx="874275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Reports near 40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1079061" y="1472362"/>
              <a:ext cx="3477666" cy="1642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What lay behind extreme reports (experience)</a:t>
              </a:r>
            </a:p>
          </p:txBody>
        </p:sp>
        <p:sp>
          <p:nvSpPr>
            <p:cNvPr id="103" name="pl103"/>
            <p:cNvSpPr/>
            <p:nvPr/>
          </p:nvSpPr>
          <p:spPr>
            <a:xfrm>
              <a:off x="8271836" y="3826966"/>
              <a:ext cx="3222970" cy="0"/>
            </a:xfrm>
            <a:custGeom>
              <a:avLst/>
              <a:pathLst>
                <a:path w="3222970" h="0">
                  <a:moveTo>
                    <a:pt x="0" y="0"/>
                  </a:moveTo>
                  <a:lnTo>
                    <a:pt x="3222970" y="0"/>
                  </a:lnTo>
                  <a:lnTo>
                    <a:pt x="322297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8271836" y="3355246"/>
              <a:ext cx="3222970" cy="0"/>
            </a:xfrm>
            <a:custGeom>
              <a:avLst/>
              <a:pathLst>
                <a:path w="3222970" h="0">
                  <a:moveTo>
                    <a:pt x="0" y="0"/>
                  </a:moveTo>
                  <a:lnTo>
                    <a:pt x="3222970" y="0"/>
                  </a:lnTo>
                  <a:lnTo>
                    <a:pt x="322297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8271836" y="2883527"/>
              <a:ext cx="3222970" cy="0"/>
            </a:xfrm>
            <a:custGeom>
              <a:avLst/>
              <a:pathLst>
                <a:path w="3222970" h="0">
                  <a:moveTo>
                    <a:pt x="0" y="0"/>
                  </a:moveTo>
                  <a:lnTo>
                    <a:pt x="3222970" y="0"/>
                  </a:lnTo>
                  <a:lnTo>
                    <a:pt x="322297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8271836" y="2411808"/>
              <a:ext cx="3222970" cy="0"/>
            </a:xfrm>
            <a:custGeom>
              <a:avLst/>
              <a:pathLst>
                <a:path w="3222970" h="0">
                  <a:moveTo>
                    <a:pt x="0" y="0"/>
                  </a:moveTo>
                  <a:lnTo>
                    <a:pt x="3222970" y="0"/>
                  </a:lnTo>
                  <a:lnTo>
                    <a:pt x="322297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8876143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9883322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10890500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8825785" y="2112912"/>
              <a:ext cx="100717" cy="0"/>
            </a:xfrm>
            <a:custGeom>
              <a:avLst/>
              <a:pathLst>
                <a:path w="100717" h="0">
                  <a:moveTo>
                    <a:pt x="0" y="0"/>
                  </a:moveTo>
                  <a:lnTo>
                    <a:pt x="100717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8876143" y="2112912"/>
              <a:ext cx="0" cy="1406054"/>
            </a:xfrm>
            <a:custGeom>
              <a:avLst/>
              <a:pathLst>
                <a:path w="0" h="1406054">
                  <a:moveTo>
                    <a:pt x="0" y="0"/>
                  </a:moveTo>
                  <a:lnTo>
                    <a:pt x="0" y="1406054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8825785" y="3518966"/>
              <a:ext cx="100717" cy="0"/>
            </a:xfrm>
            <a:custGeom>
              <a:avLst/>
              <a:pathLst>
                <a:path w="100717" h="0">
                  <a:moveTo>
                    <a:pt x="0" y="0"/>
                  </a:moveTo>
                  <a:lnTo>
                    <a:pt x="100717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9832963" y="2747169"/>
              <a:ext cx="100717" cy="0"/>
            </a:xfrm>
            <a:custGeom>
              <a:avLst/>
              <a:pathLst>
                <a:path w="100717" h="0">
                  <a:moveTo>
                    <a:pt x="0" y="0"/>
                  </a:moveTo>
                  <a:lnTo>
                    <a:pt x="100717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9883322" y="2747169"/>
              <a:ext cx="0" cy="1332336"/>
            </a:xfrm>
            <a:custGeom>
              <a:avLst/>
              <a:pathLst>
                <a:path w="0" h="1332336">
                  <a:moveTo>
                    <a:pt x="0" y="0"/>
                  </a:moveTo>
                  <a:lnTo>
                    <a:pt x="0" y="1332336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9832963" y="4079505"/>
              <a:ext cx="100717" cy="0"/>
            </a:xfrm>
            <a:custGeom>
              <a:avLst/>
              <a:pathLst>
                <a:path w="100717" h="0">
                  <a:moveTo>
                    <a:pt x="0" y="0"/>
                  </a:moveTo>
                  <a:lnTo>
                    <a:pt x="100717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10840141" y="2195717"/>
              <a:ext cx="100717" cy="0"/>
            </a:xfrm>
            <a:custGeom>
              <a:avLst/>
              <a:pathLst>
                <a:path w="100717" h="0">
                  <a:moveTo>
                    <a:pt x="0" y="0"/>
                  </a:moveTo>
                  <a:lnTo>
                    <a:pt x="100717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10890500" y="2195717"/>
              <a:ext cx="0" cy="1512451"/>
            </a:xfrm>
            <a:custGeom>
              <a:avLst/>
              <a:pathLst>
                <a:path w="0" h="1512451">
                  <a:moveTo>
                    <a:pt x="0" y="0"/>
                  </a:moveTo>
                  <a:lnTo>
                    <a:pt x="0" y="1512451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10840141" y="3708168"/>
              <a:ext cx="100717" cy="0"/>
            </a:xfrm>
            <a:custGeom>
              <a:avLst/>
              <a:pathLst>
                <a:path w="100717" h="0">
                  <a:moveTo>
                    <a:pt x="0" y="0"/>
                  </a:moveTo>
                  <a:lnTo>
                    <a:pt x="100717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8876143" y="2815939"/>
              <a:ext cx="2014356" cy="597398"/>
            </a:xfrm>
            <a:custGeom>
              <a:avLst/>
              <a:pathLst>
                <a:path w="2014356" h="597398">
                  <a:moveTo>
                    <a:pt x="0" y="0"/>
                  </a:moveTo>
                  <a:lnTo>
                    <a:pt x="1007178" y="597398"/>
                  </a:lnTo>
                  <a:lnTo>
                    <a:pt x="2014356" y="136003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8841832" y="2781628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9849010" y="3379026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10856189" y="2917631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tx123"/>
            <p:cNvSpPr/>
            <p:nvPr/>
          </p:nvSpPr>
          <p:spPr>
            <a:xfrm>
              <a:off x="7857815" y="3783121"/>
              <a:ext cx="345697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11.0%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7857815" y="3311104"/>
              <a:ext cx="345697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12.0%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7857815" y="2839563"/>
              <a:ext cx="345697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13.0%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7857815" y="2367725"/>
              <a:ext cx="345697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14.0%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8743984" y="4222644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9717259" y="4222942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10724438" y="4222644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130" name="tx130"/>
            <p:cNvSpPr/>
            <p:nvPr/>
          </p:nvSpPr>
          <p:spPr>
            <a:xfrm rot="-5400000">
              <a:off x="6585514" y="3024176"/>
              <a:ext cx="2257201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Share of extreme reports (+/- SE)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8271836" y="1475168"/>
              <a:ext cx="2467254" cy="1614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How often reports were extreme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6949440" cy="4297680"/>
            <a:chOff x="548640" y="1371600"/>
            <a:chExt cx="6949440" cy="429768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6949439" cy="42976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82266" y="4750154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82266" y="3998922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82266" y="3247690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82266" y="2496459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22809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25521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28233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230945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933657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82266" y="3247690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982266" y="3835122"/>
              <a:ext cx="3091932" cy="745050"/>
            </a:xfrm>
            <a:prstGeom prst="rect">
              <a:avLst/>
            </a:prstGeom>
            <a:solidFill>
              <a:srgbClr val="B03A2E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82266" y="4171320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1083077" y="4054585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1434433" y="3955776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1785789" y="4537061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2137145" y="4010411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2488501" y="4017834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839857" y="3908214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191213" y="3781816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542569" y="5040606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893925" y="3877991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30231" y="4750154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30231" y="3998922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330231" y="3247690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330231" y="2496459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470774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173486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876198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578910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7281622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330231" y="3247690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4330231" y="2094295"/>
              <a:ext cx="3091932" cy="1490270"/>
            </a:xfrm>
            <a:prstGeom prst="rect">
              <a:avLst/>
            </a:prstGeom>
            <a:solidFill>
              <a:srgbClr val="B03A2E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330231" y="2978459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431042" y="2919986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5133754" y="2638114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5836466" y="2738439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7241890" y="3458369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1612004" y="1720035"/>
              <a:ext cx="1832457" cy="1473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Pale end (reports up to 14)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871729" y="1717444"/>
              <a:ext cx="2008936" cy="1499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Vivid end (reports 36 and up)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088906" y="5297606"/>
              <a:ext cx="67806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6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91618" y="5297487"/>
              <a:ext cx="67806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8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460427" y="5297845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163139" y="5299869"/>
              <a:ext cx="135612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12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865851" y="5299928"/>
              <a:ext cx="135612" cy="854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14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402968" y="5297487"/>
              <a:ext cx="135612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36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105680" y="5297726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37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5808392" y="5297487"/>
              <a:ext cx="135612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38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6511104" y="5297666"/>
              <a:ext cx="135612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39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7213816" y="5297606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05536" y="4708392"/>
              <a:ext cx="108406" cy="854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-4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05536" y="3957101"/>
              <a:ext cx="1084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-2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46137" y="3203845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46137" y="2454638"/>
              <a:ext cx="678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770167" y="5418566"/>
              <a:ext cx="864096" cy="141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 value</a:t>
              </a:r>
            </a:p>
          </p:txBody>
        </p:sp>
        <p:sp>
          <p:nvSpPr>
            <p:cNvPr id="58" name="tx58"/>
            <p:cNvSpPr/>
            <p:nvPr/>
          </p:nvSpPr>
          <p:spPr>
            <a:xfrm rot="-5400000">
              <a:off x="-628912" y="3516139"/>
              <a:ext cx="2583209" cy="1423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How much less extreme the array was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982266" y="1404589"/>
              <a:ext cx="5613730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Same report, 20 vs 2 squares, experience (each report value counted once)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11091672" cy="3749040"/>
            <a:chOff x="548640" y="1371600"/>
            <a:chExt cx="11091672" cy="374904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11091672" cy="37490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548640" y="1371600"/>
              <a:ext cx="11091672" cy="37490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153535" y="3976710"/>
              <a:ext cx="4902262" cy="0"/>
            </a:xfrm>
            <a:custGeom>
              <a:avLst/>
              <a:pathLst>
                <a:path w="4902262" h="0">
                  <a:moveTo>
                    <a:pt x="0" y="0"/>
                  </a:moveTo>
                  <a:lnTo>
                    <a:pt x="4902262" y="0"/>
                  </a:lnTo>
                  <a:lnTo>
                    <a:pt x="490226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153535" y="3372404"/>
              <a:ext cx="4902262" cy="0"/>
            </a:xfrm>
            <a:custGeom>
              <a:avLst/>
              <a:pathLst>
                <a:path w="4902262" h="0">
                  <a:moveTo>
                    <a:pt x="0" y="0"/>
                  </a:moveTo>
                  <a:lnTo>
                    <a:pt x="4902262" y="0"/>
                  </a:lnTo>
                  <a:lnTo>
                    <a:pt x="490226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153535" y="2768097"/>
              <a:ext cx="4902262" cy="0"/>
            </a:xfrm>
            <a:custGeom>
              <a:avLst/>
              <a:pathLst>
                <a:path w="4902262" h="0">
                  <a:moveTo>
                    <a:pt x="0" y="0"/>
                  </a:moveTo>
                  <a:lnTo>
                    <a:pt x="4902262" y="0"/>
                  </a:lnTo>
                  <a:lnTo>
                    <a:pt x="490226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53535" y="2163790"/>
              <a:ext cx="4902262" cy="0"/>
            </a:xfrm>
            <a:custGeom>
              <a:avLst/>
              <a:pathLst>
                <a:path w="4902262" h="0">
                  <a:moveTo>
                    <a:pt x="0" y="0"/>
                  </a:moveTo>
                  <a:lnTo>
                    <a:pt x="4902262" y="0"/>
                  </a:lnTo>
                  <a:lnTo>
                    <a:pt x="490226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61899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8816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153535" y="2768097"/>
              <a:ext cx="4902262" cy="0"/>
            </a:xfrm>
            <a:custGeom>
              <a:avLst/>
              <a:pathLst>
                <a:path w="4902262" h="0">
                  <a:moveTo>
                    <a:pt x="0" y="0"/>
                  </a:moveTo>
                  <a:lnTo>
                    <a:pt x="4902262" y="0"/>
                  </a:lnTo>
                  <a:lnTo>
                    <a:pt x="4902262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790358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999999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747748" y="1855399"/>
              <a:ext cx="4085218" cy="2126566"/>
            </a:xfrm>
            <a:custGeom>
              <a:avLst/>
              <a:pathLst>
                <a:path w="4085218" h="2126566">
                  <a:moveTo>
                    <a:pt x="0" y="588962"/>
                  </a:moveTo>
                  <a:lnTo>
                    <a:pt x="185691" y="443198"/>
                  </a:lnTo>
                  <a:lnTo>
                    <a:pt x="371383" y="706614"/>
                  </a:lnTo>
                  <a:lnTo>
                    <a:pt x="557075" y="435008"/>
                  </a:lnTo>
                  <a:lnTo>
                    <a:pt x="742766" y="136129"/>
                  </a:lnTo>
                  <a:lnTo>
                    <a:pt x="928458" y="514862"/>
                  </a:lnTo>
                  <a:lnTo>
                    <a:pt x="1114150" y="13006"/>
                  </a:lnTo>
                  <a:lnTo>
                    <a:pt x="1299842" y="256593"/>
                  </a:lnTo>
                  <a:lnTo>
                    <a:pt x="1485533" y="507294"/>
                  </a:lnTo>
                  <a:lnTo>
                    <a:pt x="1671225" y="0"/>
                  </a:lnTo>
                  <a:lnTo>
                    <a:pt x="1856917" y="147242"/>
                  </a:lnTo>
                  <a:lnTo>
                    <a:pt x="2228300" y="1611008"/>
                  </a:lnTo>
                  <a:lnTo>
                    <a:pt x="2413992" y="1971150"/>
                  </a:lnTo>
                  <a:lnTo>
                    <a:pt x="2599684" y="1355856"/>
                  </a:lnTo>
                  <a:lnTo>
                    <a:pt x="2785376" y="1876903"/>
                  </a:lnTo>
                  <a:lnTo>
                    <a:pt x="2971067" y="1864481"/>
                  </a:lnTo>
                  <a:lnTo>
                    <a:pt x="3156759" y="1872128"/>
                  </a:lnTo>
                  <a:lnTo>
                    <a:pt x="3342451" y="1421658"/>
                  </a:lnTo>
                  <a:lnTo>
                    <a:pt x="3528143" y="1915250"/>
                  </a:lnTo>
                  <a:lnTo>
                    <a:pt x="3713834" y="1907286"/>
                  </a:lnTo>
                  <a:lnTo>
                    <a:pt x="3899526" y="1861963"/>
                  </a:lnTo>
                  <a:lnTo>
                    <a:pt x="4085218" y="2126566"/>
                  </a:lnTo>
                </a:path>
              </a:pathLst>
            </a:custGeom>
            <a:ln w="2439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747748" y="2582373"/>
              <a:ext cx="4085218" cy="1000329"/>
            </a:xfrm>
            <a:custGeom>
              <a:avLst/>
              <a:pathLst>
                <a:path w="4085218" h="1000329">
                  <a:moveTo>
                    <a:pt x="0" y="501574"/>
                  </a:moveTo>
                  <a:lnTo>
                    <a:pt x="185691" y="344320"/>
                  </a:lnTo>
                  <a:lnTo>
                    <a:pt x="371383" y="422440"/>
                  </a:lnTo>
                  <a:lnTo>
                    <a:pt x="557075" y="818806"/>
                  </a:lnTo>
                  <a:lnTo>
                    <a:pt x="742766" y="1000329"/>
                  </a:lnTo>
                  <a:lnTo>
                    <a:pt x="928458" y="0"/>
                  </a:lnTo>
                  <a:lnTo>
                    <a:pt x="1114150" y="199198"/>
                  </a:lnTo>
                  <a:lnTo>
                    <a:pt x="1299842" y="256002"/>
                  </a:lnTo>
                  <a:lnTo>
                    <a:pt x="1485533" y="135940"/>
                  </a:lnTo>
                  <a:lnTo>
                    <a:pt x="1671225" y="330085"/>
                  </a:lnTo>
                  <a:lnTo>
                    <a:pt x="1856917" y="168080"/>
                  </a:lnTo>
                  <a:lnTo>
                    <a:pt x="2228300" y="184014"/>
                  </a:lnTo>
                  <a:lnTo>
                    <a:pt x="2413992" y="455647"/>
                  </a:lnTo>
                  <a:lnTo>
                    <a:pt x="2599684" y="267847"/>
                  </a:lnTo>
                  <a:lnTo>
                    <a:pt x="2785376" y="404952"/>
                  </a:lnTo>
                  <a:lnTo>
                    <a:pt x="2971067" y="375073"/>
                  </a:lnTo>
                  <a:lnTo>
                    <a:pt x="3156759" y="919365"/>
                  </a:lnTo>
                  <a:lnTo>
                    <a:pt x="3342451" y="396092"/>
                  </a:lnTo>
                  <a:lnTo>
                    <a:pt x="3528143" y="272863"/>
                  </a:lnTo>
                  <a:lnTo>
                    <a:pt x="3713834" y="801445"/>
                  </a:lnTo>
                  <a:lnTo>
                    <a:pt x="3899526" y="759750"/>
                  </a:lnTo>
                  <a:lnTo>
                    <a:pt x="4085218" y="996471"/>
                  </a:lnTo>
                </a:path>
              </a:pathLst>
            </a:custGeom>
            <a:ln w="2439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376365" y="2575372"/>
              <a:ext cx="4085218" cy="750953"/>
            </a:xfrm>
            <a:custGeom>
              <a:avLst/>
              <a:pathLst>
                <a:path w="4085218" h="750953">
                  <a:moveTo>
                    <a:pt x="0" y="750953"/>
                  </a:moveTo>
                  <a:lnTo>
                    <a:pt x="371383" y="587974"/>
                  </a:lnTo>
                  <a:lnTo>
                    <a:pt x="742766" y="533423"/>
                  </a:lnTo>
                  <a:lnTo>
                    <a:pt x="1114150" y="357310"/>
                  </a:lnTo>
                  <a:lnTo>
                    <a:pt x="1485533" y="466789"/>
                  </a:lnTo>
                  <a:lnTo>
                    <a:pt x="1856917" y="200189"/>
                  </a:lnTo>
                  <a:lnTo>
                    <a:pt x="2228300" y="289062"/>
                  </a:lnTo>
                  <a:lnTo>
                    <a:pt x="2599684" y="459739"/>
                  </a:lnTo>
                  <a:lnTo>
                    <a:pt x="2971067" y="180965"/>
                  </a:lnTo>
                  <a:lnTo>
                    <a:pt x="3342451" y="0"/>
                  </a:lnTo>
                  <a:lnTo>
                    <a:pt x="3713834" y="206998"/>
                  </a:lnTo>
                  <a:lnTo>
                    <a:pt x="4085218" y="270468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1724278" y="2420890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1909969" y="2275126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2095661" y="2538542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2281353" y="2266936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2467045" y="1968057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652736" y="234679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838428" y="184493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024120" y="208852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209812" y="2339222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395503" y="1831928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581195" y="197917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952579" y="3442936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138270" y="3803078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323962" y="318778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509654" y="370883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695346" y="3696409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881037" y="3704056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066729" y="3253587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252421" y="3747178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5438113" y="373921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5623804" y="369389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5809496" y="395849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724278" y="3060477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909969" y="2903223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2095661" y="2981343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2281353" y="3377709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2467045" y="3559231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2652736" y="2558902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2838428" y="2758101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024120" y="2814905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209812" y="2694843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395503" y="2888988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581195" y="2726983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952579" y="2742917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138270" y="301455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323962" y="282675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509654" y="2963855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695346" y="2933975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881037" y="3478268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5066729" y="2954995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5252421" y="2831765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5438113" y="3360347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5623804" y="3318652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5809496" y="3555374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1352894" y="3302854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1724278" y="3139875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2095661" y="3085324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2467045" y="2909212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838428" y="3018690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209812" y="275209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581195" y="2840963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952579" y="301164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323962" y="2732866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695346" y="255190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066729" y="2758899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5438113" y="2822369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875125" y="3932866"/>
              <a:ext cx="2100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-5.0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875125" y="3328440"/>
              <a:ext cx="210085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-2.5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915726" y="2724252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915726" y="2119826"/>
              <a:ext cx="169485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2.5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794093" y="4156201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651010" y="4156379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219276" y="4306092"/>
              <a:ext cx="770780" cy="1122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True colour</a:t>
              </a:r>
            </a:p>
          </p:txBody>
        </p:sp>
        <p:sp>
          <p:nvSpPr>
            <p:cNvPr id="79" name="tx79"/>
            <p:cNvSpPr/>
            <p:nvPr/>
          </p:nvSpPr>
          <p:spPr>
            <a:xfrm rot="-5400000">
              <a:off x="-122996" y="2847951"/>
              <a:ext cx="1711449" cy="1414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&lt; 0 = pulled to the middle</a:t>
              </a:r>
            </a:p>
          </p:txBody>
        </p:sp>
        <p:sp>
          <p:nvSpPr>
            <p:cNvPr id="80" name="pl80"/>
            <p:cNvSpPr/>
            <p:nvPr/>
          </p:nvSpPr>
          <p:spPr>
            <a:xfrm>
              <a:off x="2643355" y="47894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707667" y="476602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278960" y="47894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343272" y="4766021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982372" y="47894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046683" y="476602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2916781" y="4722251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552386" y="4722549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255798" y="4722251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1153535" y="1474178"/>
              <a:ext cx="3562362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Forward: (report - true) x side of the true colour</a:t>
              </a:r>
            </a:p>
          </p:txBody>
        </p:sp>
        <p:sp>
          <p:nvSpPr>
            <p:cNvPr id="90" name="pl90"/>
            <p:cNvSpPr/>
            <p:nvPr/>
          </p:nvSpPr>
          <p:spPr>
            <a:xfrm>
              <a:off x="6592545" y="3653629"/>
              <a:ext cx="4902262" cy="0"/>
            </a:xfrm>
            <a:custGeom>
              <a:avLst/>
              <a:pathLst>
                <a:path w="4902262" h="0">
                  <a:moveTo>
                    <a:pt x="0" y="0"/>
                  </a:moveTo>
                  <a:lnTo>
                    <a:pt x="4902262" y="0"/>
                  </a:lnTo>
                  <a:lnTo>
                    <a:pt x="490226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6592545" y="3060398"/>
              <a:ext cx="4902262" cy="0"/>
            </a:xfrm>
            <a:custGeom>
              <a:avLst/>
              <a:pathLst>
                <a:path w="4902262" h="0">
                  <a:moveTo>
                    <a:pt x="0" y="0"/>
                  </a:moveTo>
                  <a:lnTo>
                    <a:pt x="4902262" y="0"/>
                  </a:lnTo>
                  <a:lnTo>
                    <a:pt x="490226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6592545" y="2467168"/>
              <a:ext cx="4902262" cy="0"/>
            </a:xfrm>
            <a:custGeom>
              <a:avLst/>
              <a:pathLst>
                <a:path w="4902262" h="0">
                  <a:moveTo>
                    <a:pt x="0" y="0"/>
                  </a:moveTo>
                  <a:lnTo>
                    <a:pt x="4902262" y="0"/>
                  </a:lnTo>
                  <a:lnTo>
                    <a:pt x="490226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6592545" y="1873937"/>
              <a:ext cx="4902262" cy="0"/>
            </a:xfrm>
            <a:custGeom>
              <a:avLst/>
              <a:pathLst>
                <a:path w="4902262" h="0">
                  <a:moveTo>
                    <a:pt x="0" y="0"/>
                  </a:moveTo>
                  <a:lnTo>
                    <a:pt x="4902262" y="0"/>
                  </a:lnTo>
                  <a:lnTo>
                    <a:pt x="490226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7355569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8706055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10056540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11407026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6592545" y="3653629"/>
              <a:ext cx="4902262" cy="0"/>
            </a:xfrm>
            <a:custGeom>
              <a:avLst/>
              <a:pathLst>
                <a:path w="4902262" h="0">
                  <a:moveTo>
                    <a:pt x="0" y="0"/>
                  </a:moveTo>
                  <a:lnTo>
                    <a:pt x="4902262" y="0"/>
                  </a:lnTo>
                  <a:lnTo>
                    <a:pt x="4902262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9381297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999999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6815375" y="1855399"/>
              <a:ext cx="4321553" cy="2126566"/>
            </a:xfrm>
            <a:custGeom>
              <a:avLst/>
              <a:pathLst>
                <a:path w="4321553" h="2126566">
                  <a:moveTo>
                    <a:pt x="0" y="0"/>
                  </a:moveTo>
                  <a:lnTo>
                    <a:pt x="135048" y="367061"/>
                  </a:lnTo>
                  <a:lnTo>
                    <a:pt x="270097" y="126679"/>
                  </a:lnTo>
                  <a:lnTo>
                    <a:pt x="405145" y="655908"/>
                  </a:lnTo>
                  <a:lnTo>
                    <a:pt x="540194" y="467823"/>
                  </a:lnTo>
                  <a:lnTo>
                    <a:pt x="675242" y="831876"/>
                  </a:lnTo>
                  <a:lnTo>
                    <a:pt x="810291" y="923595"/>
                  </a:lnTo>
                  <a:lnTo>
                    <a:pt x="945339" y="637610"/>
                  </a:lnTo>
                  <a:lnTo>
                    <a:pt x="1080388" y="991954"/>
                  </a:lnTo>
                  <a:lnTo>
                    <a:pt x="1215436" y="1052736"/>
                  </a:lnTo>
                  <a:lnTo>
                    <a:pt x="1350485" y="1129609"/>
                  </a:lnTo>
                  <a:lnTo>
                    <a:pt x="1485533" y="1293277"/>
                  </a:lnTo>
                  <a:lnTo>
                    <a:pt x="1620582" y="1302988"/>
                  </a:lnTo>
                  <a:lnTo>
                    <a:pt x="1755631" y="1195623"/>
                  </a:lnTo>
                  <a:lnTo>
                    <a:pt x="1890679" y="1317353"/>
                  </a:lnTo>
                  <a:lnTo>
                    <a:pt x="2025728" y="1343931"/>
                  </a:lnTo>
                  <a:lnTo>
                    <a:pt x="2160776" y="1344057"/>
                  </a:lnTo>
                  <a:lnTo>
                    <a:pt x="2295825" y="1453002"/>
                  </a:lnTo>
                  <a:lnTo>
                    <a:pt x="2430873" y="1304859"/>
                  </a:lnTo>
                  <a:lnTo>
                    <a:pt x="2700970" y="2126566"/>
                  </a:lnTo>
                  <a:lnTo>
                    <a:pt x="2836019" y="2043926"/>
                  </a:lnTo>
                  <a:lnTo>
                    <a:pt x="2971067" y="2041878"/>
                  </a:lnTo>
                  <a:lnTo>
                    <a:pt x="3106116" y="2050782"/>
                  </a:lnTo>
                  <a:lnTo>
                    <a:pt x="3241165" y="1817779"/>
                  </a:lnTo>
                  <a:lnTo>
                    <a:pt x="3376213" y="1854856"/>
                  </a:lnTo>
                  <a:lnTo>
                    <a:pt x="3511262" y="1787930"/>
                  </a:lnTo>
                  <a:lnTo>
                    <a:pt x="3646310" y="1625204"/>
                  </a:lnTo>
                  <a:lnTo>
                    <a:pt x="3781359" y="1534057"/>
                  </a:lnTo>
                  <a:lnTo>
                    <a:pt x="3916407" y="1416475"/>
                  </a:lnTo>
                  <a:lnTo>
                    <a:pt x="4051456" y="1346565"/>
                  </a:lnTo>
                  <a:lnTo>
                    <a:pt x="4321553" y="1019614"/>
                  </a:lnTo>
                </a:path>
              </a:pathLst>
            </a:custGeom>
            <a:ln w="2439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7355569" y="2341106"/>
              <a:ext cx="3916407" cy="1383305"/>
            </a:xfrm>
            <a:custGeom>
              <a:avLst/>
              <a:pathLst>
                <a:path w="3916407" h="1383305">
                  <a:moveTo>
                    <a:pt x="0" y="0"/>
                  </a:moveTo>
                  <a:lnTo>
                    <a:pt x="135048" y="430092"/>
                  </a:lnTo>
                  <a:lnTo>
                    <a:pt x="270097" y="663146"/>
                  </a:lnTo>
                  <a:lnTo>
                    <a:pt x="405145" y="658733"/>
                  </a:lnTo>
                  <a:lnTo>
                    <a:pt x="540194" y="542446"/>
                  </a:lnTo>
                  <a:lnTo>
                    <a:pt x="675242" y="1060399"/>
                  </a:lnTo>
                  <a:lnTo>
                    <a:pt x="810291" y="1078131"/>
                  </a:lnTo>
                  <a:lnTo>
                    <a:pt x="945339" y="886073"/>
                  </a:lnTo>
                  <a:lnTo>
                    <a:pt x="1080388" y="1279400"/>
                  </a:lnTo>
                  <a:lnTo>
                    <a:pt x="1215436" y="1164129"/>
                  </a:lnTo>
                  <a:lnTo>
                    <a:pt x="1350485" y="1092447"/>
                  </a:lnTo>
                  <a:lnTo>
                    <a:pt x="1485533" y="1332754"/>
                  </a:lnTo>
                  <a:lnTo>
                    <a:pt x="1620582" y="1018634"/>
                  </a:lnTo>
                  <a:lnTo>
                    <a:pt x="1755631" y="1150065"/>
                  </a:lnTo>
                  <a:lnTo>
                    <a:pt x="1890679" y="1241723"/>
                  </a:lnTo>
                  <a:lnTo>
                    <a:pt x="2160776" y="1361381"/>
                  </a:lnTo>
                  <a:lnTo>
                    <a:pt x="2295825" y="1096906"/>
                  </a:lnTo>
                  <a:lnTo>
                    <a:pt x="2430873" y="1383305"/>
                  </a:lnTo>
                  <a:lnTo>
                    <a:pt x="2565922" y="1323458"/>
                  </a:lnTo>
                  <a:lnTo>
                    <a:pt x="2700970" y="1057737"/>
                  </a:lnTo>
                  <a:lnTo>
                    <a:pt x="2836019" y="1264607"/>
                  </a:lnTo>
                  <a:lnTo>
                    <a:pt x="2971067" y="1112071"/>
                  </a:lnTo>
                  <a:lnTo>
                    <a:pt x="3106116" y="1195053"/>
                  </a:lnTo>
                  <a:lnTo>
                    <a:pt x="3241165" y="853442"/>
                  </a:lnTo>
                  <a:lnTo>
                    <a:pt x="3376213" y="1024970"/>
                  </a:lnTo>
                  <a:lnTo>
                    <a:pt x="3511262" y="537900"/>
                  </a:lnTo>
                  <a:lnTo>
                    <a:pt x="3646310" y="570984"/>
                  </a:lnTo>
                  <a:lnTo>
                    <a:pt x="3781359" y="551210"/>
                  </a:lnTo>
                  <a:lnTo>
                    <a:pt x="3916407" y="393015"/>
                  </a:lnTo>
                </a:path>
              </a:pathLst>
            </a:custGeom>
            <a:ln w="2439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7085472" y="2310304"/>
              <a:ext cx="4186504" cy="1431161"/>
            </a:xfrm>
            <a:custGeom>
              <a:avLst/>
              <a:pathLst>
                <a:path w="4186504" h="1431161">
                  <a:moveTo>
                    <a:pt x="0" y="296932"/>
                  </a:moveTo>
                  <a:lnTo>
                    <a:pt x="135048" y="469957"/>
                  </a:lnTo>
                  <a:lnTo>
                    <a:pt x="405145" y="655342"/>
                  </a:lnTo>
                  <a:lnTo>
                    <a:pt x="540194" y="626504"/>
                  </a:lnTo>
                  <a:lnTo>
                    <a:pt x="675242" y="970701"/>
                  </a:lnTo>
                  <a:lnTo>
                    <a:pt x="810291" y="900649"/>
                  </a:lnTo>
                  <a:lnTo>
                    <a:pt x="945339" y="1031408"/>
                  </a:lnTo>
                  <a:lnTo>
                    <a:pt x="1080388" y="972061"/>
                  </a:lnTo>
                  <a:lnTo>
                    <a:pt x="1215436" y="1269665"/>
                  </a:lnTo>
                  <a:lnTo>
                    <a:pt x="1350485" y="1315180"/>
                  </a:lnTo>
                  <a:lnTo>
                    <a:pt x="1485533" y="1185404"/>
                  </a:lnTo>
                  <a:lnTo>
                    <a:pt x="1620582" y="1291098"/>
                  </a:lnTo>
                  <a:lnTo>
                    <a:pt x="1755631" y="1289627"/>
                  </a:lnTo>
                  <a:lnTo>
                    <a:pt x="1890679" y="1400841"/>
                  </a:lnTo>
                  <a:lnTo>
                    <a:pt x="2025728" y="1293477"/>
                  </a:lnTo>
                  <a:lnTo>
                    <a:pt x="2160776" y="1431161"/>
                  </a:lnTo>
                  <a:lnTo>
                    <a:pt x="2430873" y="1308149"/>
                  </a:lnTo>
                  <a:lnTo>
                    <a:pt x="2565922" y="1225228"/>
                  </a:lnTo>
                  <a:lnTo>
                    <a:pt x="2700970" y="1143475"/>
                  </a:lnTo>
                  <a:lnTo>
                    <a:pt x="2836019" y="1170299"/>
                  </a:lnTo>
                  <a:lnTo>
                    <a:pt x="2971067" y="967406"/>
                  </a:lnTo>
                  <a:lnTo>
                    <a:pt x="3106116" y="1109877"/>
                  </a:lnTo>
                  <a:lnTo>
                    <a:pt x="3241165" y="1055433"/>
                  </a:lnTo>
                  <a:lnTo>
                    <a:pt x="3376213" y="715077"/>
                  </a:lnTo>
                  <a:lnTo>
                    <a:pt x="3511262" y="935478"/>
                  </a:lnTo>
                  <a:lnTo>
                    <a:pt x="3646310" y="607966"/>
                  </a:lnTo>
                  <a:lnTo>
                    <a:pt x="3781359" y="771281"/>
                  </a:lnTo>
                  <a:lnTo>
                    <a:pt x="3916407" y="445239"/>
                  </a:lnTo>
                  <a:lnTo>
                    <a:pt x="4051456" y="379325"/>
                  </a:lnTo>
                  <a:lnTo>
                    <a:pt x="418650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6791904" y="1831928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6926953" y="2198989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7062001" y="1958607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7197050" y="2487836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7332098" y="229975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7467147" y="266380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7602196" y="2755523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7737244" y="2469538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7872293" y="2823882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8007341" y="2884665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8142390" y="2961537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8277438" y="3125206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8412487" y="3134916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8547535" y="302755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8682584" y="314928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8817632" y="3175859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8952681" y="3175986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9087730" y="328493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9222778" y="3136788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9492875" y="395849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9627924" y="387585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9762972" y="3873806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9898021" y="388271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10033069" y="3649707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10168118" y="368678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10303166" y="3619859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10438215" y="3457132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10573263" y="3365985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10708312" y="3248403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10843361" y="317849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11113458" y="2851543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7332098" y="2317635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7467147" y="2747727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7602196" y="2980782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7737244" y="2976368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7872293" y="2860082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8007341" y="3378035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8142390" y="3395767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8277438" y="3203708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8412487" y="3597036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8547535" y="3481765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8682584" y="3410083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8817632" y="365039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8952681" y="333627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9087730" y="3467701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9222778" y="3559358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9492875" y="3679017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9627924" y="3414541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9762972" y="3700941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9898021" y="3641094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10033069" y="3375373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10168118" y="3582243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10303166" y="3429707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10438215" y="3512689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10573263" y="3171078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10708312" y="3342606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10843361" y="2855536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10978409" y="288862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11113458" y="2868845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11248506" y="271065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7062001" y="2583765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7197050" y="275679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7467147" y="2942175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7602196" y="2913338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7737244" y="3257535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7872293" y="3187482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8007341" y="331824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8142390" y="3258894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8277438" y="3556498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8412487" y="3602013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8547535" y="3472238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8682584" y="357793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8817632" y="3576460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8952681" y="3687674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9087730" y="3580310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9222778" y="3717995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9492875" y="3594982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9627924" y="351206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9762972" y="3430309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9898021" y="3457132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10033069" y="3254239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10168118" y="339671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10303166" y="3342266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10438215" y="3001910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10573263" y="3222312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10708312" y="2894799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10843361" y="3058114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10978409" y="2732073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11113458" y="2666158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11248506" y="2286833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tx193"/>
            <p:cNvSpPr/>
            <p:nvPr/>
          </p:nvSpPr>
          <p:spPr>
            <a:xfrm>
              <a:off x="6456415" y="3609784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6456415" y="3018637"/>
              <a:ext cx="67806" cy="854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6456415" y="2422966"/>
              <a:ext cx="67806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8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6388609" y="1832116"/>
              <a:ext cx="135612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12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7287763" y="4156498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8638249" y="4156201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9988734" y="4156379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11339219" y="4156260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8814964" y="4277219"/>
              <a:ext cx="457423" cy="141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202" name="tx202"/>
            <p:cNvSpPr/>
            <p:nvPr/>
          </p:nvSpPr>
          <p:spPr>
            <a:xfrm rot="-5400000">
              <a:off x="4996353" y="2847505"/>
              <a:ext cx="2498824" cy="1423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&gt; 0 = report more extreme than array</a:t>
              </a:r>
            </a:p>
          </p:txBody>
        </p:sp>
        <p:sp>
          <p:nvSpPr>
            <p:cNvPr id="203" name="pl203"/>
            <p:cNvSpPr/>
            <p:nvPr/>
          </p:nvSpPr>
          <p:spPr>
            <a:xfrm>
              <a:off x="8082365" y="47894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8146677" y="476602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8717971" y="47894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8782282" y="4766021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9421382" y="47894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9485694" y="476602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tx209"/>
            <p:cNvSpPr/>
            <p:nvPr/>
          </p:nvSpPr>
          <p:spPr>
            <a:xfrm>
              <a:off x="8355791" y="4722251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8991396" y="4722549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9694808" y="4722251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6592545" y="1474178"/>
              <a:ext cx="3178009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Reverse: (report - true) x side of the report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6949440" cy="3931920"/>
            <a:chOff x="548640" y="1371600"/>
            <a:chExt cx="6949440" cy="393192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6949439" cy="393191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548640" y="1371600"/>
              <a:ext cx="6949439" cy="393191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112935" y="4733857"/>
              <a:ext cx="2834509" cy="0"/>
            </a:xfrm>
            <a:custGeom>
              <a:avLst/>
              <a:pathLst>
                <a:path w="2834509" h="0">
                  <a:moveTo>
                    <a:pt x="0" y="0"/>
                  </a:moveTo>
                  <a:lnTo>
                    <a:pt x="2834509" y="0"/>
                  </a:lnTo>
                  <a:lnTo>
                    <a:pt x="283450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112935" y="3787810"/>
              <a:ext cx="2834509" cy="0"/>
            </a:xfrm>
            <a:custGeom>
              <a:avLst/>
              <a:pathLst>
                <a:path w="2834509" h="0">
                  <a:moveTo>
                    <a:pt x="0" y="0"/>
                  </a:moveTo>
                  <a:lnTo>
                    <a:pt x="2834509" y="0"/>
                  </a:lnTo>
                  <a:lnTo>
                    <a:pt x="283450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112935" y="2841763"/>
              <a:ext cx="2834509" cy="0"/>
            </a:xfrm>
            <a:custGeom>
              <a:avLst/>
              <a:pathLst>
                <a:path w="2834509" h="0">
                  <a:moveTo>
                    <a:pt x="0" y="0"/>
                  </a:moveTo>
                  <a:lnTo>
                    <a:pt x="2834509" y="0"/>
                  </a:lnTo>
                  <a:lnTo>
                    <a:pt x="283450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12935" y="1895716"/>
              <a:ext cx="2834509" cy="0"/>
            </a:xfrm>
            <a:custGeom>
              <a:avLst/>
              <a:pathLst>
                <a:path w="2834509" h="0">
                  <a:moveTo>
                    <a:pt x="0" y="0"/>
                  </a:moveTo>
                  <a:lnTo>
                    <a:pt x="2834509" y="0"/>
                  </a:lnTo>
                  <a:lnTo>
                    <a:pt x="283450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44405" y="1749070"/>
              <a:ext cx="0" cy="3226202"/>
            </a:xfrm>
            <a:custGeom>
              <a:avLst/>
              <a:pathLst>
                <a:path w="0" h="3226202">
                  <a:moveTo>
                    <a:pt x="0" y="32262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30189" y="1749070"/>
              <a:ext cx="0" cy="3226202"/>
            </a:xfrm>
            <a:custGeom>
              <a:avLst/>
              <a:pathLst>
                <a:path w="0" h="3226202">
                  <a:moveTo>
                    <a:pt x="0" y="32262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415974" y="1749070"/>
              <a:ext cx="0" cy="3226202"/>
            </a:xfrm>
            <a:custGeom>
              <a:avLst/>
              <a:pathLst>
                <a:path w="0" h="3226202">
                  <a:moveTo>
                    <a:pt x="0" y="32262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112935" y="1895716"/>
              <a:ext cx="2834509" cy="0"/>
            </a:xfrm>
            <a:custGeom>
              <a:avLst/>
              <a:pathLst>
                <a:path w="2834509" h="0">
                  <a:moveTo>
                    <a:pt x="0" y="0"/>
                  </a:moveTo>
                  <a:lnTo>
                    <a:pt x="2834509" y="0"/>
                  </a:lnTo>
                  <a:lnTo>
                    <a:pt x="2834509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600116" y="1932936"/>
              <a:ext cx="88578" cy="0"/>
            </a:xfrm>
            <a:custGeom>
              <a:avLst/>
              <a:pathLst>
                <a:path w="88578" h="0">
                  <a:moveTo>
                    <a:pt x="0" y="0"/>
                  </a:moveTo>
                  <a:lnTo>
                    <a:pt x="8857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644405" y="1932936"/>
              <a:ext cx="0" cy="2168639"/>
            </a:xfrm>
            <a:custGeom>
              <a:avLst/>
              <a:pathLst>
                <a:path w="0" h="2168639">
                  <a:moveTo>
                    <a:pt x="0" y="0"/>
                  </a:moveTo>
                  <a:lnTo>
                    <a:pt x="0" y="2168639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600116" y="4101576"/>
              <a:ext cx="88578" cy="0"/>
            </a:xfrm>
            <a:custGeom>
              <a:avLst/>
              <a:pathLst>
                <a:path w="88578" h="0">
                  <a:moveTo>
                    <a:pt x="0" y="0"/>
                  </a:moveTo>
                  <a:lnTo>
                    <a:pt x="8857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85900" y="2737988"/>
              <a:ext cx="88578" cy="0"/>
            </a:xfrm>
            <a:custGeom>
              <a:avLst/>
              <a:pathLst>
                <a:path w="88578" h="0">
                  <a:moveTo>
                    <a:pt x="0" y="0"/>
                  </a:moveTo>
                  <a:lnTo>
                    <a:pt x="8857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30189" y="2737988"/>
              <a:ext cx="0" cy="2090639"/>
            </a:xfrm>
            <a:custGeom>
              <a:avLst/>
              <a:pathLst>
                <a:path w="0" h="2090639">
                  <a:moveTo>
                    <a:pt x="0" y="0"/>
                  </a:moveTo>
                  <a:lnTo>
                    <a:pt x="0" y="2090639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85900" y="4828627"/>
              <a:ext cx="88578" cy="0"/>
            </a:xfrm>
            <a:custGeom>
              <a:avLst/>
              <a:pathLst>
                <a:path w="88578" h="0">
                  <a:moveTo>
                    <a:pt x="0" y="0"/>
                  </a:moveTo>
                  <a:lnTo>
                    <a:pt x="8857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371684" y="1938674"/>
              <a:ext cx="88578" cy="0"/>
            </a:xfrm>
            <a:custGeom>
              <a:avLst/>
              <a:pathLst>
                <a:path w="88578" h="0">
                  <a:moveTo>
                    <a:pt x="0" y="0"/>
                  </a:moveTo>
                  <a:lnTo>
                    <a:pt x="8857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415974" y="1938674"/>
              <a:ext cx="0" cy="2069586"/>
            </a:xfrm>
            <a:custGeom>
              <a:avLst/>
              <a:pathLst>
                <a:path w="0" h="2069586">
                  <a:moveTo>
                    <a:pt x="0" y="0"/>
                  </a:moveTo>
                  <a:lnTo>
                    <a:pt x="0" y="2069586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371684" y="4008261"/>
              <a:ext cx="88578" cy="0"/>
            </a:xfrm>
            <a:custGeom>
              <a:avLst/>
              <a:pathLst>
                <a:path w="88578" h="0">
                  <a:moveTo>
                    <a:pt x="0" y="0"/>
                  </a:moveTo>
                  <a:lnTo>
                    <a:pt x="8857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44405" y="2973467"/>
              <a:ext cx="1771568" cy="809839"/>
            </a:xfrm>
            <a:custGeom>
              <a:avLst/>
              <a:pathLst>
                <a:path w="1771568" h="809839">
                  <a:moveTo>
                    <a:pt x="0" y="43788"/>
                  </a:moveTo>
                  <a:lnTo>
                    <a:pt x="885784" y="809839"/>
                  </a:lnTo>
                  <a:lnTo>
                    <a:pt x="1771568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1607384" y="2980234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493168" y="3746286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378952" y="2936446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875125" y="4690012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0.7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875125" y="3743608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0.8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875125" y="2797740"/>
              <a:ext cx="169485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0.9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875125" y="1851871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1512246" y="5020081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4127" y="5020379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249911" y="5020081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33" name="tx33"/>
            <p:cNvSpPr/>
            <p:nvPr/>
          </p:nvSpPr>
          <p:spPr>
            <a:xfrm rot="-5400000">
              <a:off x="214731" y="3290138"/>
              <a:ext cx="1033388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Slope (95% CI)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112935" y="1474178"/>
              <a:ext cx="2078278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Forward slope (experience)</a:t>
              </a:r>
            </a:p>
          </p:txBody>
        </p:sp>
        <p:sp>
          <p:nvSpPr>
            <p:cNvPr id="35" name="pl35"/>
            <p:cNvSpPr/>
            <p:nvPr/>
          </p:nvSpPr>
          <p:spPr>
            <a:xfrm>
              <a:off x="4518066" y="4967677"/>
              <a:ext cx="2834509" cy="0"/>
            </a:xfrm>
            <a:custGeom>
              <a:avLst/>
              <a:pathLst>
                <a:path w="2834509" h="0">
                  <a:moveTo>
                    <a:pt x="0" y="0"/>
                  </a:moveTo>
                  <a:lnTo>
                    <a:pt x="2834509" y="0"/>
                  </a:lnTo>
                  <a:lnTo>
                    <a:pt x="283450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18066" y="4199687"/>
              <a:ext cx="2834509" cy="0"/>
            </a:xfrm>
            <a:custGeom>
              <a:avLst/>
              <a:pathLst>
                <a:path w="2834509" h="0">
                  <a:moveTo>
                    <a:pt x="0" y="0"/>
                  </a:moveTo>
                  <a:lnTo>
                    <a:pt x="2834509" y="0"/>
                  </a:lnTo>
                  <a:lnTo>
                    <a:pt x="283450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518066" y="3431696"/>
              <a:ext cx="2834509" cy="0"/>
            </a:xfrm>
            <a:custGeom>
              <a:avLst/>
              <a:pathLst>
                <a:path w="2834509" h="0">
                  <a:moveTo>
                    <a:pt x="0" y="0"/>
                  </a:moveTo>
                  <a:lnTo>
                    <a:pt x="2834509" y="0"/>
                  </a:lnTo>
                  <a:lnTo>
                    <a:pt x="283450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518066" y="2663706"/>
              <a:ext cx="2834509" cy="0"/>
            </a:xfrm>
            <a:custGeom>
              <a:avLst/>
              <a:pathLst>
                <a:path w="2834509" h="0">
                  <a:moveTo>
                    <a:pt x="0" y="0"/>
                  </a:moveTo>
                  <a:lnTo>
                    <a:pt x="2834509" y="0"/>
                  </a:lnTo>
                  <a:lnTo>
                    <a:pt x="283450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518066" y="1895716"/>
              <a:ext cx="2834509" cy="0"/>
            </a:xfrm>
            <a:custGeom>
              <a:avLst/>
              <a:pathLst>
                <a:path w="2834509" h="0">
                  <a:moveTo>
                    <a:pt x="0" y="0"/>
                  </a:moveTo>
                  <a:lnTo>
                    <a:pt x="2834509" y="0"/>
                  </a:lnTo>
                  <a:lnTo>
                    <a:pt x="283450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049536" y="1749070"/>
              <a:ext cx="0" cy="3226202"/>
            </a:xfrm>
            <a:custGeom>
              <a:avLst/>
              <a:pathLst>
                <a:path w="0" h="3226202">
                  <a:moveTo>
                    <a:pt x="0" y="32262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935320" y="1749070"/>
              <a:ext cx="0" cy="3226202"/>
            </a:xfrm>
            <a:custGeom>
              <a:avLst/>
              <a:pathLst>
                <a:path w="0" h="3226202">
                  <a:moveTo>
                    <a:pt x="0" y="32262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6821105" y="1749070"/>
              <a:ext cx="0" cy="3226202"/>
            </a:xfrm>
            <a:custGeom>
              <a:avLst/>
              <a:pathLst>
                <a:path w="0" h="3226202">
                  <a:moveTo>
                    <a:pt x="0" y="32262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4518066" y="1895716"/>
              <a:ext cx="2834509" cy="0"/>
            </a:xfrm>
            <a:custGeom>
              <a:avLst/>
              <a:pathLst>
                <a:path w="2834509" h="0">
                  <a:moveTo>
                    <a:pt x="0" y="0"/>
                  </a:moveTo>
                  <a:lnTo>
                    <a:pt x="2834509" y="0"/>
                  </a:lnTo>
                  <a:lnTo>
                    <a:pt x="2834509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005247" y="3678598"/>
              <a:ext cx="88578" cy="0"/>
            </a:xfrm>
            <a:custGeom>
              <a:avLst/>
              <a:pathLst>
                <a:path w="88578" h="0">
                  <a:moveTo>
                    <a:pt x="0" y="0"/>
                  </a:moveTo>
                  <a:lnTo>
                    <a:pt x="8857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049536" y="3678598"/>
              <a:ext cx="0" cy="1150029"/>
            </a:xfrm>
            <a:custGeom>
              <a:avLst/>
              <a:pathLst>
                <a:path w="0" h="1150029">
                  <a:moveTo>
                    <a:pt x="0" y="0"/>
                  </a:moveTo>
                  <a:lnTo>
                    <a:pt x="0" y="1150029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005247" y="4828627"/>
              <a:ext cx="88578" cy="0"/>
            </a:xfrm>
            <a:custGeom>
              <a:avLst/>
              <a:pathLst>
                <a:path w="88578" h="0">
                  <a:moveTo>
                    <a:pt x="0" y="0"/>
                  </a:moveTo>
                  <a:lnTo>
                    <a:pt x="8857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891031" y="3195442"/>
              <a:ext cx="88578" cy="0"/>
            </a:xfrm>
            <a:custGeom>
              <a:avLst/>
              <a:pathLst>
                <a:path w="88578" h="0">
                  <a:moveTo>
                    <a:pt x="0" y="0"/>
                  </a:moveTo>
                  <a:lnTo>
                    <a:pt x="8857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935320" y="3195442"/>
              <a:ext cx="0" cy="1225518"/>
            </a:xfrm>
            <a:custGeom>
              <a:avLst/>
              <a:pathLst>
                <a:path w="0" h="1225518">
                  <a:moveTo>
                    <a:pt x="0" y="0"/>
                  </a:moveTo>
                  <a:lnTo>
                    <a:pt x="0" y="1225518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5891031" y="4420960"/>
              <a:ext cx="88578" cy="0"/>
            </a:xfrm>
            <a:custGeom>
              <a:avLst/>
              <a:pathLst>
                <a:path w="88578" h="0">
                  <a:moveTo>
                    <a:pt x="0" y="0"/>
                  </a:moveTo>
                  <a:lnTo>
                    <a:pt x="8857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6776815" y="3671533"/>
              <a:ext cx="88578" cy="0"/>
            </a:xfrm>
            <a:custGeom>
              <a:avLst/>
              <a:pathLst>
                <a:path w="88578" h="0">
                  <a:moveTo>
                    <a:pt x="0" y="0"/>
                  </a:moveTo>
                  <a:lnTo>
                    <a:pt x="8857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6821105" y="3671533"/>
              <a:ext cx="0" cy="1144322"/>
            </a:xfrm>
            <a:custGeom>
              <a:avLst/>
              <a:pathLst>
                <a:path w="0" h="1144322">
                  <a:moveTo>
                    <a:pt x="0" y="0"/>
                  </a:moveTo>
                  <a:lnTo>
                    <a:pt x="0" y="1144322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6776815" y="4815855"/>
              <a:ext cx="88578" cy="0"/>
            </a:xfrm>
            <a:custGeom>
              <a:avLst/>
              <a:pathLst>
                <a:path w="88578" h="0">
                  <a:moveTo>
                    <a:pt x="0" y="0"/>
                  </a:moveTo>
                  <a:lnTo>
                    <a:pt x="88578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049536" y="3808201"/>
              <a:ext cx="1771568" cy="445410"/>
            </a:xfrm>
            <a:custGeom>
              <a:avLst/>
              <a:pathLst>
                <a:path w="1771568" h="445410">
                  <a:moveTo>
                    <a:pt x="0" y="445410"/>
                  </a:moveTo>
                  <a:lnTo>
                    <a:pt x="885784" y="0"/>
                  </a:lnTo>
                  <a:lnTo>
                    <a:pt x="1771568" y="435492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5012515" y="4216591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5898299" y="3771180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6784083" y="4206673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tx57"/>
            <p:cNvSpPr/>
            <p:nvPr/>
          </p:nvSpPr>
          <p:spPr>
            <a:xfrm>
              <a:off x="4280256" y="4923475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0.6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4280256" y="4155842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0.7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280256" y="3387494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0.8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280256" y="2619683"/>
              <a:ext cx="169485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0.9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4280256" y="1851871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917377" y="5020081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5769258" y="5020379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655042" y="5020081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65" name="tx65"/>
            <p:cNvSpPr/>
            <p:nvPr/>
          </p:nvSpPr>
          <p:spPr>
            <a:xfrm rot="-5400000">
              <a:off x="3619862" y="3290138"/>
              <a:ext cx="1033388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Slope (95% CI)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4518066" y="1474178"/>
              <a:ext cx="2049386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Reverse slope (experience)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355080" y="1417320"/>
            <a:ext cx="5285232" cy="3566160"/>
            <a:chOff x="6355080" y="1417320"/>
            <a:chExt cx="5285232" cy="3566160"/>
          </a:xfrm>
        </p:grpSpPr>
        <p:sp>
          <p:nvSpPr>
            <p:cNvPr id="3" name="rc3"/>
            <p:cNvSpPr/>
            <p:nvPr/>
          </p:nvSpPr>
          <p:spPr>
            <a:xfrm>
              <a:off x="6355080" y="1417320"/>
              <a:ext cx="5285232" cy="3566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6883718" y="3916381"/>
              <a:ext cx="4680677" cy="0"/>
            </a:xfrm>
            <a:custGeom>
              <a:avLst/>
              <a:pathLst>
                <a:path w="4680677" h="0">
                  <a:moveTo>
                    <a:pt x="0" y="0"/>
                  </a:moveTo>
                  <a:lnTo>
                    <a:pt x="4680677" y="0"/>
                  </a:lnTo>
                  <a:lnTo>
                    <a:pt x="468067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6883718" y="3493087"/>
              <a:ext cx="4680677" cy="0"/>
            </a:xfrm>
            <a:custGeom>
              <a:avLst/>
              <a:pathLst>
                <a:path w="4680677" h="0">
                  <a:moveTo>
                    <a:pt x="0" y="0"/>
                  </a:moveTo>
                  <a:lnTo>
                    <a:pt x="4680677" y="0"/>
                  </a:lnTo>
                  <a:lnTo>
                    <a:pt x="468067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6883718" y="3069793"/>
              <a:ext cx="4680677" cy="0"/>
            </a:xfrm>
            <a:custGeom>
              <a:avLst/>
              <a:pathLst>
                <a:path w="4680677" h="0">
                  <a:moveTo>
                    <a:pt x="0" y="0"/>
                  </a:moveTo>
                  <a:lnTo>
                    <a:pt x="4680677" y="0"/>
                  </a:lnTo>
                  <a:lnTo>
                    <a:pt x="468067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6883718" y="2646500"/>
              <a:ext cx="4680677" cy="0"/>
            </a:xfrm>
            <a:custGeom>
              <a:avLst/>
              <a:pathLst>
                <a:path w="4680677" h="0">
                  <a:moveTo>
                    <a:pt x="0" y="0"/>
                  </a:moveTo>
                  <a:lnTo>
                    <a:pt x="4680677" y="0"/>
                  </a:lnTo>
                  <a:lnTo>
                    <a:pt x="468067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883718" y="2223206"/>
              <a:ext cx="4680677" cy="0"/>
            </a:xfrm>
            <a:custGeom>
              <a:avLst/>
              <a:pathLst>
                <a:path w="4680677" h="0">
                  <a:moveTo>
                    <a:pt x="0" y="0"/>
                  </a:moveTo>
                  <a:lnTo>
                    <a:pt x="4680677" y="0"/>
                  </a:lnTo>
                  <a:lnTo>
                    <a:pt x="468067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883718" y="1799913"/>
              <a:ext cx="4680677" cy="0"/>
            </a:xfrm>
            <a:custGeom>
              <a:avLst/>
              <a:pathLst>
                <a:path w="4680677" h="0">
                  <a:moveTo>
                    <a:pt x="0" y="0"/>
                  </a:moveTo>
                  <a:lnTo>
                    <a:pt x="4680677" y="0"/>
                  </a:lnTo>
                  <a:lnTo>
                    <a:pt x="468067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096476" y="172520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930822" y="172520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765167" y="172520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599513" y="172520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433858" y="172520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1268204" y="172520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7138194" y="3916381"/>
              <a:ext cx="83434" cy="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7221628" y="3890983"/>
              <a:ext cx="83434" cy="25397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7305063" y="3895216"/>
              <a:ext cx="83434" cy="21164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7388497" y="3861353"/>
              <a:ext cx="83434" cy="55028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7471932" y="3844421"/>
              <a:ext cx="83434" cy="71959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7555366" y="3793626"/>
              <a:ext cx="83434" cy="12275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7638801" y="3759762"/>
              <a:ext cx="83434" cy="156618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7722236" y="3645473"/>
              <a:ext cx="83434" cy="270907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7805670" y="3641240"/>
              <a:ext cx="83434" cy="27514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7889105" y="3514252"/>
              <a:ext cx="83434" cy="402128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7972539" y="3404195"/>
              <a:ext cx="83434" cy="51218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8055974" y="3158685"/>
              <a:ext cx="83434" cy="75769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8139408" y="3057095"/>
              <a:ext cx="83434" cy="85928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8222843" y="2862380"/>
              <a:ext cx="83434" cy="1054001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8306277" y="2650733"/>
              <a:ext cx="83434" cy="1265647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8389712" y="2417921"/>
              <a:ext cx="83434" cy="1498459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8473146" y="2443319"/>
              <a:ext cx="83434" cy="1473061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8556581" y="2278234"/>
              <a:ext cx="83434" cy="163814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8640015" y="2278234"/>
              <a:ext cx="83434" cy="163814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8723450" y="2231672"/>
              <a:ext cx="83434" cy="1684708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8806885" y="2041190"/>
              <a:ext cx="83434" cy="187519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8890319" y="2163945"/>
              <a:ext cx="83434" cy="175243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8973754" y="2189343"/>
              <a:ext cx="83434" cy="1727037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9057188" y="2231672"/>
              <a:ext cx="83434" cy="1684708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9140623" y="2036957"/>
              <a:ext cx="83434" cy="1879423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9224057" y="2058122"/>
              <a:ext cx="83434" cy="1858259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9307492" y="2096218"/>
              <a:ext cx="83434" cy="1820162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9390926" y="2159712"/>
              <a:ext cx="83434" cy="1756668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9474361" y="2015792"/>
              <a:ext cx="83434" cy="1900588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9557795" y="2278234"/>
              <a:ext cx="83434" cy="163814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9641230" y="2210507"/>
              <a:ext cx="83434" cy="1705873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9724665" y="2172411"/>
              <a:ext cx="83434" cy="1743969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9808099" y="2307865"/>
              <a:ext cx="83434" cy="160851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9891534" y="2599938"/>
              <a:ext cx="83434" cy="1316443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9974968" y="2748090"/>
              <a:ext cx="83434" cy="116829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10058403" y="2883544"/>
              <a:ext cx="83434" cy="103283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10141837" y="3044396"/>
              <a:ext cx="83434" cy="871984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10225272" y="3133287"/>
              <a:ext cx="83434" cy="783093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10308706" y="3374565"/>
              <a:ext cx="83434" cy="54181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10392141" y="3493087"/>
              <a:ext cx="83434" cy="423293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10475575" y="3548115"/>
              <a:ext cx="83434" cy="368265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10559010" y="3624308"/>
              <a:ext cx="83434" cy="292072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10642444" y="3708967"/>
              <a:ext cx="83434" cy="207413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10725879" y="3751296"/>
              <a:ext cx="83434" cy="165084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10809314" y="3806324"/>
              <a:ext cx="83434" cy="11005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10892748" y="3814790"/>
              <a:ext cx="83434" cy="10159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10976183" y="3874051"/>
              <a:ext cx="83434" cy="42329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11059617" y="3916381"/>
              <a:ext cx="83434" cy="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11143052" y="3734364"/>
              <a:ext cx="83434" cy="18201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11226486" y="3916381"/>
              <a:ext cx="83434" cy="0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7138194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7221628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7305063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7388497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7471932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7555366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7638801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7722236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7805670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7889105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7972539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8055974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8139408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8222843" y="1884571"/>
              <a:ext cx="83434" cy="2031809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8306277" y="1863407"/>
              <a:ext cx="83434" cy="2052974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8389712" y="1854941"/>
              <a:ext cx="83434" cy="2061439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8473146" y="1888804"/>
              <a:ext cx="83434" cy="2027576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8556581" y="1859174"/>
              <a:ext cx="83434" cy="2057207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8640015" y="1863407"/>
              <a:ext cx="83434" cy="2052974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8723450" y="1867640"/>
              <a:ext cx="83434" cy="2048741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8806885" y="1863407"/>
              <a:ext cx="83434" cy="2052974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8890319" y="1871872"/>
              <a:ext cx="83434" cy="2044508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8973754" y="1871872"/>
              <a:ext cx="83434" cy="2044508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9057188" y="1871872"/>
              <a:ext cx="83434" cy="2044508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9140623" y="1838009"/>
              <a:ext cx="83434" cy="2078371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9224057" y="1884571"/>
              <a:ext cx="83434" cy="2031809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9307492" y="1846475"/>
              <a:ext cx="83434" cy="2069905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9390926" y="1876105"/>
              <a:ext cx="83434" cy="2040275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9474361" y="1876105"/>
              <a:ext cx="83434" cy="2040275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9557795" y="1846475"/>
              <a:ext cx="83434" cy="2069905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9641230" y="1863407"/>
              <a:ext cx="83434" cy="2052974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9724665" y="1854941"/>
              <a:ext cx="83434" cy="2061439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9808099" y="1863407"/>
              <a:ext cx="83434" cy="2052974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9891534" y="1829543"/>
              <a:ext cx="83434" cy="2086837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9974968" y="2680363"/>
              <a:ext cx="83434" cy="1236017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10058403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10141837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10225272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10308706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10392141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10475575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10559010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10642444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10725879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10809314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10892748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10976183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11059617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11143052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11226486" y="3916381"/>
              <a:ext cx="83434" cy="0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16" name="tx116"/>
            <p:cNvSpPr/>
            <p:nvPr/>
          </p:nvSpPr>
          <p:spPr>
            <a:xfrm>
              <a:off x="6747588" y="3872536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6611976" y="3449242"/>
              <a:ext cx="203418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100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6611976" y="3025651"/>
              <a:ext cx="203418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200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6611976" y="2602536"/>
              <a:ext cx="203418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300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6611976" y="2179123"/>
              <a:ext cx="203418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400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6611976" y="1756068"/>
              <a:ext cx="203418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500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7062573" y="408892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7863016" y="408892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8697361" y="4088630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9531707" y="4088808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10366052" y="4088689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11200397" y="408892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9003717" y="4235247"/>
              <a:ext cx="440680" cy="1154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Shade</a:t>
              </a:r>
            </a:p>
          </p:txBody>
        </p:sp>
        <p:sp>
          <p:nvSpPr>
            <p:cNvPr id="129" name="tx129"/>
            <p:cNvSpPr/>
            <p:nvPr/>
          </p:nvSpPr>
          <p:spPr>
            <a:xfrm rot="-5400000">
              <a:off x="6297868" y="2816779"/>
              <a:ext cx="372516" cy="1123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Trials</a:t>
              </a:r>
            </a:p>
          </p:txBody>
        </p:sp>
        <p:sp>
          <p:nvSpPr>
            <p:cNvPr id="130" name="rc130"/>
            <p:cNvSpPr/>
            <p:nvPr/>
          </p:nvSpPr>
          <p:spPr>
            <a:xfrm>
              <a:off x="7856116" y="4621193"/>
              <a:ext cx="201455" cy="201456"/>
            </a:xfrm>
            <a:prstGeom prst="rect">
              <a:avLst/>
            </a:prstGeom>
            <a:solidFill>
              <a:srgbClr val="2E7D4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8593341" y="4621193"/>
              <a:ext cx="201455" cy="201456"/>
            </a:xfrm>
            <a:prstGeom prst="rect">
              <a:avLst/>
            </a:prstGeom>
            <a:solidFill>
              <a:srgbClr val="8C8C8C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32" name="tx132"/>
            <p:cNvSpPr/>
            <p:nvPr/>
          </p:nvSpPr>
          <p:spPr>
            <a:xfrm>
              <a:off x="8142487" y="465277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8879712" y="4649799"/>
              <a:ext cx="1721286" cy="115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True colour (displayed average)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6883718" y="1450309"/>
              <a:ext cx="3379762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Clean trials, experience: shown and reported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417320"/>
            <a:ext cx="6035040" cy="4206240"/>
            <a:chOff x="548640" y="1417320"/>
            <a:chExt cx="6035040" cy="4206240"/>
          </a:xfrm>
        </p:grpSpPr>
        <p:sp>
          <p:nvSpPr>
            <p:cNvPr id="3" name="rc3"/>
            <p:cNvSpPr/>
            <p:nvPr/>
          </p:nvSpPr>
          <p:spPr>
            <a:xfrm>
              <a:off x="548640" y="1417320"/>
              <a:ext cx="6035040" cy="42062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43346" y="5199460"/>
              <a:ext cx="5464418" cy="0"/>
            </a:xfrm>
            <a:custGeom>
              <a:avLst/>
              <a:pathLst>
                <a:path w="5464418" h="0">
                  <a:moveTo>
                    <a:pt x="0" y="0"/>
                  </a:moveTo>
                  <a:lnTo>
                    <a:pt x="5464418" y="0"/>
                  </a:lnTo>
                  <a:lnTo>
                    <a:pt x="546441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43346" y="4096521"/>
              <a:ext cx="5464418" cy="0"/>
            </a:xfrm>
            <a:custGeom>
              <a:avLst/>
              <a:pathLst>
                <a:path w="5464418" h="0">
                  <a:moveTo>
                    <a:pt x="0" y="0"/>
                  </a:moveTo>
                  <a:lnTo>
                    <a:pt x="5464418" y="0"/>
                  </a:lnTo>
                  <a:lnTo>
                    <a:pt x="546441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43346" y="2993582"/>
              <a:ext cx="5464418" cy="0"/>
            </a:xfrm>
            <a:custGeom>
              <a:avLst/>
              <a:pathLst>
                <a:path w="5464418" h="0">
                  <a:moveTo>
                    <a:pt x="0" y="0"/>
                  </a:moveTo>
                  <a:lnTo>
                    <a:pt x="5464418" y="0"/>
                  </a:lnTo>
                  <a:lnTo>
                    <a:pt x="546441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43346" y="1890642"/>
              <a:ext cx="5464418" cy="0"/>
            </a:xfrm>
            <a:custGeom>
              <a:avLst/>
              <a:pathLst>
                <a:path w="5464418" h="0">
                  <a:moveTo>
                    <a:pt x="0" y="0"/>
                  </a:moveTo>
                  <a:lnTo>
                    <a:pt x="5464418" y="0"/>
                  </a:lnTo>
                  <a:lnTo>
                    <a:pt x="546441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067924" y="1725201"/>
              <a:ext cx="0" cy="3639700"/>
            </a:xfrm>
            <a:custGeom>
              <a:avLst/>
              <a:pathLst>
                <a:path w="0" h="3639700">
                  <a:moveTo>
                    <a:pt x="0" y="36397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75555" y="1725201"/>
              <a:ext cx="0" cy="3639700"/>
            </a:xfrm>
            <a:custGeom>
              <a:avLst/>
              <a:pathLst>
                <a:path w="0" h="3639700">
                  <a:moveTo>
                    <a:pt x="0" y="36397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483186" y="1725201"/>
              <a:ext cx="0" cy="3639700"/>
            </a:xfrm>
            <a:custGeom>
              <a:avLst/>
              <a:pathLst>
                <a:path w="0" h="3639700">
                  <a:moveTo>
                    <a:pt x="0" y="36397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982543" y="2385790"/>
              <a:ext cx="170763" cy="0"/>
            </a:xfrm>
            <a:custGeom>
              <a:avLst/>
              <a:pathLst>
                <a:path w="170763" h="0">
                  <a:moveTo>
                    <a:pt x="0" y="0"/>
                  </a:moveTo>
                  <a:lnTo>
                    <a:pt x="170763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067924" y="2385790"/>
              <a:ext cx="0" cy="484907"/>
            </a:xfrm>
            <a:custGeom>
              <a:avLst/>
              <a:pathLst>
                <a:path w="0" h="484907">
                  <a:moveTo>
                    <a:pt x="0" y="0"/>
                  </a:moveTo>
                  <a:lnTo>
                    <a:pt x="0" y="484907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982543" y="2870697"/>
              <a:ext cx="170763" cy="0"/>
            </a:xfrm>
            <a:custGeom>
              <a:avLst/>
              <a:pathLst>
                <a:path w="170763" h="0">
                  <a:moveTo>
                    <a:pt x="0" y="0"/>
                  </a:moveTo>
                  <a:lnTo>
                    <a:pt x="170763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690173" y="2951617"/>
              <a:ext cx="170763" cy="0"/>
            </a:xfrm>
            <a:custGeom>
              <a:avLst/>
              <a:pathLst>
                <a:path w="170763" h="0">
                  <a:moveTo>
                    <a:pt x="0" y="0"/>
                  </a:moveTo>
                  <a:lnTo>
                    <a:pt x="170763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775555" y="2951617"/>
              <a:ext cx="0" cy="599769"/>
            </a:xfrm>
            <a:custGeom>
              <a:avLst/>
              <a:pathLst>
                <a:path w="0" h="599769">
                  <a:moveTo>
                    <a:pt x="0" y="0"/>
                  </a:moveTo>
                  <a:lnTo>
                    <a:pt x="0" y="599769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90173" y="3551386"/>
              <a:ext cx="170763" cy="0"/>
            </a:xfrm>
            <a:custGeom>
              <a:avLst/>
              <a:pathLst>
                <a:path w="170763" h="0">
                  <a:moveTo>
                    <a:pt x="0" y="0"/>
                  </a:moveTo>
                  <a:lnTo>
                    <a:pt x="170763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397804" y="3582925"/>
              <a:ext cx="170763" cy="0"/>
            </a:xfrm>
            <a:custGeom>
              <a:avLst/>
              <a:pathLst>
                <a:path w="170763" h="0">
                  <a:moveTo>
                    <a:pt x="0" y="0"/>
                  </a:moveTo>
                  <a:lnTo>
                    <a:pt x="170763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483186" y="3582925"/>
              <a:ext cx="0" cy="725745"/>
            </a:xfrm>
            <a:custGeom>
              <a:avLst/>
              <a:pathLst>
                <a:path w="0" h="725745">
                  <a:moveTo>
                    <a:pt x="0" y="0"/>
                  </a:moveTo>
                  <a:lnTo>
                    <a:pt x="0" y="725745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397804" y="4308671"/>
              <a:ext cx="170763" cy="0"/>
            </a:xfrm>
            <a:custGeom>
              <a:avLst/>
              <a:pathLst>
                <a:path w="170763" h="0">
                  <a:moveTo>
                    <a:pt x="0" y="0"/>
                  </a:moveTo>
                  <a:lnTo>
                    <a:pt x="170763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067924" y="2613652"/>
              <a:ext cx="3415261" cy="1314703"/>
            </a:xfrm>
            <a:custGeom>
              <a:avLst/>
              <a:pathLst>
                <a:path w="3415261" h="1314703">
                  <a:moveTo>
                    <a:pt x="0" y="0"/>
                  </a:moveTo>
                  <a:lnTo>
                    <a:pt x="1707630" y="621817"/>
                  </a:lnTo>
                  <a:lnTo>
                    <a:pt x="3415261" y="1314703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028192" y="2573921"/>
              <a:ext cx="79463" cy="7946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735823" y="3195739"/>
              <a:ext cx="79463" cy="7946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443454" y="3888624"/>
              <a:ext cx="79463" cy="7946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tx24"/>
            <p:cNvSpPr/>
            <p:nvPr/>
          </p:nvSpPr>
          <p:spPr>
            <a:xfrm>
              <a:off x="805536" y="5155258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0.6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805536" y="4052676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0.7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805536" y="2949380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0.8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805536" y="1846619"/>
              <a:ext cx="169485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0.9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1932401" y="542828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3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3640032" y="542828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5347663" y="542828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7</a:t>
              </a:r>
            </a:p>
          </p:txBody>
        </p:sp>
        <p:sp>
          <p:nvSpPr>
            <p:cNvPr id="31" name="tx31"/>
            <p:cNvSpPr/>
            <p:nvPr/>
          </p:nvSpPr>
          <p:spPr>
            <a:xfrm rot="-5400000">
              <a:off x="103210" y="3473353"/>
              <a:ext cx="1117922" cy="1433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Mean r (95% CI)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1043346" y="1448163"/>
              <a:ext cx="4534636" cy="164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Tracking: correlation of report with true colour (experience)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5852160" cy="3566160"/>
            <a:chOff x="548640" y="1371600"/>
            <a:chExt cx="5852160" cy="356616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5852160" cy="3566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2519418" y="3975003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2519418" y="3515898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519418" y="3056794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519418" y="2597690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519418" y="2138586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519418" y="1679481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19418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978522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37626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896730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355835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814939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519418" y="1679481"/>
              <a:ext cx="2295521" cy="2295521"/>
            </a:xfrm>
            <a:custGeom>
              <a:avLst/>
              <a:pathLst>
                <a:path w="2295521" h="2295521">
                  <a:moveTo>
                    <a:pt x="0" y="2295521"/>
                  </a:moveTo>
                  <a:lnTo>
                    <a:pt x="2295521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162164" y="2309304"/>
              <a:ext cx="959527" cy="1050510"/>
            </a:xfrm>
            <a:custGeom>
              <a:avLst/>
              <a:pathLst>
                <a:path w="959527" h="1050510">
                  <a:moveTo>
                    <a:pt x="0" y="1050510"/>
                  </a:moveTo>
                  <a:lnTo>
                    <a:pt x="33087" y="1014285"/>
                  </a:lnTo>
                  <a:lnTo>
                    <a:pt x="66174" y="978061"/>
                  </a:lnTo>
                  <a:lnTo>
                    <a:pt x="99261" y="941836"/>
                  </a:lnTo>
                  <a:lnTo>
                    <a:pt x="132348" y="905612"/>
                  </a:lnTo>
                  <a:lnTo>
                    <a:pt x="165435" y="869387"/>
                  </a:lnTo>
                  <a:lnTo>
                    <a:pt x="198523" y="833163"/>
                  </a:lnTo>
                  <a:lnTo>
                    <a:pt x="231610" y="796938"/>
                  </a:lnTo>
                  <a:lnTo>
                    <a:pt x="264697" y="760714"/>
                  </a:lnTo>
                  <a:lnTo>
                    <a:pt x="297784" y="724489"/>
                  </a:lnTo>
                  <a:lnTo>
                    <a:pt x="330871" y="688265"/>
                  </a:lnTo>
                  <a:lnTo>
                    <a:pt x="363958" y="652040"/>
                  </a:lnTo>
                  <a:lnTo>
                    <a:pt x="397046" y="615816"/>
                  </a:lnTo>
                  <a:lnTo>
                    <a:pt x="430133" y="579591"/>
                  </a:lnTo>
                  <a:lnTo>
                    <a:pt x="463220" y="543367"/>
                  </a:lnTo>
                  <a:lnTo>
                    <a:pt x="496307" y="507142"/>
                  </a:lnTo>
                  <a:lnTo>
                    <a:pt x="529394" y="470918"/>
                  </a:lnTo>
                  <a:lnTo>
                    <a:pt x="562481" y="434693"/>
                  </a:lnTo>
                  <a:lnTo>
                    <a:pt x="595569" y="398469"/>
                  </a:lnTo>
                  <a:lnTo>
                    <a:pt x="628656" y="362244"/>
                  </a:lnTo>
                  <a:lnTo>
                    <a:pt x="661743" y="326020"/>
                  </a:lnTo>
                  <a:lnTo>
                    <a:pt x="694830" y="289795"/>
                  </a:lnTo>
                  <a:lnTo>
                    <a:pt x="727917" y="253571"/>
                  </a:lnTo>
                  <a:lnTo>
                    <a:pt x="761004" y="217346"/>
                  </a:lnTo>
                  <a:lnTo>
                    <a:pt x="794092" y="181122"/>
                  </a:lnTo>
                  <a:lnTo>
                    <a:pt x="827179" y="144897"/>
                  </a:lnTo>
                  <a:lnTo>
                    <a:pt x="860266" y="108673"/>
                  </a:lnTo>
                  <a:lnTo>
                    <a:pt x="893353" y="72448"/>
                  </a:lnTo>
                  <a:lnTo>
                    <a:pt x="926440" y="36224"/>
                  </a:lnTo>
                  <a:lnTo>
                    <a:pt x="959527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162164" y="2347305"/>
              <a:ext cx="959527" cy="925524"/>
            </a:xfrm>
            <a:custGeom>
              <a:avLst/>
              <a:pathLst>
                <a:path w="959527" h="925524">
                  <a:moveTo>
                    <a:pt x="0" y="925524"/>
                  </a:moveTo>
                  <a:lnTo>
                    <a:pt x="33087" y="893609"/>
                  </a:lnTo>
                  <a:lnTo>
                    <a:pt x="66174" y="861695"/>
                  </a:lnTo>
                  <a:lnTo>
                    <a:pt x="99261" y="829780"/>
                  </a:lnTo>
                  <a:lnTo>
                    <a:pt x="132348" y="797866"/>
                  </a:lnTo>
                  <a:lnTo>
                    <a:pt x="165435" y="765951"/>
                  </a:lnTo>
                  <a:lnTo>
                    <a:pt x="198523" y="734036"/>
                  </a:lnTo>
                  <a:lnTo>
                    <a:pt x="231610" y="702122"/>
                  </a:lnTo>
                  <a:lnTo>
                    <a:pt x="264697" y="670207"/>
                  </a:lnTo>
                  <a:lnTo>
                    <a:pt x="297784" y="638292"/>
                  </a:lnTo>
                  <a:lnTo>
                    <a:pt x="330871" y="606378"/>
                  </a:lnTo>
                  <a:lnTo>
                    <a:pt x="363958" y="574463"/>
                  </a:lnTo>
                  <a:lnTo>
                    <a:pt x="397046" y="542548"/>
                  </a:lnTo>
                  <a:lnTo>
                    <a:pt x="430133" y="510634"/>
                  </a:lnTo>
                  <a:lnTo>
                    <a:pt x="463220" y="478719"/>
                  </a:lnTo>
                  <a:lnTo>
                    <a:pt x="496307" y="446804"/>
                  </a:lnTo>
                  <a:lnTo>
                    <a:pt x="529394" y="414890"/>
                  </a:lnTo>
                  <a:lnTo>
                    <a:pt x="562481" y="382975"/>
                  </a:lnTo>
                  <a:lnTo>
                    <a:pt x="595569" y="351061"/>
                  </a:lnTo>
                  <a:lnTo>
                    <a:pt x="628656" y="319146"/>
                  </a:lnTo>
                  <a:lnTo>
                    <a:pt x="661743" y="287231"/>
                  </a:lnTo>
                  <a:lnTo>
                    <a:pt x="694830" y="255317"/>
                  </a:lnTo>
                  <a:lnTo>
                    <a:pt x="727917" y="223402"/>
                  </a:lnTo>
                  <a:lnTo>
                    <a:pt x="761004" y="191487"/>
                  </a:lnTo>
                  <a:lnTo>
                    <a:pt x="794092" y="159573"/>
                  </a:lnTo>
                  <a:lnTo>
                    <a:pt x="827179" y="127658"/>
                  </a:lnTo>
                  <a:lnTo>
                    <a:pt x="860266" y="95743"/>
                  </a:lnTo>
                  <a:lnTo>
                    <a:pt x="893353" y="63829"/>
                  </a:lnTo>
                  <a:lnTo>
                    <a:pt x="926440" y="31914"/>
                  </a:lnTo>
                  <a:lnTo>
                    <a:pt x="959527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162164" y="2368447"/>
              <a:ext cx="964118" cy="825233"/>
            </a:xfrm>
            <a:custGeom>
              <a:avLst/>
              <a:pathLst>
                <a:path w="964118" h="825233">
                  <a:moveTo>
                    <a:pt x="0" y="825233"/>
                  </a:moveTo>
                  <a:lnTo>
                    <a:pt x="33245" y="796777"/>
                  </a:lnTo>
                  <a:lnTo>
                    <a:pt x="66490" y="768320"/>
                  </a:lnTo>
                  <a:lnTo>
                    <a:pt x="99736" y="739864"/>
                  </a:lnTo>
                  <a:lnTo>
                    <a:pt x="132981" y="711408"/>
                  </a:lnTo>
                  <a:lnTo>
                    <a:pt x="166227" y="682951"/>
                  </a:lnTo>
                  <a:lnTo>
                    <a:pt x="199472" y="654495"/>
                  </a:lnTo>
                  <a:lnTo>
                    <a:pt x="232718" y="626039"/>
                  </a:lnTo>
                  <a:lnTo>
                    <a:pt x="265963" y="597582"/>
                  </a:lnTo>
                  <a:lnTo>
                    <a:pt x="299209" y="569126"/>
                  </a:lnTo>
                  <a:lnTo>
                    <a:pt x="332454" y="540670"/>
                  </a:lnTo>
                  <a:lnTo>
                    <a:pt x="365700" y="512213"/>
                  </a:lnTo>
                  <a:lnTo>
                    <a:pt x="398945" y="483757"/>
                  </a:lnTo>
                  <a:lnTo>
                    <a:pt x="432191" y="455301"/>
                  </a:lnTo>
                  <a:lnTo>
                    <a:pt x="465436" y="426844"/>
                  </a:lnTo>
                  <a:lnTo>
                    <a:pt x="498682" y="398388"/>
                  </a:lnTo>
                  <a:lnTo>
                    <a:pt x="531927" y="369932"/>
                  </a:lnTo>
                  <a:lnTo>
                    <a:pt x="565173" y="341475"/>
                  </a:lnTo>
                  <a:lnTo>
                    <a:pt x="598418" y="313019"/>
                  </a:lnTo>
                  <a:lnTo>
                    <a:pt x="631664" y="284563"/>
                  </a:lnTo>
                  <a:lnTo>
                    <a:pt x="664909" y="256106"/>
                  </a:lnTo>
                  <a:lnTo>
                    <a:pt x="698155" y="227650"/>
                  </a:lnTo>
                  <a:lnTo>
                    <a:pt x="731400" y="199194"/>
                  </a:lnTo>
                  <a:lnTo>
                    <a:pt x="764646" y="170737"/>
                  </a:lnTo>
                  <a:lnTo>
                    <a:pt x="797891" y="142281"/>
                  </a:lnTo>
                  <a:lnTo>
                    <a:pt x="831137" y="113825"/>
                  </a:lnTo>
                  <a:lnTo>
                    <a:pt x="864382" y="85368"/>
                  </a:lnTo>
                  <a:lnTo>
                    <a:pt x="897628" y="56912"/>
                  </a:lnTo>
                  <a:lnTo>
                    <a:pt x="930873" y="28456"/>
                  </a:lnTo>
                  <a:lnTo>
                    <a:pt x="964118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2383288" y="3931158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2315482" y="3472054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315482" y="3012652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2315482" y="2553726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315482" y="2094503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315482" y="1635636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485515" y="404320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910716" y="404320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369820" y="4042910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3828924" y="4043088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288029" y="4042969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747133" y="404320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591374" y="4160208"/>
              <a:ext cx="2151608" cy="144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True colour (displayed average)</a:t>
              </a:r>
            </a:p>
          </p:txBody>
        </p:sp>
        <p:sp>
          <p:nvSpPr>
            <p:cNvPr id="33" name="tx33"/>
            <p:cNvSpPr/>
            <p:nvPr/>
          </p:nvSpPr>
          <p:spPr>
            <a:xfrm rot="-5400000">
              <a:off x="1630940" y="2756511"/>
              <a:ext cx="1084287" cy="1414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Predicted report</a:t>
              </a:r>
            </a:p>
          </p:txBody>
        </p:sp>
        <p:sp>
          <p:nvSpPr>
            <p:cNvPr id="34" name="pl34"/>
            <p:cNvSpPr/>
            <p:nvPr/>
          </p:nvSpPr>
          <p:spPr>
            <a:xfrm>
              <a:off x="2763583" y="46762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405915" y="46762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048248" y="46762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3037009" y="462753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SD 3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3679341" y="462753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SD 5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4321673" y="462753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SD 7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2519418" y="1402443"/>
              <a:ext cx="3881170" cy="164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Regression lines: report on true colour (experience)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629400" y="1371600"/>
            <a:ext cx="5010912" cy="1828800"/>
            <a:chOff x="6629400" y="1371600"/>
            <a:chExt cx="5010912" cy="1828800"/>
          </a:xfrm>
        </p:grpSpPr>
        <p:sp>
          <p:nvSpPr>
            <p:cNvPr id="3" name="rc3"/>
            <p:cNvSpPr/>
            <p:nvPr/>
          </p:nvSpPr>
          <p:spPr>
            <a:xfrm>
              <a:off x="6629400" y="1371600"/>
              <a:ext cx="5010912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7124106" y="2797684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7124106" y="2518960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7124106" y="2240236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7124106" y="1961512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124106" y="1682788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956660" y="1679481"/>
              <a:ext cx="0" cy="1262260"/>
            </a:xfrm>
            <a:custGeom>
              <a:avLst/>
              <a:pathLst>
                <a:path w="0" h="1262260">
                  <a:moveTo>
                    <a:pt x="0" y="12622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344251" y="1679481"/>
              <a:ext cx="0" cy="1262260"/>
            </a:xfrm>
            <a:custGeom>
              <a:avLst/>
              <a:pathLst>
                <a:path w="0" h="1262260">
                  <a:moveTo>
                    <a:pt x="0" y="12622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731842" y="1679481"/>
              <a:ext cx="0" cy="1262260"/>
            </a:xfrm>
            <a:custGeom>
              <a:avLst/>
              <a:pathLst>
                <a:path w="0" h="1262260">
                  <a:moveTo>
                    <a:pt x="0" y="12622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124106" y="2240236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887281" y="1736857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956660" y="1736857"/>
              <a:ext cx="0" cy="478186"/>
            </a:xfrm>
            <a:custGeom>
              <a:avLst/>
              <a:pathLst>
                <a:path w="0" h="478186">
                  <a:moveTo>
                    <a:pt x="0" y="0"/>
                  </a:moveTo>
                  <a:lnTo>
                    <a:pt x="0" y="478186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887281" y="2215043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274871" y="2111956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344251" y="2111956"/>
              <a:ext cx="0" cy="454106"/>
            </a:xfrm>
            <a:custGeom>
              <a:avLst/>
              <a:pathLst>
                <a:path w="0" h="454106">
                  <a:moveTo>
                    <a:pt x="0" y="0"/>
                  </a:moveTo>
                  <a:lnTo>
                    <a:pt x="0" y="454106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274871" y="2566062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0662462" y="2399133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0731842" y="2399133"/>
              <a:ext cx="0" cy="485233"/>
            </a:xfrm>
            <a:custGeom>
              <a:avLst/>
              <a:pathLst>
                <a:path w="0" h="485233">
                  <a:moveTo>
                    <a:pt x="0" y="0"/>
                  </a:moveTo>
                  <a:lnTo>
                    <a:pt x="0" y="485233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0662462" y="2884366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956660" y="1975950"/>
              <a:ext cx="2775181" cy="665799"/>
            </a:xfrm>
            <a:custGeom>
              <a:avLst/>
              <a:pathLst>
                <a:path w="2775181" h="665799">
                  <a:moveTo>
                    <a:pt x="0" y="0"/>
                  </a:moveTo>
                  <a:lnTo>
                    <a:pt x="1387590" y="363059"/>
                  </a:lnTo>
                  <a:lnTo>
                    <a:pt x="2775181" y="665799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7919639" y="1938928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9307229" y="2301987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0694820" y="2604728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886296" y="2753482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0.8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886296" y="2474937"/>
              <a:ext cx="169485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0.9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886296" y="2196391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886296" y="1920346"/>
              <a:ext cx="169485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1.1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886296" y="1640967"/>
              <a:ext cx="169485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1.2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821137" y="300512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3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9208728" y="300512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0596319" y="300512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7</a:t>
              </a:r>
            </a:p>
          </p:txBody>
        </p:sp>
        <p:sp>
          <p:nvSpPr>
            <p:cNvPr id="34" name="tx34"/>
            <p:cNvSpPr/>
            <p:nvPr/>
          </p:nvSpPr>
          <p:spPr>
            <a:xfrm rot="-5400000">
              <a:off x="6225902" y="2238578"/>
              <a:ext cx="1033388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Slope (95% CI)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124106" y="1404589"/>
              <a:ext cx="2751556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Forward slope per level (experience)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629400" y="3246120"/>
            <a:ext cx="5010912" cy="3108960"/>
            <a:chOff x="6629400" y="3246120"/>
            <a:chExt cx="5010912" cy="3108960"/>
          </a:xfrm>
        </p:grpSpPr>
        <p:sp>
          <p:nvSpPr>
            <p:cNvPr id="3" name="rc3"/>
            <p:cNvSpPr/>
            <p:nvPr/>
          </p:nvSpPr>
          <p:spPr>
            <a:xfrm>
              <a:off x="6629400" y="3246120"/>
              <a:ext cx="5010912" cy="31089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7090232" y="599292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7090232" y="557894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7090232" y="516495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7090232" y="475097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090232" y="433699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090232" y="392300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278904" y="5395208"/>
              <a:ext cx="943357" cy="18140"/>
            </a:xfrm>
            <a:custGeom>
              <a:avLst/>
              <a:pathLst>
                <a:path w="943357" h="18140">
                  <a:moveTo>
                    <a:pt x="0" y="1814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278904" y="5349685"/>
              <a:ext cx="943357" cy="22265"/>
            </a:xfrm>
            <a:custGeom>
              <a:avLst/>
              <a:pathLst>
                <a:path w="943357" h="22265">
                  <a:moveTo>
                    <a:pt x="0" y="2226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278904" y="5324273"/>
              <a:ext cx="943357" cy="6278"/>
            </a:xfrm>
            <a:custGeom>
              <a:avLst/>
              <a:pathLst>
                <a:path w="943357" h="6278">
                  <a:moveTo>
                    <a:pt x="0" y="6278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278904" y="5255101"/>
              <a:ext cx="943357" cy="34053"/>
            </a:xfrm>
            <a:custGeom>
              <a:avLst/>
              <a:pathLst>
                <a:path w="943357" h="34053">
                  <a:moveTo>
                    <a:pt x="0" y="3405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278904" y="5247755"/>
              <a:ext cx="943357" cy="10782"/>
            </a:xfrm>
            <a:custGeom>
              <a:avLst/>
              <a:pathLst>
                <a:path w="943357" h="10782">
                  <a:moveTo>
                    <a:pt x="0" y="0"/>
                  </a:moveTo>
                  <a:lnTo>
                    <a:pt x="943357" y="10782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278904" y="5206357"/>
              <a:ext cx="943357" cy="21481"/>
            </a:xfrm>
            <a:custGeom>
              <a:avLst/>
              <a:pathLst>
                <a:path w="943357" h="21481">
                  <a:moveTo>
                    <a:pt x="0" y="0"/>
                  </a:moveTo>
                  <a:lnTo>
                    <a:pt x="943357" y="21481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278904" y="5164959"/>
              <a:ext cx="943357" cy="16027"/>
            </a:xfrm>
            <a:custGeom>
              <a:avLst/>
              <a:pathLst>
                <a:path w="943357" h="16027">
                  <a:moveTo>
                    <a:pt x="0" y="0"/>
                  </a:moveTo>
                  <a:lnTo>
                    <a:pt x="943357" y="16027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278904" y="5123560"/>
              <a:ext cx="943357" cy="24609"/>
            </a:xfrm>
            <a:custGeom>
              <a:avLst/>
              <a:pathLst>
                <a:path w="943357" h="24609">
                  <a:moveTo>
                    <a:pt x="0" y="0"/>
                  </a:moveTo>
                  <a:lnTo>
                    <a:pt x="943357" y="24609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278904" y="5082162"/>
              <a:ext cx="943357" cy="35401"/>
            </a:xfrm>
            <a:custGeom>
              <a:avLst/>
              <a:pathLst>
                <a:path w="943357" h="35401">
                  <a:moveTo>
                    <a:pt x="0" y="0"/>
                  </a:moveTo>
                  <a:lnTo>
                    <a:pt x="943357" y="35401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278904" y="5040764"/>
              <a:ext cx="943357" cy="23660"/>
            </a:xfrm>
            <a:custGeom>
              <a:avLst/>
              <a:pathLst>
                <a:path w="943357" h="23660">
                  <a:moveTo>
                    <a:pt x="0" y="0"/>
                  </a:moveTo>
                  <a:lnTo>
                    <a:pt x="943357" y="2366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278904" y="4999365"/>
              <a:ext cx="943357" cy="39274"/>
            </a:xfrm>
            <a:custGeom>
              <a:avLst/>
              <a:pathLst>
                <a:path w="943357" h="39274">
                  <a:moveTo>
                    <a:pt x="0" y="0"/>
                  </a:moveTo>
                  <a:lnTo>
                    <a:pt x="943357" y="39274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278904" y="4957214"/>
              <a:ext cx="943357" cy="752"/>
            </a:xfrm>
            <a:custGeom>
              <a:avLst/>
              <a:pathLst>
                <a:path w="943357" h="752">
                  <a:moveTo>
                    <a:pt x="0" y="752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278904" y="4916569"/>
              <a:ext cx="943357" cy="9707"/>
            </a:xfrm>
            <a:custGeom>
              <a:avLst/>
              <a:pathLst>
                <a:path w="943357" h="9707">
                  <a:moveTo>
                    <a:pt x="0" y="0"/>
                  </a:moveTo>
                  <a:lnTo>
                    <a:pt x="943357" y="9707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278904" y="4875170"/>
              <a:ext cx="943357" cy="305"/>
            </a:xfrm>
            <a:custGeom>
              <a:avLst/>
              <a:pathLst>
                <a:path w="943357" h="305">
                  <a:moveTo>
                    <a:pt x="0" y="0"/>
                  </a:moveTo>
                  <a:lnTo>
                    <a:pt x="943357" y="305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278904" y="4769091"/>
              <a:ext cx="943357" cy="64681"/>
            </a:xfrm>
            <a:custGeom>
              <a:avLst/>
              <a:pathLst>
                <a:path w="943357" h="64681">
                  <a:moveTo>
                    <a:pt x="0" y="6468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278904" y="4746762"/>
              <a:ext cx="943357" cy="45611"/>
            </a:xfrm>
            <a:custGeom>
              <a:avLst/>
              <a:pathLst>
                <a:path w="943357" h="45611">
                  <a:moveTo>
                    <a:pt x="0" y="4561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7278904" y="4686231"/>
              <a:ext cx="943357" cy="64744"/>
            </a:xfrm>
            <a:custGeom>
              <a:avLst/>
              <a:pathLst>
                <a:path w="943357" h="64744">
                  <a:moveTo>
                    <a:pt x="0" y="64744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7278904" y="4640936"/>
              <a:ext cx="943357" cy="68641"/>
            </a:xfrm>
            <a:custGeom>
              <a:avLst/>
              <a:pathLst>
                <a:path w="943357" h="68641">
                  <a:moveTo>
                    <a:pt x="0" y="6864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278904" y="4651718"/>
              <a:ext cx="943357" cy="16460"/>
            </a:xfrm>
            <a:custGeom>
              <a:avLst/>
              <a:pathLst>
                <a:path w="943357" h="16460">
                  <a:moveTo>
                    <a:pt x="0" y="1646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278904" y="4524018"/>
              <a:ext cx="943357" cy="102762"/>
            </a:xfrm>
            <a:custGeom>
              <a:avLst/>
              <a:pathLst>
                <a:path w="943357" h="102762">
                  <a:moveTo>
                    <a:pt x="0" y="102762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278904" y="4526700"/>
              <a:ext cx="943357" cy="58682"/>
            </a:xfrm>
            <a:custGeom>
              <a:avLst/>
              <a:pathLst>
                <a:path w="943357" h="58682">
                  <a:moveTo>
                    <a:pt x="0" y="58682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278904" y="4488269"/>
              <a:ext cx="943357" cy="55715"/>
            </a:xfrm>
            <a:custGeom>
              <a:avLst/>
              <a:pathLst>
                <a:path w="943357" h="55715">
                  <a:moveTo>
                    <a:pt x="0" y="5571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7263563" y="539800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7263563" y="535661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7263563" y="531521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7263563" y="527381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7263563" y="523241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7263563" y="519101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7263563" y="514961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7263563" y="510822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7263563" y="506682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7263563" y="502542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7263563" y="498402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7263563" y="494262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7263563" y="490122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7263563" y="485983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7263563" y="481843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7263563" y="477703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7263563" y="473563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7263563" y="469423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7263563" y="465283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7263563" y="461144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7263563" y="457004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7263563" y="452864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8206920" y="537986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8206920" y="533434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8206920" y="530893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8206920" y="523976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8206920" y="524319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8206920" y="521249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8206920" y="516564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8206920" y="5132829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8206920" y="510222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8206920" y="504908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8206920" y="502330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8206920" y="4941874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8206920" y="491093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8206920" y="486013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8206920" y="475375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8206920" y="4731422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8206920" y="467089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8206920" y="462559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8206920" y="463637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8206920" y="450867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8206920" y="4511359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8206920" y="447292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8666964" y="599292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8666964" y="557894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8666964" y="516495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8666964" y="475097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8666964" y="433699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8666964" y="392300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8855636" y="5343229"/>
              <a:ext cx="943357" cy="70120"/>
            </a:xfrm>
            <a:custGeom>
              <a:avLst/>
              <a:pathLst>
                <a:path w="943357" h="70120">
                  <a:moveTo>
                    <a:pt x="0" y="7012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8855636" y="5332493"/>
              <a:ext cx="943357" cy="39457"/>
            </a:xfrm>
            <a:custGeom>
              <a:avLst/>
              <a:pathLst>
                <a:path w="943357" h="39457">
                  <a:moveTo>
                    <a:pt x="0" y="3945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8855636" y="5290203"/>
              <a:ext cx="943357" cy="40349"/>
            </a:xfrm>
            <a:custGeom>
              <a:avLst/>
              <a:pathLst>
                <a:path w="943357" h="40349">
                  <a:moveTo>
                    <a:pt x="0" y="40349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8855636" y="5238496"/>
              <a:ext cx="943357" cy="50657"/>
            </a:xfrm>
            <a:custGeom>
              <a:avLst/>
              <a:pathLst>
                <a:path w="943357" h="50657">
                  <a:moveTo>
                    <a:pt x="0" y="5065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8855636" y="5182642"/>
              <a:ext cx="943357" cy="65113"/>
            </a:xfrm>
            <a:custGeom>
              <a:avLst/>
              <a:pathLst>
                <a:path w="943357" h="65113">
                  <a:moveTo>
                    <a:pt x="0" y="6511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8855636" y="5177806"/>
              <a:ext cx="943357" cy="28551"/>
            </a:xfrm>
            <a:custGeom>
              <a:avLst/>
              <a:pathLst>
                <a:path w="943357" h="28551">
                  <a:moveTo>
                    <a:pt x="0" y="2855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8855636" y="5132941"/>
              <a:ext cx="943357" cy="32017"/>
            </a:xfrm>
            <a:custGeom>
              <a:avLst/>
              <a:pathLst>
                <a:path w="943357" h="32017">
                  <a:moveTo>
                    <a:pt x="0" y="3201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8855636" y="5118443"/>
              <a:ext cx="943357" cy="5117"/>
            </a:xfrm>
            <a:custGeom>
              <a:avLst/>
              <a:pathLst>
                <a:path w="943357" h="5117">
                  <a:moveTo>
                    <a:pt x="0" y="511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8855636" y="5065657"/>
              <a:ext cx="943357" cy="16505"/>
            </a:xfrm>
            <a:custGeom>
              <a:avLst/>
              <a:pathLst>
                <a:path w="943357" h="16505">
                  <a:moveTo>
                    <a:pt x="0" y="1650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8855636" y="4996782"/>
              <a:ext cx="943357" cy="43982"/>
            </a:xfrm>
            <a:custGeom>
              <a:avLst/>
              <a:pathLst>
                <a:path w="943357" h="43982">
                  <a:moveTo>
                    <a:pt x="0" y="43982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8855636" y="4973059"/>
              <a:ext cx="943357" cy="26306"/>
            </a:xfrm>
            <a:custGeom>
              <a:avLst/>
              <a:pathLst>
                <a:path w="943357" h="26306">
                  <a:moveTo>
                    <a:pt x="0" y="2630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8855636" y="4901457"/>
              <a:ext cx="943357" cy="56509"/>
            </a:xfrm>
            <a:custGeom>
              <a:avLst/>
              <a:pathLst>
                <a:path w="943357" h="56509">
                  <a:moveTo>
                    <a:pt x="0" y="56509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8855636" y="4831351"/>
              <a:ext cx="943357" cy="85217"/>
            </a:xfrm>
            <a:custGeom>
              <a:avLst/>
              <a:pathLst>
                <a:path w="943357" h="85217">
                  <a:moveTo>
                    <a:pt x="0" y="8521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8855636" y="4816310"/>
              <a:ext cx="943357" cy="58860"/>
            </a:xfrm>
            <a:custGeom>
              <a:avLst/>
              <a:pathLst>
                <a:path w="943357" h="58860">
                  <a:moveTo>
                    <a:pt x="0" y="5886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8855636" y="4814720"/>
              <a:ext cx="943357" cy="19051"/>
            </a:xfrm>
            <a:custGeom>
              <a:avLst/>
              <a:pathLst>
                <a:path w="943357" h="19051">
                  <a:moveTo>
                    <a:pt x="0" y="1905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8855636" y="4737997"/>
              <a:ext cx="943357" cy="54377"/>
            </a:xfrm>
            <a:custGeom>
              <a:avLst/>
              <a:pathLst>
                <a:path w="943357" h="54377">
                  <a:moveTo>
                    <a:pt x="0" y="5437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8855636" y="4698379"/>
              <a:ext cx="943357" cy="52596"/>
            </a:xfrm>
            <a:custGeom>
              <a:avLst/>
              <a:pathLst>
                <a:path w="943357" h="52596">
                  <a:moveTo>
                    <a:pt x="0" y="5259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8855636" y="4684663"/>
              <a:ext cx="943357" cy="24913"/>
            </a:xfrm>
            <a:custGeom>
              <a:avLst/>
              <a:pathLst>
                <a:path w="943357" h="24913">
                  <a:moveTo>
                    <a:pt x="0" y="2491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855636" y="4639171"/>
              <a:ext cx="943357" cy="29007"/>
            </a:xfrm>
            <a:custGeom>
              <a:avLst/>
              <a:pathLst>
                <a:path w="943357" h="29007">
                  <a:moveTo>
                    <a:pt x="0" y="2900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8855636" y="4614417"/>
              <a:ext cx="943357" cy="12363"/>
            </a:xfrm>
            <a:custGeom>
              <a:avLst/>
              <a:pathLst>
                <a:path w="943357" h="12363">
                  <a:moveTo>
                    <a:pt x="0" y="1236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8855636" y="4558970"/>
              <a:ext cx="943357" cy="26411"/>
            </a:xfrm>
            <a:custGeom>
              <a:avLst/>
              <a:pathLst>
                <a:path w="943357" h="26411">
                  <a:moveTo>
                    <a:pt x="0" y="2641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8855636" y="4543984"/>
              <a:ext cx="943357" cy="4517"/>
            </a:xfrm>
            <a:custGeom>
              <a:avLst/>
              <a:pathLst>
                <a:path w="943357" h="4517">
                  <a:moveTo>
                    <a:pt x="0" y="0"/>
                  </a:moveTo>
                  <a:lnTo>
                    <a:pt x="943357" y="4517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8840295" y="539800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8840295" y="535661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8840295" y="531521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8840295" y="527381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8840295" y="523241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8840295" y="519101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8840295" y="514961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8840295" y="510822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8840295" y="506682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8840295" y="502542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8840295" y="498402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8840295" y="494262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8840295" y="490122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8840295" y="485983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8840295" y="481843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8840295" y="477703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8840295" y="473563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8840295" y="469423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8840295" y="465283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8840295" y="461144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8840295" y="457004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8840295" y="452864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9783652" y="532788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9783652" y="531715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9783652" y="527486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9783652" y="522315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9783652" y="516730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9783652" y="516246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9783652" y="511760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9783652" y="510310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9783652" y="505031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9783652" y="498144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9783652" y="4957719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9783652" y="488611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9783652" y="481601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9783652" y="4800969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9783652" y="479938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9783652" y="472265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9783652" y="4683039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9783652" y="466932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9783652" y="462383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9783652" y="459907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9783652" y="454363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9783652" y="453316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10243696" y="599292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10243696" y="557894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10243696" y="516495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10243696" y="475097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10243696" y="433699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10243696" y="392300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10432368" y="5300338"/>
              <a:ext cx="943357" cy="113010"/>
            </a:xfrm>
            <a:custGeom>
              <a:avLst/>
              <a:pathLst>
                <a:path w="943357" h="113010">
                  <a:moveTo>
                    <a:pt x="0" y="11301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10432368" y="5248201"/>
              <a:ext cx="943357" cy="123749"/>
            </a:xfrm>
            <a:custGeom>
              <a:avLst/>
              <a:pathLst>
                <a:path w="943357" h="123749">
                  <a:moveTo>
                    <a:pt x="0" y="123749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10432368" y="5253538"/>
              <a:ext cx="943357" cy="77014"/>
            </a:xfrm>
            <a:custGeom>
              <a:avLst/>
              <a:pathLst>
                <a:path w="943357" h="77014">
                  <a:moveTo>
                    <a:pt x="0" y="77014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10432368" y="5176113"/>
              <a:ext cx="943357" cy="113040"/>
            </a:xfrm>
            <a:custGeom>
              <a:avLst/>
              <a:pathLst>
                <a:path w="943357" h="113040">
                  <a:moveTo>
                    <a:pt x="0" y="11304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10432368" y="5126305"/>
              <a:ext cx="943357" cy="121450"/>
            </a:xfrm>
            <a:custGeom>
              <a:avLst/>
              <a:pathLst>
                <a:path w="943357" h="121450">
                  <a:moveTo>
                    <a:pt x="0" y="12145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10432368" y="5130101"/>
              <a:ext cx="943357" cy="76256"/>
            </a:xfrm>
            <a:custGeom>
              <a:avLst/>
              <a:pathLst>
                <a:path w="943357" h="76256">
                  <a:moveTo>
                    <a:pt x="0" y="7625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10432368" y="5054488"/>
              <a:ext cx="943357" cy="110470"/>
            </a:xfrm>
            <a:custGeom>
              <a:avLst/>
              <a:pathLst>
                <a:path w="943357" h="110470">
                  <a:moveTo>
                    <a:pt x="0" y="11047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10432368" y="5030610"/>
              <a:ext cx="943357" cy="92950"/>
            </a:xfrm>
            <a:custGeom>
              <a:avLst/>
              <a:pathLst>
                <a:path w="943357" h="92950">
                  <a:moveTo>
                    <a:pt x="0" y="9295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10432368" y="5010469"/>
              <a:ext cx="943357" cy="71692"/>
            </a:xfrm>
            <a:custGeom>
              <a:avLst/>
              <a:pathLst>
                <a:path w="943357" h="71692">
                  <a:moveTo>
                    <a:pt x="0" y="71692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10432368" y="4965710"/>
              <a:ext cx="943357" cy="75054"/>
            </a:xfrm>
            <a:custGeom>
              <a:avLst/>
              <a:pathLst>
                <a:path w="943357" h="75054">
                  <a:moveTo>
                    <a:pt x="0" y="75054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10432368" y="4944450"/>
              <a:ext cx="943357" cy="54915"/>
            </a:xfrm>
            <a:custGeom>
              <a:avLst/>
              <a:pathLst>
                <a:path w="943357" h="54915">
                  <a:moveTo>
                    <a:pt x="0" y="5491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10432368" y="4924472"/>
              <a:ext cx="943357" cy="33494"/>
            </a:xfrm>
            <a:custGeom>
              <a:avLst/>
              <a:pathLst>
                <a:path w="943357" h="33494">
                  <a:moveTo>
                    <a:pt x="0" y="33494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10432368" y="4836201"/>
              <a:ext cx="943357" cy="80367"/>
            </a:xfrm>
            <a:custGeom>
              <a:avLst/>
              <a:pathLst>
                <a:path w="943357" h="80367">
                  <a:moveTo>
                    <a:pt x="0" y="8036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10432368" y="4801956"/>
              <a:ext cx="943357" cy="73214"/>
            </a:xfrm>
            <a:custGeom>
              <a:avLst/>
              <a:pathLst>
                <a:path w="943357" h="73214">
                  <a:moveTo>
                    <a:pt x="0" y="73214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10432368" y="4780010"/>
              <a:ext cx="943357" cy="53761"/>
            </a:xfrm>
            <a:custGeom>
              <a:avLst/>
              <a:pathLst>
                <a:path w="943357" h="53761">
                  <a:moveTo>
                    <a:pt x="0" y="5376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10432368" y="4781666"/>
              <a:ext cx="943357" cy="10707"/>
            </a:xfrm>
            <a:custGeom>
              <a:avLst/>
              <a:pathLst>
                <a:path w="943357" h="10707">
                  <a:moveTo>
                    <a:pt x="0" y="1070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10432368" y="4721202"/>
              <a:ext cx="943357" cy="29773"/>
            </a:xfrm>
            <a:custGeom>
              <a:avLst/>
              <a:pathLst>
                <a:path w="943357" h="29773">
                  <a:moveTo>
                    <a:pt x="0" y="2977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10432368" y="4671248"/>
              <a:ext cx="943357" cy="38329"/>
            </a:xfrm>
            <a:custGeom>
              <a:avLst/>
              <a:pathLst>
                <a:path w="943357" h="38329">
                  <a:moveTo>
                    <a:pt x="0" y="38329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10432368" y="4654450"/>
              <a:ext cx="943357" cy="13729"/>
            </a:xfrm>
            <a:custGeom>
              <a:avLst/>
              <a:pathLst>
                <a:path w="943357" h="13729">
                  <a:moveTo>
                    <a:pt x="0" y="13729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10432368" y="4598915"/>
              <a:ext cx="943357" cy="27865"/>
            </a:xfrm>
            <a:custGeom>
              <a:avLst/>
              <a:pathLst>
                <a:path w="943357" h="27865">
                  <a:moveTo>
                    <a:pt x="0" y="2786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10432368" y="4568863"/>
              <a:ext cx="943357" cy="16519"/>
            </a:xfrm>
            <a:custGeom>
              <a:avLst/>
              <a:pathLst>
                <a:path w="943357" h="16519">
                  <a:moveTo>
                    <a:pt x="0" y="16519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10432368" y="4543984"/>
              <a:ext cx="943357" cy="26527"/>
            </a:xfrm>
            <a:custGeom>
              <a:avLst/>
              <a:pathLst>
                <a:path w="943357" h="26527">
                  <a:moveTo>
                    <a:pt x="0" y="0"/>
                  </a:moveTo>
                  <a:lnTo>
                    <a:pt x="943357" y="26527"/>
                  </a:lnTo>
                </a:path>
              </a:pathLst>
            </a:custGeom>
            <a:ln w="12195" cap="flat">
              <a:solidFill>
                <a:srgbClr val="B03A2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10417027" y="539800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10417027" y="535661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10417027" y="531521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10417027" y="527381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10417027" y="523241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10417027" y="519101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10417027" y="514961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10417027" y="510822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10417027" y="506682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10417027" y="502542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10417027" y="498402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10417027" y="494262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10417027" y="490122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10417027" y="485983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10417027" y="481843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10417027" y="477703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10417027" y="473563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10417027" y="469423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10417027" y="465283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10417027" y="461144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10417027" y="457004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10417027" y="452864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11360384" y="528499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11360384" y="523286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11360384" y="523819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11360384" y="516077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11360384" y="511096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11360384" y="511476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11360384" y="5039148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11360384" y="501527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11360384" y="4995129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11360384" y="4950369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11360384" y="492911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11360384" y="4909132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11360384" y="482086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11360384" y="478661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11360384" y="4764670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11360384" y="4766326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11360384" y="4705862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11360384" y="4655907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11360384" y="4639109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11360384" y="4583575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11360384" y="4553523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11360384" y="4555171"/>
              <a:ext cx="30681" cy="3068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tx220"/>
            <p:cNvSpPr/>
            <p:nvPr/>
          </p:nvSpPr>
          <p:spPr>
            <a:xfrm>
              <a:off x="7593229" y="3627778"/>
              <a:ext cx="314705" cy="1141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SD 3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9169580" y="3627778"/>
              <a:ext cx="315467" cy="1141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SD 5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10748522" y="3627778"/>
              <a:ext cx="311048" cy="1141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SD 7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7153561" y="6162483"/>
              <a:ext cx="250686" cy="89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True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8039292" y="613932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8730293" y="6162483"/>
              <a:ext cx="250686" cy="89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True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9616023" y="613932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10307025" y="6162483"/>
              <a:ext cx="250686" cy="89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True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11192755" y="613932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6954102" y="5949081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6886296" y="553509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6886296" y="5120816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6886296" y="4707012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6886296" y="4292909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6886296" y="3879164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235" name="tx235"/>
            <p:cNvSpPr/>
            <p:nvPr/>
          </p:nvSpPr>
          <p:spPr>
            <a:xfrm rot="-5400000">
              <a:off x="6536544" y="4900222"/>
              <a:ext cx="440680" cy="1154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Shade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7090232" y="3279109"/>
              <a:ext cx="3587622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Galton: true colour to mean report (experience)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5852160" cy="3566160"/>
            <a:chOff x="548640" y="1371600"/>
            <a:chExt cx="5852160" cy="356616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5852160" cy="3566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2519418" y="3975003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2519418" y="3515898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519418" y="3056794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519418" y="2597690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519418" y="2138586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519418" y="1679481"/>
              <a:ext cx="2295521" cy="0"/>
            </a:xfrm>
            <a:custGeom>
              <a:avLst/>
              <a:pathLst>
                <a:path w="2295521" h="0">
                  <a:moveTo>
                    <a:pt x="0" y="0"/>
                  </a:moveTo>
                  <a:lnTo>
                    <a:pt x="2295521" y="0"/>
                  </a:lnTo>
                  <a:lnTo>
                    <a:pt x="22955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19418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978522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37626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896730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355835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814939" y="1679481"/>
              <a:ext cx="0" cy="2295521"/>
            </a:xfrm>
            <a:custGeom>
              <a:avLst/>
              <a:pathLst>
                <a:path w="0" h="2295521">
                  <a:moveTo>
                    <a:pt x="0" y="22955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519418" y="1679481"/>
              <a:ext cx="2295521" cy="2295521"/>
            </a:xfrm>
            <a:custGeom>
              <a:avLst/>
              <a:pathLst>
                <a:path w="2295521" h="2295521">
                  <a:moveTo>
                    <a:pt x="0" y="2295521"/>
                  </a:moveTo>
                  <a:lnTo>
                    <a:pt x="2295521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886701" y="2335131"/>
              <a:ext cx="1606864" cy="1011275"/>
            </a:xfrm>
            <a:custGeom>
              <a:avLst/>
              <a:pathLst>
                <a:path w="1606864" h="1011275">
                  <a:moveTo>
                    <a:pt x="0" y="1011275"/>
                  </a:moveTo>
                  <a:lnTo>
                    <a:pt x="55409" y="976403"/>
                  </a:lnTo>
                  <a:lnTo>
                    <a:pt x="110818" y="941531"/>
                  </a:lnTo>
                  <a:lnTo>
                    <a:pt x="166227" y="906660"/>
                  </a:lnTo>
                  <a:lnTo>
                    <a:pt x="221636" y="871788"/>
                  </a:lnTo>
                  <a:lnTo>
                    <a:pt x="277045" y="836917"/>
                  </a:lnTo>
                  <a:lnTo>
                    <a:pt x="332454" y="802045"/>
                  </a:lnTo>
                  <a:lnTo>
                    <a:pt x="387863" y="767174"/>
                  </a:lnTo>
                  <a:lnTo>
                    <a:pt x="443273" y="732302"/>
                  </a:lnTo>
                  <a:lnTo>
                    <a:pt x="498682" y="697431"/>
                  </a:lnTo>
                  <a:lnTo>
                    <a:pt x="554091" y="662559"/>
                  </a:lnTo>
                  <a:lnTo>
                    <a:pt x="609500" y="627687"/>
                  </a:lnTo>
                  <a:lnTo>
                    <a:pt x="664909" y="592816"/>
                  </a:lnTo>
                  <a:lnTo>
                    <a:pt x="720318" y="557944"/>
                  </a:lnTo>
                  <a:lnTo>
                    <a:pt x="775727" y="523073"/>
                  </a:lnTo>
                  <a:lnTo>
                    <a:pt x="831137" y="488201"/>
                  </a:lnTo>
                  <a:lnTo>
                    <a:pt x="886546" y="453330"/>
                  </a:lnTo>
                  <a:lnTo>
                    <a:pt x="941955" y="418458"/>
                  </a:lnTo>
                  <a:lnTo>
                    <a:pt x="997364" y="383587"/>
                  </a:lnTo>
                  <a:lnTo>
                    <a:pt x="1052773" y="348715"/>
                  </a:lnTo>
                  <a:lnTo>
                    <a:pt x="1108182" y="313843"/>
                  </a:lnTo>
                  <a:lnTo>
                    <a:pt x="1163591" y="278972"/>
                  </a:lnTo>
                  <a:lnTo>
                    <a:pt x="1219000" y="244100"/>
                  </a:lnTo>
                  <a:lnTo>
                    <a:pt x="1274410" y="209229"/>
                  </a:lnTo>
                  <a:lnTo>
                    <a:pt x="1329819" y="174357"/>
                  </a:lnTo>
                  <a:lnTo>
                    <a:pt x="1385228" y="139486"/>
                  </a:lnTo>
                  <a:lnTo>
                    <a:pt x="1440637" y="104614"/>
                  </a:lnTo>
                  <a:lnTo>
                    <a:pt x="1496046" y="69743"/>
                  </a:lnTo>
                  <a:lnTo>
                    <a:pt x="1551455" y="34871"/>
                  </a:lnTo>
                  <a:lnTo>
                    <a:pt x="1606864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932611" y="2384222"/>
              <a:ext cx="1515044" cy="938453"/>
            </a:xfrm>
            <a:custGeom>
              <a:avLst/>
              <a:pathLst>
                <a:path w="1515044" h="938453">
                  <a:moveTo>
                    <a:pt x="0" y="938453"/>
                  </a:moveTo>
                  <a:lnTo>
                    <a:pt x="52242" y="906093"/>
                  </a:lnTo>
                  <a:lnTo>
                    <a:pt x="104485" y="873732"/>
                  </a:lnTo>
                  <a:lnTo>
                    <a:pt x="156728" y="841372"/>
                  </a:lnTo>
                  <a:lnTo>
                    <a:pt x="208971" y="809011"/>
                  </a:lnTo>
                  <a:lnTo>
                    <a:pt x="261214" y="776651"/>
                  </a:lnTo>
                  <a:lnTo>
                    <a:pt x="313457" y="744290"/>
                  </a:lnTo>
                  <a:lnTo>
                    <a:pt x="365700" y="711930"/>
                  </a:lnTo>
                  <a:lnTo>
                    <a:pt x="417943" y="679569"/>
                  </a:lnTo>
                  <a:lnTo>
                    <a:pt x="470186" y="647209"/>
                  </a:lnTo>
                  <a:lnTo>
                    <a:pt x="522428" y="614848"/>
                  </a:lnTo>
                  <a:lnTo>
                    <a:pt x="574671" y="582488"/>
                  </a:lnTo>
                  <a:lnTo>
                    <a:pt x="626914" y="550127"/>
                  </a:lnTo>
                  <a:lnTo>
                    <a:pt x="679157" y="517767"/>
                  </a:lnTo>
                  <a:lnTo>
                    <a:pt x="731400" y="485407"/>
                  </a:lnTo>
                  <a:lnTo>
                    <a:pt x="783643" y="453046"/>
                  </a:lnTo>
                  <a:lnTo>
                    <a:pt x="835886" y="420686"/>
                  </a:lnTo>
                  <a:lnTo>
                    <a:pt x="888129" y="388325"/>
                  </a:lnTo>
                  <a:lnTo>
                    <a:pt x="940372" y="355965"/>
                  </a:lnTo>
                  <a:lnTo>
                    <a:pt x="992615" y="323604"/>
                  </a:lnTo>
                  <a:lnTo>
                    <a:pt x="1044857" y="291244"/>
                  </a:lnTo>
                  <a:lnTo>
                    <a:pt x="1097100" y="258883"/>
                  </a:lnTo>
                  <a:lnTo>
                    <a:pt x="1149343" y="226523"/>
                  </a:lnTo>
                  <a:lnTo>
                    <a:pt x="1201586" y="194162"/>
                  </a:lnTo>
                  <a:lnTo>
                    <a:pt x="1253829" y="161802"/>
                  </a:lnTo>
                  <a:lnTo>
                    <a:pt x="1306072" y="129441"/>
                  </a:lnTo>
                  <a:lnTo>
                    <a:pt x="1358315" y="97081"/>
                  </a:lnTo>
                  <a:lnTo>
                    <a:pt x="1410558" y="64720"/>
                  </a:lnTo>
                  <a:lnTo>
                    <a:pt x="1462801" y="32360"/>
                  </a:lnTo>
                  <a:lnTo>
                    <a:pt x="1515044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978522" y="2404272"/>
              <a:ext cx="1469133" cy="878395"/>
            </a:xfrm>
            <a:custGeom>
              <a:avLst/>
              <a:pathLst>
                <a:path w="1469133" h="878395">
                  <a:moveTo>
                    <a:pt x="0" y="878395"/>
                  </a:moveTo>
                  <a:lnTo>
                    <a:pt x="50659" y="848106"/>
                  </a:lnTo>
                  <a:lnTo>
                    <a:pt x="101319" y="817816"/>
                  </a:lnTo>
                  <a:lnTo>
                    <a:pt x="151979" y="787527"/>
                  </a:lnTo>
                  <a:lnTo>
                    <a:pt x="202639" y="757237"/>
                  </a:lnTo>
                  <a:lnTo>
                    <a:pt x="253298" y="726948"/>
                  </a:lnTo>
                  <a:lnTo>
                    <a:pt x="303958" y="696658"/>
                  </a:lnTo>
                  <a:lnTo>
                    <a:pt x="354618" y="666369"/>
                  </a:lnTo>
                  <a:lnTo>
                    <a:pt x="405278" y="636079"/>
                  </a:lnTo>
                  <a:lnTo>
                    <a:pt x="455938" y="605790"/>
                  </a:lnTo>
                  <a:lnTo>
                    <a:pt x="506597" y="575500"/>
                  </a:lnTo>
                  <a:lnTo>
                    <a:pt x="557257" y="545211"/>
                  </a:lnTo>
                  <a:lnTo>
                    <a:pt x="607917" y="514921"/>
                  </a:lnTo>
                  <a:lnTo>
                    <a:pt x="658577" y="484632"/>
                  </a:lnTo>
                  <a:lnTo>
                    <a:pt x="709236" y="454342"/>
                  </a:lnTo>
                  <a:lnTo>
                    <a:pt x="759896" y="424053"/>
                  </a:lnTo>
                  <a:lnTo>
                    <a:pt x="810556" y="393763"/>
                  </a:lnTo>
                  <a:lnTo>
                    <a:pt x="861216" y="363474"/>
                  </a:lnTo>
                  <a:lnTo>
                    <a:pt x="911876" y="333184"/>
                  </a:lnTo>
                  <a:lnTo>
                    <a:pt x="962535" y="302895"/>
                  </a:lnTo>
                  <a:lnTo>
                    <a:pt x="1013195" y="272605"/>
                  </a:lnTo>
                  <a:lnTo>
                    <a:pt x="1063855" y="242316"/>
                  </a:lnTo>
                  <a:lnTo>
                    <a:pt x="1114515" y="212026"/>
                  </a:lnTo>
                  <a:lnTo>
                    <a:pt x="1165174" y="181737"/>
                  </a:lnTo>
                  <a:lnTo>
                    <a:pt x="1215834" y="151447"/>
                  </a:lnTo>
                  <a:lnTo>
                    <a:pt x="1266494" y="121158"/>
                  </a:lnTo>
                  <a:lnTo>
                    <a:pt x="1317154" y="90868"/>
                  </a:lnTo>
                  <a:lnTo>
                    <a:pt x="1367814" y="60579"/>
                  </a:lnTo>
                  <a:lnTo>
                    <a:pt x="1418473" y="30289"/>
                  </a:lnTo>
                  <a:lnTo>
                    <a:pt x="1469133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2383288" y="3931158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2315482" y="3472054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315482" y="3012652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2315482" y="2553726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315482" y="2094503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315482" y="1635636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485515" y="4043207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910716" y="404320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369820" y="4042910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3828924" y="4043088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288029" y="4042969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747133" y="404320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438467" y="4163928"/>
              <a:ext cx="457423" cy="141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33" name="tx33"/>
            <p:cNvSpPr/>
            <p:nvPr/>
          </p:nvSpPr>
          <p:spPr>
            <a:xfrm rot="-5400000">
              <a:off x="1484419" y="2770948"/>
              <a:ext cx="1406202" cy="1125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Predicted true colour</a:t>
              </a:r>
            </a:p>
          </p:txBody>
        </p:sp>
        <p:sp>
          <p:nvSpPr>
            <p:cNvPr id="34" name="pl34"/>
            <p:cNvSpPr/>
            <p:nvPr/>
          </p:nvSpPr>
          <p:spPr>
            <a:xfrm>
              <a:off x="2763583" y="46762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405915" y="46762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048248" y="467620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3037009" y="462753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SD 3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3679341" y="462753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SD 5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4321673" y="462753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SD 7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2519418" y="1402443"/>
              <a:ext cx="3881170" cy="164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Regression lines: true colour on report (experience)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629400" y="1371600"/>
            <a:ext cx="5010912" cy="1828800"/>
            <a:chOff x="6629400" y="1371600"/>
            <a:chExt cx="5010912" cy="1828800"/>
          </a:xfrm>
        </p:grpSpPr>
        <p:sp>
          <p:nvSpPr>
            <p:cNvPr id="3" name="rc3"/>
            <p:cNvSpPr/>
            <p:nvPr/>
          </p:nvSpPr>
          <p:spPr>
            <a:xfrm>
              <a:off x="6629400" y="1371600"/>
              <a:ext cx="5010912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7124106" y="2736725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7124106" y="2486758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7124106" y="2236791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7124106" y="1986824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124106" y="1736857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956660" y="1679481"/>
              <a:ext cx="0" cy="1262260"/>
            </a:xfrm>
            <a:custGeom>
              <a:avLst/>
              <a:pathLst>
                <a:path w="0" h="1262260">
                  <a:moveTo>
                    <a:pt x="0" y="12622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344251" y="1679481"/>
              <a:ext cx="0" cy="1262260"/>
            </a:xfrm>
            <a:custGeom>
              <a:avLst/>
              <a:pathLst>
                <a:path w="0" h="1262260">
                  <a:moveTo>
                    <a:pt x="0" y="12622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731842" y="1679481"/>
              <a:ext cx="0" cy="1262260"/>
            </a:xfrm>
            <a:custGeom>
              <a:avLst/>
              <a:pathLst>
                <a:path w="0" h="1262260">
                  <a:moveTo>
                    <a:pt x="0" y="12622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124106" y="1736857"/>
              <a:ext cx="4440290" cy="0"/>
            </a:xfrm>
            <a:custGeom>
              <a:avLst/>
              <a:pathLst>
                <a:path w="4440290" h="0">
                  <a:moveTo>
                    <a:pt x="0" y="0"/>
                  </a:moveTo>
                  <a:lnTo>
                    <a:pt x="4440290" y="0"/>
                  </a:lnTo>
                  <a:lnTo>
                    <a:pt x="4440290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887281" y="2527592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956660" y="2527592"/>
              <a:ext cx="0" cy="271552"/>
            </a:xfrm>
            <a:custGeom>
              <a:avLst/>
              <a:pathLst>
                <a:path w="0" h="271552">
                  <a:moveTo>
                    <a:pt x="0" y="0"/>
                  </a:moveTo>
                  <a:lnTo>
                    <a:pt x="0" y="271552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887281" y="2799145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274871" y="2557557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344251" y="2557557"/>
              <a:ext cx="0" cy="261232"/>
            </a:xfrm>
            <a:custGeom>
              <a:avLst/>
              <a:pathLst>
                <a:path w="0" h="261232">
                  <a:moveTo>
                    <a:pt x="0" y="0"/>
                  </a:moveTo>
                  <a:lnTo>
                    <a:pt x="0" y="261232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274871" y="2818790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0662462" y="2599581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0731842" y="2599581"/>
              <a:ext cx="0" cy="284784"/>
            </a:xfrm>
            <a:custGeom>
              <a:avLst/>
              <a:pathLst>
                <a:path w="0" h="284784">
                  <a:moveTo>
                    <a:pt x="0" y="0"/>
                  </a:moveTo>
                  <a:lnTo>
                    <a:pt x="0" y="284784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0662462" y="2884366"/>
              <a:ext cx="138759" cy="0"/>
            </a:xfrm>
            <a:custGeom>
              <a:avLst/>
              <a:pathLst>
                <a:path w="138759" h="0">
                  <a:moveTo>
                    <a:pt x="0" y="0"/>
                  </a:moveTo>
                  <a:lnTo>
                    <a:pt x="138759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956660" y="2663368"/>
              <a:ext cx="2775181" cy="78605"/>
            </a:xfrm>
            <a:custGeom>
              <a:avLst/>
              <a:pathLst>
                <a:path w="2775181" h="78605">
                  <a:moveTo>
                    <a:pt x="0" y="0"/>
                  </a:moveTo>
                  <a:lnTo>
                    <a:pt x="1387590" y="24805"/>
                  </a:lnTo>
                  <a:lnTo>
                    <a:pt x="2775181" y="78605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7919639" y="2626347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9307229" y="2651152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0694820" y="2704952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886296" y="2692523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0.6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886296" y="2442913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0.7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886296" y="2192589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0.8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886296" y="1942800"/>
              <a:ext cx="169485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0.9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886296" y="1693012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821137" y="300512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3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9208728" y="300512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0596319" y="300512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7</a:t>
              </a:r>
            </a:p>
          </p:txBody>
        </p:sp>
        <p:sp>
          <p:nvSpPr>
            <p:cNvPr id="34" name="tx34"/>
            <p:cNvSpPr/>
            <p:nvPr/>
          </p:nvSpPr>
          <p:spPr>
            <a:xfrm rot="-5400000">
              <a:off x="6225902" y="2238578"/>
              <a:ext cx="1033388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Slope (95% CI)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124106" y="1404589"/>
              <a:ext cx="2722664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Reverse slope per level (experience)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629400" y="3246120"/>
            <a:ext cx="5010912" cy="3108960"/>
            <a:chOff x="6629400" y="3246120"/>
            <a:chExt cx="5010912" cy="3108960"/>
          </a:xfrm>
        </p:grpSpPr>
        <p:sp>
          <p:nvSpPr>
            <p:cNvPr id="3" name="rc3"/>
            <p:cNvSpPr/>
            <p:nvPr/>
          </p:nvSpPr>
          <p:spPr>
            <a:xfrm>
              <a:off x="6629400" y="3246120"/>
              <a:ext cx="5010912" cy="31089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7090232" y="599292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7090232" y="557894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7090232" y="516495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7090232" y="475097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090232" y="433699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090232" y="392300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278904" y="5317213"/>
              <a:ext cx="943357" cy="468721"/>
            </a:xfrm>
            <a:custGeom>
              <a:avLst/>
              <a:pathLst>
                <a:path w="943357" h="468721">
                  <a:moveTo>
                    <a:pt x="0" y="46872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278904" y="5341316"/>
              <a:ext cx="943357" cy="403219"/>
            </a:xfrm>
            <a:custGeom>
              <a:avLst/>
              <a:pathLst>
                <a:path w="943357" h="403219">
                  <a:moveTo>
                    <a:pt x="0" y="403219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278904" y="5320720"/>
              <a:ext cx="943357" cy="382417"/>
            </a:xfrm>
            <a:custGeom>
              <a:avLst/>
              <a:pathLst>
                <a:path w="943357" h="382417">
                  <a:moveTo>
                    <a:pt x="0" y="38241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278904" y="5333637"/>
              <a:ext cx="943357" cy="328102"/>
            </a:xfrm>
            <a:custGeom>
              <a:avLst/>
              <a:pathLst>
                <a:path w="943357" h="328102">
                  <a:moveTo>
                    <a:pt x="0" y="328102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278904" y="5328637"/>
              <a:ext cx="943357" cy="291703"/>
            </a:xfrm>
            <a:custGeom>
              <a:avLst/>
              <a:pathLst>
                <a:path w="943357" h="291703">
                  <a:moveTo>
                    <a:pt x="0" y="29170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278904" y="5262278"/>
              <a:ext cx="943357" cy="316664"/>
            </a:xfrm>
            <a:custGeom>
              <a:avLst/>
              <a:pathLst>
                <a:path w="943357" h="316664">
                  <a:moveTo>
                    <a:pt x="0" y="316664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278904" y="5277876"/>
              <a:ext cx="943357" cy="259667"/>
            </a:xfrm>
            <a:custGeom>
              <a:avLst/>
              <a:pathLst>
                <a:path w="943357" h="259667">
                  <a:moveTo>
                    <a:pt x="0" y="25966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278904" y="5294168"/>
              <a:ext cx="943357" cy="201977"/>
            </a:xfrm>
            <a:custGeom>
              <a:avLst/>
              <a:pathLst>
                <a:path w="943357" h="201977">
                  <a:moveTo>
                    <a:pt x="0" y="20197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278904" y="5290949"/>
              <a:ext cx="943357" cy="163798"/>
            </a:xfrm>
            <a:custGeom>
              <a:avLst/>
              <a:pathLst>
                <a:path w="943357" h="163798">
                  <a:moveTo>
                    <a:pt x="0" y="163798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278904" y="5263528"/>
              <a:ext cx="943357" cy="149820"/>
            </a:xfrm>
            <a:custGeom>
              <a:avLst/>
              <a:pathLst>
                <a:path w="943357" h="149820">
                  <a:moveTo>
                    <a:pt x="0" y="14982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278904" y="5234044"/>
              <a:ext cx="943357" cy="137906"/>
            </a:xfrm>
            <a:custGeom>
              <a:avLst/>
              <a:pathLst>
                <a:path w="943357" h="137906">
                  <a:moveTo>
                    <a:pt x="0" y="13790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278904" y="5219512"/>
              <a:ext cx="943357" cy="111039"/>
            </a:xfrm>
            <a:custGeom>
              <a:avLst/>
              <a:pathLst>
                <a:path w="943357" h="111039">
                  <a:moveTo>
                    <a:pt x="0" y="111039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278904" y="5219562"/>
              <a:ext cx="943357" cy="69591"/>
            </a:xfrm>
            <a:custGeom>
              <a:avLst/>
              <a:pathLst>
                <a:path w="943357" h="69591">
                  <a:moveTo>
                    <a:pt x="0" y="6959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278904" y="5166089"/>
              <a:ext cx="943357" cy="81666"/>
            </a:xfrm>
            <a:custGeom>
              <a:avLst/>
              <a:pathLst>
                <a:path w="943357" h="81666">
                  <a:moveTo>
                    <a:pt x="0" y="8166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278904" y="5158835"/>
              <a:ext cx="943357" cy="47522"/>
            </a:xfrm>
            <a:custGeom>
              <a:avLst/>
              <a:pathLst>
                <a:path w="943357" h="47522">
                  <a:moveTo>
                    <a:pt x="0" y="47522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278904" y="5159770"/>
              <a:ext cx="943357" cy="5188"/>
            </a:xfrm>
            <a:custGeom>
              <a:avLst/>
              <a:pathLst>
                <a:path w="943357" h="5188">
                  <a:moveTo>
                    <a:pt x="0" y="5188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7278904" y="5096181"/>
              <a:ext cx="943357" cy="27379"/>
            </a:xfrm>
            <a:custGeom>
              <a:avLst/>
              <a:pathLst>
                <a:path w="943357" h="27379">
                  <a:moveTo>
                    <a:pt x="0" y="27379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7278904" y="5082162"/>
              <a:ext cx="943357" cy="11413"/>
            </a:xfrm>
            <a:custGeom>
              <a:avLst/>
              <a:pathLst>
                <a:path w="943357" h="11413">
                  <a:moveTo>
                    <a:pt x="0" y="0"/>
                  </a:moveTo>
                  <a:lnTo>
                    <a:pt x="943357" y="1141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278904" y="5026730"/>
              <a:ext cx="943357" cy="14033"/>
            </a:xfrm>
            <a:custGeom>
              <a:avLst/>
              <a:pathLst>
                <a:path w="943357" h="14033">
                  <a:moveTo>
                    <a:pt x="0" y="1403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278904" y="4999365"/>
              <a:ext cx="943357" cy="6644"/>
            </a:xfrm>
            <a:custGeom>
              <a:avLst/>
              <a:pathLst>
                <a:path w="943357" h="6644">
                  <a:moveTo>
                    <a:pt x="0" y="0"/>
                  </a:moveTo>
                  <a:lnTo>
                    <a:pt x="943357" y="6644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278904" y="4957967"/>
              <a:ext cx="943357" cy="9473"/>
            </a:xfrm>
            <a:custGeom>
              <a:avLst/>
              <a:pathLst>
                <a:path w="943357" h="9473">
                  <a:moveTo>
                    <a:pt x="0" y="0"/>
                  </a:moveTo>
                  <a:lnTo>
                    <a:pt x="943357" y="947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278904" y="4916569"/>
              <a:ext cx="943357" cy="39028"/>
            </a:xfrm>
            <a:custGeom>
              <a:avLst/>
              <a:pathLst>
                <a:path w="943357" h="39028">
                  <a:moveTo>
                    <a:pt x="0" y="0"/>
                  </a:moveTo>
                  <a:lnTo>
                    <a:pt x="943357" y="3902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7278904" y="4875170"/>
              <a:ext cx="943357" cy="36733"/>
            </a:xfrm>
            <a:custGeom>
              <a:avLst/>
              <a:pathLst>
                <a:path w="943357" h="36733">
                  <a:moveTo>
                    <a:pt x="0" y="0"/>
                  </a:moveTo>
                  <a:lnTo>
                    <a:pt x="943357" y="3673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7278904" y="4833772"/>
              <a:ext cx="943357" cy="32627"/>
            </a:xfrm>
            <a:custGeom>
              <a:avLst/>
              <a:pathLst>
                <a:path w="943357" h="32627">
                  <a:moveTo>
                    <a:pt x="0" y="0"/>
                  </a:moveTo>
                  <a:lnTo>
                    <a:pt x="943357" y="32627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7278904" y="4792374"/>
              <a:ext cx="943357" cy="30714"/>
            </a:xfrm>
            <a:custGeom>
              <a:avLst/>
              <a:pathLst>
                <a:path w="943357" h="30714">
                  <a:moveTo>
                    <a:pt x="0" y="0"/>
                  </a:moveTo>
                  <a:lnTo>
                    <a:pt x="943357" y="30714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7278904" y="4750975"/>
              <a:ext cx="943357" cy="54308"/>
            </a:xfrm>
            <a:custGeom>
              <a:avLst/>
              <a:pathLst>
                <a:path w="943357" h="54308">
                  <a:moveTo>
                    <a:pt x="0" y="0"/>
                  </a:moveTo>
                  <a:lnTo>
                    <a:pt x="943357" y="5430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7278904" y="4709577"/>
              <a:ext cx="943357" cy="116750"/>
            </a:xfrm>
            <a:custGeom>
              <a:avLst/>
              <a:pathLst>
                <a:path w="943357" h="116750">
                  <a:moveTo>
                    <a:pt x="0" y="0"/>
                  </a:moveTo>
                  <a:lnTo>
                    <a:pt x="943357" y="11675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7278904" y="4668179"/>
              <a:ext cx="943357" cy="102754"/>
            </a:xfrm>
            <a:custGeom>
              <a:avLst/>
              <a:pathLst>
                <a:path w="943357" h="102754">
                  <a:moveTo>
                    <a:pt x="0" y="0"/>
                  </a:moveTo>
                  <a:lnTo>
                    <a:pt x="943357" y="102754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7278904" y="4626780"/>
              <a:ext cx="943357" cy="128883"/>
            </a:xfrm>
            <a:custGeom>
              <a:avLst/>
              <a:pathLst>
                <a:path w="943357" h="128883">
                  <a:moveTo>
                    <a:pt x="0" y="0"/>
                  </a:moveTo>
                  <a:lnTo>
                    <a:pt x="943357" y="12888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7278904" y="4585382"/>
              <a:ext cx="943357" cy="154075"/>
            </a:xfrm>
            <a:custGeom>
              <a:avLst/>
              <a:pathLst>
                <a:path w="943357" h="154075">
                  <a:moveTo>
                    <a:pt x="0" y="0"/>
                  </a:moveTo>
                  <a:lnTo>
                    <a:pt x="943357" y="154075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7278904" y="4543984"/>
              <a:ext cx="943357" cy="184790"/>
            </a:xfrm>
            <a:custGeom>
              <a:avLst/>
              <a:pathLst>
                <a:path w="943357" h="184790">
                  <a:moveTo>
                    <a:pt x="0" y="0"/>
                  </a:moveTo>
                  <a:lnTo>
                    <a:pt x="943357" y="18479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278904" y="4502585"/>
              <a:ext cx="943357" cy="190865"/>
            </a:xfrm>
            <a:custGeom>
              <a:avLst/>
              <a:pathLst>
                <a:path w="943357" h="190865">
                  <a:moveTo>
                    <a:pt x="0" y="0"/>
                  </a:moveTo>
                  <a:lnTo>
                    <a:pt x="943357" y="190865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7278904" y="4461187"/>
              <a:ext cx="943357" cy="191097"/>
            </a:xfrm>
            <a:custGeom>
              <a:avLst/>
              <a:pathLst>
                <a:path w="943357" h="191097">
                  <a:moveTo>
                    <a:pt x="0" y="0"/>
                  </a:moveTo>
                  <a:lnTo>
                    <a:pt x="943357" y="191097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7278904" y="4419789"/>
              <a:ext cx="943357" cy="259419"/>
            </a:xfrm>
            <a:custGeom>
              <a:avLst/>
              <a:pathLst>
                <a:path w="943357" h="259419">
                  <a:moveTo>
                    <a:pt x="0" y="0"/>
                  </a:moveTo>
                  <a:lnTo>
                    <a:pt x="943357" y="259419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7278904" y="4378390"/>
              <a:ext cx="943357" cy="292809"/>
            </a:xfrm>
            <a:custGeom>
              <a:avLst/>
              <a:pathLst>
                <a:path w="943357" h="292809">
                  <a:moveTo>
                    <a:pt x="0" y="0"/>
                  </a:moveTo>
                  <a:lnTo>
                    <a:pt x="943357" y="292809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7278904" y="4336992"/>
              <a:ext cx="943357" cy="320882"/>
            </a:xfrm>
            <a:custGeom>
              <a:avLst/>
              <a:pathLst>
                <a:path w="943357" h="320882">
                  <a:moveTo>
                    <a:pt x="0" y="0"/>
                  </a:moveTo>
                  <a:lnTo>
                    <a:pt x="943357" y="320882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7278904" y="4295594"/>
              <a:ext cx="943357" cy="351299"/>
            </a:xfrm>
            <a:custGeom>
              <a:avLst/>
              <a:pathLst>
                <a:path w="943357" h="351299">
                  <a:moveTo>
                    <a:pt x="0" y="0"/>
                  </a:moveTo>
                  <a:lnTo>
                    <a:pt x="943357" y="351299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7278904" y="4254195"/>
              <a:ext cx="943357" cy="440915"/>
            </a:xfrm>
            <a:custGeom>
              <a:avLst/>
              <a:pathLst>
                <a:path w="943357" h="440915">
                  <a:moveTo>
                    <a:pt x="0" y="0"/>
                  </a:moveTo>
                  <a:lnTo>
                    <a:pt x="943357" y="440915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7278904" y="4212797"/>
              <a:ext cx="943357" cy="424916"/>
            </a:xfrm>
            <a:custGeom>
              <a:avLst/>
              <a:pathLst>
                <a:path w="943357" h="424916">
                  <a:moveTo>
                    <a:pt x="0" y="0"/>
                  </a:moveTo>
                  <a:lnTo>
                    <a:pt x="943357" y="424916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7278904" y="4171399"/>
              <a:ext cx="943357" cy="476253"/>
            </a:xfrm>
            <a:custGeom>
              <a:avLst/>
              <a:pathLst>
                <a:path w="943357" h="476253">
                  <a:moveTo>
                    <a:pt x="0" y="0"/>
                  </a:moveTo>
                  <a:lnTo>
                    <a:pt x="943357" y="47625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7278904" y="4130000"/>
              <a:ext cx="943357" cy="479703"/>
            </a:xfrm>
            <a:custGeom>
              <a:avLst/>
              <a:pathLst>
                <a:path w="943357" h="479703">
                  <a:moveTo>
                    <a:pt x="0" y="0"/>
                  </a:moveTo>
                  <a:lnTo>
                    <a:pt x="943357" y="47970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278904" y="4088602"/>
              <a:ext cx="943357" cy="534211"/>
            </a:xfrm>
            <a:custGeom>
              <a:avLst/>
              <a:pathLst>
                <a:path w="943357" h="534211">
                  <a:moveTo>
                    <a:pt x="0" y="0"/>
                  </a:moveTo>
                  <a:lnTo>
                    <a:pt x="943357" y="534211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7278904" y="3964407"/>
              <a:ext cx="943357" cy="687766"/>
            </a:xfrm>
            <a:custGeom>
              <a:avLst/>
              <a:pathLst>
                <a:path w="943357" h="687766">
                  <a:moveTo>
                    <a:pt x="0" y="0"/>
                  </a:moveTo>
                  <a:lnTo>
                    <a:pt x="943357" y="687766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7263563" y="577059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7263563" y="572919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7263563" y="568779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7263563" y="564639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7263563" y="560500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7263563" y="556360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7263563" y="552220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7263563" y="548080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7263563" y="543940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7263563" y="539800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7263563" y="535661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7263563" y="531521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7263563" y="527381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7263563" y="523241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7263563" y="519101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7263563" y="514961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7263563" y="510822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7263563" y="506682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7263563" y="502542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7263563" y="498402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7263563" y="494262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7263563" y="490122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7263563" y="485983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7263563" y="481843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7263563" y="477703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7263563" y="473563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7263563" y="469423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7263563" y="465283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7263563" y="461144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7263563" y="457004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7263563" y="452864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7263563" y="448724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7263563" y="444584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7263563" y="440444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263563" y="436305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7263563" y="432165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7263563" y="428025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7263563" y="423885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7263563" y="419745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7263563" y="415605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7263563" y="411466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7263563" y="407326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7263563" y="394906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8206920" y="530187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8206920" y="532597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8206920" y="530538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8206920" y="531829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8206920" y="531329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8206920" y="524693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8206920" y="526253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8206920" y="527882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8206920" y="527560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8206920" y="524818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8206920" y="521870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8206920" y="520417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8206920" y="520422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8206920" y="515074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8206920" y="514349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8206920" y="514442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8206920" y="508084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8206920" y="507823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8206920" y="501139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8206920" y="499067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8206920" y="495210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8206920" y="494025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8206920" y="489656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8206920" y="485105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8206920" y="480774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8206920" y="478994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8206920" y="481098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8206920" y="475559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8206920" y="474032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8206920" y="472411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8206920" y="471343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8206920" y="467811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8206920" y="463694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8206920" y="466386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8206920" y="465586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8206920" y="464253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8206920" y="463155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8206920" y="467977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8206920" y="462237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8206920" y="463231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8206920" y="459436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8206920" y="460747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8206920" y="463683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8666964" y="599292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8666964" y="557894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8666964" y="516495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8666964" y="475097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8666964" y="433699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8666964" y="392300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8855636" y="5289154"/>
              <a:ext cx="943357" cy="455381"/>
            </a:xfrm>
            <a:custGeom>
              <a:avLst/>
              <a:pathLst>
                <a:path w="943357" h="455381">
                  <a:moveTo>
                    <a:pt x="0" y="45538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8855636" y="5339867"/>
              <a:ext cx="943357" cy="363270"/>
            </a:xfrm>
            <a:custGeom>
              <a:avLst/>
              <a:pathLst>
                <a:path w="943357" h="363270">
                  <a:moveTo>
                    <a:pt x="0" y="36327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8855636" y="5312342"/>
              <a:ext cx="943357" cy="349397"/>
            </a:xfrm>
            <a:custGeom>
              <a:avLst/>
              <a:pathLst>
                <a:path w="943357" h="349397">
                  <a:moveTo>
                    <a:pt x="0" y="34939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8855636" y="5298629"/>
              <a:ext cx="943357" cy="321711"/>
            </a:xfrm>
            <a:custGeom>
              <a:avLst/>
              <a:pathLst>
                <a:path w="943357" h="321711">
                  <a:moveTo>
                    <a:pt x="0" y="32171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8855636" y="5310290"/>
              <a:ext cx="943357" cy="268652"/>
            </a:xfrm>
            <a:custGeom>
              <a:avLst/>
              <a:pathLst>
                <a:path w="943357" h="268652">
                  <a:moveTo>
                    <a:pt x="0" y="268652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8855636" y="5311701"/>
              <a:ext cx="943357" cy="225842"/>
            </a:xfrm>
            <a:custGeom>
              <a:avLst/>
              <a:pathLst>
                <a:path w="943357" h="225842">
                  <a:moveTo>
                    <a:pt x="0" y="225842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8855636" y="5282289"/>
              <a:ext cx="943357" cy="213856"/>
            </a:xfrm>
            <a:custGeom>
              <a:avLst/>
              <a:pathLst>
                <a:path w="943357" h="213856">
                  <a:moveTo>
                    <a:pt x="0" y="21385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8855636" y="5298610"/>
              <a:ext cx="943357" cy="156136"/>
            </a:xfrm>
            <a:custGeom>
              <a:avLst/>
              <a:pathLst>
                <a:path w="943357" h="156136">
                  <a:moveTo>
                    <a:pt x="0" y="15613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8855636" y="5230338"/>
              <a:ext cx="943357" cy="183011"/>
            </a:xfrm>
            <a:custGeom>
              <a:avLst/>
              <a:pathLst>
                <a:path w="943357" h="183011">
                  <a:moveTo>
                    <a:pt x="0" y="18301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8855636" y="5236074"/>
              <a:ext cx="943357" cy="135876"/>
            </a:xfrm>
            <a:custGeom>
              <a:avLst/>
              <a:pathLst>
                <a:path w="943357" h="135876">
                  <a:moveTo>
                    <a:pt x="0" y="13587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8855636" y="5223741"/>
              <a:ext cx="943357" cy="106810"/>
            </a:xfrm>
            <a:custGeom>
              <a:avLst/>
              <a:pathLst>
                <a:path w="943357" h="106810">
                  <a:moveTo>
                    <a:pt x="0" y="10681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8855636" y="5205228"/>
              <a:ext cx="943357" cy="83926"/>
            </a:xfrm>
            <a:custGeom>
              <a:avLst/>
              <a:pathLst>
                <a:path w="943357" h="83926">
                  <a:moveTo>
                    <a:pt x="0" y="8392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8855636" y="5206661"/>
              <a:ext cx="943357" cy="41094"/>
            </a:xfrm>
            <a:custGeom>
              <a:avLst/>
              <a:pathLst>
                <a:path w="943357" h="41094">
                  <a:moveTo>
                    <a:pt x="0" y="41094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8855636" y="5168500"/>
              <a:ext cx="943357" cy="37857"/>
            </a:xfrm>
            <a:custGeom>
              <a:avLst/>
              <a:pathLst>
                <a:path w="943357" h="37857">
                  <a:moveTo>
                    <a:pt x="0" y="3785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8855636" y="5159324"/>
              <a:ext cx="943357" cy="5634"/>
            </a:xfrm>
            <a:custGeom>
              <a:avLst/>
              <a:pathLst>
                <a:path w="943357" h="5634">
                  <a:moveTo>
                    <a:pt x="0" y="5634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8855636" y="5123560"/>
              <a:ext cx="943357" cy="7948"/>
            </a:xfrm>
            <a:custGeom>
              <a:avLst/>
              <a:pathLst>
                <a:path w="943357" h="7948">
                  <a:moveTo>
                    <a:pt x="0" y="0"/>
                  </a:moveTo>
                  <a:lnTo>
                    <a:pt x="943357" y="794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8855636" y="5082162"/>
              <a:ext cx="943357" cy="3558"/>
            </a:xfrm>
            <a:custGeom>
              <a:avLst/>
              <a:pathLst>
                <a:path w="943357" h="3558">
                  <a:moveTo>
                    <a:pt x="0" y="0"/>
                  </a:moveTo>
                  <a:lnTo>
                    <a:pt x="943357" y="355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8855636" y="5029603"/>
              <a:ext cx="943357" cy="11160"/>
            </a:xfrm>
            <a:custGeom>
              <a:avLst/>
              <a:pathLst>
                <a:path w="943357" h="11160">
                  <a:moveTo>
                    <a:pt x="0" y="1116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8855636" y="4999365"/>
              <a:ext cx="943357" cy="32754"/>
            </a:xfrm>
            <a:custGeom>
              <a:avLst/>
              <a:pathLst>
                <a:path w="943357" h="32754">
                  <a:moveTo>
                    <a:pt x="0" y="0"/>
                  </a:moveTo>
                  <a:lnTo>
                    <a:pt x="943357" y="32754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8855636" y="4957967"/>
              <a:ext cx="943357" cy="45114"/>
            </a:xfrm>
            <a:custGeom>
              <a:avLst/>
              <a:pathLst>
                <a:path w="943357" h="45114">
                  <a:moveTo>
                    <a:pt x="0" y="0"/>
                  </a:moveTo>
                  <a:lnTo>
                    <a:pt x="943357" y="45114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8855636" y="4916569"/>
              <a:ext cx="943357" cy="31839"/>
            </a:xfrm>
            <a:custGeom>
              <a:avLst/>
              <a:pathLst>
                <a:path w="943357" h="31839">
                  <a:moveTo>
                    <a:pt x="0" y="0"/>
                  </a:moveTo>
                  <a:lnTo>
                    <a:pt x="943357" y="31839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8855636" y="4875170"/>
              <a:ext cx="943357" cy="26721"/>
            </a:xfrm>
            <a:custGeom>
              <a:avLst/>
              <a:pathLst>
                <a:path w="943357" h="26721">
                  <a:moveTo>
                    <a:pt x="0" y="0"/>
                  </a:moveTo>
                  <a:lnTo>
                    <a:pt x="943357" y="26721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8855636" y="4833772"/>
              <a:ext cx="943357" cy="94847"/>
            </a:xfrm>
            <a:custGeom>
              <a:avLst/>
              <a:pathLst>
                <a:path w="943357" h="94847">
                  <a:moveTo>
                    <a:pt x="0" y="0"/>
                  </a:moveTo>
                  <a:lnTo>
                    <a:pt x="943357" y="94847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8855636" y="4792374"/>
              <a:ext cx="943357" cy="87736"/>
            </a:xfrm>
            <a:custGeom>
              <a:avLst/>
              <a:pathLst>
                <a:path w="943357" h="87736">
                  <a:moveTo>
                    <a:pt x="0" y="0"/>
                  </a:moveTo>
                  <a:lnTo>
                    <a:pt x="943357" y="87736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8855636" y="4750975"/>
              <a:ext cx="943357" cy="104638"/>
            </a:xfrm>
            <a:custGeom>
              <a:avLst/>
              <a:pathLst>
                <a:path w="943357" h="104638">
                  <a:moveTo>
                    <a:pt x="0" y="0"/>
                  </a:moveTo>
                  <a:lnTo>
                    <a:pt x="943357" y="10463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8855636" y="4709577"/>
              <a:ext cx="943357" cy="136506"/>
            </a:xfrm>
            <a:custGeom>
              <a:avLst/>
              <a:pathLst>
                <a:path w="943357" h="136506">
                  <a:moveTo>
                    <a:pt x="0" y="0"/>
                  </a:moveTo>
                  <a:lnTo>
                    <a:pt x="943357" y="136506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8855636" y="4668179"/>
              <a:ext cx="943357" cy="112917"/>
            </a:xfrm>
            <a:custGeom>
              <a:avLst/>
              <a:pathLst>
                <a:path w="943357" h="112917">
                  <a:moveTo>
                    <a:pt x="0" y="0"/>
                  </a:moveTo>
                  <a:lnTo>
                    <a:pt x="943357" y="112917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8855636" y="4626780"/>
              <a:ext cx="943357" cy="179870"/>
            </a:xfrm>
            <a:custGeom>
              <a:avLst/>
              <a:pathLst>
                <a:path w="943357" h="179870">
                  <a:moveTo>
                    <a:pt x="0" y="0"/>
                  </a:moveTo>
                  <a:lnTo>
                    <a:pt x="943357" y="17987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8855636" y="4585382"/>
              <a:ext cx="943357" cy="169598"/>
            </a:xfrm>
            <a:custGeom>
              <a:avLst/>
              <a:pathLst>
                <a:path w="943357" h="169598">
                  <a:moveTo>
                    <a:pt x="0" y="0"/>
                  </a:moveTo>
                  <a:lnTo>
                    <a:pt x="943357" y="16959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8855636" y="4543984"/>
              <a:ext cx="943357" cy="177581"/>
            </a:xfrm>
            <a:custGeom>
              <a:avLst/>
              <a:pathLst>
                <a:path w="943357" h="177581">
                  <a:moveTo>
                    <a:pt x="0" y="0"/>
                  </a:moveTo>
                  <a:lnTo>
                    <a:pt x="943357" y="177581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8855636" y="4502585"/>
              <a:ext cx="943357" cy="235710"/>
            </a:xfrm>
            <a:custGeom>
              <a:avLst/>
              <a:pathLst>
                <a:path w="943357" h="235710">
                  <a:moveTo>
                    <a:pt x="0" y="0"/>
                  </a:moveTo>
                  <a:lnTo>
                    <a:pt x="943357" y="23571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8855636" y="4461187"/>
              <a:ext cx="943357" cy="268235"/>
            </a:xfrm>
            <a:custGeom>
              <a:avLst/>
              <a:pathLst>
                <a:path w="943357" h="268235">
                  <a:moveTo>
                    <a:pt x="0" y="0"/>
                  </a:moveTo>
                  <a:lnTo>
                    <a:pt x="943357" y="268235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8855636" y="4419789"/>
              <a:ext cx="943357" cy="259723"/>
            </a:xfrm>
            <a:custGeom>
              <a:avLst/>
              <a:pathLst>
                <a:path w="943357" h="259723">
                  <a:moveTo>
                    <a:pt x="0" y="0"/>
                  </a:moveTo>
                  <a:lnTo>
                    <a:pt x="943357" y="25972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8855636" y="4378390"/>
              <a:ext cx="943357" cy="375268"/>
            </a:xfrm>
            <a:custGeom>
              <a:avLst/>
              <a:pathLst>
                <a:path w="943357" h="375268">
                  <a:moveTo>
                    <a:pt x="0" y="0"/>
                  </a:moveTo>
                  <a:lnTo>
                    <a:pt x="943357" y="37526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8855636" y="4336992"/>
              <a:ext cx="943357" cy="356888"/>
            </a:xfrm>
            <a:custGeom>
              <a:avLst/>
              <a:pathLst>
                <a:path w="943357" h="356888">
                  <a:moveTo>
                    <a:pt x="0" y="0"/>
                  </a:moveTo>
                  <a:lnTo>
                    <a:pt x="943357" y="35688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8855636" y="4295594"/>
              <a:ext cx="943357" cy="378622"/>
            </a:xfrm>
            <a:custGeom>
              <a:avLst/>
              <a:pathLst>
                <a:path w="943357" h="378622">
                  <a:moveTo>
                    <a:pt x="0" y="0"/>
                  </a:moveTo>
                  <a:lnTo>
                    <a:pt x="943357" y="378622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8855636" y="4254195"/>
              <a:ext cx="943357" cy="433086"/>
            </a:xfrm>
            <a:custGeom>
              <a:avLst/>
              <a:pathLst>
                <a:path w="943357" h="433086">
                  <a:moveTo>
                    <a:pt x="0" y="0"/>
                  </a:moveTo>
                  <a:lnTo>
                    <a:pt x="943357" y="433086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8855636" y="4212797"/>
              <a:ext cx="943357" cy="500316"/>
            </a:xfrm>
            <a:custGeom>
              <a:avLst/>
              <a:pathLst>
                <a:path w="943357" h="500316">
                  <a:moveTo>
                    <a:pt x="0" y="0"/>
                  </a:moveTo>
                  <a:lnTo>
                    <a:pt x="943357" y="500316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8855636" y="4171399"/>
              <a:ext cx="943357" cy="443997"/>
            </a:xfrm>
            <a:custGeom>
              <a:avLst/>
              <a:pathLst>
                <a:path w="943357" h="443997">
                  <a:moveTo>
                    <a:pt x="0" y="0"/>
                  </a:moveTo>
                  <a:lnTo>
                    <a:pt x="943357" y="443997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8855636" y="4130000"/>
              <a:ext cx="943357" cy="547285"/>
            </a:xfrm>
            <a:custGeom>
              <a:avLst/>
              <a:pathLst>
                <a:path w="943357" h="547285">
                  <a:moveTo>
                    <a:pt x="0" y="0"/>
                  </a:moveTo>
                  <a:lnTo>
                    <a:pt x="943357" y="547285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8855636" y="4088602"/>
              <a:ext cx="943357" cy="489328"/>
            </a:xfrm>
            <a:custGeom>
              <a:avLst/>
              <a:pathLst>
                <a:path w="943357" h="489328">
                  <a:moveTo>
                    <a:pt x="0" y="0"/>
                  </a:moveTo>
                  <a:lnTo>
                    <a:pt x="943357" y="48932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8840295" y="572919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8840295" y="568779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8840295" y="564639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8840295" y="560500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8840295" y="556360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8840295" y="552220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8840295" y="548080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8840295" y="543940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8840295" y="539800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8840295" y="535661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8840295" y="531521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8840295" y="527381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8840295" y="523241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8840295" y="519101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8840295" y="514961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8840295" y="510822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8840295" y="506682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8840295" y="502542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8840295" y="498402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8840295" y="494262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8840295" y="490122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8840295" y="485983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8840295" y="481843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8840295" y="477703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8840295" y="473563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8840295" y="469423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8840295" y="465283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8840295" y="461144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8840295" y="457004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8840295" y="452864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8840295" y="448724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8840295" y="444584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8840295" y="440444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8840295" y="436305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8840295" y="432165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8840295" y="428025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8840295" y="423885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8840295" y="419745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8840295" y="415605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8840295" y="411466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8840295" y="407326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9783652" y="527381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9783652" y="532452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9783652" y="529700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9783652" y="528328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9783652" y="529495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9783652" y="529636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9783652" y="526694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9783652" y="528327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9783652" y="521499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9783652" y="522073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9783652" y="520840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9783652" y="518988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9783652" y="519132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9783652" y="515316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9783652" y="514398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9783652" y="511616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9783652" y="507038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9783652" y="501426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9783652" y="501678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9783652" y="498774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9783652" y="493306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9783652" y="488655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9783652" y="491327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9783652" y="486477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9783652" y="484027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9783652" y="483074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9783652" y="476575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9783652" y="479131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9783652" y="473964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9783652" y="470622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9783652" y="472295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9783652" y="471408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9783652" y="466417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9783652" y="473831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9783652" y="467854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9783652" y="465887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9783652" y="467194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9783652" y="469777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9783652" y="460005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9783652" y="466194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9783652" y="456259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10243696" y="599292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10243696" y="557894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10243696" y="516495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10243696" y="4750975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10243696" y="4336992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10243696" y="3923009"/>
              <a:ext cx="1320699" cy="0"/>
            </a:xfrm>
            <a:custGeom>
              <a:avLst/>
              <a:pathLst>
                <a:path w="1320699" h="0">
                  <a:moveTo>
                    <a:pt x="0" y="0"/>
                  </a:moveTo>
                  <a:lnTo>
                    <a:pt x="1320699" y="0"/>
                  </a:lnTo>
                  <a:lnTo>
                    <a:pt x="132069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10432368" y="5282530"/>
              <a:ext cx="943357" cy="503403"/>
            </a:xfrm>
            <a:custGeom>
              <a:avLst/>
              <a:pathLst>
                <a:path w="943357" h="503403">
                  <a:moveTo>
                    <a:pt x="0" y="503403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10432368" y="5262590"/>
              <a:ext cx="943357" cy="481945"/>
            </a:xfrm>
            <a:custGeom>
              <a:avLst/>
              <a:pathLst>
                <a:path w="943357" h="481945">
                  <a:moveTo>
                    <a:pt x="0" y="48194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10432368" y="5299917"/>
              <a:ext cx="943357" cy="403219"/>
            </a:xfrm>
            <a:custGeom>
              <a:avLst/>
              <a:pathLst>
                <a:path w="943357" h="403219">
                  <a:moveTo>
                    <a:pt x="0" y="403219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10432368" y="5196698"/>
              <a:ext cx="943357" cy="465041"/>
            </a:xfrm>
            <a:custGeom>
              <a:avLst/>
              <a:pathLst>
                <a:path w="943357" h="465041">
                  <a:moveTo>
                    <a:pt x="0" y="46504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10432368" y="5328482"/>
              <a:ext cx="943357" cy="291858"/>
            </a:xfrm>
            <a:custGeom>
              <a:avLst/>
              <a:pathLst>
                <a:path w="943357" h="291858">
                  <a:moveTo>
                    <a:pt x="0" y="291858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10432368" y="5255345"/>
              <a:ext cx="943357" cy="323596"/>
            </a:xfrm>
            <a:custGeom>
              <a:avLst/>
              <a:pathLst>
                <a:path w="943357" h="323596">
                  <a:moveTo>
                    <a:pt x="0" y="32359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10432368" y="5303668"/>
              <a:ext cx="943357" cy="233875"/>
            </a:xfrm>
            <a:custGeom>
              <a:avLst/>
              <a:pathLst>
                <a:path w="943357" h="233875">
                  <a:moveTo>
                    <a:pt x="0" y="23387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10432368" y="5245318"/>
              <a:ext cx="943357" cy="250827"/>
            </a:xfrm>
            <a:custGeom>
              <a:avLst/>
              <a:pathLst>
                <a:path w="943357" h="250827">
                  <a:moveTo>
                    <a:pt x="0" y="25082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10432368" y="5218712"/>
              <a:ext cx="943357" cy="236035"/>
            </a:xfrm>
            <a:custGeom>
              <a:avLst/>
              <a:pathLst>
                <a:path w="943357" h="236035">
                  <a:moveTo>
                    <a:pt x="0" y="236035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10432368" y="5274348"/>
              <a:ext cx="943357" cy="139000"/>
            </a:xfrm>
            <a:custGeom>
              <a:avLst/>
              <a:pathLst>
                <a:path w="943357" h="139000">
                  <a:moveTo>
                    <a:pt x="0" y="13900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10432368" y="5208053"/>
              <a:ext cx="943357" cy="163896"/>
            </a:xfrm>
            <a:custGeom>
              <a:avLst/>
              <a:pathLst>
                <a:path w="943357" h="163896">
                  <a:moveTo>
                    <a:pt x="0" y="16389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10432368" y="5196737"/>
              <a:ext cx="943357" cy="133814"/>
            </a:xfrm>
            <a:custGeom>
              <a:avLst/>
              <a:pathLst>
                <a:path w="943357" h="133814">
                  <a:moveTo>
                    <a:pt x="0" y="133814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10432368" y="5175122"/>
              <a:ext cx="943357" cy="114031"/>
            </a:xfrm>
            <a:custGeom>
              <a:avLst/>
              <a:pathLst>
                <a:path w="943357" h="114031">
                  <a:moveTo>
                    <a:pt x="0" y="114031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10432368" y="5192005"/>
              <a:ext cx="943357" cy="55750"/>
            </a:xfrm>
            <a:custGeom>
              <a:avLst/>
              <a:pathLst>
                <a:path w="943357" h="55750">
                  <a:moveTo>
                    <a:pt x="0" y="5575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10432368" y="5117647"/>
              <a:ext cx="943357" cy="88710"/>
            </a:xfrm>
            <a:custGeom>
              <a:avLst/>
              <a:pathLst>
                <a:path w="943357" h="88710">
                  <a:moveTo>
                    <a:pt x="0" y="88710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10432368" y="5145852"/>
              <a:ext cx="943357" cy="19106"/>
            </a:xfrm>
            <a:custGeom>
              <a:avLst/>
              <a:pathLst>
                <a:path w="943357" h="19106">
                  <a:moveTo>
                    <a:pt x="0" y="19106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10432368" y="5123560"/>
              <a:ext cx="943357" cy="6869"/>
            </a:xfrm>
            <a:custGeom>
              <a:avLst/>
              <a:pathLst>
                <a:path w="943357" h="6869">
                  <a:moveTo>
                    <a:pt x="0" y="0"/>
                  </a:moveTo>
                  <a:lnTo>
                    <a:pt x="943357" y="6869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10432368" y="5058834"/>
              <a:ext cx="943357" cy="23327"/>
            </a:xfrm>
            <a:custGeom>
              <a:avLst/>
              <a:pathLst>
                <a:path w="943357" h="23327">
                  <a:moveTo>
                    <a:pt x="0" y="23327"/>
                  </a:moveTo>
                  <a:lnTo>
                    <a:pt x="943357" y="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10432368" y="5040764"/>
              <a:ext cx="943357" cy="33823"/>
            </a:xfrm>
            <a:custGeom>
              <a:avLst/>
              <a:pathLst>
                <a:path w="943357" h="33823">
                  <a:moveTo>
                    <a:pt x="0" y="0"/>
                  </a:moveTo>
                  <a:lnTo>
                    <a:pt x="943357" y="3382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10432368" y="4999365"/>
              <a:ext cx="943357" cy="20958"/>
            </a:xfrm>
            <a:custGeom>
              <a:avLst/>
              <a:pathLst>
                <a:path w="943357" h="20958">
                  <a:moveTo>
                    <a:pt x="0" y="0"/>
                  </a:moveTo>
                  <a:lnTo>
                    <a:pt x="943357" y="2095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10432368" y="4957967"/>
              <a:ext cx="943357" cy="48158"/>
            </a:xfrm>
            <a:custGeom>
              <a:avLst/>
              <a:pathLst>
                <a:path w="943357" h="48158">
                  <a:moveTo>
                    <a:pt x="0" y="0"/>
                  </a:moveTo>
                  <a:lnTo>
                    <a:pt x="943357" y="4815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10432368" y="4916569"/>
              <a:ext cx="943357" cy="51662"/>
            </a:xfrm>
            <a:custGeom>
              <a:avLst/>
              <a:pathLst>
                <a:path w="943357" h="51662">
                  <a:moveTo>
                    <a:pt x="0" y="0"/>
                  </a:moveTo>
                  <a:lnTo>
                    <a:pt x="943357" y="51662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10432368" y="4875170"/>
              <a:ext cx="943357" cy="55738"/>
            </a:xfrm>
            <a:custGeom>
              <a:avLst/>
              <a:pathLst>
                <a:path w="943357" h="55738">
                  <a:moveTo>
                    <a:pt x="0" y="0"/>
                  </a:moveTo>
                  <a:lnTo>
                    <a:pt x="943357" y="55738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10432368" y="4833772"/>
              <a:ext cx="943357" cy="69207"/>
            </a:xfrm>
            <a:custGeom>
              <a:avLst/>
              <a:pathLst>
                <a:path w="943357" h="69207">
                  <a:moveTo>
                    <a:pt x="0" y="0"/>
                  </a:moveTo>
                  <a:lnTo>
                    <a:pt x="943357" y="69207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10432368" y="4792374"/>
              <a:ext cx="943357" cy="103861"/>
            </a:xfrm>
            <a:custGeom>
              <a:avLst/>
              <a:pathLst>
                <a:path w="943357" h="103861">
                  <a:moveTo>
                    <a:pt x="0" y="0"/>
                  </a:moveTo>
                  <a:lnTo>
                    <a:pt x="943357" y="103861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10432368" y="4750975"/>
              <a:ext cx="943357" cy="123034"/>
            </a:xfrm>
            <a:custGeom>
              <a:avLst/>
              <a:pathLst>
                <a:path w="943357" h="123034">
                  <a:moveTo>
                    <a:pt x="0" y="0"/>
                  </a:moveTo>
                  <a:lnTo>
                    <a:pt x="943357" y="123034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10432368" y="4709577"/>
              <a:ext cx="943357" cy="110973"/>
            </a:xfrm>
            <a:custGeom>
              <a:avLst/>
              <a:pathLst>
                <a:path w="943357" h="110973">
                  <a:moveTo>
                    <a:pt x="0" y="0"/>
                  </a:moveTo>
                  <a:lnTo>
                    <a:pt x="943357" y="11097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10432368" y="4668179"/>
              <a:ext cx="943357" cy="155004"/>
            </a:xfrm>
            <a:custGeom>
              <a:avLst/>
              <a:pathLst>
                <a:path w="943357" h="155004">
                  <a:moveTo>
                    <a:pt x="0" y="0"/>
                  </a:moveTo>
                  <a:lnTo>
                    <a:pt x="943357" y="155004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10432368" y="4626780"/>
              <a:ext cx="943357" cy="187723"/>
            </a:xfrm>
            <a:custGeom>
              <a:avLst/>
              <a:pathLst>
                <a:path w="943357" h="187723">
                  <a:moveTo>
                    <a:pt x="0" y="0"/>
                  </a:moveTo>
                  <a:lnTo>
                    <a:pt x="943357" y="18772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10432368" y="4585382"/>
              <a:ext cx="943357" cy="211309"/>
            </a:xfrm>
            <a:custGeom>
              <a:avLst/>
              <a:pathLst>
                <a:path w="943357" h="211309">
                  <a:moveTo>
                    <a:pt x="0" y="0"/>
                  </a:moveTo>
                  <a:lnTo>
                    <a:pt x="943357" y="211309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10432368" y="4543984"/>
              <a:ext cx="943357" cy="196193"/>
            </a:xfrm>
            <a:custGeom>
              <a:avLst/>
              <a:pathLst>
                <a:path w="943357" h="196193">
                  <a:moveTo>
                    <a:pt x="0" y="0"/>
                  </a:moveTo>
                  <a:lnTo>
                    <a:pt x="943357" y="196193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10432368" y="4502585"/>
              <a:ext cx="943357" cy="224080"/>
            </a:xfrm>
            <a:custGeom>
              <a:avLst/>
              <a:pathLst>
                <a:path w="943357" h="224080">
                  <a:moveTo>
                    <a:pt x="0" y="0"/>
                  </a:moveTo>
                  <a:lnTo>
                    <a:pt x="943357" y="224080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10432368" y="4461187"/>
              <a:ext cx="943357" cy="277212"/>
            </a:xfrm>
            <a:custGeom>
              <a:avLst/>
              <a:pathLst>
                <a:path w="943357" h="277212">
                  <a:moveTo>
                    <a:pt x="0" y="0"/>
                  </a:moveTo>
                  <a:lnTo>
                    <a:pt x="943357" y="277212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10432368" y="4419789"/>
              <a:ext cx="943357" cy="282042"/>
            </a:xfrm>
            <a:custGeom>
              <a:avLst/>
              <a:pathLst>
                <a:path w="943357" h="282042">
                  <a:moveTo>
                    <a:pt x="0" y="0"/>
                  </a:moveTo>
                  <a:lnTo>
                    <a:pt x="943357" y="282042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10432368" y="4378390"/>
              <a:ext cx="943357" cy="366056"/>
            </a:xfrm>
            <a:custGeom>
              <a:avLst/>
              <a:pathLst>
                <a:path w="943357" h="366056">
                  <a:moveTo>
                    <a:pt x="0" y="0"/>
                  </a:moveTo>
                  <a:lnTo>
                    <a:pt x="943357" y="366056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10432368" y="4336992"/>
              <a:ext cx="943357" cy="350992"/>
            </a:xfrm>
            <a:custGeom>
              <a:avLst/>
              <a:pathLst>
                <a:path w="943357" h="350992">
                  <a:moveTo>
                    <a:pt x="0" y="0"/>
                  </a:moveTo>
                  <a:lnTo>
                    <a:pt x="943357" y="350992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10432368" y="4295594"/>
              <a:ext cx="943357" cy="355726"/>
            </a:xfrm>
            <a:custGeom>
              <a:avLst/>
              <a:pathLst>
                <a:path w="943357" h="355726">
                  <a:moveTo>
                    <a:pt x="0" y="0"/>
                  </a:moveTo>
                  <a:lnTo>
                    <a:pt x="943357" y="355726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10432368" y="4254195"/>
              <a:ext cx="943357" cy="391582"/>
            </a:xfrm>
            <a:custGeom>
              <a:avLst/>
              <a:pathLst>
                <a:path w="943357" h="391582">
                  <a:moveTo>
                    <a:pt x="0" y="0"/>
                  </a:moveTo>
                  <a:lnTo>
                    <a:pt x="943357" y="391582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10432368" y="4212797"/>
              <a:ext cx="943357" cy="505784"/>
            </a:xfrm>
            <a:custGeom>
              <a:avLst/>
              <a:pathLst>
                <a:path w="943357" h="505784">
                  <a:moveTo>
                    <a:pt x="0" y="0"/>
                  </a:moveTo>
                  <a:lnTo>
                    <a:pt x="943357" y="505784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10432368" y="4171399"/>
              <a:ext cx="943357" cy="584671"/>
            </a:xfrm>
            <a:custGeom>
              <a:avLst/>
              <a:pathLst>
                <a:path w="943357" h="584671">
                  <a:moveTo>
                    <a:pt x="0" y="0"/>
                  </a:moveTo>
                  <a:lnTo>
                    <a:pt x="943357" y="584671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10432368" y="4088602"/>
              <a:ext cx="943357" cy="617525"/>
            </a:xfrm>
            <a:custGeom>
              <a:avLst/>
              <a:pathLst>
                <a:path w="943357" h="617525">
                  <a:moveTo>
                    <a:pt x="0" y="0"/>
                  </a:moveTo>
                  <a:lnTo>
                    <a:pt x="943357" y="617525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10432368" y="3964407"/>
              <a:ext cx="943357" cy="663159"/>
            </a:xfrm>
            <a:custGeom>
              <a:avLst/>
              <a:pathLst>
                <a:path w="943357" h="663159">
                  <a:moveTo>
                    <a:pt x="0" y="0"/>
                  </a:moveTo>
                  <a:lnTo>
                    <a:pt x="943357" y="663159"/>
                  </a:lnTo>
                </a:path>
              </a:pathLst>
            </a:custGeom>
            <a:ln w="12195" cap="flat">
              <a:solidFill>
                <a:srgbClr val="2C6E9B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10417027" y="577059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10417027" y="572919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10417027" y="568779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10417027" y="564639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10417027" y="560500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10417027" y="556360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10417027" y="552220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10417027" y="548080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10417027" y="543940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10417027" y="539800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10417027" y="535661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10417027" y="531521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10417027" y="527381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10417027" y="523241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10417027" y="519101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10417027" y="514961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10417027" y="510822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10417027" y="506682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10417027" y="502542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10417027" y="498402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10417027" y="494262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10417027" y="490122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10417027" y="485983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10417027" y="481843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10417027" y="477703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10417027" y="473563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10417027" y="469423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10417027" y="465283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10417027" y="461144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10417027" y="457004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10417027" y="452864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10417027" y="448724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10417027" y="444584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10417027" y="440444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10417027" y="4363050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10417027" y="432165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10417027" y="4280253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10417027" y="4238855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10417027" y="419745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10417027" y="4156058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10417027" y="4073262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10417027" y="3949067"/>
              <a:ext cx="30681" cy="30681"/>
            </a:xfrm>
            <a:prstGeom prst="ellipse">
              <a:avLst/>
            </a:prstGeom>
            <a:solidFill>
              <a:srgbClr val="404040">
                <a:alpha val="100000"/>
              </a:srgbClr>
            </a:solidFill>
            <a:ln w="9000" cap="rnd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11360384" y="526719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11360384" y="524724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11360384" y="528457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11360384" y="518135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11360384" y="531314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11360384" y="524000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11360384" y="528832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11360384" y="522997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11360384" y="520337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11360384" y="525900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11360384" y="519271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11360384" y="518139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11360384" y="5159782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11360384" y="517666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11360384" y="5102306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11360384" y="513051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11360384" y="511508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11360384" y="504349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11360384" y="505924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11360384" y="500498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11360384" y="499078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11360384" y="495289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11360384" y="4915568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11360384" y="4887639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11360384" y="488089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11360384" y="485867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11360384" y="480521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11360384" y="4807843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11360384" y="479916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11360384" y="478135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11360384" y="472483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11360384" y="4711325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11360384" y="472306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11360384" y="468649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11360384" y="472910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11360384" y="4672644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11360384" y="463598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11360384" y="463043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11360384" y="4703241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11360384" y="4740730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11360384" y="469078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11360384" y="4612227"/>
              <a:ext cx="30681" cy="30681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tx400"/>
            <p:cNvSpPr/>
            <p:nvPr/>
          </p:nvSpPr>
          <p:spPr>
            <a:xfrm>
              <a:off x="7593229" y="3627778"/>
              <a:ext cx="314705" cy="1141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SD 3</a:t>
              </a:r>
            </a:p>
          </p:txBody>
        </p:sp>
        <p:sp>
          <p:nvSpPr>
            <p:cNvPr id="401" name="tx401"/>
            <p:cNvSpPr/>
            <p:nvPr/>
          </p:nvSpPr>
          <p:spPr>
            <a:xfrm>
              <a:off x="9169580" y="3627778"/>
              <a:ext cx="315467" cy="1141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SD 5</a:t>
              </a:r>
            </a:p>
          </p:txBody>
        </p:sp>
        <p:sp>
          <p:nvSpPr>
            <p:cNvPr id="402" name="tx402"/>
            <p:cNvSpPr/>
            <p:nvPr/>
          </p:nvSpPr>
          <p:spPr>
            <a:xfrm>
              <a:off x="10748522" y="3627778"/>
              <a:ext cx="311048" cy="1141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SD 7</a:t>
              </a:r>
            </a:p>
          </p:txBody>
        </p:sp>
        <p:sp>
          <p:nvSpPr>
            <p:cNvPr id="403" name="tx403"/>
            <p:cNvSpPr/>
            <p:nvPr/>
          </p:nvSpPr>
          <p:spPr>
            <a:xfrm>
              <a:off x="7095934" y="613932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404" name="tx404"/>
            <p:cNvSpPr/>
            <p:nvPr/>
          </p:nvSpPr>
          <p:spPr>
            <a:xfrm>
              <a:off x="8096918" y="6162483"/>
              <a:ext cx="250686" cy="89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True</a:t>
              </a:r>
            </a:p>
          </p:txBody>
        </p:sp>
        <p:sp>
          <p:nvSpPr>
            <p:cNvPr id="405" name="tx405"/>
            <p:cNvSpPr/>
            <p:nvPr/>
          </p:nvSpPr>
          <p:spPr>
            <a:xfrm>
              <a:off x="8672666" y="613932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406" name="tx406"/>
            <p:cNvSpPr/>
            <p:nvPr/>
          </p:nvSpPr>
          <p:spPr>
            <a:xfrm>
              <a:off x="9673650" y="6162483"/>
              <a:ext cx="250686" cy="89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True</a:t>
              </a:r>
            </a:p>
          </p:txBody>
        </p:sp>
        <p:sp>
          <p:nvSpPr>
            <p:cNvPr id="407" name="tx407"/>
            <p:cNvSpPr/>
            <p:nvPr/>
          </p:nvSpPr>
          <p:spPr>
            <a:xfrm>
              <a:off x="10249398" y="6139325"/>
              <a:ext cx="365938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408" name="tx408"/>
            <p:cNvSpPr/>
            <p:nvPr/>
          </p:nvSpPr>
          <p:spPr>
            <a:xfrm>
              <a:off x="11250382" y="6162483"/>
              <a:ext cx="250686" cy="89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True</a:t>
              </a:r>
            </a:p>
          </p:txBody>
        </p:sp>
        <p:sp>
          <p:nvSpPr>
            <p:cNvPr id="409" name="tx409"/>
            <p:cNvSpPr/>
            <p:nvPr/>
          </p:nvSpPr>
          <p:spPr>
            <a:xfrm>
              <a:off x="6954102" y="5949081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410" name="tx410"/>
            <p:cNvSpPr/>
            <p:nvPr/>
          </p:nvSpPr>
          <p:spPr>
            <a:xfrm>
              <a:off x="6886296" y="5535097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411" name="tx411"/>
            <p:cNvSpPr/>
            <p:nvPr/>
          </p:nvSpPr>
          <p:spPr>
            <a:xfrm>
              <a:off x="6886296" y="5120816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412" name="tx412"/>
            <p:cNvSpPr/>
            <p:nvPr/>
          </p:nvSpPr>
          <p:spPr>
            <a:xfrm>
              <a:off x="6886296" y="4707012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413" name="tx413"/>
            <p:cNvSpPr/>
            <p:nvPr/>
          </p:nvSpPr>
          <p:spPr>
            <a:xfrm>
              <a:off x="6886296" y="4292909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414" name="tx414"/>
            <p:cNvSpPr/>
            <p:nvPr/>
          </p:nvSpPr>
          <p:spPr>
            <a:xfrm>
              <a:off x="6886296" y="3879164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415" name="tx415"/>
            <p:cNvSpPr/>
            <p:nvPr/>
          </p:nvSpPr>
          <p:spPr>
            <a:xfrm rot="-5400000">
              <a:off x="6536544" y="4900222"/>
              <a:ext cx="440680" cy="1154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Shade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7090232" y="3279109"/>
              <a:ext cx="3587623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Galton: report to mean true colour (experience)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7223760" cy="4846320"/>
            <a:chOff x="548640" y="1371600"/>
            <a:chExt cx="7223760" cy="484632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7223760" cy="48463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43346" y="5776795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43346" y="4928112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43346" y="4079430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43346" y="3230747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43346" y="2382064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43074" y="1944993"/>
              <a:ext cx="0" cy="4014268"/>
            </a:xfrm>
            <a:custGeom>
              <a:avLst/>
              <a:pathLst>
                <a:path w="0" h="4014268">
                  <a:moveTo>
                    <a:pt x="0" y="4014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42622" y="1944993"/>
              <a:ext cx="0" cy="4014268"/>
            </a:xfrm>
            <a:custGeom>
              <a:avLst/>
              <a:pathLst>
                <a:path w="0" h="4014268">
                  <a:moveTo>
                    <a:pt x="0" y="4014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42170" y="1944993"/>
              <a:ext cx="0" cy="4014268"/>
            </a:xfrm>
            <a:custGeom>
              <a:avLst/>
              <a:pathLst>
                <a:path w="0" h="4014268">
                  <a:moveTo>
                    <a:pt x="0" y="4014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43346" y="4079430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1711524" y="366685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2510563" y="385003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512664" y="419641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1542033" y="406559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2550967" y="419660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3616668" y="466200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1563365" y="436464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2560157" y="448254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680103" y="466969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1654540" y="480639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2739283" y="472552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602347" y="511547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597761" y="313675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523443" y="376305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535495" y="381241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1506351" y="406753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658454" y="404491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737173" y="435028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1513778" y="385715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536717" y="436124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678452" y="461624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630676" y="317174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504885" y="392072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505481" y="400462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579260" y="393405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2578794" y="405402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666057" y="433260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1564967" y="397697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2688086" y="404473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721742" y="447126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1627047" y="452001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2555748" y="440741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619909" y="514329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634821" y="430884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522916" y="462821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681460" y="469007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577619" y="390390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514506" y="391832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670243" y="410216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627430" y="418341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541598" y="401691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561512" y="391849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1568698" y="426813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2602468" y="433574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510209" y="448941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1566953" y="359108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530923" y="408227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533303" y="443369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1517184" y="369304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2527592" y="441766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659533" y="457950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1535275" y="413902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2507543" y="408587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694099" y="445440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1706548" y="376092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2641051" y="402556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691947" y="415928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1728861" y="322535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2641969" y="394819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701177" y="404596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1671301" y="439916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2609773" y="453863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695945" y="479158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1585154" y="309364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2721263" y="336342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676971" y="428141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1687992" y="390787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2602724" y="427989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724855" y="433815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1696582" y="369860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2728289" y="400196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608963" y="403995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1698665" y="412609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2708213" y="440291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3502072" y="456476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1687523" y="398592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2615154" y="395367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719714" y="392904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1521783" y="400545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2701821" y="429650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674630" y="452529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1559676" y="380188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702427" y="396419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509573" y="426616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1548283" y="447652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2689265" y="450723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709289" y="477407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1552223" y="378293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2569452" y="359260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685201" y="379700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1585806" y="408055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2545650" y="436167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611622" y="448370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1559526" y="418874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579850" y="445453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726368" y="452762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1672416" y="394995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538555" y="381336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552205" y="357931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1553619" y="460657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718410" y="478302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3592661" y="479676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1509217" y="369155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2628316" y="418488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3655305" y="402106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1651189" y="375001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2586538" y="461911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704282" y="552656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1718344" y="404798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2582921" y="418837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3691705" y="447995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1651196" y="330853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2689888" y="380327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3546971" y="403028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1732383" y="372132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662059" y="400618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3558766" y="370481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1595249" y="409166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2610354" y="435699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3658714" y="435936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1562057" y="406428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2611573" y="402888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3707543" y="479645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1665203" y="360174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2649438" y="331712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656377" y="398394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1616742" y="364403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2516031" y="388834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3513372" y="374096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1526215" y="353711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2664466" y="368112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3659066" y="371835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1620707" y="409682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2680852" y="485756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503719" y="438892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1726041" y="249802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2563137" y="293241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735016" y="327592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1651900" y="449992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2510657" y="462222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3502070" y="399831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1549344" y="353156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2657589" y="399292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3665327" y="390014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1705796" y="346977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2656730" y="347896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3595700" y="385908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1666984" y="407753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2710914" y="420171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590479" y="448534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1568108" y="3786398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1643074" y="3786398"/>
              <a:ext cx="0" cy="246526"/>
            </a:xfrm>
            <a:custGeom>
              <a:avLst/>
              <a:pathLst>
                <a:path w="0" h="246526">
                  <a:moveTo>
                    <a:pt x="0" y="0"/>
                  </a:moveTo>
                  <a:lnTo>
                    <a:pt x="0" y="246526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1568108" y="4032925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567656" y="4027083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2642622" y="4027083"/>
              <a:ext cx="0" cy="221400"/>
            </a:xfrm>
            <a:custGeom>
              <a:avLst/>
              <a:pathLst>
                <a:path w="0" h="221400">
                  <a:moveTo>
                    <a:pt x="0" y="0"/>
                  </a:moveTo>
                  <a:lnTo>
                    <a:pt x="0" y="22140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567656" y="4248483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3567204" y="4203424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3642170" y="4203424"/>
              <a:ext cx="0" cy="245851"/>
            </a:xfrm>
            <a:custGeom>
              <a:avLst/>
              <a:pathLst>
                <a:path w="0" h="245851">
                  <a:moveTo>
                    <a:pt x="0" y="0"/>
                  </a:moveTo>
                  <a:lnTo>
                    <a:pt x="0" y="245851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3567204" y="4449275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1597922" y="3864510"/>
              <a:ext cx="90303" cy="9030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2597470" y="4092631"/>
              <a:ext cx="90303" cy="9030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597018" y="4281197"/>
              <a:ext cx="90303" cy="9030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1382485" y="2216276"/>
              <a:ext cx="521178" cy="161840"/>
            </a:xfrm>
            <a:custGeom>
              <a:avLst/>
              <a:pathLst>
                <a:path w="521178" h="161840">
                  <a:moveTo>
                    <a:pt x="22114" y="161840"/>
                  </a:moveTo>
                  <a:lnTo>
                    <a:pt x="499064" y="161840"/>
                  </a:lnTo>
                  <a:lnTo>
                    <a:pt x="498173" y="161822"/>
                  </a:lnTo>
                  <a:lnTo>
                    <a:pt x="501729" y="161679"/>
                  </a:lnTo>
                  <a:lnTo>
                    <a:pt x="505216" y="160967"/>
                  </a:lnTo>
                  <a:lnTo>
                    <a:pt x="508544" y="159705"/>
                  </a:lnTo>
                  <a:lnTo>
                    <a:pt x="511626" y="157925"/>
                  </a:lnTo>
                  <a:lnTo>
                    <a:pt x="514383" y="155674"/>
                  </a:lnTo>
                  <a:lnTo>
                    <a:pt x="516743" y="153010"/>
                  </a:lnTo>
                  <a:lnTo>
                    <a:pt x="518645" y="150002"/>
                  </a:lnTo>
                  <a:lnTo>
                    <a:pt x="520040" y="146728"/>
                  </a:lnTo>
                  <a:lnTo>
                    <a:pt x="520892" y="143273"/>
                  </a:lnTo>
                  <a:lnTo>
                    <a:pt x="521178" y="139725"/>
                  </a:lnTo>
                  <a:lnTo>
                    <a:pt x="521178" y="22114"/>
                  </a:lnTo>
                  <a:lnTo>
                    <a:pt x="520892" y="18567"/>
                  </a:lnTo>
                  <a:lnTo>
                    <a:pt x="520040" y="15111"/>
                  </a:lnTo>
                  <a:lnTo>
                    <a:pt x="518645" y="11837"/>
                  </a:lnTo>
                  <a:lnTo>
                    <a:pt x="516743" y="8829"/>
                  </a:lnTo>
                  <a:lnTo>
                    <a:pt x="514383" y="6165"/>
                  </a:lnTo>
                  <a:lnTo>
                    <a:pt x="511626" y="3914"/>
                  </a:lnTo>
                  <a:lnTo>
                    <a:pt x="508544" y="2135"/>
                  </a:lnTo>
                  <a:lnTo>
                    <a:pt x="505216" y="873"/>
                  </a:lnTo>
                  <a:lnTo>
                    <a:pt x="501729" y="161"/>
                  </a:lnTo>
                  <a:lnTo>
                    <a:pt x="499064" y="0"/>
                  </a:lnTo>
                  <a:lnTo>
                    <a:pt x="22114" y="0"/>
                  </a:lnTo>
                  <a:lnTo>
                    <a:pt x="24780" y="161"/>
                  </a:lnTo>
                  <a:lnTo>
                    <a:pt x="21224" y="17"/>
                  </a:lnTo>
                  <a:lnTo>
                    <a:pt x="17691" y="446"/>
                  </a:lnTo>
                  <a:lnTo>
                    <a:pt x="14272" y="1437"/>
                  </a:lnTo>
                  <a:lnTo>
                    <a:pt x="11057" y="2962"/>
                  </a:lnTo>
                  <a:lnTo>
                    <a:pt x="8128" y="4984"/>
                  </a:lnTo>
                  <a:lnTo>
                    <a:pt x="5561" y="7449"/>
                  </a:lnTo>
                  <a:lnTo>
                    <a:pt x="3423" y="10295"/>
                  </a:lnTo>
                  <a:lnTo>
                    <a:pt x="1769" y="13446"/>
                  </a:lnTo>
                  <a:lnTo>
                    <a:pt x="642" y="16822"/>
                  </a:lnTo>
                  <a:lnTo>
                    <a:pt x="71" y="20335"/>
                  </a:lnTo>
                  <a:lnTo>
                    <a:pt x="0" y="22114"/>
                  </a:lnTo>
                  <a:lnTo>
                    <a:pt x="0" y="139725"/>
                  </a:lnTo>
                  <a:lnTo>
                    <a:pt x="71" y="137946"/>
                  </a:lnTo>
                  <a:lnTo>
                    <a:pt x="71" y="141505"/>
                  </a:lnTo>
                  <a:lnTo>
                    <a:pt x="642" y="145018"/>
                  </a:lnTo>
                  <a:lnTo>
                    <a:pt x="1769" y="148393"/>
                  </a:lnTo>
                  <a:lnTo>
                    <a:pt x="3423" y="151545"/>
                  </a:lnTo>
                  <a:lnTo>
                    <a:pt x="5561" y="154390"/>
                  </a:lnTo>
                  <a:lnTo>
                    <a:pt x="8128" y="156855"/>
                  </a:lnTo>
                  <a:lnTo>
                    <a:pt x="11057" y="158877"/>
                  </a:lnTo>
                  <a:lnTo>
                    <a:pt x="14272" y="160403"/>
                  </a:lnTo>
                  <a:lnTo>
                    <a:pt x="17691" y="161393"/>
                  </a:lnTo>
                  <a:lnTo>
                    <a:pt x="21224" y="161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tx176"/>
            <p:cNvSpPr/>
            <p:nvPr/>
          </p:nvSpPr>
          <p:spPr>
            <a:xfrm>
              <a:off x="1419343" y="2229378"/>
              <a:ext cx="447463" cy="1118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p = .016</a:t>
              </a:r>
            </a:p>
          </p:txBody>
        </p:sp>
        <p:sp>
          <p:nvSpPr>
            <p:cNvPr id="177" name="pg177"/>
            <p:cNvSpPr/>
            <p:nvPr/>
          </p:nvSpPr>
          <p:spPr>
            <a:xfrm>
              <a:off x="2382033" y="2216276"/>
              <a:ext cx="521178" cy="161840"/>
            </a:xfrm>
            <a:custGeom>
              <a:avLst/>
              <a:pathLst>
                <a:path w="521178" h="161840">
                  <a:moveTo>
                    <a:pt x="22114" y="161840"/>
                  </a:moveTo>
                  <a:lnTo>
                    <a:pt x="499064" y="161840"/>
                  </a:lnTo>
                  <a:lnTo>
                    <a:pt x="498173" y="161822"/>
                  </a:lnTo>
                  <a:lnTo>
                    <a:pt x="501729" y="161679"/>
                  </a:lnTo>
                  <a:lnTo>
                    <a:pt x="505216" y="160967"/>
                  </a:lnTo>
                  <a:lnTo>
                    <a:pt x="508544" y="159705"/>
                  </a:lnTo>
                  <a:lnTo>
                    <a:pt x="511626" y="157925"/>
                  </a:lnTo>
                  <a:lnTo>
                    <a:pt x="514383" y="155674"/>
                  </a:lnTo>
                  <a:lnTo>
                    <a:pt x="516743" y="153010"/>
                  </a:lnTo>
                  <a:lnTo>
                    <a:pt x="518645" y="150002"/>
                  </a:lnTo>
                  <a:lnTo>
                    <a:pt x="520040" y="146728"/>
                  </a:lnTo>
                  <a:lnTo>
                    <a:pt x="520892" y="143273"/>
                  </a:lnTo>
                  <a:lnTo>
                    <a:pt x="521178" y="139725"/>
                  </a:lnTo>
                  <a:lnTo>
                    <a:pt x="521178" y="22114"/>
                  </a:lnTo>
                  <a:lnTo>
                    <a:pt x="520892" y="18567"/>
                  </a:lnTo>
                  <a:lnTo>
                    <a:pt x="520040" y="15111"/>
                  </a:lnTo>
                  <a:lnTo>
                    <a:pt x="518645" y="11837"/>
                  </a:lnTo>
                  <a:lnTo>
                    <a:pt x="516743" y="8829"/>
                  </a:lnTo>
                  <a:lnTo>
                    <a:pt x="514383" y="6165"/>
                  </a:lnTo>
                  <a:lnTo>
                    <a:pt x="511626" y="3914"/>
                  </a:lnTo>
                  <a:lnTo>
                    <a:pt x="508544" y="2135"/>
                  </a:lnTo>
                  <a:lnTo>
                    <a:pt x="505216" y="873"/>
                  </a:lnTo>
                  <a:lnTo>
                    <a:pt x="501729" y="161"/>
                  </a:lnTo>
                  <a:lnTo>
                    <a:pt x="499064" y="0"/>
                  </a:lnTo>
                  <a:lnTo>
                    <a:pt x="22114" y="0"/>
                  </a:lnTo>
                  <a:lnTo>
                    <a:pt x="24780" y="161"/>
                  </a:lnTo>
                  <a:lnTo>
                    <a:pt x="21224" y="17"/>
                  </a:lnTo>
                  <a:lnTo>
                    <a:pt x="17691" y="446"/>
                  </a:lnTo>
                  <a:lnTo>
                    <a:pt x="14272" y="1437"/>
                  </a:lnTo>
                  <a:lnTo>
                    <a:pt x="11057" y="2962"/>
                  </a:lnTo>
                  <a:lnTo>
                    <a:pt x="8128" y="4984"/>
                  </a:lnTo>
                  <a:lnTo>
                    <a:pt x="5561" y="7449"/>
                  </a:lnTo>
                  <a:lnTo>
                    <a:pt x="3423" y="10295"/>
                  </a:lnTo>
                  <a:lnTo>
                    <a:pt x="1769" y="13446"/>
                  </a:lnTo>
                  <a:lnTo>
                    <a:pt x="642" y="16822"/>
                  </a:lnTo>
                  <a:lnTo>
                    <a:pt x="71" y="20335"/>
                  </a:lnTo>
                  <a:lnTo>
                    <a:pt x="0" y="22114"/>
                  </a:lnTo>
                  <a:lnTo>
                    <a:pt x="0" y="139725"/>
                  </a:lnTo>
                  <a:lnTo>
                    <a:pt x="71" y="137946"/>
                  </a:lnTo>
                  <a:lnTo>
                    <a:pt x="71" y="141505"/>
                  </a:lnTo>
                  <a:lnTo>
                    <a:pt x="642" y="145018"/>
                  </a:lnTo>
                  <a:lnTo>
                    <a:pt x="1769" y="148393"/>
                  </a:lnTo>
                  <a:lnTo>
                    <a:pt x="3423" y="151545"/>
                  </a:lnTo>
                  <a:lnTo>
                    <a:pt x="5561" y="154390"/>
                  </a:lnTo>
                  <a:lnTo>
                    <a:pt x="8128" y="156855"/>
                  </a:lnTo>
                  <a:lnTo>
                    <a:pt x="11057" y="158877"/>
                  </a:lnTo>
                  <a:lnTo>
                    <a:pt x="14272" y="160403"/>
                  </a:lnTo>
                  <a:lnTo>
                    <a:pt x="17691" y="161393"/>
                  </a:lnTo>
                  <a:lnTo>
                    <a:pt x="21224" y="161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tx178"/>
            <p:cNvSpPr/>
            <p:nvPr/>
          </p:nvSpPr>
          <p:spPr>
            <a:xfrm>
              <a:off x="2418890" y="2229438"/>
              <a:ext cx="447463" cy="1118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p = .295</a:t>
              </a:r>
            </a:p>
          </p:txBody>
        </p:sp>
        <p:sp>
          <p:nvSpPr>
            <p:cNvPr id="179" name="pg179"/>
            <p:cNvSpPr/>
            <p:nvPr/>
          </p:nvSpPr>
          <p:spPr>
            <a:xfrm>
              <a:off x="3381581" y="2216276"/>
              <a:ext cx="521178" cy="161840"/>
            </a:xfrm>
            <a:custGeom>
              <a:avLst/>
              <a:pathLst>
                <a:path w="521178" h="161840">
                  <a:moveTo>
                    <a:pt x="22114" y="161840"/>
                  </a:moveTo>
                  <a:lnTo>
                    <a:pt x="499064" y="161840"/>
                  </a:lnTo>
                  <a:lnTo>
                    <a:pt x="498173" y="161822"/>
                  </a:lnTo>
                  <a:lnTo>
                    <a:pt x="501729" y="161679"/>
                  </a:lnTo>
                  <a:lnTo>
                    <a:pt x="505216" y="160967"/>
                  </a:lnTo>
                  <a:lnTo>
                    <a:pt x="508544" y="159705"/>
                  </a:lnTo>
                  <a:lnTo>
                    <a:pt x="511626" y="157925"/>
                  </a:lnTo>
                  <a:lnTo>
                    <a:pt x="514383" y="155674"/>
                  </a:lnTo>
                  <a:lnTo>
                    <a:pt x="516743" y="153010"/>
                  </a:lnTo>
                  <a:lnTo>
                    <a:pt x="518645" y="150002"/>
                  </a:lnTo>
                  <a:lnTo>
                    <a:pt x="520040" y="146728"/>
                  </a:lnTo>
                  <a:lnTo>
                    <a:pt x="520892" y="143273"/>
                  </a:lnTo>
                  <a:lnTo>
                    <a:pt x="521178" y="139725"/>
                  </a:lnTo>
                  <a:lnTo>
                    <a:pt x="521178" y="22114"/>
                  </a:lnTo>
                  <a:lnTo>
                    <a:pt x="520892" y="18567"/>
                  </a:lnTo>
                  <a:lnTo>
                    <a:pt x="520040" y="15111"/>
                  </a:lnTo>
                  <a:lnTo>
                    <a:pt x="518645" y="11837"/>
                  </a:lnTo>
                  <a:lnTo>
                    <a:pt x="516743" y="8829"/>
                  </a:lnTo>
                  <a:lnTo>
                    <a:pt x="514383" y="6165"/>
                  </a:lnTo>
                  <a:lnTo>
                    <a:pt x="511626" y="3914"/>
                  </a:lnTo>
                  <a:lnTo>
                    <a:pt x="508544" y="2135"/>
                  </a:lnTo>
                  <a:lnTo>
                    <a:pt x="505216" y="873"/>
                  </a:lnTo>
                  <a:lnTo>
                    <a:pt x="501729" y="161"/>
                  </a:lnTo>
                  <a:lnTo>
                    <a:pt x="499064" y="0"/>
                  </a:lnTo>
                  <a:lnTo>
                    <a:pt x="22114" y="0"/>
                  </a:lnTo>
                  <a:lnTo>
                    <a:pt x="24780" y="161"/>
                  </a:lnTo>
                  <a:lnTo>
                    <a:pt x="21224" y="17"/>
                  </a:lnTo>
                  <a:lnTo>
                    <a:pt x="17691" y="446"/>
                  </a:lnTo>
                  <a:lnTo>
                    <a:pt x="14272" y="1437"/>
                  </a:lnTo>
                  <a:lnTo>
                    <a:pt x="11057" y="2962"/>
                  </a:lnTo>
                  <a:lnTo>
                    <a:pt x="8128" y="4984"/>
                  </a:lnTo>
                  <a:lnTo>
                    <a:pt x="5561" y="7449"/>
                  </a:lnTo>
                  <a:lnTo>
                    <a:pt x="3423" y="10295"/>
                  </a:lnTo>
                  <a:lnTo>
                    <a:pt x="1769" y="13446"/>
                  </a:lnTo>
                  <a:lnTo>
                    <a:pt x="642" y="16822"/>
                  </a:lnTo>
                  <a:lnTo>
                    <a:pt x="71" y="20335"/>
                  </a:lnTo>
                  <a:lnTo>
                    <a:pt x="0" y="22114"/>
                  </a:lnTo>
                  <a:lnTo>
                    <a:pt x="0" y="139725"/>
                  </a:lnTo>
                  <a:lnTo>
                    <a:pt x="71" y="137946"/>
                  </a:lnTo>
                  <a:lnTo>
                    <a:pt x="71" y="141505"/>
                  </a:lnTo>
                  <a:lnTo>
                    <a:pt x="642" y="145018"/>
                  </a:lnTo>
                  <a:lnTo>
                    <a:pt x="1769" y="148393"/>
                  </a:lnTo>
                  <a:lnTo>
                    <a:pt x="3423" y="151545"/>
                  </a:lnTo>
                  <a:lnTo>
                    <a:pt x="5561" y="154390"/>
                  </a:lnTo>
                  <a:lnTo>
                    <a:pt x="8128" y="156855"/>
                  </a:lnTo>
                  <a:lnTo>
                    <a:pt x="11057" y="158877"/>
                  </a:lnTo>
                  <a:lnTo>
                    <a:pt x="14272" y="160403"/>
                  </a:lnTo>
                  <a:lnTo>
                    <a:pt x="17691" y="161393"/>
                  </a:lnTo>
                  <a:lnTo>
                    <a:pt x="21224" y="161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tx180"/>
            <p:cNvSpPr/>
            <p:nvPr/>
          </p:nvSpPr>
          <p:spPr>
            <a:xfrm>
              <a:off x="3418438" y="2229738"/>
              <a:ext cx="447463" cy="111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p &lt; .001</a:t>
              </a:r>
            </a:p>
          </p:txBody>
        </p:sp>
        <p:sp>
          <p:nvSpPr>
            <p:cNvPr id="181" name="pl181"/>
            <p:cNvSpPr/>
            <p:nvPr/>
          </p:nvSpPr>
          <p:spPr>
            <a:xfrm>
              <a:off x="4497931" y="5776795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4497931" y="4928112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4497931" y="4079430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4497931" y="3230747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4497931" y="2382064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5097660" y="1944993"/>
              <a:ext cx="0" cy="4014268"/>
            </a:xfrm>
            <a:custGeom>
              <a:avLst/>
              <a:pathLst>
                <a:path w="0" h="4014268">
                  <a:moveTo>
                    <a:pt x="0" y="4014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6097208" y="1944993"/>
              <a:ext cx="0" cy="4014268"/>
            </a:xfrm>
            <a:custGeom>
              <a:avLst/>
              <a:pathLst>
                <a:path w="0" h="4014268">
                  <a:moveTo>
                    <a:pt x="0" y="4014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7096755" y="1944993"/>
              <a:ext cx="0" cy="4014268"/>
            </a:xfrm>
            <a:custGeom>
              <a:avLst/>
              <a:pathLst>
                <a:path w="0" h="4014268">
                  <a:moveTo>
                    <a:pt x="0" y="4014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4497931" y="4079430"/>
              <a:ext cx="3198553" cy="0"/>
            </a:xfrm>
            <a:custGeom>
              <a:avLst/>
              <a:pathLst>
                <a:path w="3198553" h="0">
                  <a:moveTo>
                    <a:pt x="0" y="0"/>
                  </a:moveTo>
                  <a:lnTo>
                    <a:pt x="3198553" y="0"/>
                  </a:lnTo>
                  <a:lnTo>
                    <a:pt x="3198553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5070060" y="455627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6180344" y="462562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7060395" y="482495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5055923" y="471748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6188136" y="493014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7148640" y="468362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4985838" y="443748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6110744" y="425026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7079639" y="424153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5036322" y="475953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173541" y="482150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7167304" y="522951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5081951" y="495270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6191996" y="474309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6999781" y="477945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5153797" y="454635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6173793" y="459841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7095510" y="467669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5068812" y="491388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6132220" y="492672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7117466" y="508624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5073648" y="493598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6079706" y="475039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7004410" y="478002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5040313" y="452575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6021579" y="444371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7142769" y="454819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5063283" y="454993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6061071" y="447647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7010749" y="438924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5125997" y="429334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6181357" y="434186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7128307" y="478111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5138503" y="435313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6101763" y="412256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7185919" y="390444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4998329" y="511272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6171624" y="492532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7146383" y="503094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5163306" y="439941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5990881" y="480364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7024677" y="488375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5078183" y="454331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5986301" y="455017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7098641" y="452985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5118755" y="463849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5977332" y="460244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7023437" y="427305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5183966" y="459724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5993691" y="449072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7069006" y="411018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5006239" y="467803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6097403" y="487096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7161085" y="466111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5168621" y="467191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6002668" y="485407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7130028" y="501874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5045369" y="485263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6066594" y="475380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7177265" y="472466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5027199" y="443196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6064496" y="435946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7067771" y="434973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5016369" y="491185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6070391" y="493560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7017316" y="479796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5112627" y="464300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5981509" y="456739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7049733" y="466051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5038330" y="464855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6036145" y="445603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7049941" y="453656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5017600" y="431098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6012820" y="423978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7150378" y="427869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4957387" y="443674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5976084" y="458538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7151637" y="476213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5150454" y="439031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6081770" y="438594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7128249" y="434604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5128400" y="503057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6028303" y="504580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7184690" y="495452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4970925" y="505567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6165360" y="498020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7102051" y="514257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5178459" y="472304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6101694" y="474753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7132569" y="475348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5028506" y="448613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6070526" y="449464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7166582" y="464872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5101848" y="449321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5958996" y="424743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7020406" y="433111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5004577" y="455195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5999115" y="484474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7163692" y="505934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5073147" y="424564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6041355" y="423746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7180128" y="444560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5167918" y="486602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6005055" y="502434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7020969" y="492096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4994867" y="505929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6084427" y="508669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7092908" y="568687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4982400" y="438144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6077270" y="437742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6990970" y="440548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5044039" y="510972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6166439" y="491539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6990867" y="511182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5136958" y="469667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6115951" y="476969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6955524" y="502417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5138915" y="481091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5960639" y="491919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7147534" y="515458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5152224" y="459495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6136260" y="475550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7114130" y="4793364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5119342" y="484970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5988621" y="490363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7193756" y="487705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5146009" y="469576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6025494" y="470292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7010326" y="488229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5157602" y="460007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6063493" y="4549151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6986612" y="461155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5176910" y="467191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6174989" y="498596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7142930" y="474072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5011292" y="5125406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6078377" y="527255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7019952" y="509726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5165638" y="5209608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6140646" y="519304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7180810" y="4943415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5176768" y="491225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6020516" y="504259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7073372" y="504190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5040086" y="474072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6165844" y="4745910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7110694" y="4671822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4955725" y="4474013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6051647" y="4692637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7110632" y="4943449"/>
              <a:ext cx="44231" cy="44231"/>
            </a:xfrm>
            <a:prstGeom prst="ellipse">
              <a:avLst/>
            </a:prstGeom>
            <a:solidFill>
              <a:srgbClr val="737373">
                <a:alpha val="34901"/>
              </a:srgbClr>
            </a:solidFill>
            <a:ln w="9000" cap="rnd">
              <a:solidFill>
                <a:srgbClr val="737373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5022694" y="4636314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5097660" y="4636314"/>
              <a:ext cx="0" cy="139355"/>
            </a:xfrm>
            <a:custGeom>
              <a:avLst/>
              <a:pathLst>
                <a:path w="0" h="139355">
                  <a:moveTo>
                    <a:pt x="0" y="0"/>
                  </a:moveTo>
                  <a:lnTo>
                    <a:pt x="0" y="139355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5022694" y="4775669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6022241" y="4643323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6097208" y="4643323"/>
              <a:ext cx="0" cy="155428"/>
            </a:xfrm>
            <a:custGeom>
              <a:avLst/>
              <a:pathLst>
                <a:path w="0" h="155428">
                  <a:moveTo>
                    <a:pt x="0" y="0"/>
                  </a:moveTo>
                  <a:lnTo>
                    <a:pt x="0" y="155428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6022241" y="4798752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7021789" y="4671499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7096755" y="4671499"/>
              <a:ext cx="0" cy="186478"/>
            </a:xfrm>
            <a:custGeom>
              <a:avLst/>
              <a:pathLst>
                <a:path w="0" h="186478">
                  <a:moveTo>
                    <a:pt x="0" y="0"/>
                  </a:moveTo>
                  <a:lnTo>
                    <a:pt x="0" y="186478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7021789" y="4857978"/>
              <a:ext cx="149932" cy="0"/>
            </a:xfrm>
            <a:custGeom>
              <a:avLst/>
              <a:pathLst>
                <a:path w="149932" h="0">
                  <a:moveTo>
                    <a:pt x="0" y="0"/>
                  </a:moveTo>
                  <a:lnTo>
                    <a:pt x="149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5052508" y="4660840"/>
              <a:ext cx="90303" cy="9030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6052056" y="4675885"/>
              <a:ext cx="90303" cy="9030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7051604" y="4719587"/>
              <a:ext cx="90303" cy="9030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837070" y="2216276"/>
              <a:ext cx="521178" cy="161840"/>
            </a:xfrm>
            <a:custGeom>
              <a:avLst/>
              <a:pathLst>
                <a:path w="521178" h="161840">
                  <a:moveTo>
                    <a:pt x="22114" y="161840"/>
                  </a:moveTo>
                  <a:lnTo>
                    <a:pt x="499064" y="161840"/>
                  </a:lnTo>
                  <a:lnTo>
                    <a:pt x="498173" y="161822"/>
                  </a:lnTo>
                  <a:lnTo>
                    <a:pt x="501729" y="161679"/>
                  </a:lnTo>
                  <a:lnTo>
                    <a:pt x="505216" y="160967"/>
                  </a:lnTo>
                  <a:lnTo>
                    <a:pt x="508544" y="159705"/>
                  </a:lnTo>
                  <a:lnTo>
                    <a:pt x="511626" y="157925"/>
                  </a:lnTo>
                  <a:lnTo>
                    <a:pt x="514383" y="155674"/>
                  </a:lnTo>
                  <a:lnTo>
                    <a:pt x="516743" y="153010"/>
                  </a:lnTo>
                  <a:lnTo>
                    <a:pt x="518645" y="150002"/>
                  </a:lnTo>
                  <a:lnTo>
                    <a:pt x="520040" y="146728"/>
                  </a:lnTo>
                  <a:lnTo>
                    <a:pt x="520892" y="143273"/>
                  </a:lnTo>
                  <a:lnTo>
                    <a:pt x="521178" y="139725"/>
                  </a:lnTo>
                  <a:lnTo>
                    <a:pt x="521178" y="22114"/>
                  </a:lnTo>
                  <a:lnTo>
                    <a:pt x="520892" y="18567"/>
                  </a:lnTo>
                  <a:lnTo>
                    <a:pt x="520040" y="15111"/>
                  </a:lnTo>
                  <a:lnTo>
                    <a:pt x="518645" y="11837"/>
                  </a:lnTo>
                  <a:lnTo>
                    <a:pt x="516743" y="8829"/>
                  </a:lnTo>
                  <a:lnTo>
                    <a:pt x="514383" y="6165"/>
                  </a:lnTo>
                  <a:lnTo>
                    <a:pt x="511626" y="3914"/>
                  </a:lnTo>
                  <a:lnTo>
                    <a:pt x="508544" y="2135"/>
                  </a:lnTo>
                  <a:lnTo>
                    <a:pt x="505216" y="873"/>
                  </a:lnTo>
                  <a:lnTo>
                    <a:pt x="501729" y="161"/>
                  </a:lnTo>
                  <a:lnTo>
                    <a:pt x="499064" y="0"/>
                  </a:lnTo>
                  <a:lnTo>
                    <a:pt x="22114" y="0"/>
                  </a:lnTo>
                  <a:lnTo>
                    <a:pt x="24780" y="161"/>
                  </a:lnTo>
                  <a:lnTo>
                    <a:pt x="21224" y="17"/>
                  </a:lnTo>
                  <a:lnTo>
                    <a:pt x="17691" y="446"/>
                  </a:lnTo>
                  <a:lnTo>
                    <a:pt x="14272" y="1437"/>
                  </a:lnTo>
                  <a:lnTo>
                    <a:pt x="11057" y="2962"/>
                  </a:lnTo>
                  <a:lnTo>
                    <a:pt x="8128" y="4984"/>
                  </a:lnTo>
                  <a:lnTo>
                    <a:pt x="5561" y="7449"/>
                  </a:lnTo>
                  <a:lnTo>
                    <a:pt x="3423" y="10295"/>
                  </a:lnTo>
                  <a:lnTo>
                    <a:pt x="1769" y="13446"/>
                  </a:lnTo>
                  <a:lnTo>
                    <a:pt x="642" y="16822"/>
                  </a:lnTo>
                  <a:lnTo>
                    <a:pt x="71" y="20335"/>
                  </a:lnTo>
                  <a:lnTo>
                    <a:pt x="0" y="22114"/>
                  </a:lnTo>
                  <a:lnTo>
                    <a:pt x="0" y="139725"/>
                  </a:lnTo>
                  <a:lnTo>
                    <a:pt x="71" y="137946"/>
                  </a:lnTo>
                  <a:lnTo>
                    <a:pt x="71" y="141505"/>
                  </a:lnTo>
                  <a:lnTo>
                    <a:pt x="642" y="145018"/>
                  </a:lnTo>
                  <a:lnTo>
                    <a:pt x="1769" y="148393"/>
                  </a:lnTo>
                  <a:lnTo>
                    <a:pt x="3423" y="151545"/>
                  </a:lnTo>
                  <a:lnTo>
                    <a:pt x="5561" y="154390"/>
                  </a:lnTo>
                  <a:lnTo>
                    <a:pt x="8128" y="156855"/>
                  </a:lnTo>
                  <a:lnTo>
                    <a:pt x="11057" y="158877"/>
                  </a:lnTo>
                  <a:lnTo>
                    <a:pt x="14272" y="160403"/>
                  </a:lnTo>
                  <a:lnTo>
                    <a:pt x="17691" y="161393"/>
                  </a:lnTo>
                  <a:lnTo>
                    <a:pt x="21224" y="161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" name="tx353"/>
            <p:cNvSpPr/>
            <p:nvPr/>
          </p:nvSpPr>
          <p:spPr>
            <a:xfrm>
              <a:off x="4873928" y="2229738"/>
              <a:ext cx="447463" cy="111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p &lt; .001</a:t>
              </a:r>
            </a:p>
          </p:txBody>
        </p:sp>
        <p:sp>
          <p:nvSpPr>
            <p:cNvPr id="354" name="pg354"/>
            <p:cNvSpPr/>
            <p:nvPr/>
          </p:nvSpPr>
          <p:spPr>
            <a:xfrm>
              <a:off x="5836618" y="2216276"/>
              <a:ext cx="521178" cy="161840"/>
            </a:xfrm>
            <a:custGeom>
              <a:avLst/>
              <a:pathLst>
                <a:path w="521178" h="161840">
                  <a:moveTo>
                    <a:pt x="22114" y="161840"/>
                  </a:moveTo>
                  <a:lnTo>
                    <a:pt x="499064" y="161840"/>
                  </a:lnTo>
                  <a:lnTo>
                    <a:pt x="498173" y="161822"/>
                  </a:lnTo>
                  <a:lnTo>
                    <a:pt x="501729" y="161679"/>
                  </a:lnTo>
                  <a:lnTo>
                    <a:pt x="505216" y="160967"/>
                  </a:lnTo>
                  <a:lnTo>
                    <a:pt x="508544" y="159705"/>
                  </a:lnTo>
                  <a:lnTo>
                    <a:pt x="511626" y="157925"/>
                  </a:lnTo>
                  <a:lnTo>
                    <a:pt x="514383" y="155674"/>
                  </a:lnTo>
                  <a:lnTo>
                    <a:pt x="516743" y="153010"/>
                  </a:lnTo>
                  <a:lnTo>
                    <a:pt x="518645" y="150002"/>
                  </a:lnTo>
                  <a:lnTo>
                    <a:pt x="520040" y="146728"/>
                  </a:lnTo>
                  <a:lnTo>
                    <a:pt x="520892" y="143273"/>
                  </a:lnTo>
                  <a:lnTo>
                    <a:pt x="521178" y="139725"/>
                  </a:lnTo>
                  <a:lnTo>
                    <a:pt x="521178" y="22114"/>
                  </a:lnTo>
                  <a:lnTo>
                    <a:pt x="520892" y="18567"/>
                  </a:lnTo>
                  <a:lnTo>
                    <a:pt x="520040" y="15111"/>
                  </a:lnTo>
                  <a:lnTo>
                    <a:pt x="518645" y="11837"/>
                  </a:lnTo>
                  <a:lnTo>
                    <a:pt x="516743" y="8829"/>
                  </a:lnTo>
                  <a:lnTo>
                    <a:pt x="514383" y="6165"/>
                  </a:lnTo>
                  <a:lnTo>
                    <a:pt x="511626" y="3914"/>
                  </a:lnTo>
                  <a:lnTo>
                    <a:pt x="508544" y="2135"/>
                  </a:lnTo>
                  <a:lnTo>
                    <a:pt x="505216" y="873"/>
                  </a:lnTo>
                  <a:lnTo>
                    <a:pt x="501729" y="161"/>
                  </a:lnTo>
                  <a:lnTo>
                    <a:pt x="499064" y="0"/>
                  </a:lnTo>
                  <a:lnTo>
                    <a:pt x="22114" y="0"/>
                  </a:lnTo>
                  <a:lnTo>
                    <a:pt x="24780" y="161"/>
                  </a:lnTo>
                  <a:lnTo>
                    <a:pt x="21224" y="17"/>
                  </a:lnTo>
                  <a:lnTo>
                    <a:pt x="17691" y="446"/>
                  </a:lnTo>
                  <a:lnTo>
                    <a:pt x="14272" y="1437"/>
                  </a:lnTo>
                  <a:lnTo>
                    <a:pt x="11057" y="2962"/>
                  </a:lnTo>
                  <a:lnTo>
                    <a:pt x="8128" y="4984"/>
                  </a:lnTo>
                  <a:lnTo>
                    <a:pt x="5561" y="7449"/>
                  </a:lnTo>
                  <a:lnTo>
                    <a:pt x="3423" y="10295"/>
                  </a:lnTo>
                  <a:lnTo>
                    <a:pt x="1769" y="13446"/>
                  </a:lnTo>
                  <a:lnTo>
                    <a:pt x="642" y="16822"/>
                  </a:lnTo>
                  <a:lnTo>
                    <a:pt x="71" y="20335"/>
                  </a:lnTo>
                  <a:lnTo>
                    <a:pt x="0" y="22114"/>
                  </a:lnTo>
                  <a:lnTo>
                    <a:pt x="0" y="139725"/>
                  </a:lnTo>
                  <a:lnTo>
                    <a:pt x="71" y="137946"/>
                  </a:lnTo>
                  <a:lnTo>
                    <a:pt x="71" y="141505"/>
                  </a:lnTo>
                  <a:lnTo>
                    <a:pt x="642" y="145018"/>
                  </a:lnTo>
                  <a:lnTo>
                    <a:pt x="1769" y="148393"/>
                  </a:lnTo>
                  <a:lnTo>
                    <a:pt x="3423" y="151545"/>
                  </a:lnTo>
                  <a:lnTo>
                    <a:pt x="5561" y="154390"/>
                  </a:lnTo>
                  <a:lnTo>
                    <a:pt x="8128" y="156855"/>
                  </a:lnTo>
                  <a:lnTo>
                    <a:pt x="11057" y="158877"/>
                  </a:lnTo>
                  <a:lnTo>
                    <a:pt x="14272" y="160403"/>
                  </a:lnTo>
                  <a:lnTo>
                    <a:pt x="17691" y="161393"/>
                  </a:lnTo>
                  <a:lnTo>
                    <a:pt x="21224" y="161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5" name="tx355"/>
            <p:cNvSpPr/>
            <p:nvPr/>
          </p:nvSpPr>
          <p:spPr>
            <a:xfrm>
              <a:off x="5873476" y="2229738"/>
              <a:ext cx="447463" cy="111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p &lt; .001</a:t>
              </a:r>
            </a:p>
          </p:txBody>
        </p:sp>
        <p:sp>
          <p:nvSpPr>
            <p:cNvPr id="356" name="pg356"/>
            <p:cNvSpPr/>
            <p:nvPr/>
          </p:nvSpPr>
          <p:spPr>
            <a:xfrm>
              <a:off x="6836166" y="2216276"/>
              <a:ext cx="521178" cy="161840"/>
            </a:xfrm>
            <a:custGeom>
              <a:avLst/>
              <a:pathLst>
                <a:path w="521178" h="161840">
                  <a:moveTo>
                    <a:pt x="22114" y="161840"/>
                  </a:moveTo>
                  <a:lnTo>
                    <a:pt x="499064" y="161840"/>
                  </a:lnTo>
                  <a:lnTo>
                    <a:pt x="498173" y="161822"/>
                  </a:lnTo>
                  <a:lnTo>
                    <a:pt x="501729" y="161679"/>
                  </a:lnTo>
                  <a:lnTo>
                    <a:pt x="505216" y="160967"/>
                  </a:lnTo>
                  <a:lnTo>
                    <a:pt x="508544" y="159705"/>
                  </a:lnTo>
                  <a:lnTo>
                    <a:pt x="511626" y="157925"/>
                  </a:lnTo>
                  <a:lnTo>
                    <a:pt x="514383" y="155674"/>
                  </a:lnTo>
                  <a:lnTo>
                    <a:pt x="516743" y="153010"/>
                  </a:lnTo>
                  <a:lnTo>
                    <a:pt x="518645" y="150002"/>
                  </a:lnTo>
                  <a:lnTo>
                    <a:pt x="520040" y="146728"/>
                  </a:lnTo>
                  <a:lnTo>
                    <a:pt x="520892" y="143273"/>
                  </a:lnTo>
                  <a:lnTo>
                    <a:pt x="521178" y="139725"/>
                  </a:lnTo>
                  <a:lnTo>
                    <a:pt x="521178" y="22114"/>
                  </a:lnTo>
                  <a:lnTo>
                    <a:pt x="520892" y="18567"/>
                  </a:lnTo>
                  <a:lnTo>
                    <a:pt x="520040" y="15111"/>
                  </a:lnTo>
                  <a:lnTo>
                    <a:pt x="518645" y="11837"/>
                  </a:lnTo>
                  <a:lnTo>
                    <a:pt x="516743" y="8829"/>
                  </a:lnTo>
                  <a:lnTo>
                    <a:pt x="514383" y="6165"/>
                  </a:lnTo>
                  <a:lnTo>
                    <a:pt x="511626" y="3914"/>
                  </a:lnTo>
                  <a:lnTo>
                    <a:pt x="508544" y="2135"/>
                  </a:lnTo>
                  <a:lnTo>
                    <a:pt x="505216" y="873"/>
                  </a:lnTo>
                  <a:lnTo>
                    <a:pt x="501729" y="161"/>
                  </a:lnTo>
                  <a:lnTo>
                    <a:pt x="499064" y="0"/>
                  </a:lnTo>
                  <a:lnTo>
                    <a:pt x="22114" y="0"/>
                  </a:lnTo>
                  <a:lnTo>
                    <a:pt x="24780" y="161"/>
                  </a:lnTo>
                  <a:lnTo>
                    <a:pt x="21224" y="17"/>
                  </a:lnTo>
                  <a:lnTo>
                    <a:pt x="17691" y="446"/>
                  </a:lnTo>
                  <a:lnTo>
                    <a:pt x="14272" y="1437"/>
                  </a:lnTo>
                  <a:lnTo>
                    <a:pt x="11057" y="2962"/>
                  </a:lnTo>
                  <a:lnTo>
                    <a:pt x="8128" y="4984"/>
                  </a:lnTo>
                  <a:lnTo>
                    <a:pt x="5561" y="7449"/>
                  </a:lnTo>
                  <a:lnTo>
                    <a:pt x="3423" y="10295"/>
                  </a:lnTo>
                  <a:lnTo>
                    <a:pt x="1769" y="13446"/>
                  </a:lnTo>
                  <a:lnTo>
                    <a:pt x="642" y="16822"/>
                  </a:lnTo>
                  <a:lnTo>
                    <a:pt x="71" y="20335"/>
                  </a:lnTo>
                  <a:lnTo>
                    <a:pt x="0" y="22114"/>
                  </a:lnTo>
                  <a:lnTo>
                    <a:pt x="0" y="139725"/>
                  </a:lnTo>
                  <a:lnTo>
                    <a:pt x="71" y="137946"/>
                  </a:lnTo>
                  <a:lnTo>
                    <a:pt x="71" y="141505"/>
                  </a:lnTo>
                  <a:lnTo>
                    <a:pt x="642" y="145018"/>
                  </a:lnTo>
                  <a:lnTo>
                    <a:pt x="1769" y="148393"/>
                  </a:lnTo>
                  <a:lnTo>
                    <a:pt x="3423" y="151545"/>
                  </a:lnTo>
                  <a:lnTo>
                    <a:pt x="5561" y="154390"/>
                  </a:lnTo>
                  <a:lnTo>
                    <a:pt x="8128" y="156855"/>
                  </a:lnTo>
                  <a:lnTo>
                    <a:pt x="11057" y="158877"/>
                  </a:lnTo>
                  <a:lnTo>
                    <a:pt x="14272" y="160403"/>
                  </a:lnTo>
                  <a:lnTo>
                    <a:pt x="17691" y="161393"/>
                  </a:lnTo>
                  <a:lnTo>
                    <a:pt x="21224" y="161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" name="tx357"/>
            <p:cNvSpPr/>
            <p:nvPr/>
          </p:nvSpPr>
          <p:spPr>
            <a:xfrm>
              <a:off x="6873024" y="2229738"/>
              <a:ext cx="447463" cy="111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p &lt; .001</a:t>
              </a:r>
            </a:p>
          </p:txBody>
        </p:sp>
        <p:sp>
          <p:nvSpPr>
            <p:cNvPr id="358" name="tx358"/>
            <p:cNvSpPr/>
            <p:nvPr/>
          </p:nvSpPr>
          <p:spPr>
            <a:xfrm>
              <a:off x="2141760" y="1720035"/>
              <a:ext cx="1001725" cy="1473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Forward slope</a:t>
              </a:r>
            </a:p>
          </p:txBody>
        </p:sp>
        <p:sp>
          <p:nvSpPr>
            <p:cNvPr id="359" name="tx359"/>
            <p:cNvSpPr/>
            <p:nvPr/>
          </p:nvSpPr>
          <p:spPr>
            <a:xfrm>
              <a:off x="5609680" y="1720035"/>
              <a:ext cx="975055" cy="1473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Reverse slope</a:t>
              </a:r>
            </a:p>
          </p:txBody>
        </p:sp>
        <p:sp>
          <p:nvSpPr>
            <p:cNvPr id="360" name="tx360"/>
            <p:cNvSpPr/>
            <p:nvPr/>
          </p:nvSpPr>
          <p:spPr>
            <a:xfrm>
              <a:off x="1507551" y="602264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3</a:t>
              </a:r>
            </a:p>
          </p:txBody>
        </p:sp>
        <p:sp>
          <p:nvSpPr>
            <p:cNvPr id="361" name="tx361"/>
            <p:cNvSpPr/>
            <p:nvPr/>
          </p:nvSpPr>
          <p:spPr>
            <a:xfrm>
              <a:off x="2507099" y="602264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5</a:t>
              </a:r>
            </a:p>
          </p:txBody>
        </p:sp>
        <p:sp>
          <p:nvSpPr>
            <p:cNvPr id="362" name="tx362"/>
            <p:cNvSpPr/>
            <p:nvPr/>
          </p:nvSpPr>
          <p:spPr>
            <a:xfrm>
              <a:off x="3506647" y="602264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7</a:t>
              </a:r>
            </a:p>
          </p:txBody>
        </p:sp>
        <p:sp>
          <p:nvSpPr>
            <p:cNvPr id="363" name="tx363"/>
            <p:cNvSpPr/>
            <p:nvPr/>
          </p:nvSpPr>
          <p:spPr>
            <a:xfrm>
              <a:off x="4962137" y="602264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3</a:t>
              </a:r>
            </a:p>
          </p:txBody>
        </p:sp>
        <p:sp>
          <p:nvSpPr>
            <p:cNvPr id="364" name="tx364"/>
            <p:cNvSpPr/>
            <p:nvPr/>
          </p:nvSpPr>
          <p:spPr>
            <a:xfrm>
              <a:off x="5961685" y="602264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5</a:t>
              </a:r>
            </a:p>
          </p:txBody>
        </p:sp>
        <p:sp>
          <p:nvSpPr>
            <p:cNvPr id="365" name="tx365"/>
            <p:cNvSpPr/>
            <p:nvPr/>
          </p:nvSpPr>
          <p:spPr>
            <a:xfrm>
              <a:off x="6961233" y="602264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7</a:t>
              </a:r>
            </a:p>
          </p:txBody>
        </p:sp>
        <p:sp>
          <p:nvSpPr>
            <p:cNvPr id="366" name="tx366"/>
            <p:cNvSpPr/>
            <p:nvPr/>
          </p:nvSpPr>
          <p:spPr>
            <a:xfrm>
              <a:off x="805536" y="5732950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0.0</a:t>
              </a:r>
            </a:p>
          </p:txBody>
        </p:sp>
        <p:sp>
          <p:nvSpPr>
            <p:cNvPr id="367" name="tx367"/>
            <p:cNvSpPr/>
            <p:nvPr/>
          </p:nvSpPr>
          <p:spPr>
            <a:xfrm>
              <a:off x="805536" y="4884267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0.5</a:t>
              </a:r>
            </a:p>
          </p:txBody>
        </p:sp>
        <p:sp>
          <p:nvSpPr>
            <p:cNvPr id="368" name="tx368"/>
            <p:cNvSpPr/>
            <p:nvPr/>
          </p:nvSpPr>
          <p:spPr>
            <a:xfrm>
              <a:off x="805536" y="4035585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1.0</a:t>
              </a:r>
            </a:p>
          </p:txBody>
        </p:sp>
        <p:sp>
          <p:nvSpPr>
            <p:cNvPr id="369" name="tx369"/>
            <p:cNvSpPr/>
            <p:nvPr/>
          </p:nvSpPr>
          <p:spPr>
            <a:xfrm>
              <a:off x="805536" y="3187438"/>
              <a:ext cx="169485" cy="870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1.5</a:t>
              </a:r>
            </a:p>
          </p:txBody>
        </p:sp>
        <p:sp>
          <p:nvSpPr>
            <p:cNvPr id="370" name="tx370"/>
            <p:cNvSpPr/>
            <p:nvPr/>
          </p:nvSpPr>
          <p:spPr>
            <a:xfrm>
              <a:off x="805536" y="2337922"/>
              <a:ext cx="169485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2.0</a:t>
              </a:r>
            </a:p>
          </p:txBody>
        </p:sp>
        <p:sp>
          <p:nvSpPr>
            <p:cNvPr id="371" name="tx371"/>
            <p:cNvSpPr/>
            <p:nvPr/>
          </p:nvSpPr>
          <p:spPr>
            <a:xfrm rot="-5400000">
              <a:off x="-890254" y="3880094"/>
              <a:ext cx="3104182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Each person's slope (dots); mean and 95% CI</a:t>
              </a:r>
            </a:p>
          </p:txBody>
        </p:sp>
        <p:sp>
          <p:nvSpPr>
            <p:cNvPr id="372" name="tx372"/>
            <p:cNvSpPr/>
            <p:nvPr/>
          </p:nvSpPr>
          <p:spPr>
            <a:xfrm>
              <a:off x="1043346" y="1404589"/>
              <a:ext cx="5082108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Is the slope different from 1 at each level? (experience; p vs 1, Holm)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7315200" cy="4892040"/>
            <a:chOff x="548640" y="1371600"/>
            <a:chExt cx="7315200" cy="489204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7315200" cy="48920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43346" y="3304226"/>
              <a:ext cx="6744578" cy="0"/>
            </a:xfrm>
            <a:custGeom>
              <a:avLst/>
              <a:pathLst>
                <a:path w="6744578" h="0">
                  <a:moveTo>
                    <a:pt x="0" y="0"/>
                  </a:moveTo>
                  <a:lnTo>
                    <a:pt x="6744578" y="0"/>
                  </a:lnTo>
                  <a:lnTo>
                    <a:pt x="674457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43346" y="2853511"/>
              <a:ext cx="6744578" cy="0"/>
            </a:xfrm>
            <a:custGeom>
              <a:avLst/>
              <a:pathLst>
                <a:path w="6744578" h="0">
                  <a:moveTo>
                    <a:pt x="0" y="0"/>
                  </a:moveTo>
                  <a:lnTo>
                    <a:pt x="6744578" y="0"/>
                  </a:lnTo>
                  <a:lnTo>
                    <a:pt x="674457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43346" y="2402796"/>
              <a:ext cx="6744578" cy="0"/>
            </a:xfrm>
            <a:custGeom>
              <a:avLst/>
              <a:pathLst>
                <a:path w="6744578" h="0">
                  <a:moveTo>
                    <a:pt x="0" y="0"/>
                  </a:moveTo>
                  <a:lnTo>
                    <a:pt x="6744578" y="0"/>
                  </a:lnTo>
                  <a:lnTo>
                    <a:pt x="674457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43346" y="1952081"/>
              <a:ext cx="6744578" cy="0"/>
            </a:xfrm>
            <a:custGeom>
              <a:avLst/>
              <a:pathLst>
                <a:path w="6744578" h="0">
                  <a:moveTo>
                    <a:pt x="0" y="0"/>
                  </a:moveTo>
                  <a:lnTo>
                    <a:pt x="6744578" y="0"/>
                  </a:lnTo>
                  <a:lnTo>
                    <a:pt x="674457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307954" y="1944993"/>
              <a:ext cx="0" cy="1769222"/>
            </a:xfrm>
            <a:custGeom>
              <a:avLst/>
              <a:pathLst>
                <a:path w="0" h="1769222">
                  <a:moveTo>
                    <a:pt x="0" y="17692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415635" y="1944993"/>
              <a:ext cx="0" cy="1769222"/>
            </a:xfrm>
            <a:custGeom>
              <a:avLst/>
              <a:pathLst>
                <a:path w="0" h="1769222">
                  <a:moveTo>
                    <a:pt x="0" y="17692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523316" y="1944993"/>
              <a:ext cx="0" cy="1769222"/>
            </a:xfrm>
            <a:custGeom>
              <a:avLst/>
              <a:pathLst>
                <a:path w="0" h="1769222">
                  <a:moveTo>
                    <a:pt x="0" y="17692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43346" y="2853511"/>
              <a:ext cx="6744578" cy="0"/>
            </a:xfrm>
            <a:custGeom>
              <a:avLst/>
              <a:pathLst>
                <a:path w="6744578" h="0">
                  <a:moveTo>
                    <a:pt x="0" y="0"/>
                  </a:moveTo>
                  <a:lnTo>
                    <a:pt x="6744578" y="0"/>
                  </a:lnTo>
                  <a:lnTo>
                    <a:pt x="6744578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307954" y="2646146"/>
              <a:ext cx="4215361" cy="281239"/>
            </a:xfrm>
            <a:custGeom>
              <a:avLst/>
              <a:pathLst>
                <a:path w="4215361" h="281239">
                  <a:moveTo>
                    <a:pt x="0" y="0"/>
                  </a:moveTo>
                  <a:lnTo>
                    <a:pt x="2107680" y="97285"/>
                  </a:lnTo>
                  <a:lnTo>
                    <a:pt x="4215361" y="281239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307954" y="2857911"/>
              <a:ext cx="4215361" cy="316735"/>
            </a:xfrm>
            <a:custGeom>
              <a:avLst/>
              <a:pathLst>
                <a:path w="4215361" h="316735">
                  <a:moveTo>
                    <a:pt x="0" y="0"/>
                  </a:moveTo>
                  <a:lnTo>
                    <a:pt x="2107680" y="69572"/>
                  </a:lnTo>
                  <a:lnTo>
                    <a:pt x="4215361" y="31673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307954" y="3016729"/>
              <a:ext cx="4215361" cy="162003"/>
            </a:xfrm>
            <a:custGeom>
              <a:avLst/>
              <a:pathLst>
                <a:path w="4215361" h="162003">
                  <a:moveTo>
                    <a:pt x="0" y="0"/>
                  </a:moveTo>
                  <a:lnTo>
                    <a:pt x="2107680" y="62611"/>
                  </a:lnTo>
                  <a:lnTo>
                    <a:pt x="4215361" y="16200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07954" y="3208383"/>
              <a:ext cx="4215361" cy="207092"/>
            </a:xfrm>
            <a:custGeom>
              <a:avLst/>
              <a:pathLst>
                <a:path w="4215361" h="207092">
                  <a:moveTo>
                    <a:pt x="0" y="42948"/>
                  </a:moveTo>
                  <a:lnTo>
                    <a:pt x="2107680" y="0"/>
                  </a:lnTo>
                  <a:lnTo>
                    <a:pt x="4215361" y="207092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307954" y="2364623"/>
              <a:ext cx="4215361" cy="358826"/>
            </a:xfrm>
            <a:custGeom>
              <a:avLst/>
              <a:pathLst>
                <a:path w="4215361" h="358826">
                  <a:moveTo>
                    <a:pt x="0" y="0"/>
                  </a:moveTo>
                  <a:lnTo>
                    <a:pt x="2107680" y="332614"/>
                  </a:lnTo>
                  <a:lnTo>
                    <a:pt x="4215361" y="358826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07954" y="2846927"/>
              <a:ext cx="4215361" cy="162173"/>
            </a:xfrm>
            <a:custGeom>
              <a:avLst/>
              <a:pathLst>
                <a:path w="4215361" h="162173">
                  <a:moveTo>
                    <a:pt x="0" y="12010"/>
                  </a:moveTo>
                  <a:lnTo>
                    <a:pt x="2107680" y="0"/>
                  </a:lnTo>
                  <a:lnTo>
                    <a:pt x="4215361" y="16217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307954" y="2747214"/>
              <a:ext cx="4215361" cy="403132"/>
            </a:xfrm>
            <a:custGeom>
              <a:avLst/>
              <a:pathLst>
                <a:path w="4215361" h="403132">
                  <a:moveTo>
                    <a:pt x="0" y="0"/>
                  </a:moveTo>
                  <a:lnTo>
                    <a:pt x="2107680" y="267707"/>
                  </a:lnTo>
                  <a:lnTo>
                    <a:pt x="4215361" y="403132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307954" y="2383205"/>
              <a:ext cx="4215361" cy="442322"/>
            </a:xfrm>
            <a:custGeom>
              <a:avLst/>
              <a:pathLst>
                <a:path w="4215361" h="442322">
                  <a:moveTo>
                    <a:pt x="0" y="0"/>
                  </a:moveTo>
                  <a:lnTo>
                    <a:pt x="2107680" y="397764"/>
                  </a:lnTo>
                  <a:lnTo>
                    <a:pt x="4215361" y="442322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307954" y="2788052"/>
              <a:ext cx="4215361" cy="211661"/>
            </a:xfrm>
            <a:custGeom>
              <a:avLst/>
              <a:pathLst>
                <a:path w="4215361" h="211661">
                  <a:moveTo>
                    <a:pt x="0" y="0"/>
                  </a:moveTo>
                  <a:lnTo>
                    <a:pt x="2107680" y="63713"/>
                  </a:lnTo>
                  <a:lnTo>
                    <a:pt x="4215361" y="211661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307954" y="2810843"/>
              <a:ext cx="4215361" cy="262507"/>
            </a:xfrm>
            <a:custGeom>
              <a:avLst/>
              <a:pathLst>
                <a:path w="4215361" h="262507">
                  <a:moveTo>
                    <a:pt x="0" y="0"/>
                  </a:moveTo>
                  <a:lnTo>
                    <a:pt x="2107680" y="35989"/>
                  </a:lnTo>
                  <a:lnTo>
                    <a:pt x="4215361" y="262507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307954" y="3039439"/>
              <a:ext cx="4215361" cy="390808"/>
            </a:xfrm>
            <a:custGeom>
              <a:avLst/>
              <a:pathLst>
                <a:path w="4215361" h="390808">
                  <a:moveTo>
                    <a:pt x="0" y="59801"/>
                  </a:moveTo>
                  <a:lnTo>
                    <a:pt x="2107680" y="0"/>
                  </a:lnTo>
                  <a:lnTo>
                    <a:pt x="4215361" y="39080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07954" y="2987094"/>
              <a:ext cx="4215361" cy="202459"/>
            </a:xfrm>
            <a:custGeom>
              <a:avLst/>
              <a:pathLst>
                <a:path w="4215361" h="202459">
                  <a:moveTo>
                    <a:pt x="0" y="0"/>
                  </a:moveTo>
                  <a:lnTo>
                    <a:pt x="2107680" y="169609"/>
                  </a:lnTo>
                  <a:lnTo>
                    <a:pt x="4215361" y="202459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307954" y="2772040"/>
              <a:ext cx="4215361" cy="105289"/>
            </a:xfrm>
            <a:custGeom>
              <a:avLst/>
              <a:pathLst>
                <a:path w="4215361" h="105289">
                  <a:moveTo>
                    <a:pt x="0" y="0"/>
                  </a:moveTo>
                  <a:lnTo>
                    <a:pt x="2107680" y="7657"/>
                  </a:lnTo>
                  <a:lnTo>
                    <a:pt x="4215361" y="105289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307954" y="2779790"/>
              <a:ext cx="4215361" cy="140692"/>
            </a:xfrm>
            <a:custGeom>
              <a:avLst/>
              <a:pathLst>
                <a:path w="4215361" h="140692">
                  <a:moveTo>
                    <a:pt x="0" y="140692"/>
                  </a:moveTo>
                  <a:lnTo>
                    <a:pt x="2107680" y="52268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307954" y="2965474"/>
              <a:ext cx="4215361" cy="117514"/>
            </a:xfrm>
            <a:custGeom>
              <a:avLst/>
              <a:pathLst>
                <a:path w="4215361" h="117514">
                  <a:moveTo>
                    <a:pt x="0" y="0"/>
                  </a:moveTo>
                  <a:lnTo>
                    <a:pt x="2107680" y="35907"/>
                  </a:lnTo>
                  <a:lnTo>
                    <a:pt x="4215361" y="11751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307954" y="2605907"/>
              <a:ext cx="4215361" cy="447491"/>
            </a:xfrm>
            <a:custGeom>
              <a:avLst/>
              <a:pathLst>
                <a:path w="4215361" h="447491">
                  <a:moveTo>
                    <a:pt x="0" y="0"/>
                  </a:moveTo>
                  <a:lnTo>
                    <a:pt x="2107680" y="260860"/>
                  </a:lnTo>
                  <a:lnTo>
                    <a:pt x="4215361" y="447491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07954" y="2660055"/>
              <a:ext cx="4215361" cy="470780"/>
            </a:xfrm>
            <a:custGeom>
              <a:avLst/>
              <a:pathLst>
                <a:path w="4215361" h="470780">
                  <a:moveTo>
                    <a:pt x="0" y="0"/>
                  </a:moveTo>
                  <a:lnTo>
                    <a:pt x="2107680" y="384827"/>
                  </a:lnTo>
                  <a:lnTo>
                    <a:pt x="4215361" y="47078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307954" y="2868677"/>
              <a:ext cx="4215361" cy="195720"/>
            </a:xfrm>
            <a:custGeom>
              <a:avLst/>
              <a:pathLst>
                <a:path w="4215361" h="195720">
                  <a:moveTo>
                    <a:pt x="0" y="28230"/>
                  </a:moveTo>
                  <a:lnTo>
                    <a:pt x="2107680" y="0"/>
                  </a:lnTo>
                  <a:lnTo>
                    <a:pt x="4215361" y="19572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307954" y="2696108"/>
              <a:ext cx="4215361" cy="211556"/>
            </a:xfrm>
            <a:custGeom>
              <a:avLst/>
              <a:pathLst>
                <a:path w="4215361" h="211556">
                  <a:moveTo>
                    <a:pt x="0" y="0"/>
                  </a:moveTo>
                  <a:lnTo>
                    <a:pt x="2107680" y="140539"/>
                  </a:lnTo>
                  <a:lnTo>
                    <a:pt x="4215361" y="211556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307954" y="2411675"/>
              <a:ext cx="4215361" cy="435809"/>
            </a:xfrm>
            <a:custGeom>
              <a:avLst/>
              <a:pathLst>
                <a:path w="4215361" h="435809">
                  <a:moveTo>
                    <a:pt x="0" y="0"/>
                  </a:moveTo>
                  <a:lnTo>
                    <a:pt x="2107680" y="383886"/>
                  </a:lnTo>
                  <a:lnTo>
                    <a:pt x="4215361" y="435809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307954" y="3035061"/>
              <a:ext cx="4215361" cy="208405"/>
            </a:xfrm>
            <a:custGeom>
              <a:avLst/>
              <a:pathLst>
                <a:path w="4215361" h="208405">
                  <a:moveTo>
                    <a:pt x="0" y="0"/>
                  </a:moveTo>
                  <a:lnTo>
                    <a:pt x="2107680" y="74065"/>
                  </a:lnTo>
                  <a:lnTo>
                    <a:pt x="4215361" y="20840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307954" y="2341731"/>
              <a:ext cx="4215361" cy="630797"/>
            </a:xfrm>
            <a:custGeom>
              <a:avLst/>
              <a:pathLst>
                <a:path w="4215361" h="630797">
                  <a:moveTo>
                    <a:pt x="0" y="0"/>
                  </a:moveTo>
                  <a:lnTo>
                    <a:pt x="2107680" y="143274"/>
                  </a:lnTo>
                  <a:lnTo>
                    <a:pt x="4215361" y="630797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307954" y="2774146"/>
              <a:ext cx="4215361" cy="228513"/>
            </a:xfrm>
            <a:custGeom>
              <a:avLst/>
              <a:pathLst>
                <a:path w="4215361" h="228513">
                  <a:moveTo>
                    <a:pt x="0" y="0"/>
                  </a:moveTo>
                  <a:lnTo>
                    <a:pt x="2107680" y="197572"/>
                  </a:lnTo>
                  <a:lnTo>
                    <a:pt x="4215361" y="22851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307954" y="2663011"/>
              <a:ext cx="4215361" cy="181279"/>
            </a:xfrm>
            <a:custGeom>
              <a:avLst/>
              <a:pathLst>
                <a:path w="4215361" h="181279">
                  <a:moveTo>
                    <a:pt x="0" y="0"/>
                  </a:moveTo>
                  <a:lnTo>
                    <a:pt x="2107680" y="161106"/>
                  </a:lnTo>
                  <a:lnTo>
                    <a:pt x="4215361" y="181279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307954" y="2890040"/>
              <a:ext cx="4215361" cy="232964"/>
            </a:xfrm>
            <a:custGeom>
              <a:avLst/>
              <a:pathLst>
                <a:path w="4215361" h="232964">
                  <a:moveTo>
                    <a:pt x="0" y="0"/>
                  </a:moveTo>
                  <a:lnTo>
                    <a:pt x="2107680" y="147013"/>
                  </a:lnTo>
                  <a:lnTo>
                    <a:pt x="4215361" y="23296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307954" y="2785388"/>
              <a:ext cx="4215361" cy="30210"/>
            </a:xfrm>
            <a:custGeom>
              <a:avLst/>
              <a:pathLst>
                <a:path w="4215361" h="30210">
                  <a:moveTo>
                    <a:pt x="0" y="30210"/>
                  </a:moveTo>
                  <a:lnTo>
                    <a:pt x="2107680" y="13082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307954" y="2825971"/>
              <a:ext cx="4215361" cy="276075"/>
            </a:xfrm>
            <a:custGeom>
              <a:avLst/>
              <a:pathLst>
                <a:path w="4215361" h="276075">
                  <a:moveTo>
                    <a:pt x="0" y="0"/>
                  </a:moveTo>
                  <a:lnTo>
                    <a:pt x="2107680" y="154566"/>
                  </a:lnTo>
                  <a:lnTo>
                    <a:pt x="4215361" y="27607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307954" y="2717858"/>
              <a:ext cx="4215361" cy="246570"/>
            </a:xfrm>
            <a:custGeom>
              <a:avLst/>
              <a:pathLst>
                <a:path w="4215361" h="246570">
                  <a:moveTo>
                    <a:pt x="0" y="0"/>
                  </a:moveTo>
                  <a:lnTo>
                    <a:pt x="2107680" y="86199"/>
                  </a:lnTo>
                  <a:lnTo>
                    <a:pt x="4215361" y="24657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307954" y="3076144"/>
              <a:ext cx="4215361" cy="158021"/>
            </a:xfrm>
            <a:custGeom>
              <a:avLst/>
              <a:pathLst>
                <a:path w="4215361" h="158021">
                  <a:moveTo>
                    <a:pt x="0" y="0"/>
                  </a:moveTo>
                  <a:lnTo>
                    <a:pt x="2107680" y="16309"/>
                  </a:lnTo>
                  <a:lnTo>
                    <a:pt x="4215361" y="158021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307954" y="2606718"/>
              <a:ext cx="4215361" cy="108547"/>
            </a:xfrm>
            <a:custGeom>
              <a:avLst/>
              <a:pathLst>
                <a:path w="4215361" h="108547">
                  <a:moveTo>
                    <a:pt x="0" y="101079"/>
                  </a:moveTo>
                  <a:lnTo>
                    <a:pt x="2107680" y="0"/>
                  </a:lnTo>
                  <a:lnTo>
                    <a:pt x="4215361" y="108547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307954" y="2865854"/>
              <a:ext cx="4215361" cy="214102"/>
            </a:xfrm>
            <a:custGeom>
              <a:avLst/>
              <a:pathLst>
                <a:path w="4215361" h="214102">
                  <a:moveTo>
                    <a:pt x="0" y="0"/>
                  </a:moveTo>
                  <a:lnTo>
                    <a:pt x="2107680" y="149296"/>
                  </a:lnTo>
                  <a:lnTo>
                    <a:pt x="4215361" y="214102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307954" y="2923311"/>
              <a:ext cx="4215361" cy="179971"/>
            </a:xfrm>
            <a:custGeom>
              <a:avLst/>
              <a:pathLst>
                <a:path w="4215361" h="179971">
                  <a:moveTo>
                    <a:pt x="0" y="0"/>
                  </a:moveTo>
                  <a:lnTo>
                    <a:pt x="2107680" y="141155"/>
                  </a:lnTo>
                  <a:lnTo>
                    <a:pt x="4215361" y="179971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307954" y="2599657"/>
              <a:ext cx="4215361" cy="196840"/>
            </a:xfrm>
            <a:custGeom>
              <a:avLst/>
              <a:pathLst>
                <a:path w="4215361" h="196840">
                  <a:moveTo>
                    <a:pt x="0" y="196840"/>
                  </a:moveTo>
                  <a:lnTo>
                    <a:pt x="2107680" y="124297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307954" y="3145208"/>
              <a:ext cx="4215361" cy="101005"/>
            </a:xfrm>
            <a:custGeom>
              <a:avLst/>
              <a:pathLst>
                <a:path w="4215361" h="101005">
                  <a:moveTo>
                    <a:pt x="0" y="0"/>
                  </a:moveTo>
                  <a:lnTo>
                    <a:pt x="2107680" y="93709"/>
                  </a:lnTo>
                  <a:lnTo>
                    <a:pt x="4215361" y="10100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307954" y="2659263"/>
              <a:ext cx="4215361" cy="261998"/>
            </a:xfrm>
            <a:custGeom>
              <a:avLst/>
              <a:pathLst>
                <a:path w="4215361" h="261998">
                  <a:moveTo>
                    <a:pt x="0" y="0"/>
                  </a:moveTo>
                  <a:lnTo>
                    <a:pt x="2107680" y="261998"/>
                  </a:lnTo>
                  <a:lnTo>
                    <a:pt x="4215361" y="17499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307954" y="2690310"/>
              <a:ext cx="4215361" cy="943486"/>
            </a:xfrm>
            <a:custGeom>
              <a:avLst/>
              <a:pathLst>
                <a:path w="4215361" h="943486">
                  <a:moveTo>
                    <a:pt x="0" y="0"/>
                  </a:moveTo>
                  <a:lnTo>
                    <a:pt x="2107680" y="461561"/>
                  </a:lnTo>
                  <a:lnTo>
                    <a:pt x="4215361" y="943486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307954" y="2848554"/>
              <a:ext cx="4215361" cy="229413"/>
            </a:xfrm>
            <a:custGeom>
              <a:avLst/>
              <a:pathLst>
                <a:path w="4215361" h="229413">
                  <a:moveTo>
                    <a:pt x="0" y="0"/>
                  </a:moveTo>
                  <a:lnTo>
                    <a:pt x="2107680" y="74558"/>
                  </a:lnTo>
                  <a:lnTo>
                    <a:pt x="4215361" y="22941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307954" y="2455852"/>
              <a:ext cx="4215361" cy="383306"/>
            </a:xfrm>
            <a:custGeom>
              <a:avLst/>
              <a:pathLst>
                <a:path w="4215361" h="383306">
                  <a:moveTo>
                    <a:pt x="0" y="0"/>
                  </a:moveTo>
                  <a:lnTo>
                    <a:pt x="2107680" y="262745"/>
                  </a:lnTo>
                  <a:lnTo>
                    <a:pt x="4215361" y="383306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307954" y="2666308"/>
              <a:ext cx="4215361" cy="160050"/>
            </a:xfrm>
            <a:custGeom>
              <a:avLst/>
              <a:pathLst>
                <a:path w="4215361" h="160050">
                  <a:moveTo>
                    <a:pt x="0" y="8768"/>
                  </a:moveTo>
                  <a:lnTo>
                    <a:pt x="2107680" y="160050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307954" y="2871752"/>
              <a:ext cx="4215361" cy="142169"/>
            </a:xfrm>
            <a:custGeom>
              <a:avLst/>
              <a:pathLst>
                <a:path w="4215361" h="142169">
                  <a:moveTo>
                    <a:pt x="0" y="0"/>
                  </a:moveTo>
                  <a:lnTo>
                    <a:pt x="2107680" y="140912"/>
                  </a:lnTo>
                  <a:lnTo>
                    <a:pt x="4215361" y="142169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307954" y="2838414"/>
              <a:ext cx="4215361" cy="407637"/>
            </a:xfrm>
            <a:custGeom>
              <a:avLst/>
              <a:pathLst>
                <a:path w="4215361" h="407637">
                  <a:moveTo>
                    <a:pt x="0" y="18797"/>
                  </a:moveTo>
                  <a:lnTo>
                    <a:pt x="2107680" y="0"/>
                  </a:lnTo>
                  <a:lnTo>
                    <a:pt x="4215361" y="407637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307954" y="2460415"/>
              <a:ext cx="4215361" cy="354132"/>
            </a:xfrm>
            <a:custGeom>
              <a:avLst/>
              <a:pathLst>
                <a:path w="4215361" h="354132">
                  <a:moveTo>
                    <a:pt x="0" y="151154"/>
                  </a:moveTo>
                  <a:lnTo>
                    <a:pt x="2107680" y="0"/>
                  </a:lnTo>
                  <a:lnTo>
                    <a:pt x="4215361" y="354132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307954" y="2634029"/>
              <a:ext cx="4215361" cy="129746"/>
            </a:xfrm>
            <a:custGeom>
              <a:avLst/>
              <a:pathLst>
                <a:path w="4215361" h="129746">
                  <a:moveTo>
                    <a:pt x="0" y="0"/>
                  </a:moveTo>
                  <a:lnTo>
                    <a:pt x="2107680" y="129746"/>
                  </a:lnTo>
                  <a:lnTo>
                    <a:pt x="4215361" y="5147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307954" y="2577243"/>
              <a:ext cx="4215361" cy="96256"/>
            </a:xfrm>
            <a:custGeom>
              <a:avLst/>
              <a:pathLst>
                <a:path w="4215361" h="96256">
                  <a:moveTo>
                    <a:pt x="0" y="0"/>
                  </a:moveTo>
                  <a:lnTo>
                    <a:pt x="2107680" y="76482"/>
                  </a:lnTo>
                  <a:lnTo>
                    <a:pt x="4215361" y="96256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307954" y="2874495"/>
              <a:ext cx="4215361" cy="404012"/>
            </a:xfrm>
            <a:custGeom>
              <a:avLst/>
              <a:pathLst>
                <a:path w="4215361" h="404012">
                  <a:moveTo>
                    <a:pt x="0" y="0"/>
                  </a:moveTo>
                  <a:lnTo>
                    <a:pt x="2107680" y="404012"/>
                  </a:lnTo>
                  <a:lnTo>
                    <a:pt x="4215361" y="15512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307954" y="2025412"/>
              <a:ext cx="4215361" cy="413120"/>
            </a:xfrm>
            <a:custGeom>
              <a:avLst/>
              <a:pathLst>
                <a:path w="4215361" h="413120">
                  <a:moveTo>
                    <a:pt x="0" y="0"/>
                  </a:moveTo>
                  <a:lnTo>
                    <a:pt x="2107680" y="230692"/>
                  </a:lnTo>
                  <a:lnTo>
                    <a:pt x="4215361" y="41312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307954" y="2822180"/>
              <a:ext cx="4215361" cy="331340"/>
            </a:xfrm>
            <a:custGeom>
              <a:avLst/>
              <a:pathLst>
                <a:path w="4215361" h="331340">
                  <a:moveTo>
                    <a:pt x="0" y="266393"/>
                  </a:moveTo>
                  <a:lnTo>
                    <a:pt x="2107680" y="331340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307954" y="2574300"/>
              <a:ext cx="4215361" cy="245016"/>
            </a:xfrm>
            <a:custGeom>
              <a:avLst/>
              <a:pathLst>
                <a:path w="4215361" h="245016">
                  <a:moveTo>
                    <a:pt x="0" y="0"/>
                  </a:moveTo>
                  <a:lnTo>
                    <a:pt x="2107680" y="245016"/>
                  </a:lnTo>
                  <a:lnTo>
                    <a:pt x="4215361" y="195739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307954" y="2541481"/>
              <a:ext cx="4215361" cy="206752"/>
            </a:xfrm>
            <a:custGeom>
              <a:avLst/>
              <a:pathLst>
                <a:path w="4215361" h="206752">
                  <a:moveTo>
                    <a:pt x="0" y="0"/>
                  </a:moveTo>
                  <a:lnTo>
                    <a:pt x="2107680" y="4884"/>
                  </a:lnTo>
                  <a:lnTo>
                    <a:pt x="4215361" y="206752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307954" y="2864252"/>
              <a:ext cx="4215361" cy="216575"/>
            </a:xfrm>
            <a:custGeom>
              <a:avLst/>
              <a:pathLst>
                <a:path w="4215361" h="216575">
                  <a:moveTo>
                    <a:pt x="0" y="0"/>
                  </a:moveTo>
                  <a:lnTo>
                    <a:pt x="2107680" y="65945"/>
                  </a:lnTo>
                  <a:lnTo>
                    <a:pt x="4215361" y="21657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181493" y="2699504"/>
              <a:ext cx="252921" cy="0"/>
            </a:xfrm>
            <a:custGeom>
              <a:avLst/>
              <a:pathLst>
                <a:path w="252921" h="0">
                  <a:moveTo>
                    <a:pt x="0" y="0"/>
                  </a:moveTo>
                  <a:lnTo>
                    <a:pt x="25292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307954" y="2699504"/>
              <a:ext cx="0" cy="127694"/>
            </a:xfrm>
            <a:custGeom>
              <a:avLst/>
              <a:pathLst>
                <a:path w="0" h="127694">
                  <a:moveTo>
                    <a:pt x="0" y="0"/>
                  </a:moveTo>
                  <a:lnTo>
                    <a:pt x="0" y="127694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181493" y="2827199"/>
              <a:ext cx="252921" cy="0"/>
            </a:xfrm>
            <a:custGeom>
              <a:avLst/>
              <a:pathLst>
                <a:path w="252921" h="0">
                  <a:moveTo>
                    <a:pt x="0" y="0"/>
                  </a:moveTo>
                  <a:lnTo>
                    <a:pt x="25292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4289174" y="2827161"/>
              <a:ext cx="252921" cy="0"/>
            </a:xfrm>
            <a:custGeom>
              <a:avLst/>
              <a:pathLst>
                <a:path w="252921" h="0">
                  <a:moveTo>
                    <a:pt x="0" y="0"/>
                  </a:moveTo>
                  <a:lnTo>
                    <a:pt x="25292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4415635" y="2827161"/>
              <a:ext cx="0" cy="114679"/>
            </a:xfrm>
            <a:custGeom>
              <a:avLst/>
              <a:pathLst>
                <a:path w="0" h="114679">
                  <a:moveTo>
                    <a:pt x="0" y="0"/>
                  </a:moveTo>
                  <a:lnTo>
                    <a:pt x="0" y="114679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289174" y="2941841"/>
              <a:ext cx="252921" cy="0"/>
            </a:xfrm>
            <a:custGeom>
              <a:avLst/>
              <a:pathLst>
                <a:path w="252921" h="0">
                  <a:moveTo>
                    <a:pt x="0" y="0"/>
                  </a:moveTo>
                  <a:lnTo>
                    <a:pt x="25292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6396855" y="2920972"/>
              <a:ext cx="252921" cy="0"/>
            </a:xfrm>
            <a:custGeom>
              <a:avLst/>
              <a:pathLst>
                <a:path w="252921" h="0">
                  <a:moveTo>
                    <a:pt x="0" y="0"/>
                  </a:moveTo>
                  <a:lnTo>
                    <a:pt x="25292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6523316" y="2920972"/>
              <a:ext cx="0" cy="127344"/>
            </a:xfrm>
            <a:custGeom>
              <a:avLst/>
              <a:pathLst>
                <a:path w="0" h="127344">
                  <a:moveTo>
                    <a:pt x="0" y="0"/>
                  </a:moveTo>
                  <a:lnTo>
                    <a:pt x="0" y="127344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6396855" y="3048317"/>
              <a:ext cx="252921" cy="0"/>
            </a:xfrm>
            <a:custGeom>
              <a:avLst/>
              <a:pathLst>
                <a:path w="252921" h="0">
                  <a:moveTo>
                    <a:pt x="0" y="0"/>
                  </a:moveTo>
                  <a:lnTo>
                    <a:pt x="25292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307954" y="2763352"/>
              <a:ext cx="4215361" cy="221292"/>
            </a:xfrm>
            <a:custGeom>
              <a:avLst/>
              <a:pathLst>
                <a:path w="4215361" h="221292">
                  <a:moveTo>
                    <a:pt x="0" y="0"/>
                  </a:moveTo>
                  <a:lnTo>
                    <a:pt x="2107680" y="121149"/>
                  </a:lnTo>
                  <a:lnTo>
                    <a:pt x="4215361" y="221292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2270933" y="2726330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4378613" y="2847480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6486294" y="2947623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1043346" y="5985745"/>
              <a:ext cx="6744578" cy="0"/>
            </a:xfrm>
            <a:custGeom>
              <a:avLst/>
              <a:pathLst>
                <a:path w="6744578" h="0">
                  <a:moveTo>
                    <a:pt x="0" y="0"/>
                  </a:moveTo>
                  <a:lnTo>
                    <a:pt x="6744578" y="0"/>
                  </a:lnTo>
                  <a:lnTo>
                    <a:pt x="674457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1043346" y="5526259"/>
              <a:ext cx="6744578" cy="0"/>
            </a:xfrm>
            <a:custGeom>
              <a:avLst/>
              <a:pathLst>
                <a:path w="6744578" h="0">
                  <a:moveTo>
                    <a:pt x="0" y="0"/>
                  </a:moveTo>
                  <a:lnTo>
                    <a:pt x="6744578" y="0"/>
                  </a:lnTo>
                  <a:lnTo>
                    <a:pt x="674457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1043346" y="5066772"/>
              <a:ext cx="6744578" cy="0"/>
            </a:xfrm>
            <a:custGeom>
              <a:avLst/>
              <a:pathLst>
                <a:path w="6744578" h="0">
                  <a:moveTo>
                    <a:pt x="0" y="0"/>
                  </a:moveTo>
                  <a:lnTo>
                    <a:pt x="6744578" y="0"/>
                  </a:lnTo>
                  <a:lnTo>
                    <a:pt x="674457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1043346" y="4607285"/>
              <a:ext cx="6744578" cy="0"/>
            </a:xfrm>
            <a:custGeom>
              <a:avLst/>
              <a:pathLst>
                <a:path w="6744578" h="0">
                  <a:moveTo>
                    <a:pt x="0" y="0"/>
                  </a:moveTo>
                  <a:lnTo>
                    <a:pt x="6744578" y="0"/>
                  </a:lnTo>
                  <a:lnTo>
                    <a:pt x="674457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307954" y="4235759"/>
              <a:ext cx="0" cy="1769222"/>
            </a:xfrm>
            <a:custGeom>
              <a:avLst/>
              <a:pathLst>
                <a:path w="0" h="1769222">
                  <a:moveTo>
                    <a:pt x="0" y="17692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415635" y="4235759"/>
              <a:ext cx="0" cy="1769222"/>
            </a:xfrm>
            <a:custGeom>
              <a:avLst/>
              <a:pathLst>
                <a:path w="0" h="1769222">
                  <a:moveTo>
                    <a:pt x="0" y="17692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6523316" y="4235759"/>
              <a:ext cx="0" cy="1769222"/>
            </a:xfrm>
            <a:custGeom>
              <a:avLst/>
              <a:pathLst>
                <a:path w="0" h="1769222">
                  <a:moveTo>
                    <a:pt x="0" y="17692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1043346" y="4454123"/>
              <a:ext cx="6744578" cy="0"/>
            </a:xfrm>
            <a:custGeom>
              <a:avLst/>
              <a:pathLst>
                <a:path w="6744578" h="0">
                  <a:moveTo>
                    <a:pt x="0" y="0"/>
                  </a:moveTo>
                  <a:lnTo>
                    <a:pt x="6744578" y="0"/>
                  </a:lnTo>
                  <a:lnTo>
                    <a:pt x="6744578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307954" y="4904360"/>
              <a:ext cx="4215361" cy="242445"/>
            </a:xfrm>
            <a:custGeom>
              <a:avLst/>
              <a:pathLst>
                <a:path w="4215361" h="242445">
                  <a:moveTo>
                    <a:pt x="0" y="0"/>
                  </a:moveTo>
                  <a:lnTo>
                    <a:pt x="2107680" y="62579"/>
                  </a:lnTo>
                  <a:lnTo>
                    <a:pt x="4215361" y="24244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307954" y="5019272"/>
              <a:ext cx="4215361" cy="222454"/>
            </a:xfrm>
            <a:custGeom>
              <a:avLst/>
              <a:pathLst>
                <a:path w="4215361" h="222454">
                  <a:moveTo>
                    <a:pt x="0" y="30562"/>
                  </a:moveTo>
                  <a:lnTo>
                    <a:pt x="2107680" y="222454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307954" y="4620359"/>
              <a:ext cx="4215361" cy="176812"/>
            </a:xfrm>
            <a:custGeom>
              <a:avLst/>
              <a:pathLst>
                <a:path w="4215361" h="176812">
                  <a:moveTo>
                    <a:pt x="0" y="176812"/>
                  </a:moveTo>
                  <a:lnTo>
                    <a:pt x="2107680" y="7878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307954" y="5087771"/>
              <a:ext cx="4215361" cy="424094"/>
            </a:xfrm>
            <a:custGeom>
              <a:avLst/>
              <a:pathLst>
                <a:path w="4215361" h="424094">
                  <a:moveTo>
                    <a:pt x="0" y="0"/>
                  </a:moveTo>
                  <a:lnTo>
                    <a:pt x="2107680" y="55920"/>
                  </a:lnTo>
                  <a:lnTo>
                    <a:pt x="4215361" y="42409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307954" y="5072936"/>
              <a:ext cx="4215361" cy="189143"/>
            </a:xfrm>
            <a:custGeom>
              <a:avLst/>
              <a:pathLst>
                <a:path w="4215361" h="189143">
                  <a:moveTo>
                    <a:pt x="0" y="189143"/>
                  </a:moveTo>
                  <a:lnTo>
                    <a:pt x="2107680" y="0"/>
                  </a:lnTo>
                  <a:lnTo>
                    <a:pt x="4215361" y="3280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2307954" y="4895413"/>
              <a:ext cx="4215361" cy="117610"/>
            </a:xfrm>
            <a:custGeom>
              <a:avLst/>
              <a:pathLst>
                <a:path w="4215361" h="117610">
                  <a:moveTo>
                    <a:pt x="0" y="0"/>
                  </a:moveTo>
                  <a:lnTo>
                    <a:pt x="2107680" y="46972"/>
                  </a:lnTo>
                  <a:lnTo>
                    <a:pt x="4215361" y="11761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2307954" y="5227056"/>
              <a:ext cx="4215361" cy="155521"/>
            </a:xfrm>
            <a:custGeom>
              <a:avLst/>
              <a:pathLst>
                <a:path w="4215361" h="155521">
                  <a:moveTo>
                    <a:pt x="0" y="0"/>
                  </a:moveTo>
                  <a:lnTo>
                    <a:pt x="2107680" y="11584"/>
                  </a:lnTo>
                  <a:lnTo>
                    <a:pt x="4215361" y="155521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2307954" y="5079525"/>
              <a:ext cx="4215361" cy="167466"/>
            </a:xfrm>
            <a:custGeom>
              <a:avLst/>
              <a:pathLst>
                <a:path w="4215361" h="167466">
                  <a:moveTo>
                    <a:pt x="0" y="167466"/>
                  </a:moveTo>
                  <a:lnTo>
                    <a:pt x="2107680" y="0"/>
                  </a:lnTo>
                  <a:lnTo>
                    <a:pt x="4215361" y="2674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307954" y="4802789"/>
              <a:ext cx="4215361" cy="94278"/>
            </a:xfrm>
            <a:custGeom>
              <a:avLst/>
              <a:pathLst>
                <a:path w="4215361" h="94278">
                  <a:moveTo>
                    <a:pt x="0" y="74036"/>
                  </a:moveTo>
                  <a:lnTo>
                    <a:pt x="2107680" y="0"/>
                  </a:lnTo>
                  <a:lnTo>
                    <a:pt x="4215361" y="9427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307954" y="4753640"/>
              <a:ext cx="4215361" cy="145000"/>
            </a:xfrm>
            <a:custGeom>
              <a:avLst/>
              <a:pathLst>
                <a:path w="4215361" h="145000">
                  <a:moveTo>
                    <a:pt x="0" y="145000"/>
                  </a:moveTo>
                  <a:lnTo>
                    <a:pt x="2107680" y="78715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307954" y="4667104"/>
              <a:ext cx="4215361" cy="440145"/>
            </a:xfrm>
            <a:custGeom>
              <a:avLst/>
              <a:pathLst>
                <a:path w="4215361" h="440145">
                  <a:moveTo>
                    <a:pt x="0" y="0"/>
                  </a:moveTo>
                  <a:lnTo>
                    <a:pt x="2107680" y="43781"/>
                  </a:lnTo>
                  <a:lnTo>
                    <a:pt x="4215361" y="44014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307954" y="4316178"/>
              <a:ext cx="4215361" cy="404880"/>
            </a:xfrm>
            <a:custGeom>
              <a:avLst/>
              <a:pathLst>
                <a:path w="4215361" h="404880">
                  <a:moveTo>
                    <a:pt x="0" y="404880"/>
                  </a:moveTo>
                  <a:lnTo>
                    <a:pt x="2107680" y="196826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307954" y="5237375"/>
              <a:ext cx="4215361" cy="169104"/>
            </a:xfrm>
            <a:custGeom>
              <a:avLst/>
              <a:pathLst>
                <a:path w="4215361" h="169104">
                  <a:moveTo>
                    <a:pt x="0" y="169104"/>
                  </a:moveTo>
                  <a:lnTo>
                    <a:pt x="2107680" y="0"/>
                  </a:lnTo>
                  <a:lnTo>
                    <a:pt x="4215361" y="9530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307954" y="4762816"/>
              <a:ext cx="4215361" cy="437044"/>
            </a:xfrm>
            <a:custGeom>
              <a:avLst/>
              <a:pathLst>
                <a:path w="4215361" h="437044">
                  <a:moveTo>
                    <a:pt x="0" y="0"/>
                  </a:moveTo>
                  <a:lnTo>
                    <a:pt x="2107680" y="364759"/>
                  </a:lnTo>
                  <a:lnTo>
                    <a:pt x="4215361" y="43704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307954" y="4880519"/>
              <a:ext cx="4215361" cy="18333"/>
            </a:xfrm>
            <a:custGeom>
              <a:avLst/>
              <a:pathLst>
                <a:path w="4215361" h="18333">
                  <a:moveTo>
                    <a:pt x="0" y="12149"/>
                  </a:moveTo>
                  <a:lnTo>
                    <a:pt x="2107680" y="18333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307954" y="4648796"/>
              <a:ext cx="4215361" cy="329753"/>
            </a:xfrm>
            <a:custGeom>
              <a:avLst/>
              <a:pathLst>
                <a:path w="4215361" h="329753">
                  <a:moveTo>
                    <a:pt x="0" y="329753"/>
                  </a:moveTo>
                  <a:lnTo>
                    <a:pt x="2107680" y="297224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307954" y="4501835"/>
              <a:ext cx="4215361" cy="439496"/>
            </a:xfrm>
            <a:custGeom>
              <a:avLst/>
              <a:pathLst>
                <a:path w="4215361" h="439496">
                  <a:moveTo>
                    <a:pt x="0" y="439496"/>
                  </a:moveTo>
                  <a:lnTo>
                    <a:pt x="2107680" y="343376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307954" y="4998965"/>
              <a:ext cx="4215361" cy="189362"/>
            </a:xfrm>
            <a:custGeom>
              <a:avLst/>
              <a:pathLst>
                <a:path w="4215361" h="189362">
                  <a:moveTo>
                    <a:pt x="0" y="15263"/>
                  </a:moveTo>
                  <a:lnTo>
                    <a:pt x="2107680" y="189362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307954" y="5008710"/>
              <a:ext cx="4215361" cy="312966"/>
            </a:xfrm>
            <a:custGeom>
              <a:avLst/>
              <a:pathLst>
                <a:path w="4215361" h="312966">
                  <a:moveTo>
                    <a:pt x="0" y="0"/>
                  </a:moveTo>
                  <a:lnTo>
                    <a:pt x="2107680" y="164368"/>
                  </a:lnTo>
                  <a:lnTo>
                    <a:pt x="4215361" y="312966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307954" y="5056308"/>
              <a:ext cx="4215361" cy="115472"/>
            </a:xfrm>
            <a:custGeom>
              <a:avLst/>
              <a:pathLst>
                <a:path w="4215361" h="115472">
                  <a:moveTo>
                    <a:pt x="0" y="115472"/>
                  </a:moveTo>
                  <a:lnTo>
                    <a:pt x="2107680" y="26299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307954" y="4717993"/>
              <a:ext cx="4215361" cy="74195"/>
            </a:xfrm>
            <a:custGeom>
              <a:avLst/>
              <a:pathLst>
                <a:path w="4215361" h="74195">
                  <a:moveTo>
                    <a:pt x="0" y="74195"/>
                  </a:moveTo>
                  <a:lnTo>
                    <a:pt x="2107680" y="8775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307954" y="5122450"/>
              <a:ext cx="4215361" cy="124201"/>
            </a:xfrm>
            <a:custGeom>
              <a:avLst/>
              <a:pathLst>
                <a:path w="4215361" h="124201">
                  <a:moveTo>
                    <a:pt x="0" y="102769"/>
                  </a:moveTo>
                  <a:lnTo>
                    <a:pt x="2107680" y="124201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307954" y="4914399"/>
              <a:ext cx="4215361" cy="84027"/>
            </a:xfrm>
            <a:custGeom>
              <a:avLst/>
              <a:pathLst>
                <a:path w="4215361" h="84027">
                  <a:moveTo>
                    <a:pt x="0" y="68226"/>
                  </a:moveTo>
                  <a:lnTo>
                    <a:pt x="2107680" y="0"/>
                  </a:lnTo>
                  <a:lnTo>
                    <a:pt x="4215361" y="84027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307954" y="4813909"/>
              <a:ext cx="4215361" cy="173717"/>
            </a:xfrm>
            <a:custGeom>
              <a:avLst/>
              <a:pathLst>
                <a:path w="4215361" h="173717">
                  <a:moveTo>
                    <a:pt x="0" y="173717"/>
                  </a:moveTo>
                  <a:lnTo>
                    <a:pt x="2107680" y="0"/>
                  </a:lnTo>
                  <a:lnTo>
                    <a:pt x="4215361" y="7266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307954" y="4618780"/>
              <a:ext cx="4215361" cy="64239"/>
            </a:xfrm>
            <a:custGeom>
              <a:avLst/>
              <a:pathLst>
                <a:path w="4215361" h="64239">
                  <a:moveTo>
                    <a:pt x="0" y="64239"/>
                  </a:moveTo>
                  <a:lnTo>
                    <a:pt x="2107680" y="0"/>
                  </a:lnTo>
                  <a:lnTo>
                    <a:pt x="4215361" y="3511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2307954" y="4796501"/>
              <a:ext cx="4215361" cy="293622"/>
            </a:xfrm>
            <a:custGeom>
              <a:avLst/>
              <a:pathLst>
                <a:path w="4215361" h="293622">
                  <a:moveTo>
                    <a:pt x="0" y="0"/>
                  </a:moveTo>
                  <a:lnTo>
                    <a:pt x="2107680" y="134132"/>
                  </a:lnTo>
                  <a:lnTo>
                    <a:pt x="4215361" y="293622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2307954" y="4714661"/>
              <a:ext cx="4215361" cy="39945"/>
            </a:xfrm>
            <a:custGeom>
              <a:avLst/>
              <a:pathLst>
                <a:path w="4215361" h="39945">
                  <a:moveTo>
                    <a:pt x="0" y="39945"/>
                  </a:moveTo>
                  <a:lnTo>
                    <a:pt x="2107680" y="36001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2307954" y="5263723"/>
              <a:ext cx="4215361" cy="82366"/>
            </a:xfrm>
            <a:custGeom>
              <a:avLst/>
              <a:pathLst>
                <a:path w="4215361" h="82366">
                  <a:moveTo>
                    <a:pt x="0" y="68627"/>
                  </a:moveTo>
                  <a:lnTo>
                    <a:pt x="2107680" y="82366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2307954" y="5286892"/>
              <a:ext cx="4215361" cy="146517"/>
            </a:xfrm>
            <a:custGeom>
              <a:avLst/>
              <a:pathLst>
                <a:path w="4215361" h="146517">
                  <a:moveTo>
                    <a:pt x="0" y="68101"/>
                  </a:moveTo>
                  <a:lnTo>
                    <a:pt x="2107680" y="0"/>
                  </a:lnTo>
                  <a:lnTo>
                    <a:pt x="4215361" y="146517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2307954" y="5054845"/>
              <a:ext cx="4215361" cy="27468"/>
            </a:xfrm>
            <a:custGeom>
              <a:avLst/>
              <a:pathLst>
                <a:path w="4215361" h="27468">
                  <a:moveTo>
                    <a:pt x="0" y="0"/>
                  </a:moveTo>
                  <a:lnTo>
                    <a:pt x="2107680" y="22099"/>
                  </a:lnTo>
                  <a:lnTo>
                    <a:pt x="4215361" y="2746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2307954" y="4841071"/>
              <a:ext cx="4215361" cy="146711"/>
            </a:xfrm>
            <a:custGeom>
              <a:avLst/>
              <a:pathLst>
                <a:path w="4215361" h="146711">
                  <a:moveTo>
                    <a:pt x="0" y="0"/>
                  </a:moveTo>
                  <a:lnTo>
                    <a:pt x="2107680" y="7682"/>
                  </a:lnTo>
                  <a:lnTo>
                    <a:pt x="4215361" y="146711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2307954" y="4625680"/>
              <a:ext cx="4215361" cy="221780"/>
            </a:xfrm>
            <a:custGeom>
              <a:avLst/>
              <a:pathLst>
                <a:path w="4215361" h="221780">
                  <a:moveTo>
                    <a:pt x="0" y="221780"/>
                  </a:moveTo>
                  <a:lnTo>
                    <a:pt x="2107680" y="0"/>
                  </a:lnTo>
                  <a:lnTo>
                    <a:pt x="4215361" y="75511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2307954" y="4900467"/>
              <a:ext cx="4215361" cy="457843"/>
            </a:xfrm>
            <a:custGeom>
              <a:avLst/>
              <a:pathLst>
                <a:path w="4215361" h="457843">
                  <a:moveTo>
                    <a:pt x="0" y="0"/>
                  </a:moveTo>
                  <a:lnTo>
                    <a:pt x="2107680" y="264196"/>
                  </a:lnTo>
                  <a:lnTo>
                    <a:pt x="4215361" y="45784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307954" y="4616682"/>
              <a:ext cx="4215361" cy="187816"/>
            </a:xfrm>
            <a:custGeom>
              <a:avLst/>
              <a:pathLst>
                <a:path w="4215361" h="187816">
                  <a:moveTo>
                    <a:pt x="0" y="7377"/>
                  </a:moveTo>
                  <a:lnTo>
                    <a:pt x="2107680" y="0"/>
                  </a:lnTo>
                  <a:lnTo>
                    <a:pt x="4215361" y="187816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307954" y="5183863"/>
              <a:ext cx="4215361" cy="142863"/>
            </a:xfrm>
            <a:custGeom>
              <a:avLst/>
              <a:pathLst>
                <a:path w="4215361" h="142863">
                  <a:moveTo>
                    <a:pt x="0" y="0"/>
                  </a:moveTo>
                  <a:lnTo>
                    <a:pt x="2107680" y="142863"/>
                  </a:lnTo>
                  <a:lnTo>
                    <a:pt x="4215361" y="4957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307954" y="5358268"/>
              <a:ext cx="4215361" cy="566294"/>
            </a:xfrm>
            <a:custGeom>
              <a:avLst/>
              <a:pathLst>
                <a:path w="4215361" h="566294">
                  <a:moveTo>
                    <a:pt x="0" y="0"/>
                  </a:moveTo>
                  <a:lnTo>
                    <a:pt x="2107680" y="24723"/>
                  </a:lnTo>
                  <a:lnTo>
                    <a:pt x="4215361" y="56629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307954" y="4742978"/>
              <a:ext cx="4215361" cy="25319"/>
            </a:xfrm>
            <a:custGeom>
              <a:avLst/>
              <a:pathLst>
                <a:path w="4215361" h="25319">
                  <a:moveTo>
                    <a:pt x="0" y="3624"/>
                  </a:moveTo>
                  <a:lnTo>
                    <a:pt x="2107680" y="0"/>
                  </a:lnTo>
                  <a:lnTo>
                    <a:pt x="4215361" y="25319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307954" y="5228419"/>
              <a:ext cx="4215361" cy="177241"/>
            </a:xfrm>
            <a:custGeom>
              <a:avLst/>
              <a:pathLst>
                <a:path w="4215361" h="177241">
                  <a:moveTo>
                    <a:pt x="0" y="175354"/>
                  </a:moveTo>
                  <a:lnTo>
                    <a:pt x="2107680" y="0"/>
                  </a:lnTo>
                  <a:lnTo>
                    <a:pt x="4215361" y="177241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307954" y="5031050"/>
              <a:ext cx="4215361" cy="295524"/>
            </a:xfrm>
            <a:custGeom>
              <a:avLst/>
              <a:pathLst>
                <a:path w="4215361" h="295524">
                  <a:moveTo>
                    <a:pt x="0" y="0"/>
                  </a:moveTo>
                  <a:lnTo>
                    <a:pt x="2107680" y="65890"/>
                  </a:lnTo>
                  <a:lnTo>
                    <a:pt x="4215361" y="29552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307954" y="5134137"/>
              <a:ext cx="4215361" cy="310108"/>
            </a:xfrm>
            <a:custGeom>
              <a:avLst/>
              <a:pathLst>
                <a:path w="4215361" h="310108">
                  <a:moveTo>
                    <a:pt x="0" y="0"/>
                  </a:moveTo>
                  <a:lnTo>
                    <a:pt x="2107680" y="97702"/>
                  </a:lnTo>
                  <a:lnTo>
                    <a:pt x="4215361" y="31010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2307954" y="4939268"/>
              <a:ext cx="4215361" cy="179032"/>
            </a:xfrm>
            <a:custGeom>
              <a:avLst/>
              <a:pathLst>
                <a:path w="4215361" h="179032">
                  <a:moveTo>
                    <a:pt x="0" y="0"/>
                  </a:moveTo>
                  <a:lnTo>
                    <a:pt x="2107680" y="144870"/>
                  </a:lnTo>
                  <a:lnTo>
                    <a:pt x="4215361" y="179032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2307954" y="5169135"/>
              <a:ext cx="4215361" cy="48671"/>
            </a:xfrm>
            <a:custGeom>
              <a:avLst/>
              <a:pathLst>
                <a:path w="4215361" h="48671">
                  <a:moveTo>
                    <a:pt x="0" y="0"/>
                  </a:moveTo>
                  <a:lnTo>
                    <a:pt x="2107680" y="48671"/>
                  </a:lnTo>
                  <a:lnTo>
                    <a:pt x="4215361" y="24679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2307954" y="5030228"/>
              <a:ext cx="4215361" cy="168315"/>
            </a:xfrm>
            <a:custGeom>
              <a:avLst/>
              <a:pathLst>
                <a:path w="4215361" h="168315">
                  <a:moveTo>
                    <a:pt x="0" y="0"/>
                  </a:moveTo>
                  <a:lnTo>
                    <a:pt x="2107680" y="6465"/>
                  </a:lnTo>
                  <a:lnTo>
                    <a:pt x="4215361" y="168315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2307954" y="4897934"/>
              <a:ext cx="4215361" cy="56313"/>
            </a:xfrm>
            <a:custGeom>
              <a:avLst/>
              <a:pathLst>
                <a:path w="4215361" h="56313">
                  <a:moveTo>
                    <a:pt x="0" y="45947"/>
                  </a:moveTo>
                  <a:lnTo>
                    <a:pt x="2107680" y="0"/>
                  </a:lnTo>
                  <a:lnTo>
                    <a:pt x="4215361" y="56313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307954" y="5008714"/>
              <a:ext cx="4215361" cy="283382"/>
            </a:xfrm>
            <a:custGeom>
              <a:avLst/>
              <a:pathLst>
                <a:path w="4215361" h="283382">
                  <a:moveTo>
                    <a:pt x="0" y="0"/>
                  </a:moveTo>
                  <a:lnTo>
                    <a:pt x="2107680" y="283382"/>
                  </a:lnTo>
                  <a:lnTo>
                    <a:pt x="4215361" y="62088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2307954" y="5392525"/>
              <a:ext cx="4215361" cy="158173"/>
            </a:xfrm>
            <a:custGeom>
              <a:avLst/>
              <a:pathLst>
                <a:path w="4215361" h="158173">
                  <a:moveTo>
                    <a:pt x="0" y="25394"/>
                  </a:moveTo>
                  <a:lnTo>
                    <a:pt x="2107680" y="158173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307954" y="5253699"/>
              <a:ext cx="4215361" cy="240200"/>
            </a:xfrm>
            <a:custGeom>
              <a:avLst/>
              <a:pathLst>
                <a:path w="4215361" h="240200">
                  <a:moveTo>
                    <a:pt x="0" y="240200"/>
                  </a:moveTo>
                  <a:lnTo>
                    <a:pt x="2107680" y="225251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307954" y="5225586"/>
              <a:ext cx="4215361" cy="117612"/>
            </a:xfrm>
            <a:custGeom>
              <a:avLst/>
              <a:pathLst>
                <a:path w="4215361" h="117612">
                  <a:moveTo>
                    <a:pt x="0" y="0"/>
                  </a:moveTo>
                  <a:lnTo>
                    <a:pt x="2107680" y="117612"/>
                  </a:lnTo>
                  <a:lnTo>
                    <a:pt x="4215361" y="116984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307954" y="5008626"/>
              <a:ext cx="4215361" cy="66853"/>
            </a:xfrm>
            <a:custGeom>
              <a:avLst/>
              <a:pathLst>
                <a:path w="4215361" h="66853">
                  <a:moveTo>
                    <a:pt x="0" y="62172"/>
                  </a:moveTo>
                  <a:lnTo>
                    <a:pt x="2107680" y="66853"/>
                  </a:lnTo>
                  <a:lnTo>
                    <a:pt x="4215361" y="0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307954" y="4830133"/>
              <a:ext cx="4215361" cy="423597"/>
            </a:xfrm>
            <a:custGeom>
              <a:avLst/>
              <a:pathLst>
                <a:path w="4215361" h="423597">
                  <a:moveTo>
                    <a:pt x="0" y="0"/>
                  </a:moveTo>
                  <a:lnTo>
                    <a:pt x="2107680" y="197276"/>
                  </a:lnTo>
                  <a:lnTo>
                    <a:pt x="4215361" y="423597"/>
                  </a:lnTo>
                </a:path>
              </a:pathLst>
            </a:custGeom>
            <a:ln w="9485" cap="flat">
              <a:solidFill>
                <a:srgbClr val="B3B3B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181493" y="4958180"/>
              <a:ext cx="252921" cy="0"/>
            </a:xfrm>
            <a:custGeom>
              <a:avLst/>
              <a:pathLst>
                <a:path w="252921" h="0">
                  <a:moveTo>
                    <a:pt x="0" y="0"/>
                  </a:moveTo>
                  <a:lnTo>
                    <a:pt x="25292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307954" y="4958180"/>
              <a:ext cx="0" cy="122645"/>
            </a:xfrm>
            <a:custGeom>
              <a:avLst/>
              <a:pathLst>
                <a:path w="0" h="122645">
                  <a:moveTo>
                    <a:pt x="0" y="0"/>
                  </a:moveTo>
                  <a:lnTo>
                    <a:pt x="0" y="122645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2181493" y="5080826"/>
              <a:ext cx="252921" cy="0"/>
            </a:xfrm>
            <a:custGeom>
              <a:avLst/>
              <a:pathLst>
                <a:path w="252921" h="0">
                  <a:moveTo>
                    <a:pt x="0" y="0"/>
                  </a:moveTo>
                  <a:lnTo>
                    <a:pt x="25292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289174" y="4964684"/>
              <a:ext cx="252921" cy="0"/>
            </a:xfrm>
            <a:custGeom>
              <a:avLst/>
              <a:pathLst>
                <a:path w="252921" h="0">
                  <a:moveTo>
                    <a:pt x="0" y="0"/>
                  </a:moveTo>
                  <a:lnTo>
                    <a:pt x="25292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415635" y="4964684"/>
              <a:ext cx="0" cy="136791"/>
            </a:xfrm>
            <a:custGeom>
              <a:avLst/>
              <a:pathLst>
                <a:path w="0" h="136791">
                  <a:moveTo>
                    <a:pt x="0" y="0"/>
                  </a:moveTo>
                  <a:lnTo>
                    <a:pt x="0" y="136791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289174" y="5101475"/>
              <a:ext cx="252921" cy="0"/>
            </a:xfrm>
            <a:custGeom>
              <a:avLst/>
              <a:pathLst>
                <a:path w="252921" h="0">
                  <a:moveTo>
                    <a:pt x="0" y="0"/>
                  </a:moveTo>
                  <a:lnTo>
                    <a:pt x="25292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6396855" y="4990455"/>
              <a:ext cx="252921" cy="0"/>
            </a:xfrm>
            <a:custGeom>
              <a:avLst/>
              <a:pathLst>
                <a:path w="252921" h="0">
                  <a:moveTo>
                    <a:pt x="0" y="0"/>
                  </a:moveTo>
                  <a:lnTo>
                    <a:pt x="25292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6523316" y="4990455"/>
              <a:ext cx="0" cy="164118"/>
            </a:xfrm>
            <a:custGeom>
              <a:avLst/>
              <a:pathLst>
                <a:path w="0" h="164118">
                  <a:moveTo>
                    <a:pt x="0" y="0"/>
                  </a:moveTo>
                  <a:lnTo>
                    <a:pt x="0" y="164118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6396855" y="5154573"/>
              <a:ext cx="252921" cy="0"/>
            </a:xfrm>
            <a:custGeom>
              <a:avLst/>
              <a:pathLst>
                <a:path w="252921" h="0">
                  <a:moveTo>
                    <a:pt x="0" y="0"/>
                  </a:moveTo>
                  <a:lnTo>
                    <a:pt x="252921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307954" y="5019503"/>
              <a:ext cx="4215361" cy="53010"/>
            </a:xfrm>
            <a:custGeom>
              <a:avLst/>
              <a:pathLst>
                <a:path w="4215361" h="53010">
                  <a:moveTo>
                    <a:pt x="0" y="0"/>
                  </a:moveTo>
                  <a:lnTo>
                    <a:pt x="2107680" y="13576"/>
                  </a:lnTo>
                  <a:lnTo>
                    <a:pt x="4215361" y="53010"/>
                  </a:lnTo>
                </a:path>
              </a:pathLst>
            </a:custGeom>
            <a:ln w="3252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2270933" y="4982482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378613" y="4996058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6486294" y="5035492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tx146"/>
            <p:cNvSpPr/>
            <p:nvPr/>
          </p:nvSpPr>
          <p:spPr>
            <a:xfrm>
              <a:off x="3928107" y="4010801"/>
              <a:ext cx="975055" cy="1473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Reverse slope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3914772" y="1720035"/>
              <a:ext cx="1001725" cy="1473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Forward slope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2172431" y="606836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3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4280112" y="606836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5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6387793" y="6068364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7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805536" y="3260381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0.5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805536" y="2809666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1.0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805536" y="2359487"/>
              <a:ext cx="169485" cy="870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1.5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805536" y="1907939"/>
              <a:ext cx="169485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2.0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805536" y="5941900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0.0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805536" y="5482295"/>
              <a:ext cx="169485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0.3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805536" y="5022570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0.6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805536" y="4563262"/>
              <a:ext cx="169485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0.9</a:t>
              </a:r>
            </a:p>
          </p:txBody>
        </p:sp>
        <p:sp>
          <p:nvSpPr>
            <p:cNvPr id="159" name="tx159"/>
            <p:cNvSpPr/>
            <p:nvPr/>
          </p:nvSpPr>
          <p:spPr>
            <a:xfrm rot="-5400000">
              <a:off x="-356594" y="3902954"/>
              <a:ext cx="2036861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Each person's own OLS slope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1043346" y="1402443"/>
              <a:ext cx="4780635" cy="164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Each person's own slopes (grey), mean and 95% CI (experience)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11091672" cy="3657600"/>
            <a:chOff x="548640" y="1371600"/>
            <a:chExt cx="11091672" cy="365760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11091672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548640" y="1371600"/>
              <a:ext cx="11091672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79061" y="3643603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79061" y="3024971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79061" y="2406338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65720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643485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621250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79061" y="3024971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3550" cap="flat">
              <a:solidFill>
                <a:srgbClr val="999999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616832" y="2112912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665720" y="2112912"/>
              <a:ext cx="0" cy="56168"/>
            </a:xfrm>
            <a:custGeom>
              <a:avLst/>
              <a:pathLst>
                <a:path w="0" h="56168">
                  <a:moveTo>
                    <a:pt x="0" y="0"/>
                  </a:moveTo>
                  <a:lnTo>
                    <a:pt x="0" y="56168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616832" y="2169081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594597" y="2211618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643485" y="2211618"/>
              <a:ext cx="0" cy="57919"/>
            </a:xfrm>
            <a:custGeom>
              <a:avLst/>
              <a:pathLst>
                <a:path w="0" h="57919">
                  <a:moveTo>
                    <a:pt x="0" y="0"/>
                  </a:moveTo>
                  <a:lnTo>
                    <a:pt x="0" y="57919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94597" y="2269537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2362" y="2237217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21250" y="2237217"/>
              <a:ext cx="0" cy="56745"/>
            </a:xfrm>
            <a:custGeom>
              <a:avLst/>
              <a:pathLst>
                <a:path w="0" h="56745">
                  <a:moveTo>
                    <a:pt x="0" y="0"/>
                  </a:moveTo>
                  <a:lnTo>
                    <a:pt x="0" y="56745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572362" y="2293962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616832" y="4005278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65720" y="4005278"/>
              <a:ext cx="0" cy="54986"/>
            </a:xfrm>
            <a:custGeom>
              <a:avLst/>
              <a:pathLst>
                <a:path w="0" h="54986">
                  <a:moveTo>
                    <a:pt x="0" y="0"/>
                  </a:moveTo>
                  <a:lnTo>
                    <a:pt x="0" y="54986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616832" y="4060265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94597" y="4018455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43485" y="4018455"/>
              <a:ext cx="0" cy="61050"/>
            </a:xfrm>
            <a:custGeom>
              <a:avLst/>
              <a:pathLst>
                <a:path w="0" h="61050">
                  <a:moveTo>
                    <a:pt x="0" y="0"/>
                  </a:moveTo>
                  <a:lnTo>
                    <a:pt x="0" y="6105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94597" y="4079505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572362" y="3915656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621250" y="3915656"/>
              <a:ext cx="0" cy="66055"/>
            </a:xfrm>
            <a:custGeom>
              <a:avLst/>
              <a:pathLst>
                <a:path w="0" h="66055">
                  <a:moveTo>
                    <a:pt x="0" y="0"/>
                  </a:moveTo>
                  <a:lnTo>
                    <a:pt x="0" y="66055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572362" y="3981712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665720" y="2140996"/>
              <a:ext cx="1955529" cy="124593"/>
            </a:xfrm>
            <a:custGeom>
              <a:avLst/>
              <a:pathLst>
                <a:path w="1955529" h="124593">
                  <a:moveTo>
                    <a:pt x="0" y="0"/>
                  </a:moveTo>
                  <a:lnTo>
                    <a:pt x="977764" y="99581"/>
                  </a:lnTo>
                  <a:lnTo>
                    <a:pt x="1955529" y="124593"/>
                  </a:lnTo>
                </a:path>
              </a:pathLst>
            </a:custGeom>
            <a:ln w="24391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665720" y="3948684"/>
              <a:ext cx="1955529" cy="100296"/>
            </a:xfrm>
            <a:custGeom>
              <a:avLst/>
              <a:pathLst>
                <a:path w="1955529" h="100296">
                  <a:moveTo>
                    <a:pt x="0" y="84087"/>
                  </a:moveTo>
                  <a:lnTo>
                    <a:pt x="977764" y="100296"/>
                  </a:lnTo>
                  <a:lnTo>
                    <a:pt x="1955529" y="0"/>
                  </a:lnTo>
                </a:path>
              </a:pathLst>
            </a:custGeom>
            <a:ln w="24391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1631409" y="2106685"/>
              <a:ext cx="68622" cy="68622"/>
            </a:xfrm>
            <a:prstGeom prst="ellipse">
              <a:avLst/>
            </a:prstGeom>
            <a:solidFill>
              <a:srgbClr val="D98477">
                <a:alpha val="100000"/>
              </a:srgbClr>
            </a:solidFill>
            <a:ln w="9000" cap="rnd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609174" y="2206266"/>
              <a:ext cx="68622" cy="68622"/>
            </a:xfrm>
            <a:prstGeom prst="ellipse">
              <a:avLst/>
            </a:prstGeom>
            <a:solidFill>
              <a:srgbClr val="D98477">
                <a:alpha val="100000"/>
              </a:srgbClr>
            </a:solidFill>
            <a:ln w="9000" cap="rnd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586939" y="2231278"/>
              <a:ext cx="68622" cy="68622"/>
            </a:xfrm>
            <a:prstGeom prst="ellipse">
              <a:avLst/>
            </a:prstGeom>
            <a:solidFill>
              <a:srgbClr val="D98477">
                <a:alpha val="100000"/>
              </a:srgbClr>
            </a:solidFill>
            <a:ln w="9000" cap="rnd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1631409" y="3998460"/>
              <a:ext cx="68622" cy="68622"/>
            </a:xfrm>
            <a:prstGeom prst="ellipse">
              <a:avLst/>
            </a:prstGeom>
            <a:solidFill>
              <a:srgbClr val="6FA0C8">
                <a:alpha val="100000"/>
              </a:srgbClr>
            </a:solidFill>
            <a:ln w="9000" cap="rnd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609174" y="4014669"/>
              <a:ext cx="68622" cy="68622"/>
            </a:xfrm>
            <a:prstGeom prst="ellipse">
              <a:avLst/>
            </a:prstGeom>
            <a:solidFill>
              <a:srgbClr val="6FA0C8">
                <a:alpha val="100000"/>
              </a:srgbClr>
            </a:solidFill>
            <a:ln w="9000" cap="rnd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586939" y="3914372"/>
              <a:ext cx="68622" cy="68622"/>
            </a:xfrm>
            <a:prstGeom prst="ellipse">
              <a:avLst/>
            </a:prstGeom>
            <a:solidFill>
              <a:srgbClr val="6FA0C8">
                <a:alpha val="100000"/>
              </a:srgbClr>
            </a:solidFill>
            <a:ln w="9000" cap="rnd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463941" y="3643603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463941" y="3024971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463941" y="2406338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050600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6028365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7006130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4463941" y="3024971"/>
              <a:ext cx="3128847" cy="0"/>
            </a:xfrm>
            <a:custGeom>
              <a:avLst/>
              <a:pathLst>
                <a:path w="3128847" h="0">
                  <a:moveTo>
                    <a:pt x="0" y="0"/>
                  </a:moveTo>
                  <a:lnTo>
                    <a:pt x="3128847" y="0"/>
                  </a:lnTo>
                  <a:lnTo>
                    <a:pt x="3128847" y="0"/>
                  </a:lnTo>
                </a:path>
              </a:pathLst>
            </a:custGeom>
            <a:ln w="13550" cap="flat">
              <a:solidFill>
                <a:srgbClr val="999999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001712" y="3980049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050600" y="3980049"/>
              <a:ext cx="0" cy="61593"/>
            </a:xfrm>
            <a:custGeom>
              <a:avLst/>
              <a:pathLst>
                <a:path w="0" h="61593">
                  <a:moveTo>
                    <a:pt x="0" y="0"/>
                  </a:moveTo>
                  <a:lnTo>
                    <a:pt x="0" y="61593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001712" y="4041643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979477" y="4007582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6028365" y="4007582"/>
              <a:ext cx="0" cy="67860"/>
            </a:xfrm>
            <a:custGeom>
              <a:avLst/>
              <a:pathLst>
                <a:path w="0" h="67860">
                  <a:moveTo>
                    <a:pt x="0" y="0"/>
                  </a:moveTo>
                  <a:lnTo>
                    <a:pt x="0" y="6786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5979477" y="4075442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6957242" y="3946013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7006130" y="3946013"/>
              <a:ext cx="0" cy="76676"/>
            </a:xfrm>
            <a:custGeom>
              <a:avLst/>
              <a:pathLst>
                <a:path w="0" h="76676">
                  <a:moveTo>
                    <a:pt x="0" y="0"/>
                  </a:moveTo>
                  <a:lnTo>
                    <a:pt x="0" y="76676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6957242" y="4022690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001712" y="2148125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050600" y="2148125"/>
              <a:ext cx="0" cy="75117"/>
            </a:xfrm>
            <a:custGeom>
              <a:avLst/>
              <a:pathLst>
                <a:path w="0" h="75117">
                  <a:moveTo>
                    <a:pt x="0" y="0"/>
                  </a:moveTo>
                  <a:lnTo>
                    <a:pt x="0" y="75117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001712" y="2223243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979477" y="2203467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028365" y="2203467"/>
              <a:ext cx="0" cy="75385"/>
            </a:xfrm>
            <a:custGeom>
              <a:avLst/>
              <a:pathLst>
                <a:path w="0" h="75385">
                  <a:moveTo>
                    <a:pt x="0" y="0"/>
                  </a:moveTo>
                  <a:lnTo>
                    <a:pt x="0" y="75385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979477" y="2278853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6957242" y="2205351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006130" y="2205351"/>
              <a:ext cx="0" cy="73336"/>
            </a:xfrm>
            <a:custGeom>
              <a:avLst/>
              <a:pathLst>
                <a:path w="0" h="73336">
                  <a:moveTo>
                    <a:pt x="0" y="0"/>
                  </a:moveTo>
                  <a:lnTo>
                    <a:pt x="0" y="73336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6957242" y="2278687"/>
              <a:ext cx="97776" cy="0"/>
            </a:xfrm>
            <a:custGeom>
              <a:avLst/>
              <a:pathLst>
                <a:path w="97776" h="0">
                  <a:moveTo>
                    <a:pt x="0" y="0"/>
                  </a:moveTo>
                  <a:lnTo>
                    <a:pt x="9777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050600" y="3984351"/>
              <a:ext cx="1955529" cy="57160"/>
            </a:xfrm>
            <a:custGeom>
              <a:avLst/>
              <a:pathLst>
                <a:path w="1955529" h="57160">
                  <a:moveTo>
                    <a:pt x="0" y="26494"/>
                  </a:moveTo>
                  <a:lnTo>
                    <a:pt x="977764" y="57160"/>
                  </a:lnTo>
                  <a:lnTo>
                    <a:pt x="1955529" y="0"/>
                  </a:lnTo>
                </a:path>
              </a:pathLst>
            </a:custGeom>
            <a:ln w="24391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050600" y="2185684"/>
              <a:ext cx="1955529" cy="56334"/>
            </a:xfrm>
            <a:custGeom>
              <a:avLst/>
              <a:pathLst>
                <a:path w="1955529" h="56334">
                  <a:moveTo>
                    <a:pt x="0" y="0"/>
                  </a:moveTo>
                  <a:lnTo>
                    <a:pt x="977764" y="55475"/>
                  </a:lnTo>
                  <a:lnTo>
                    <a:pt x="1955529" y="56334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5016289" y="3976534"/>
              <a:ext cx="68622" cy="68622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994054" y="4007201"/>
              <a:ext cx="68622" cy="68622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6971819" y="3950040"/>
              <a:ext cx="68622" cy="68622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016289" y="2151373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5994054" y="2206848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6971819" y="2207707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tx71"/>
            <p:cNvSpPr/>
            <p:nvPr/>
          </p:nvSpPr>
          <p:spPr>
            <a:xfrm>
              <a:off x="2183694" y="1817513"/>
              <a:ext cx="919581" cy="119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Fixed cutoffs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228798" y="1787033"/>
              <a:ext cx="1599133" cy="1499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Report windows (+/- 2)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1530197" y="4241218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3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2507962" y="4241218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5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3485727" y="4241218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7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915077" y="4241218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3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5892842" y="4241218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6870607" y="4241218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7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875125" y="3599461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875125" y="2981007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875125" y="2362374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82" name="tx82"/>
            <p:cNvSpPr/>
            <p:nvPr/>
          </p:nvSpPr>
          <p:spPr>
            <a:xfrm rot="-5400000">
              <a:off x="-575173" y="3024176"/>
              <a:ext cx="2613198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True colour behind the reports (+/- SE)</a:t>
              </a:r>
            </a:p>
          </p:txBody>
        </p:sp>
        <p:sp>
          <p:nvSpPr>
            <p:cNvPr id="83" name="pl83"/>
            <p:cNvSpPr/>
            <p:nvPr/>
          </p:nvSpPr>
          <p:spPr>
            <a:xfrm>
              <a:off x="1823354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1823354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1876825" y="4663740"/>
              <a:ext cx="68622" cy="68622"/>
            </a:xfrm>
            <a:prstGeom prst="ellipse">
              <a:avLst/>
            </a:prstGeom>
            <a:solidFill>
              <a:srgbClr val="D98477">
                <a:alpha val="100000"/>
              </a:srgbClr>
            </a:solidFill>
            <a:ln w="9000" cap="rnd">
              <a:solidFill>
                <a:srgbClr val="D98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157082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157082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210553" y="4663740"/>
              <a:ext cx="68622" cy="68622"/>
            </a:xfrm>
            <a:prstGeom prst="ellipse">
              <a:avLst/>
            </a:prstGeom>
            <a:solidFill>
              <a:srgbClr val="6FA0C8">
                <a:alpha val="100000"/>
              </a:srgbClr>
            </a:solidFill>
            <a:ln w="9000" cap="rnd">
              <a:solidFill>
                <a:srgbClr val="6FA0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4477178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4477178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4530649" y="4663740"/>
              <a:ext cx="68622" cy="68622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5722740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5722740" y="469805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5776211" y="4663740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tx95"/>
            <p:cNvSpPr/>
            <p:nvPr/>
          </p:nvSpPr>
          <p:spPr>
            <a:xfrm>
              <a:off x="2096779" y="4628609"/>
              <a:ext cx="962441" cy="1131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Reports above 36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3430508" y="4628609"/>
              <a:ext cx="948809" cy="1131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Reports below 14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4750604" y="4628906"/>
              <a:ext cx="874275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Reports near 10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5996166" y="4628906"/>
              <a:ext cx="874275" cy="1128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Reports near 40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1079061" y="1472362"/>
              <a:ext cx="3477666" cy="1642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What lay behind extreme reports (experience)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8237943" y="4146581"/>
              <a:ext cx="3256863" cy="0"/>
            </a:xfrm>
            <a:custGeom>
              <a:avLst/>
              <a:pathLst>
                <a:path w="3256863" h="0">
                  <a:moveTo>
                    <a:pt x="0" y="0"/>
                  </a:moveTo>
                  <a:lnTo>
                    <a:pt x="3256863" y="0"/>
                  </a:lnTo>
                  <a:lnTo>
                    <a:pt x="325686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8237943" y="3625049"/>
              <a:ext cx="3256863" cy="0"/>
            </a:xfrm>
            <a:custGeom>
              <a:avLst/>
              <a:pathLst>
                <a:path w="3256863" h="0">
                  <a:moveTo>
                    <a:pt x="0" y="0"/>
                  </a:moveTo>
                  <a:lnTo>
                    <a:pt x="3256863" y="0"/>
                  </a:lnTo>
                  <a:lnTo>
                    <a:pt x="325686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8237943" y="3103517"/>
              <a:ext cx="3256863" cy="0"/>
            </a:xfrm>
            <a:custGeom>
              <a:avLst/>
              <a:pathLst>
                <a:path w="3256863" h="0">
                  <a:moveTo>
                    <a:pt x="0" y="0"/>
                  </a:moveTo>
                  <a:lnTo>
                    <a:pt x="3256863" y="0"/>
                  </a:lnTo>
                  <a:lnTo>
                    <a:pt x="325686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8237943" y="2581985"/>
              <a:ext cx="3256863" cy="0"/>
            </a:xfrm>
            <a:custGeom>
              <a:avLst/>
              <a:pathLst>
                <a:path w="3256863" h="0">
                  <a:moveTo>
                    <a:pt x="0" y="0"/>
                  </a:moveTo>
                  <a:lnTo>
                    <a:pt x="3256863" y="0"/>
                  </a:lnTo>
                  <a:lnTo>
                    <a:pt x="325686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8237943" y="2060453"/>
              <a:ext cx="3256863" cy="0"/>
            </a:xfrm>
            <a:custGeom>
              <a:avLst/>
              <a:pathLst>
                <a:path w="3256863" h="0">
                  <a:moveTo>
                    <a:pt x="0" y="0"/>
                  </a:moveTo>
                  <a:lnTo>
                    <a:pt x="3256863" y="0"/>
                  </a:lnTo>
                  <a:lnTo>
                    <a:pt x="325686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8848605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9866375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10884145" y="2014582"/>
              <a:ext cx="0" cy="2163253"/>
            </a:xfrm>
            <a:custGeom>
              <a:avLst/>
              <a:pathLst>
                <a:path w="0" h="2163253">
                  <a:moveTo>
                    <a:pt x="0" y="21632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8797717" y="2112912"/>
              <a:ext cx="101776" cy="0"/>
            </a:xfrm>
            <a:custGeom>
              <a:avLst/>
              <a:pathLst>
                <a:path w="101776" h="0">
                  <a:moveTo>
                    <a:pt x="0" y="0"/>
                  </a:moveTo>
                  <a:lnTo>
                    <a:pt x="10177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8848605" y="2112912"/>
              <a:ext cx="0" cy="683049"/>
            </a:xfrm>
            <a:custGeom>
              <a:avLst/>
              <a:pathLst>
                <a:path w="0" h="683049">
                  <a:moveTo>
                    <a:pt x="0" y="0"/>
                  </a:moveTo>
                  <a:lnTo>
                    <a:pt x="0" y="683049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8797717" y="2795961"/>
              <a:ext cx="101776" cy="0"/>
            </a:xfrm>
            <a:custGeom>
              <a:avLst/>
              <a:pathLst>
                <a:path w="101776" h="0">
                  <a:moveTo>
                    <a:pt x="0" y="0"/>
                  </a:moveTo>
                  <a:lnTo>
                    <a:pt x="10177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9815487" y="3353773"/>
              <a:ext cx="101776" cy="0"/>
            </a:xfrm>
            <a:custGeom>
              <a:avLst/>
              <a:pathLst>
                <a:path w="101776" h="0">
                  <a:moveTo>
                    <a:pt x="0" y="0"/>
                  </a:moveTo>
                  <a:lnTo>
                    <a:pt x="10177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9866375" y="3353773"/>
              <a:ext cx="0" cy="518385"/>
            </a:xfrm>
            <a:custGeom>
              <a:avLst/>
              <a:pathLst>
                <a:path w="0" h="518385">
                  <a:moveTo>
                    <a:pt x="0" y="0"/>
                  </a:moveTo>
                  <a:lnTo>
                    <a:pt x="0" y="518385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9815487" y="3872158"/>
              <a:ext cx="101776" cy="0"/>
            </a:xfrm>
            <a:custGeom>
              <a:avLst/>
              <a:pathLst>
                <a:path w="101776" h="0">
                  <a:moveTo>
                    <a:pt x="0" y="0"/>
                  </a:moveTo>
                  <a:lnTo>
                    <a:pt x="10177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10833257" y="3564351"/>
              <a:ext cx="101776" cy="0"/>
            </a:xfrm>
            <a:custGeom>
              <a:avLst/>
              <a:pathLst>
                <a:path w="101776" h="0">
                  <a:moveTo>
                    <a:pt x="0" y="0"/>
                  </a:moveTo>
                  <a:lnTo>
                    <a:pt x="10177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10884145" y="3564351"/>
              <a:ext cx="0" cy="515154"/>
            </a:xfrm>
            <a:custGeom>
              <a:avLst/>
              <a:pathLst>
                <a:path w="0" h="515154">
                  <a:moveTo>
                    <a:pt x="0" y="0"/>
                  </a:moveTo>
                  <a:lnTo>
                    <a:pt x="0" y="515154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10833257" y="4079505"/>
              <a:ext cx="101776" cy="0"/>
            </a:xfrm>
            <a:custGeom>
              <a:avLst/>
              <a:pathLst>
                <a:path w="101776" h="0">
                  <a:moveTo>
                    <a:pt x="0" y="0"/>
                  </a:moveTo>
                  <a:lnTo>
                    <a:pt x="101776" y="0"/>
                  </a:lnTo>
                </a:path>
              </a:pathLst>
            </a:custGeom>
            <a:ln w="13550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8848605" y="2454436"/>
              <a:ext cx="2035539" cy="1367492"/>
            </a:xfrm>
            <a:custGeom>
              <a:avLst/>
              <a:pathLst>
                <a:path w="2035539" h="1367492">
                  <a:moveTo>
                    <a:pt x="0" y="0"/>
                  </a:moveTo>
                  <a:lnTo>
                    <a:pt x="1017769" y="1158529"/>
                  </a:lnTo>
                  <a:lnTo>
                    <a:pt x="2035539" y="1367492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8814294" y="2420125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9832064" y="3578654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10849834" y="3787617"/>
              <a:ext cx="68622" cy="68622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tx121"/>
            <p:cNvSpPr/>
            <p:nvPr/>
          </p:nvSpPr>
          <p:spPr>
            <a:xfrm>
              <a:off x="7925601" y="4102736"/>
              <a:ext cx="244018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10%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7925601" y="3580966"/>
              <a:ext cx="244018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12%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7925601" y="3059494"/>
              <a:ext cx="244018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14%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7925601" y="2537843"/>
              <a:ext cx="244018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16%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7925601" y="2016251"/>
              <a:ext cx="244018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18%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8713082" y="4241218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3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9730852" y="4241218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5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10748622" y="4241218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7</a:t>
              </a:r>
            </a:p>
          </p:txBody>
        </p:sp>
        <p:sp>
          <p:nvSpPr>
            <p:cNvPr id="129" name="tx129"/>
            <p:cNvSpPr/>
            <p:nvPr/>
          </p:nvSpPr>
          <p:spPr>
            <a:xfrm rot="-5400000">
              <a:off x="6653300" y="3024176"/>
              <a:ext cx="2257201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Share of extreme reports (+/- SE)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8237943" y="1475168"/>
              <a:ext cx="2467254" cy="1614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How often reports were extreme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6949440" cy="4297680"/>
            <a:chOff x="548640" y="1371600"/>
            <a:chExt cx="6949440" cy="429768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6949439" cy="42976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82266" y="5144076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82266" y="4148444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82266" y="3152813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82266" y="2157182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84979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528233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1487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82266" y="4148444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982266" y="2609965"/>
              <a:ext cx="3091932" cy="1832346"/>
            </a:xfrm>
            <a:prstGeom prst="rect">
              <a:avLst/>
            </a:prstGeom>
            <a:solidFill>
              <a:srgbClr val="B03A2E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82266" y="3581573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1083077" y="3375264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1364162" y="3849849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1645247" y="2839994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1926332" y="3521290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2207416" y="2178821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2488501" y="4873926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2769586" y="3767577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050671" y="5040606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331756" y="3361989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612841" y="2259420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893925" y="3891519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30231" y="5144076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30231" y="4148444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330231" y="3152813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330231" y="2157182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335650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416745" y="1944993"/>
              <a:ext cx="0" cy="3284646"/>
            </a:xfrm>
            <a:custGeom>
              <a:avLst/>
              <a:pathLst>
                <a:path w="0" h="3284646">
                  <a:moveTo>
                    <a:pt x="0" y="328464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330231" y="4148444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4330231" y="2646221"/>
              <a:ext cx="3091932" cy="1081239"/>
            </a:xfrm>
            <a:prstGeom prst="rect">
              <a:avLst/>
            </a:prstGeom>
            <a:solidFill>
              <a:srgbClr val="B03A2E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330231" y="3179313"/>
              <a:ext cx="3091932" cy="0"/>
            </a:xfrm>
            <a:custGeom>
              <a:avLst/>
              <a:pathLst>
                <a:path w="3091932" h="0">
                  <a:moveTo>
                    <a:pt x="0" y="0"/>
                  </a:moveTo>
                  <a:lnTo>
                    <a:pt x="3091932" y="0"/>
                  </a:lnTo>
                  <a:lnTo>
                    <a:pt x="3091932" y="0"/>
                  </a:lnTo>
                </a:path>
              </a:pathLst>
            </a:custGeom>
            <a:ln w="2710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431042" y="3191622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647261" y="2227520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863480" y="3736853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5079699" y="2054563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5295918" y="3507342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5512138" y="4141900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728357" y="4690565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5944576" y="2089004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6160795" y="2077625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6377014" y="3220942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6593233" y="2177899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7241890" y="4559140"/>
              <a:ext cx="79463" cy="79463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900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1612004" y="1720035"/>
              <a:ext cx="1832457" cy="1473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Pale end (reports up to 14)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871729" y="1717444"/>
              <a:ext cx="2008936" cy="1499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Vivid end (reports 36 and up)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51075" y="5297606"/>
              <a:ext cx="67806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6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494330" y="5297666"/>
              <a:ext cx="67806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9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303681" y="5299869"/>
              <a:ext cx="135612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12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267844" y="5297606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348939" y="5297785"/>
              <a:ext cx="135612" cy="876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45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05536" y="5102910"/>
              <a:ext cx="1084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-1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46137" y="4104600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46137" y="3111647"/>
              <a:ext cx="678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46137" y="2115361"/>
              <a:ext cx="678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770167" y="5418566"/>
              <a:ext cx="864096" cy="141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 value</a:t>
              </a:r>
            </a:p>
          </p:txBody>
        </p:sp>
        <p:sp>
          <p:nvSpPr>
            <p:cNvPr id="58" name="tx58"/>
            <p:cNvSpPr/>
            <p:nvPr/>
          </p:nvSpPr>
          <p:spPr>
            <a:xfrm rot="-5400000">
              <a:off x="-628912" y="3516139"/>
              <a:ext cx="2583209" cy="1423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How much less extreme the array was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982266" y="1404589"/>
              <a:ext cx="5249684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Same report, 7 vs 3 (SD), experience (each report value counted once)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11091672" cy="3749040"/>
            <a:chOff x="548640" y="1371600"/>
            <a:chExt cx="11091672" cy="374904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11091672" cy="37490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548640" y="1371600"/>
              <a:ext cx="11091671" cy="37490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51856" y="3984670"/>
              <a:ext cx="4953101" cy="0"/>
            </a:xfrm>
            <a:custGeom>
              <a:avLst/>
              <a:pathLst>
                <a:path w="4953101" h="0">
                  <a:moveTo>
                    <a:pt x="0" y="0"/>
                  </a:moveTo>
                  <a:lnTo>
                    <a:pt x="4953101" y="0"/>
                  </a:lnTo>
                  <a:lnTo>
                    <a:pt x="495310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51856" y="3597155"/>
              <a:ext cx="4953101" cy="0"/>
            </a:xfrm>
            <a:custGeom>
              <a:avLst/>
              <a:pathLst>
                <a:path w="4953101" h="0">
                  <a:moveTo>
                    <a:pt x="0" y="0"/>
                  </a:moveTo>
                  <a:lnTo>
                    <a:pt x="4953101" y="0"/>
                  </a:lnTo>
                  <a:lnTo>
                    <a:pt x="495310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51856" y="3209640"/>
              <a:ext cx="4953101" cy="0"/>
            </a:xfrm>
            <a:custGeom>
              <a:avLst/>
              <a:pathLst>
                <a:path w="4953101" h="0">
                  <a:moveTo>
                    <a:pt x="0" y="0"/>
                  </a:moveTo>
                  <a:lnTo>
                    <a:pt x="4953101" y="0"/>
                  </a:lnTo>
                  <a:lnTo>
                    <a:pt x="495310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51856" y="2822125"/>
              <a:ext cx="4953101" cy="0"/>
            </a:xfrm>
            <a:custGeom>
              <a:avLst/>
              <a:pathLst>
                <a:path w="4953101" h="0">
                  <a:moveTo>
                    <a:pt x="0" y="0"/>
                  </a:moveTo>
                  <a:lnTo>
                    <a:pt x="4953101" y="0"/>
                  </a:lnTo>
                  <a:lnTo>
                    <a:pt x="495310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51856" y="2434610"/>
              <a:ext cx="4953101" cy="0"/>
            </a:xfrm>
            <a:custGeom>
              <a:avLst/>
              <a:pathLst>
                <a:path w="4953101" h="0">
                  <a:moveTo>
                    <a:pt x="0" y="0"/>
                  </a:moveTo>
                  <a:lnTo>
                    <a:pt x="4953101" y="0"/>
                  </a:lnTo>
                  <a:lnTo>
                    <a:pt x="495310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051856" y="2047095"/>
              <a:ext cx="4953101" cy="0"/>
            </a:xfrm>
            <a:custGeom>
              <a:avLst/>
              <a:pathLst>
                <a:path w="4953101" h="0">
                  <a:moveTo>
                    <a:pt x="0" y="0"/>
                  </a:moveTo>
                  <a:lnTo>
                    <a:pt x="4953101" y="0"/>
                  </a:lnTo>
                  <a:lnTo>
                    <a:pt x="495310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491417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563516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635616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07716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779816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051856" y="2822125"/>
              <a:ext cx="4953101" cy="0"/>
            </a:xfrm>
            <a:custGeom>
              <a:avLst/>
              <a:pathLst>
                <a:path w="4953101" h="0">
                  <a:moveTo>
                    <a:pt x="0" y="0"/>
                  </a:moveTo>
                  <a:lnTo>
                    <a:pt x="4953101" y="0"/>
                  </a:lnTo>
                  <a:lnTo>
                    <a:pt x="4953101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35616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999999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276997" y="1855399"/>
              <a:ext cx="4502819" cy="1286816"/>
            </a:xfrm>
            <a:custGeom>
              <a:avLst/>
              <a:pathLst>
                <a:path w="4502819" h="1286816">
                  <a:moveTo>
                    <a:pt x="0" y="1139004"/>
                  </a:moveTo>
                  <a:lnTo>
                    <a:pt x="214419" y="1176214"/>
                  </a:lnTo>
                  <a:lnTo>
                    <a:pt x="428839" y="1023213"/>
                  </a:lnTo>
                  <a:lnTo>
                    <a:pt x="643259" y="1286816"/>
                  </a:lnTo>
                  <a:lnTo>
                    <a:pt x="857679" y="866330"/>
                  </a:lnTo>
                  <a:lnTo>
                    <a:pt x="1072099" y="770690"/>
                  </a:lnTo>
                  <a:lnTo>
                    <a:pt x="1286519" y="814505"/>
                  </a:lnTo>
                  <a:lnTo>
                    <a:pt x="1500939" y="739344"/>
                  </a:lnTo>
                  <a:lnTo>
                    <a:pt x="1715359" y="641819"/>
                  </a:lnTo>
                  <a:lnTo>
                    <a:pt x="1929779" y="744618"/>
                  </a:lnTo>
                  <a:lnTo>
                    <a:pt x="2144199" y="600932"/>
                  </a:lnTo>
                  <a:lnTo>
                    <a:pt x="2573039" y="1056116"/>
                  </a:lnTo>
                  <a:lnTo>
                    <a:pt x="2787459" y="967633"/>
                  </a:lnTo>
                  <a:lnTo>
                    <a:pt x="3001879" y="360375"/>
                  </a:lnTo>
                  <a:lnTo>
                    <a:pt x="3216299" y="536626"/>
                  </a:lnTo>
                  <a:lnTo>
                    <a:pt x="3430719" y="363033"/>
                  </a:lnTo>
                  <a:lnTo>
                    <a:pt x="3645139" y="328767"/>
                  </a:lnTo>
                  <a:lnTo>
                    <a:pt x="3859559" y="816828"/>
                  </a:lnTo>
                  <a:lnTo>
                    <a:pt x="4073979" y="0"/>
                  </a:lnTo>
                  <a:lnTo>
                    <a:pt x="4288399" y="417504"/>
                  </a:lnTo>
                  <a:lnTo>
                    <a:pt x="4502819" y="447265"/>
                  </a:lnTo>
                </a:path>
              </a:pathLst>
            </a:custGeom>
            <a:ln w="2439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276997" y="2024867"/>
              <a:ext cx="4502819" cy="1457160"/>
            </a:xfrm>
            <a:custGeom>
              <a:avLst/>
              <a:pathLst>
                <a:path w="4502819" h="1457160">
                  <a:moveTo>
                    <a:pt x="0" y="1457160"/>
                  </a:moveTo>
                  <a:lnTo>
                    <a:pt x="214419" y="1161514"/>
                  </a:lnTo>
                  <a:lnTo>
                    <a:pt x="428839" y="1173820"/>
                  </a:lnTo>
                  <a:lnTo>
                    <a:pt x="643259" y="1271020"/>
                  </a:lnTo>
                  <a:lnTo>
                    <a:pt x="857679" y="1406180"/>
                  </a:lnTo>
                  <a:lnTo>
                    <a:pt x="1072099" y="1067549"/>
                  </a:lnTo>
                  <a:lnTo>
                    <a:pt x="1286519" y="1093913"/>
                  </a:lnTo>
                  <a:lnTo>
                    <a:pt x="1500939" y="847365"/>
                  </a:lnTo>
                  <a:lnTo>
                    <a:pt x="1715359" y="955229"/>
                  </a:lnTo>
                  <a:lnTo>
                    <a:pt x="1929779" y="1208531"/>
                  </a:lnTo>
                  <a:lnTo>
                    <a:pt x="2144199" y="1046933"/>
                  </a:lnTo>
                  <a:lnTo>
                    <a:pt x="2573039" y="0"/>
                  </a:lnTo>
                  <a:lnTo>
                    <a:pt x="2787459" y="249242"/>
                  </a:lnTo>
                  <a:lnTo>
                    <a:pt x="3001879" y="619423"/>
                  </a:lnTo>
                  <a:lnTo>
                    <a:pt x="3216299" y="293820"/>
                  </a:lnTo>
                  <a:lnTo>
                    <a:pt x="3430719" y="302638"/>
                  </a:lnTo>
                  <a:lnTo>
                    <a:pt x="3645139" y="566031"/>
                  </a:lnTo>
                  <a:lnTo>
                    <a:pt x="3859559" y="528096"/>
                  </a:lnTo>
                  <a:lnTo>
                    <a:pt x="4073979" y="678842"/>
                  </a:lnTo>
                  <a:lnTo>
                    <a:pt x="4288399" y="552772"/>
                  </a:lnTo>
                  <a:lnTo>
                    <a:pt x="4502819" y="836855"/>
                  </a:lnTo>
                </a:path>
              </a:pathLst>
            </a:custGeom>
            <a:ln w="2439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276997" y="2063670"/>
              <a:ext cx="4502819" cy="1918294"/>
            </a:xfrm>
            <a:custGeom>
              <a:avLst/>
              <a:pathLst>
                <a:path w="4502819" h="1918294">
                  <a:moveTo>
                    <a:pt x="0" y="1819056"/>
                  </a:moveTo>
                  <a:lnTo>
                    <a:pt x="214419" y="1918294"/>
                  </a:lnTo>
                  <a:lnTo>
                    <a:pt x="428839" y="1482819"/>
                  </a:lnTo>
                  <a:lnTo>
                    <a:pt x="643259" y="1814177"/>
                  </a:lnTo>
                  <a:lnTo>
                    <a:pt x="857679" y="1896147"/>
                  </a:lnTo>
                  <a:lnTo>
                    <a:pt x="1072099" y="1469410"/>
                  </a:lnTo>
                  <a:lnTo>
                    <a:pt x="1286519" y="1789655"/>
                  </a:lnTo>
                  <a:lnTo>
                    <a:pt x="1500939" y="1630733"/>
                  </a:lnTo>
                  <a:lnTo>
                    <a:pt x="1715359" y="1428974"/>
                  </a:lnTo>
                  <a:lnTo>
                    <a:pt x="1929779" y="1460587"/>
                  </a:lnTo>
                  <a:lnTo>
                    <a:pt x="2144199" y="1274150"/>
                  </a:lnTo>
                  <a:lnTo>
                    <a:pt x="2573039" y="0"/>
                  </a:lnTo>
                  <a:lnTo>
                    <a:pt x="2787459" y="66774"/>
                  </a:lnTo>
                  <a:lnTo>
                    <a:pt x="3001879" y="253364"/>
                  </a:lnTo>
                  <a:lnTo>
                    <a:pt x="3216299" y="658469"/>
                  </a:lnTo>
                  <a:lnTo>
                    <a:pt x="3430719" y="476993"/>
                  </a:lnTo>
                  <a:lnTo>
                    <a:pt x="3645139" y="403939"/>
                  </a:lnTo>
                  <a:lnTo>
                    <a:pt x="3859559" y="632038"/>
                  </a:lnTo>
                  <a:lnTo>
                    <a:pt x="4073979" y="500643"/>
                  </a:lnTo>
                  <a:lnTo>
                    <a:pt x="4288399" y="605695"/>
                  </a:lnTo>
                  <a:lnTo>
                    <a:pt x="4502819" y="1006162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1253526" y="2970932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1467946" y="3008142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1682366" y="285514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1896786" y="311874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111206" y="2698258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325626" y="2602618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540046" y="264643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754466" y="2571272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968886" y="2473747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183306" y="2576546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397726" y="2432860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826566" y="288804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040986" y="2799562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255406" y="2192303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469825" y="236855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684245" y="219496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898665" y="2160695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5113085" y="2648756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5327505" y="1831928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541925" y="2249433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5756345" y="227919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1253526" y="3458556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1467946" y="3162911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1682366" y="3175216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1896786" y="3272416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2111206" y="3407577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325626" y="3068946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2540046" y="3095309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2754466" y="2848762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968886" y="2956626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183306" y="3209927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397726" y="3048329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826566" y="2001396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040986" y="2250638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255406" y="2620819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4469825" y="2295216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4684245" y="2304035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4898665" y="2567428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5113085" y="2529493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5327505" y="2680238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5541925" y="2554169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5756345" y="2838252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1253526" y="3859256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1467946" y="3958494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1682366" y="3523019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1896786" y="3854377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2111206" y="3936347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2325626" y="3509609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2540046" y="3829855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2754466" y="3670933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2968886" y="3469174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183306" y="3500787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397726" y="3314350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826566" y="2040199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4040986" y="2106974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255406" y="2293564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469825" y="2698669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684245" y="2517193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898665" y="2444139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5113085" y="2672237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5327505" y="2540842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5541925" y="2645895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5756345" y="304636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875125" y="3940706"/>
              <a:ext cx="108406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-3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875125" y="3555334"/>
              <a:ext cx="1084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875125" y="3168474"/>
              <a:ext cx="1084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-1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915726" y="2778280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915726" y="2393444"/>
              <a:ext cx="67806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915726" y="2005275"/>
              <a:ext cx="67806" cy="85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1423610" y="4157034"/>
              <a:ext cx="135612" cy="870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15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495710" y="4156201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3567810" y="4156379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25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4639910" y="4156379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5712010" y="4156379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35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3143016" y="4306092"/>
              <a:ext cx="770780" cy="1122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True colour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-122996" y="2847951"/>
              <a:ext cx="1711449" cy="1414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&lt; 0 = pulled to the middle</a:t>
              </a:r>
            </a:p>
          </p:txBody>
        </p:sp>
        <p:sp>
          <p:nvSpPr>
            <p:cNvPr id="97" name="pl97"/>
            <p:cNvSpPr/>
            <p:nvPr/>
          </p:nvSpPr>
          <p:spPr>
            <a:xfrm>
              <a:off x="2624811" y="47894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2689123" y="476602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3267143" y="47894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331455" y="4766021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3909476" y="47894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973787" y="476602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tx103"/>
            <p:cNvSpPr/>
            <p:nvPr/>
          </p:nvSpPr>
          <p:spPr>
            <a:xfrm>
              <a:off x="2898237" y="4740825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SD 3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3540569" y="4740825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SD 5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4182902" y="4740825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SD 7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1051856" y="1474178"/>
              <a:ext cx="3562362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Forward: (report - true) x side of the true colour</a:t>
              </a:r>
            </a:p>
          </p:txBody>
        </p:sp>
        <p:sp>
          <p:nvSpPr>
            <p:cNvPr id="107" name="pl107"/>
            <p:cNvSpPr/>
            <p:nvPr/>
          </p:nvSpPr>
          <p:spPr>
            <a:xfrm>
              <a:off x="6541705" y="3882286"/>
              <a:ext cx="4953101" cy="0"/>
            </a:xfrm>
            <a:custGeom>
              <a:avLst/>
              <a:pathLst>
                <a:path w="4953101" h="0">
                  <a:moveTo>
                    <a:pt x="0" y="0"/>
                  </a:moveTo>
                  <a:lnTo>
                    <a:pt x="4953101" y="0"/>
                  </a:lnTo>
                  <a:lnTo>
                    <a:pt x="495310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541705" y="3272270"/>
              <a:ext cx="4953101" cy="0"/>
            </a:xfrm>
            <a:custGeom>
              <a:avLst/>
              <a:pathLst>
                <a:path w="4953101" h="0">
                  <a:moveTo>
                    <a:pt x="0" y="0"/>
                  </a:moveTo>
                  <a:lnTo>
                    <a:pt x="4953101" y="0"/>
                  </a:lnTo>
                  <a:lnTo>
                    <a:pt x="495310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541705" y="2662254"/>
              <a:ext cx="4953101" cy="0"/>
            </a:xfrm>
            <a:custGeom>
              <a:avLst/>
              <a:pathLst>
                <a:path w="4953101" h="0">
                  <a:moveTo>
                    <a:pt x="0" y="0"/>
                  </a:moveTo>
                  <a:lnTo>
                    <a:pt x="4953101" y="0"/>
                  </a:lnTo>
                  <a:lnTo>
                    <a:pt x="495310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541705" y="2052238"/>
              <a:ext cx="4953101" cy="0"/>
            </a:xfrm>
            <a:custGeom>
              <a:avLst/>
              <a:pathLst>
                <a:path w="4953101" h="0">
                  <a:moveTo>
                    <a:pt x="0" y="0"/>
                  </a:moveTo>
                  <a:lnTo>
                    <a:pt x="4953101" y="0"/>
                  </a:lnTo>
                  <a:lnTo>
                    <a:pt x="495310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7185713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8232881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9280048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10327216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11374383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6541705" y="3882286"/>
              <a:ext cx="4953101" cy="0"/>
            </a:xfrm>
            <a:custGeom>
              <a:avLst/>
              <a:pathLst>
                <a:path w="4953101" h="0">
                  <a:moveTo>
                    <a:pt x="0" y="0"/>
                  </a:moveTo>
                  <a:lnTo>
                    <a:pt x="4953101" y="0"/>
                  </a:lnTo>
                  <a:lnTo>
                    <a:pt x="4953101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8756464" y="1749070"/>
              <a:ext cx="0" cy="2339223"/>
            </a:xfrm>
            <a:custGeom>
              <a:avLst/>
              <a:pathLst>
                <a:path w="0" h="2339223">
                  <a:moveTo>
                    <a:pt x="0" y="233922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999999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6766846" y="1855399"/>
              <a:ext cx="4502819" cy="2060524"/>
            </a:xfrm>
            <a:custGeom>
              <a:avLst/>
              <a:pathLst>
                <a:path w="4502819" h="2060524">
                  <a:moveTo>
                    <a:pt x="0" y="838575"/>
                  </a:moveTo>
                  <a:lnTo>
                    <a:pt x="104716" y="899882"/>
                  </a:lnTo>
                  <a:lnTo>
                    <a:pt x="209433" y="1059951"/>
                  </a:lnTo>
                  <a:lnTo>
                    <a:pt x="314150" y="1167222"/>
                  </a:lnTo>
                  <a:lnTo>
                    <a:pt x="418866" y="1093659"/>
                  </a:lnTo>
                  <a:lnTo>
                    <a:pt x="523583" y="1261632"/>
                  </a:lnTo>
                  <a:lnTo>
                    <a:pt x="628300" y="1431649"/>
                  </a:lnTo>
                  <a:lnTo>
                    <a:pt x="733017" y="1544163"/>
                  </a:lnTo>
                  <a:lnTo>
                    <a:pt x="837733" y="1585356"/>
                  </a:lnTo>
                  <a:lnTo>
                    <a:pt x="942450" y="1620469"/>
                  </a:lnTo>
                  <a:lnTo>
                    <a:pt x="1047167" y="1699646"/>
                  </a:lnTo>
                  <a:lnTo>
                    <a:pt x="1151884" y="1821797"/>
                  </a:lnTo>
                  <a:lnTo>
                    <a:pt x="1256600" y="1786210"/>
                  </a:lnTo>
                  <a:lnTo>
                    <a:pt x="1361317" y="1886836"/>
                  </a:lnTo>
                  <a:lnTo>
                    <a:pt x="1466034" y="2011595"/>
                  </a:lnTo>
                  <a:lnTo>
                    <a:pt x="1570751" y="1946197"/>
                  </a:lnTo>
                  <a:lnTo>
                    <a:pt x="1675467" y="2060524"/>
                  </a:lnTo>
                  <a:lnTo>
                    <a:pt x="1780184" y="1985529"/>
                  </a:lnTo>
                  <a:lnTo>
                    <a:pt x="1884901" y="2046469"/>
                  </a:lnTo>
                  <a:lnTo>
                    <a:pt x="2094334" y="1911869"/>
                  </a:lnTo>
                  <a:lnTo>
                    <a:pt x="2199051" y="1918631"/>
                  </a:lnTo>
                  <a:lnTo>
                    <a:pt x="2303768" y="1930731"/>
                  </a:lnTo>
                  <a:lnTo>
                    <a:pt x="2408484" y="1936369"/>
                  </a:lnTo>
                  <a:lnTo>
                    <a:pt x="2513201" y="1866835"/>
                  </a:lnTo>
                  <a:lnTo>
                    <a:pt x="2617918" y="1682817"/>
                  </a:lnTo>
                  <a:lnTo>
                    <a:pt x="2722635" y="1724063"/>
                  </a:lnTo>
                  <a:lnTo>
                    <a:pt x="2827351" y="1647060"/>
                  </a:lnTo>
                  <a:lnTo>
                    <a:pt x="2932068" y="1572817"/>
                  </a:lnTo>
                  <a:lnTo>
                    <a:pt x="3036785" y="1482298"/>
                  </a:lnTo>
                  <a:lnTo>
                    <a:pt x="3141502" y="1464396"/>
                  </a:lnTo>
                  <a:lnTo>
                    <a:pt x="3246218" y="1463711"/>
                  </a:lnTo>
                  <a:lnTo>
                    <a:pt x="3350935" y="1262364"/>
                  </a:lnTo>
                  <a:lnTo>
                    <a:pt x="3455652" y="1163959"/>
                  </a:lnTo>
                  <a:lnTo>
                    <a:pt x="3560369" y="1081229"/>
                  </a:lnTo>
                  <a:lnTo>
                    <a:pt x="3665085" y="991588"/>
                  </a:lnTo>
                  <a:lnTo>
                    <a:pt x="3769802" y="727485"/>
                  </a:lnTo>
                  <a:lnTo>
                    <a:pt x="3874519" y="774633"/>
                  </a:lnTo>
                  <a:lnTo>
                    <a:pt x="3979236" y="623341"/>
                  </a:lnTo>
                  <a:lnTo>
                    <a:pt x="4083952" y="613175"/>
                  </a:lnTo>
                  <a:lnTo>
                    <a:pt x="4188669" y="452537"/>
                  </a:lnTo>
                  <a:lnTo>
                    <a:pt x="4502819" y="0"/>
                  </a:lnTo>
                </a:path>
              </a:pathLst>
            </a:custGeom>
            <a:ln w="2439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6871563" y="2407826"/>
              <a:ext cx="3874519" cy="1570989"/>
            </a:xfrm>
            <a:custGeom>
              <a:avLst/>
              <a:pathLst>
                <a:path w="3874519" h="1570989">
                  <a:moveTo>
                    <a:pt x="0" y="403881"/>
                  </a:moveTo>
                  <a:lnTo>
                    <a:pt x="104716" y="444767"/>
                  </a:lnTo>
                  <a:lnTo>
                    <a:pt x="209433" y="526359"/>
                  </a:lnTo>
                  <a:lnTo>
                    <a:pt x="314150" y="682726"/>
                  </a:lnTo>
                  <a:lnTo>
                    <a:pt x="418866" y="808888"/>
                  </a:lnTo>
                  <a:lnTo>
                    <a:pt x="523583" y="844213"/>
                  </a:lnTo>
                  <a:lnTo>
                    <a:pt x="628300" y="1014316"/>
                  </a:lnTo>
                  <a:lnTo>
                    <a:pt x="733017" y="935114"/>
                  </a:lnTo>
                  <a:lnTo>
                    <a:pt x="837733" y="1074023"/>
                  </a:lnTo>
                  <a:lnTo>
                    <a:pt x="942450" y="1159682"/>
                  </a:lnTo>
                  <a:lnTo>
                    <a:pt x="1047167" y="1227124"/>
                  </a:lnTo>
                  <a:lnTo>
                    <a:pt x="1151884" y="1353352"/>
                  </a:lnTo>
                  <a:lnTo>
                    <a:pt x="1256600" y="1362892"/>
                  </a:lnTo>
                  <a:lnTo>
                    <a:pt x="1361317" y="1457853"/>
                  </a:lnTo>
                  <a:lnTo>
                    <a:pt x="1466034" y="1497884"/>
                  </a:lnTo>
                  <a:lnTo>
                    <a:pt x="1570751" y="1484947"/>
                  </a:lnTo>
                  <a:lnTo>
                    <a:pt x="1675467" y="1441567"/>
                  </a:lnTo>
                  <a:lnTo>
                    <a:pt x="1780184" y="1570989"/>
                  </a:lnTo>
                  <a:lnTo>
                    <a:pt x="1989618" y="1380625"/>
                  </a:lnTo>
                  <a:lnTo>
                    <a:pt x="2094334" y="1395709"/>
                  </a:lnTo>
                  <a:lnTo>
                    <a:pt x="2199051" y="1194938"/>
                  </a:lnTo>
                  <a:lnTo>
                    <a:pt x="2303768" y="1215895"/>
                  </a:lnTo>
                  <a:lnTo>
                    <a:pt x="2408484" y="1166085"/>
                  </a:lnTo>
                  <a:lnTo>
                    <a:pt x="2513201" y="1072166"/>
                  </a:lnTo>
                  <a:lnTo>
                    <a:pt x="2617918" y="1141686"/>
                  </a:lnTo>
                  <a:lnTo>
                    <a:pt x="2722635" y="944369"/>
                  </a:lnTo>
                  <a:lnTo>
                    <a:pt x="2827351" y="974644"/>
                  </a:lnTo>
                  <a:lnTo>
                    <a:pt x="2932068" y="951116"/>
                  </a:lnTo>
                  <a:lnTo>
                    <a:pt x="3036785" y="779806"/>
                  </a:lnTo>
                  <a:lnTo>
                    <a:pt x="3141502" y="683953"/>
                  </a:lnTo>
                  <a:lnTo>
                    <a:pt x="3246218" y="709038"/>
                  </a:lnTo>
                  <a:lnTo>
                    <a:pt x="3350935" y="368523"/>
                  </a:lnTo>
                  <a:lnTo>
                    <a:pt x="3455652" y="422690"/>
                  </a:lnTo>
                  <a:lnTo>
                    <a:pt x="3560369" y="358638"/>
                  </a:lnTo>
                  <a:lnTo>
                    <a:pt x="3665085" y="198128"/>
                  </a:lnTo>
                  <a:lnTo>
                    <a:pt x="3769802" y="0"/>
                  </a:lnTo>
                  <a:lnTo>
                    <a:pt x="3874519" y="165975"/>
                  </a:lnTo>
                </a:path>
              </a:pathLst>
            </a:custGeom>
            <a:ln w="2439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6766846" y="2159225"/>
              <a:ext cx="3979236" cy="1822740"/>
            </a:xfrm>
            <a:custGeom>
              <a:avLst/>
              <a:pathLst>
                <a:path w="3979236" h="1822740">
                  <a:moveTo>
                    <a:pt x="0" y="302739"/>
                  </a:moveTo>
                  <a:lnTo>
                    <a:pt x="209433" y="352557"/>
                  </a:lnTo>
                  <a:lnTo>
                    <a:pt x="314150" y="862938"/>
                  </a:lnTo>
                  <a:lnTo>
                    <a:pt x="418866" y="769402"/>
                  </a:lnTo>
                  <a:lnTo>
                    <a:pt x="523583" y="1033816"/>
                  </a:lnTo>
                  <a:lnTo>
                    <a:pt x="628300" y="983856"/>
                  </a:lnTo>
                  <a:lnTo>
                    <a:pt x="733017" y="1027451"/>
                  </a:lnTo>
                  <a:lnTo>
                    <a:pt x="837733" y="1313418"/>
                  </a:lnTo>
                  <a:lnTo>
                    <a:pt x="942450" y="1240046"/>
                  </a:lnTo>
                  <a:lnTo>
                    <a:pt x="1047167" y="1328700"/>
                  </a:lnTo>
                  <a:lnTo>
                    <a:pt x="1151884" y="1387003"/>
                  </a:lnTo>
                  <a:lnTo>
                    <a:pt x="1256600" y="1558760"/>
                  </a:lnTo>
                  <a:lnTo>
                    <a:pt x="1361317" y="1461625"/>
                  </a:lnTo>
                  <a:lnTo>
                    <a:pt x="1466034" y="1666751"/>
                  </a:lnTo>
                  <a:lnTo>
                    <a:pt x="1570751" y="1743305"/>
                  </a:lnTo>
                  <a:lnTo>
                    <a:pt x="1675467" y="1654312"/>
                  </a:lnTo>
                  <a:lnTo>
                    <a:pt x="1780184" y="1822740"/>
                  </a:lnTo>
                  <a:lnTo>
                    <a:pt x="1884901" y="1784827"/>
                  </a:lnTo>
                  <a:lnTo>
                    <a:pt x="2094334" y="1570807"/>
                  </a:lnTo>
                  <a:lnTo>
                    <a:pt x="2199051" y="1558797"/>
                  </a:lnTo>
                  <a:lnTo>
                    <a:pt x="2303768" y="1519103"/>
                  </a:lnTo>
                  <a:lnTo>
                    <a:pt x="2408484" y="1416975"/>
                  </a:lnTo>
                  <a:lnTo>
                    <a:pt x="2513201" y="1360469"/>
                  </a:lnTo>
                  <a:lnTo>
                    <a:pt x="2617918" y="1396014"/>
                  </a:lnTo>
                  <a:lnTo>
                    <a:pt x="2722635" y="1266253"/>
                  </a:lnTo>
                  <a:lnTo>
                    <a:pt x="2827351" y="1169827"/>
                  </a:lnTo>
                  <a:lnTo>
                    <a:pt x="2932068" y="1100320"/>
                  </a:lnTo>
                  <a:lnTo>
                    <a:pt x="3036785" y="1144866"/>
                  </a:lnTo>
                  <a:lnTo>
                    <a:pt x="3141502" y="1062683"/>
                  </a:lnTo>
                  <a:lnTo>
                    <a:pt x="3246218" y="906098"/>
                  </a:lnTo>
                  <a:lnTo>
                    <a:pt x="3350935" y="891864"/>
                  </a:lnTo>
                  <a:lnTo>
                    <a:pt x="3455652" y="644270"/>
                  </a:lnTo>
                  <a:lnTo>
                    <a:pt x="3560369" y="688667"/>
                  </a:lnTo>
                  <a:lnTo>
                    <a:pt x="3665085" y="674714"/>
                  </a:lnTo>
                  <a:lnTo>
                    <a:pt x="3769802" y="569045"/>
                  </a:lnTo>
                  <a:lnTo>
                    <a:pt x="3874519" y="232486"/>
                  </a:lnTo>
                  <a:lnTo>
                    <a:pt x="3979236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6743376" y="267050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6848092" y="2731810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6952809" y="2891880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7057526" y="2999150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7162242" y="2925587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7266959" y="3093560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7371676" y="3263577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7476393" y="337609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7581109" y="3417285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7685826" y="3452398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7790543" y="353157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7895260" y="3653725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7999976" y="3618139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8104693" y="3718765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8209410" y="3843523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8314127" y="3778126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8418843" y="3892452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8523560" y="3817457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8628277" y="3878397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8837710" y="3743797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8942427" y="3750559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9047144" y="3762660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9151860" y="3768297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9256577" y="369876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9361294" y="3514745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9466011" y="3555992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9570727" y="3478988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9675444" y="3404745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9780161" y="3314226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9884878" y="3296324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9989594" y="3295639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10094311" y="3094292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10199028" y="2995888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10303745" y="2913157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10408461" y="2823516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10513178" y="2559413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10617895" y="260656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10722612" y="2455270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10827328" y="2445103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10932045" y="2284465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11246195" y="1831928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6848092" y="2788237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6952809" y="2829122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7057526" y="2910714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7162242" y="3067082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7266959" y="3193244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7371676" y="3228569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7476393" y="3398671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7581109" y="331947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7685826" y="3458379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7790543" y="3544037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7895260" y="3611479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7999976" y="3737708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8104693" y="3747248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8209410" y="3842209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8314127" y="388224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8418843" y="3869303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8523560" y="3825923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8628277" y="3955345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8837710" y="3764981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8942427" y="3780065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9047144" y="3579293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9151860" y="3600251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9256577" y="355044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9361294" y="3456522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9466011" y="3526042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9570727" y="3328725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9675444" y="335900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9780161" y="3335472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9884878" y="3164162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9989594" y="3068309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10094311" y="3093394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10199028" y="2752878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10303745" y="2807046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10408461" y="2742994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10513178" y="2582483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10617895" y="2384355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10722612" y="2550330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6743376" y="2438494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952809" y="2488312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7057526" y="2998692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7162242" y="2905156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7266959" y="316957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7371676" y="311961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7476393" y="3163206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7581109" y="3449173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7685826" y="337580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7790543" y="3464455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7895260" y="3522758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7999976" y="3694515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8104693" y="3597380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8209410" y="3802506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8314127" y="3879059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8418843" y="3790067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8523560" y="3958494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8628277" y="3920582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8837710" y="3706562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8942427" y="369455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9047144" y="3654858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9151860" y="3552730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9256577" y="3496224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9361294" y="3531769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9466011" y="3402007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9570727" y="3305582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9675444" y="3236074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9780161" y="328062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9884878" y="3198437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9989594" y="3041853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10094311" y="3027619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10199028" y="2780025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10303745" y="2824422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10408461" y="2810468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10513178" y="2704800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10617895" y="236824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10722612" y="2135754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tx236"/>
            <p:cNvSpPr/>
            <p:nvPr/>
          </p:nvSpPr>
          <p:spPr>
            <a:xfrm>
              <a:off x="6405576" y="3838441"/>
              <a:ext cx="67806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6405576" y="3230032"/>
              <a:ext cx="67806" cy="859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6337769" y="2618409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6337769" y="2008929"/>
              <a:ext cx="135612" cy="870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15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7117907" y="4156498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8165075" y="4156201"/>
              <a:ext cx="135612" cy="87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9212242" y="4156379"/>
              <a:ext cx="135612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30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10259409" y="4156260"/>
              <a:ext cx="135612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40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11306577" y="4156498"/>
              <a:ext cx="135612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50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8789545" y="4277219"/>
              <a:ext cx="457423" cy="141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Report</a:t>
              </a:r>
            </a:p>
          </p:txBody>
        </p:sp>
        <p:sp>
          <p:nvSpPr>
            <p:cNvPr id="246" name="tx246"/>
            <p:cNvSpPr/>
            <p:nvPr/>
          </p:nvSpPr>
          <p:spPr>
            <a:xfrm rot="-5400000">
              <a:off x="4945513" y="2847505"/>
              <a:ext cx="2498824" cy="1423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&gt; 0 = report more extreme than array</a:t>
              </a:r>
            </a:p>
          </p:txBody>
        </p:sp>
        <p:sp>
          <p:nvSpPr>
            <p:cNvPr id="247" name="pl247"/>
            <p:cNvSpPr/>
            <p:nvPr/>
          </p:nvSpPr>
          <p:spPr>
            <a:xfrm>
              <a:off x="8114661" y="47894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8178972" y="4766021"/>
              <a:ext cx="46941" cy="46941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8756993" y="47894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8821305" y="4766021"/>
              <a:ext cx="46941" cy="46941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9399326" y="47894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9463637" y="4766021"/>
              <a:ext cx="46941" cy="46941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tx253"/>
            <p:cNvSpPr/>
            <p:nvPr/>
          </p:nvSpPr>
          <p:spPr>
            <a:xfrm>
              <a:off x="8388087" y="4740825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SD 3</a:t>
              </a:r>
            </a:p>
          </p:txBody>
        </p:sp>
        <p:sp>
          <p:nvSpPr>
            <p:cNvPr id="254" name="tx254"/>
            <p:cNvSpPr/>
            <p:nvPr/>
          </p:nvSpPr>
          <p:spPr>
            <a:xfrm>
              <a:off x="9030419" y="4740825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SD 5</a:t>
              </a:r>
            </a:p>
          </p:txBody>
        </p:sp>
        <p:sp>
          <p:nvSpPr>
            <p:cNvPr id="255" name="tx255"/>
            <p:cNvSpPr/>
            <p:nvPr/>
          </p:nvSpPr>
          <p:spPr>
            <a:xfrm>
              <a:off x="9672751" y="4740825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SD 7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6541705" y="1474178"/>
              <a:ext cx="3178009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Reverse: (report - true) x side of the report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6766560" cy="4754880"/>
            <a:chOff x="548640" y="1371600"/>
            <a:chExt cx="6766560" cy="475488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6766560" cy="47548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30170" y="4281087"/>
              <a:ext cx="3026541" cy="0"/>
            </a:xfrm>
            <a:custGeom>
              <a:avLst/>
              <a:pathLst>
                <a:path w="3026541" h="0">
                  <a:moveTo>
                    <a:pt x="0" y="0"/>
                  </a:moveTo>
                  <a:lnTo>
                    <a:pt x="3026541" y="0"/>
                  </a:lnTo>
                  <a:lnTo>
                    <a:pt x="302654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30170" y="3497163"/>
              <a:ext cx="3026541" cy="0"/>
            </a:xfrm>
            <a:custGeom>
              <a:avLst/>
              <a:pathLst>
                <a:path w="3026541" h="0">
                  <a:moveTo>
                    <a:pt x="0" y="0"/>
                  </a:moveTo>
                  <a:lnTo>
                    <a:pt x="3026541" y="0"/>
                  </a:lnTo>
                  <a:lnTo>
                    <a:pt x="302654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30170" y="2713239"/>
              <a:ext cx="3026541" cy="0"/>
            </a:xfrm>
            <a:custGeom>
              <a:avLst/>
              <a:pathLst>
                <a:path w="3026541" h="0">
                  <a:moveTo>
                    <a:pt x="0" y="0"/>
                  </a:moveTo>
                  <a:lnTo>
                    <a:pt x="3026541" y="0"/>
                  </a:lnTo>
                  <a:lnTo>
                    <a:pt x="302654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97647" y="1944993"/>
              <a:ext cx="0" cy="3104339"/>
            </a:xfrm>
            <a:custGeom>
              <a:avLst/>
              <a:pathLst>
                <a:path w="0" h="3104339">
                  <a:moveTo>
                    <a:pt x="0" y="31043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443441" y="1944993"/>
              <a:ext cx="0" cy="3104339"/>
            </a:xfrm>
            <a:custGeom>
              <a:avLst/>
              <a:pathLst>
                <a:path w="0" h="3104339">
                  <a:moveTo>
                    <a:pt x="0" y="31043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89235" y="1944993"/>
              <a:ext cx="0" cy="3104339"/>
            </a:xfrm>
            <a:custGeom>
              <a:avLst/>
              <a:pathLst>
                <a:path w="0" h="3104339">
                  <a:moveTo>
                    <a:pt x="0" y="31043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30170" y="3497163"/>
              <a:ext cx="3026541" cy="0"/>
            </a:xfrm>
            <a:custGeom>
              <a:avLst/>
              <a:pathLst>
                <a:path w="3026541" h="0">
                  <a:moveTo>
                    <a:pt x="0" y="0"/>
                  </a:moveTo>
                  <a:lnTo>
                    <a:pt x="3026541" y="0"/>
                  </a:lnTo>
                  <a:lnTo>
                    <a:pt x="3026541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497647" y="2401237"/>
              <a:ext cx="1891588" cy="341355"/>
            </a:xfrm>
            <a:custGeom>
              <a:avLst/>
              <a:pathLst>
                <a:path w="1891588" h="341355">
                  <a:moveTo>
                    <a:pt x="0" y="0"/>
                  </a:moveTo>
                  <a:lnTo>
                    <a:pt x="945794" y="229367"/>
                  </a:lnTo>
                  <a:lnTo>
                    <a:pt x="1891588" y="341355"/>
                  </a:lnTo>
                </a:path>
              </a:pathLst>
            </a:custGeom>
            <a:ln w="2981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497647" y="4016287"/>
              <a:ext cx="1891588" cy="373774"/>
            </a:xfrm>
            <a:custGeom>
              <a:avLst/>
              <a:pathLst>
                <a:path w="1891588" h="373774">
                  <a:moveTo>
                    <a:pt x="0" y="0"/>
                  </a:moveTo>
                  <a:lnTo>
                    <a:pt x="945794" y="176785"/>
                  </a:lnTo>
                  <a:lnTo>
                    <a:pt x="1891588" y="373774"/>
                  </a:lnTo>
                </a:path>
              </a:pathLst>
            </a:custGeom>
            <a:ln w="29811" cap="flat">
              <a:solidFill>
                <a:srgbClr val="5561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1460625" y="3979265"/>
              <a:ext cx="74043" cy="74043"/>
            </a:xfrm>
            <a:prstGeom prst="ellipse">
              <a:avLst/>
            </a:prstGeom>
            <a:solidFill>
              <a:srgbClr val="55616D">
                <a:alpha val="100000"/>
              </a:srgbClr>
            </a:solidFill>
            <a:ln w="9000" cap="rnd">
              <a:solidFill>
                <a:srgbClr val="5561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1460625" y="2364215"/>
              <a:ext cx="74043" cy="74043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2406419" y="4156051"/>
              <a:ext cx="74043" cy="74043"/>
            </a:xfrm>
            <a:prstGeom prst="ellipse">
              <a:avLst/>
            </a:prstGeom>
            <a:solidFill>
              <a:srgbClr val="55616D">
                <a:alpha val="100000"/>
              </a:srgbClr>
            </a:solidFill>
            <a:ln w="9000" cap="rnd">
              <a:solidFill>
                <a:srgbClr val="5561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2406419" y="2593583"/>
              <a:ext cx="74043" cy="74043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352213" y="4353040"/>
              <a:ext cx="74043" cy="74043"/>
            </a:xfrm>
            <a:prstGeom prst="ellipse">
              <a:avLst/>
            </a:prstGeom>
            <a:solidFill>
              <a:srgbClr val="55616D">
                <a:alpha val="100000"/>
              </a:srgbClr>
            </a:solidFill>
            <a:ln w="9000" cap="rnd">
              <a:solidFill>
                <a:srgbClr val="5561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3352213" y="2705571"/>
              <a:ext cx="74043" cy="74043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tx19"/>
            <p:cNvSpPr/>
            <p:nvPr/>
          </p:nvSpPr>
          <p:spPr>
            <a:xfrm>
              <a:off x="1371054" y="3838492"/>
              <a:ext cx="253184" cy="938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4">
                  <a:solidFill>
                    <a:srgbClr val="55616D">
                      <a:alpha val="100000"/>
                    </a:srgbClr>
                  </a:solidFill>
                  <a:latin typeface="Calibri"/>
                  <a:cs typeface="Calibri"/>
                </a:rPr>
                <a:t>0.83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1371054" y="2223696"/>
              <a:ext cx="253184" cy="93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4">
                  <a:solidFill>
                    <a:srgbClr val="B7790F">
                      <a:alpha val="100000"/>
                    </a:srgbClr>
                  </a:solidFill>
                  <a:latin typeface="Calibri"/>
                  <a:cs typeface="Calibri"/>
                </a:rPr>
                <a:t>1.35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2316848" y="4015277"/>
              <a:ext cx="253184" cy="938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4">
                  <a:solidFill>
                    <a:srgbClr val="55616D">
                      <a:alpha val="100000"/>
                    </a:srgbClr>
                  </a:solidFill>
                  <a:latin typeface="Calibri"/>
                  <a:cs typeface="Calibri"/>
                </a:rPr>
                <a:t>0.78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316848" y="2452746"/>
              <a:ext cx="253184" cy="938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4">
                  <a:solidFill>
                    <a:srgbClr val="B7790F">
                      <a:alpha val="100000"/>
                    </a:srgbClr>
                  </a:solidFill>
                  <a:latin typeface="Calibri"/>
                  <a:cs typeface="Calibri"/>
                </a:rPr>
                <a:t>1.28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3262642" y="4212330"/>
              <a:ext cx="253184" cy="937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4">
                  <a:solidFill>
                    <a:srgbClr val="55616D">
                      <a:alpha val="100000"/>
                    </a:srgbClr>
                  </a:solidFill>
                  <a:latin typeface="Calibri"/>
                  <a:cs typeface="Calibri"/>
                </a:rPr>
                <a:t>0.72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3262642" y="2567338"/>
              <a:ext cx="253184" cy="912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4">
                  <a:solidFill>
                    <a:srgbClr val="B7790F">
                      <a:alpha val="100000"/>
                    </a:srgbClr>
                  </a:solidFill>
                  <a:latin typeface="Calibri"/>
                  <a:cs typeface="Calibri"/>
                </a:rPr>
                <a:t>1.24</a:t>
              </a:r>
            </a:p>
          </p:txBody>
        </p:sp>
        <p:sp>
          <p:nvSpPr>
            <p:cNvPr id="25" name="pl25"/>
            <p:cNvSpPr/>
            <p:nvPr/>
          </p:nvSpPr>
          <p:spPr>
            <a:xfrm>
              <a:off x="4212743" y="4281087"/>
              <a:ext cx="3026541" cy="0"/>
            </a:xfrm>
            <a:custGeom>
              <a:avLst/>
              <a:pathLst>
                <a:path w="3026541" h="0">
                  <a:moveTo>
                    <a:pt x="0" y="0"/>
                  </a:moveTo>
                  <a:lnTo>
                    <a:pt x="3026541" y="0"/>
                  </a:lnTo>
                  <a:lnTo>
                    <a:pt x="302654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212743" y="3497163"/>
              <a:ext cx="3026541" cy="0"/>
            </a:xfrm>
            <a:custGeom>
              <a:avLst/>
              <a:pathLst>
                <a:path w="3026541" h="0">
                  <a:moveTo>
                    <a:pt x="0" y="0"/>
                  </a:moveTo>
                  <a:lnTo>
                    <a:pt x="3026541" y="0"/>
                  </a:lnTo>
                  <a:lnTo>
                    <a:pt x="302654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12743" y="2713239"/>
              <a:ext cx="3026541" cy="0"/>
            </a:xfrm>
            <a:custGeom>
              <a:avLst/>
              <a:pathLst>
                <a:path w="3026541" h="0">
                  <a:moveTo>
                    <a:pt x="0" y="0"/>
                  </a:moveTo>
                  <a:lnTo>
                    <a:pt x="3026541" y="0"/>
                  </a:lnTo>
                  <a:lnTo>
                    <a:pt x="302654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780220" y="1944993"/>
              <a:ext cx="0" cy="3104339"/>
            </a:xfrm>
            <a:custGeom>
              <a:avLst/>
              <a:pathLst>
                <a:path w="0" h="3104339">
                  <a:moveTo>
                    <a:pt x="0" y="31043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726014" y="1944993"/>
              <a:ext cx="0" cy="3104339"/>
            </a:xfrm>
            <a:custGeom>
              <a:avLst/>
              <a:pathLst>
                <a:path w="0" h="3104339">
                  <a:moveTo>
                    <a:pt x="0" y="31043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671808" y="1944993"/>
              <a:ext cx="0" cy="3104339"/>
            </a:xfrm>
            <a:custGeom>
              <a:avLst/>
              <a:pathLst>
                <a:path w="0" h="3104339">
                  <a:moveTo>
                    <a:pt x="0" y="31043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212743" y="3497163"/>
              <a:ext cx="3026541" cy="0"/>
            </a:xfrm>
            <a:custGeom>
              <a:avLst/>
              <a:pathLst>
                <a:path w="3026541" h="0">
                  <a:moveTo>
                    <a:pt x="0" y="0"/>
                  </a:moveTo>
                  <a:lnTo>
                    <a:pt x="3026541" y="0"/>
                  </a:lnTo>
                  <a:lnTo>
                    <a:pt x="3026541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80220" y="3183535"/>
              <a:ext cx="1891588" cy="769784"/>
            </a:xfrm>
            <a:custGeom>
              <a:avLst/>
              <a:pathLst>
                <a:path w="1891588" h="769784">
                  <a:moveTo>
                    <a:pt x="0" y="0"/>
                  </a:moveTo>
                  <a:lnTo>
                    <a:pt x="945794" y="421429"/>
                  </a:lnTo>
                  <a:lnTo>
                    <a:pt x="1891588" y="769784"/>
                  </a:lnTo>
                </a:path>
              </a:pathLst>
            </a:custGeom>
            <a:ln w="2981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80220" y="4654668"/>
              <a:ext cx="1891588" cy="108528"/>
            </a:xfrm>
            <a:custGeom>
              <a:avLst/>
              <a:pathLst>
                <a:path w="1891588" h="108528">
                  <a:moveTo>
                    <a:pt x="0" y="0"/>
                  </a:moveTo>
                  <a:lnTo>
                    <a:pt x="945794" y="27794"/>
                  </a:lnTo>
                  <a:lnTo>
                    <a:pt x="1891588" y="108528"/>
                  </a:lnTo>
                </a:path>
              </a:pathLst>
            </a:custGeom>
            <a:ln w="29811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743198" y="3146514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743198" y="4617647"/>
              <a:ext cx="74043" cy="74043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5688992" y="3567943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5688992" y="4645441"/>
              <a:ext cx="74043" cy="74043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6634786" y="3916299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6634786" y="4726175"/>
              <a:ext cx="74043" cy="74043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653627" y="3006122"/>
              <a:ext cx="253184" cy="934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4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1.10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653627" y="4476873"/>
              <a:ext cx="253184" cy="938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4">
                  <a:solidFill>
                    <a:srgbClr val="2C6E9B">
                      <a:alpha val="100000"/>
                    </a:srgbClr>
                  </a:solidFill>
                  <a:latin typeface="Calibri"/>
                  <a:cs typeface="Calibri"/>
                </a:rPr>
                <a:t>0.63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5599421" y="3427360"/>
              <a:ext cx="253184" cy="936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4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0.97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5599421" y="4504668"/>
              <a:ext cx="253184" cy="938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4">
                  <a:solidFill>
                    <a:srgbClr val="2C6E9B">
                      <a:alpha val="100000"/>
                    </a:srgbClr>
                  </a:solidFill>
                  <a:latin typeface="Calibri"/>
                  <a:cs typeface="Calibri"/>
                </a:rPr>
                <a:t>0.62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545215" y="3775525"/>
              <a:ext cx="253184" cy="938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4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0.85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545215" y="4585402"/>
              <a:ext cx="253184" cy="938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4">
                  <a:solidFill>
                    <a:srgbClr val="2C6E9B">
                      <a:alpha val="100000"/>
                    </a:srgbClr>
                  </a:solidFill>
                  <a:latin typeface="Calibri"/>
                  <a:cs typeface="Calibri"/>
                </a:rPr>
                <a:t>0.60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819286" y="1715463"/>
              <a:ext cx="1248308" cy="1519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Two ingredients...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995713" y="1715463"/>
              <a:ext cx="1460601" cy="1519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1A1A1A">
                      <a:alpha val="100000"/>
                    </a:srgbClr>
                  </a:solidFill>
                  <a:latin typeface="Calibri"/>
                  <a:cs typeface="Calibri"/>
                </a:rPr>
                <a:t>...give the two slopes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362124" y="5112715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3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307918" y="5112715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5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253712" y="5112715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7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644697" y="5112715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3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5590491" y="5112715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5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6536285" y="5112715"/>
              <a:ext cx="271045" cy="923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SD 7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624555" y="4237242"/>
              <a:ext cx="237291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0.75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624555" y="3453318"/>
              <a:ext cx="237291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1.00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624555" y="2669275"/>
              <a:ext cx="237291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1.25</a:t>
              </a:r>
            </a:p>
          </p:txBody>
        </p:sp>
        <p:sp>
          <p:nvSpPr>
            <p:cNvPr id="57" name="pl57"/>
            <p:cNvSpPr/>
            <p:nvPr/>
          </p:nvSpPr>
          <p:spPr>
            <a:xfrm>
              <a:off x="2182758" y="556955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981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233519" y="5532528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182758" y="586492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9811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2233519" y="5827899"/>
              <a:ext cx="74043" cy="74043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729608" y="556955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9811" cap="flat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780369" y="5532528"/>
              <a:ext cx="74043" cy="74043"/>
            </a:xfrm>
            <a:prstGeom prst="ellipse">
              <a:avLst/>
            </a:prstGeom>
            <a:solidFill>
              <a:srgbClr val="B7790F">
                <a:alpha val="100000"/>
              </a:srgbClr>
            </a:solidFill>
            <a:ln w="9000" cap="rnd">
              <a:solidFill>
                <a:srgbClr val="B7790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729608" y="586492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9811" cap="flat">
              <a:solidFill>
                <a:srgbClr val="5561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780369" y="5827899"/>
              <a:ext cx="74043" cy="74043"/>
            </a:xfrm>
            <a:prstGeom prst="ellipse">
              <a:avLst/>
            </a:prstGeom>
            <a:solidFill>
              <a:srgbClr val="55616D">
                <a:alpha val="100000"/>
              </a:srgbClr>
            </a:solidFill>
            <a:ln w="9000" cap="rnd">
              <a:solidFill>
                <a:srgbClr val="5561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tx65"/>
            <p:cNvSpPr/>
            <p:nvPr/>
          </p:nvSpPr>
          <p:spPr>
            <a:xfrm>
              <a:off x="2456184" y="5498023"/>
              <a:ext cx="1175563" cy="1152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Forward slope = r x G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2456184" y="5793394"/>
              <a:ext cx="1155322" cy="1152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Reverse slope = r / G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4003034" y="5498023"/>
              <a:ext cx="2005607" cy="1152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Spread ratio G (SD reports / SD true)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4003034" y="5794228"/>
              <a:ext cx="541972" cy="1144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Tracking r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930170" y="1402773"/>
              <a:ext cx="6819785" cy="1642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Why the forward fan closes and the reverse slope stays flat (Exp 4, experience, per person)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400800" y="1371600"/>
            <a:ext cx="5239512" cy="3017520"/>
            <a:chOff x="6400800" y="1371600"/>
            <a:chExt cx="5239512" cy="3017520"/>
          </a:xfrm>
        </p:grpSpPr>
        <p:sp>
          <p:nvSpPr>
            <p:cNvPr id="3" name="rc3"/>
            <p:cNvSpPr/>
            <p:nvPr/>
          </p:nvSpPr>
          <p:spPr>
            <a:xfrm>
              <a:off x="6400800" y="1371600"/>
              <a:ext cx="5239512" cy="30175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6895506" y="3583809"/>
              <a:ext cx="4668890" cy="0"/>
            </a:xfrm>
            <a:custGeom>
              <a:avLst/>
              <a:pathLst>
                <a:path w="4668890" h="0">
                  <a:moveTo>
                    <a:pt x="0" y="0"/>
                  </a:moveTo>
                  <a:lnTo>
                    <a:pt x="4668890" y="0"/>
                  </a:lnTo>
                  <a:lnTo>
                    <a:pt x="46688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6895506" y="2978243"/>
              <a:ext cx="4668890" cy="0"/>
            </a:xfrm>
            <a:custGeom>
              <a:avLst/>
              <a:pathLst>
                <a:path w="4668890" h="0">
                  <a:moveTo>
                    <a:pt x="0" y="0"/>
                  </a:moveTo>
                  <a:lnTo>
                    <a:pt x="4668890" y="0"/>
                  </a:lnTo>
                  <a:lnTo>
                    <a:pt x="46688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6895506" y="2372677"/>
              <a:ext cx="4668890" cy="0"/>
            </a:xfrm>
            <a:custGeom>
              <a:avLst/>
              <a:pathLst>
                <a:path w="4668890" h="0">
                  <a:moveTo>
                    <a:pt x="0" y="0"/>
                  </a:moveTo>
                  <a:lnTo>
                    <a:pt x="4668890" y="0"/>
                  </a:lnTo>
                  <a:lnTo>
                    <a:pt x="46688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6895506" y="1767111"/>
              <a:ext cx="4668890" cy="0"/>
            </a:xfrm>
            <a:custGeom>
              <a:avLst/>
              <a:pathLst>
                <a:path w="4668890" h="0">
                  <a:moveTo>
                    <a:pt x="0" y="0"/>
                  </a:moveTo>
                  <a:lnTo>
                    <a:pt x="4668890" y="0"/>
                  </a:lnTo>
                  <a:lnTo>
                    <a:pt x="46688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770923" y="1679481"/>
              <a:ext cx="0" cy="1927862"/>
            </a:xfrm>
            <a:custGeom>
              <a:avLst/>
              <a:pathLst>
                <a:path w="0" h="1927862">
                  <a:moveTo>
                    <a:pt x="0" y="19278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229951" y="1679481"/>
              <a:ext cx="0" cy="1927862"/>
            </a:xfrm>
            <a:custGeom>
              <a:avLst/>
              <a:pathLst>
                <a:path w="0" h="1927862">
                  <a:moveTo>
                    <a:pt x="0" y="19278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0688979" y="1679481"/>
              <a:ext cx="0" cy="1927862"/>
            </a:xfrm>
            <a:custGeom>
              <a:avLst/>
              <a:pathLst>
                <a:path w="0" h="1927862">
                  <a:moveTo>
                    <a:pt x="0" y="19278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95506" y="1767111"/>
              <a:ext cx="4668890" cy="0"/>
            </a:xfrm>
            <a:custGeom>
              <a:avLst/>
              <a:pathLst>
                <a:path w="4668890" h="0">
                  <a:moveTo>
                    <a:pt x="0" y="0"/>
                  </a:moveTo>
                  <a:lnTo>
                    <a:pt x="4668890" y="0"/>
                  </a:lnTo>
                  <a:lnTo>
                    <a:pt x="4668890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625020" y="1875347"/>
              <a:ext cx="72951" cy="0"/>
            </a:xfrm>
            <a:custGeom>
              <a:avLst/>
              <a:pathLst>
                <a:path w="72951" h="0">
                  <a:moveTo>
                    <a:pt x="0" y="0"/>
                  </a:moveTo>
                  <a:lnTo>
                    <a:pt x="72951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661495" y="1875347"/>
              <a:ext cx="0" cy="763117"/>
            </a:xfrm>
            <a:custGeom>
              <a:avLst/>
              <a:pathLst>
                <a:path w="0" h="763117">
                  <a:moveTo>
                    <a:pt x="0" y="0"/>
                  </a:moveTo>
                  <a:lnTo>
                    <a:pt x="0" y="763117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625020" y="2638465"/>
              <a:ext cx="72951" cy="0"/>
            </a:xfrm>
            <a:custGeom>
              <a:avLst/>
              <a:pathLst>
                <a:path w="72951" h="0">
                  <a:moveTo>
                    <a:pt x="0" y="0"/>
                  </a:moveTo>
                  <a:lnTo>
                    <a:pt x="72951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084048" y="2449522"/>
              <a:ext cx="72951" cy="0"/>
            </a:xfrm>
            <a:custGeom>
              <a:avLst/>
              <a:pathLst>
                <a:path w="72951" h="0">
                  <a:moveTo>
                    <a:pt x="0" y="0"/>
                  </a:moveTo>
                  <a:lnTo>
                    <a:pt x="72951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120524" y="2449522"/>
              <a:ext cx="0" cy="707017"/>
            </a:xfrm>
            <a:custGeom>
              <a:avLst/>
              <a:pathLst>
                <a:path w="0" h="707017">
                  <a:moveTo>
                    <a:pt x="0" y="0"/>
                  </a:moveTo>
                  <a:lnTo>
                    <a:pt x="0" y="707017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084048" y="3156539"/>
              <a:ext cx="72951" cy="0"/>
            </a:xfrm>
            <a:custGeom>
              <a:avLst/>
              <a:pathLst>
                <a:path w="72951" h="0">
                  <a:moveTo>
                    <a:pt x="0" y="0"/>
                  </a:moveTo>
                  <a:lnTo>
                    <a:pt x="72951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0543076" y="2174261"/>
              <a:ext cx="72951" cy="0"/>
            </a:xfrm>
            <a:custGeom>
              <a:avLst/>
              <a:pathLst>
                <a:path w="72951" h="0">
                  <a:moveTo>
                    <a:pt x="0" y="0"/>
                  </a:moveTo>
                  <a:lnTo>
                    <a:pt x="72951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0579552" y="2174261"/>
              <a:ext cx="0" cy="702662"/>
            </a:xfrm>
            <a:custGeom>
              <a:avLst/>
              <a:pathLst>
                <a:path w="0" h="702662">
                  <a:moveTo>
                    <a:pt x="0" y="0"/>
                  </a:moveTo>
                  <a:lnTo>
                    <a:pt x="0" y="702662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0543076" y="2876923"/>
              <a:ext cx="72951" cy="0"/>
            </a:xfrm>
            <a:custGeom>
              <a:avLst/>
              <a:pathLst>
                <a:path w="72951" h="0">
                  <a:moveTo>
                    <a:pt x="0" y="0"/>
                  </a:moveTo>
                  <a:lnTo>
                    <a:pt x="72951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843874" y="1922119"/>
              <a:ext cx="72951" cy="0"/>
            </a:xfrm>
            <a:custGeom>
              <a:avLst/>
              <a:pathLst>
                <a:path w="72951" h="0">
                  <a:moveTo>
                    <a:pt x="0" y="0"/>
                  </a:moveTo>
                  <a:lnTo>
                    <a:pt x="72951" y="0"/>
                  </a:lnTo>
                </a:path>
              </a:pathLst>
            </a:custGeom>
            <a:ln w="13550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880350" y="1922119"/>
              <a:ext cx="0" cy="1125784"/>
            </a:xfrm>
            <a:custGeom>
              <a:avLst/>
              <a:pathLst>
                <a:path w="0" h="1125784">
                  <a:moveTo>
                    <a:pt x="0" y="0"/>
                  </a:moveTo>
                  <a:lnTo>
                    <a:pt x="0" y="1125784"/>
                  </a:lnTo>
                </a:path>
              </a:pathLst>
            </a:custGeom>
            <a:ln w="13550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843874" y="3047903"/>
              <a:ext cx="72951" cy="0"/>
            </a:xfrm>
            <a:custGeom>
              <a:avLst/>
              <a:pathLst>
                <a:path w="72951" h="0">
                  <a:moveTo>
                    <a:pt x="0" y="0"/>
                  </a:moveTo>
                  <a:lnTo>
                    <a:pt x="72951" y="0"/>
                  </a:lnTo>
                </a:path>
              </a:pathLst>
            </a:custGeom>
            <a:ln w="13550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302902" y="2431008"/>
              <a:ext cx="72951" cy="0"/>
            </a:xfrm>
            <a:custGeom>
              <a:avLst/>
              <a:pathLst>
                <a:path w="72951" h="0">
                  <a:moveTo>
                    <a:pt x="0" y="0"/>
                  </a:moveTo>
                  <a:lnTo>
                    <a:pt x="72951" y="0"/>
                  </a:lnTo>
                </a:path>
              </a:pathLst>
            </a:custGeom>
            <a:ln w="13550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339378" y="2431008"/>
              <a:ext cx="0" cy="1088705"/>
            </a:xfrm>
            <a:custGeom>
              <a:avLst/>
              <a:pathLst>
                <a:path w="0" h="1088705">
                  <a:moveTo>
                    <a:pt x="0" y="0"/>
                  </a:moveTo>
                  <a:lnTo>
                    <a:pt x="0" y="1088705"/>
                  </a:lnTo>
                </a:path>
              </a:pathLst>
            </a:custGeom>
            <a:ln w="13550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302902" y="3519714"/>
              <a:ext cx="72951" cy="0"/>
            </a:xfrm>
            <a:custGeom>
              <a:avLst/>
              <a:pathLst>
                <a:path w="72951" h="0">
                  <a:moveTo>
                    <a:pt x="0" y="0"/>
                  </a:moveTo>
                  <a:lnTo>
                    <a:pt x="72951" y="0"/>
                  </a:lnTo>
                </a:path>
              </a:pathLst>
            </a:custGeom>
            <a:ln w="13550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0761931" y="1922024"/>
              <a:ext cx="72951" cy="0"/>
            </a:xfrm>
            <a:custGeom>
              <a:avLst/>
              <a:pathLst>
                <a:path w="72951" h="0">
                  <a:moveTo>
                    <a:pt x="0" y="0"/>
                  </a:moveTo>
                  <a:lnTo>
                    <a:pt x="72951" y="0"/>
                  </a:lnTo>
                </a:path>
              </a:pathLst>
            </a:custGeom>
            <a:ln w="13550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0798406" y="1922024"/>
              <a:ext cx="0" cy="1069915"/>
            </a:xfrm>
            <a:custGeom>
              <a:avLst/>
              <a:pathLst>
                <a:path w="0" h="1069915">
                  <a:moveTo>
                    <a:pt x="0" y="0"/>
                  </a:moveTo>
                  <a:lnTo>
                    <a:pt x="0" y="1069915"/>
                  </a:lnTo>
                </a:path>
              </a:pathLst>
            </a:custGeom>
            <a:ln w="13550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0761931" y="2991939"/>
              <a:ext cx="72951" cy="0"/>
            </a:xfrm>
            <a:custGeom>
              <a:avLst/>
              <a:pathLst>
                <a:path w="72951" h="0">
                  <a:moveTo>
                    <a:pt x="0" y="0"/>
                  </a:moveTo>
                  <a:lnTo>
                    <a:pt x="72951" y="0"/>
                  </a:lnTo>
                </a:path>
              </a:pathLst>
            </a:custGeom>
            <a:ln w="13550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661495" y="2256906"/>
              <a:ext cx="2918056" cy="546124"/>
            </a:xfrm>
            <a:custGeom>
              <a:avLst/>
              <a:pathLst>
                <a:path w="2918056" h="546124">
                  <a:moveTo>
                    <a:pt x="0" y="0"/>
                  </a:moveTo>
                  <a:lnTo>
                    <a:pt x="1459028" y="546124"/>
                  </a:lnTo>
                  <a:lnTo>
                    <a:pt x="2918056" y="268686"/>
                  </a:lnTo>
                </a:path>
              </a:pathLst>
            </a:custGeom>
            <a:ln w="24391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880350" y="2456982"/>
              <a:ext cx="2918056" cy="518379"/>
            </a:xfrm>
            <a:custGeom>
              <a:avLst/>
              <a:pathLst>
                <a:path w="2918056" h="518379">
                  <a:moveTo>
                    <a:pt x="0" y="28029"/>
                  </a:moveTo>
                  <a:lnTo>
                    <a:pt x="1459028" y="518379"/>
                  </a:lnTo>
                  <a:lnTo>
                    <a:pt x="2918056" y="0"/>
                  </a:lnTo>
                </a:path>
              </a:pathLst>
            </a:custGeom>
            <a:ln w="2439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7627184" y="2222595"/>
              <a:ext cx="68622" cy="68622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9086212" y="2768719"/>
              <a:ext cx="68622" cy="68622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0545241" y="2491281"/>
              <a:ext cx="68622" cy="68622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7846038" y="2450699"/>
              <a:ext cx="68622" cy="68622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9305067" y="2941050"/>
              <a:ext cx="68622" cy="68622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0764095" y="2422670"/>
              <a:ext cx="68622" cy="68622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657696" y="3539965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0.7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657696" y="2934041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0.8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657696" y="2328654"/>
              <a:ext cx="169485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0.9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657696" y="1723267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638763" y="3652153"/>
              <a:ext cx="264318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9063888" y="3652451"/>
              <a:ext cx="332124" cy="11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0522917" y="3652153"/>
              <a:ext cx="332124" cy="1109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45" name="tx45"/>
            <p:cNvSpPr/>
            <p:nvPr/>
          </p:nvSpPr>
          <p:spPr>
            <a:xfrm rot="-5400000">
              <a:off x="5709394" y="2571380"/>
              <a:ext cx="1609204" cy="144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Forward slope (95% CI)</a:t>
              </a:r>
            </a:p>
          </p:txBody>
        </p:sp>
        <p:sp>
          <p:nvSpPr>
            <p:cNvPr id="46" name="pl46"/>
            <p:cNvSpPr/>
            <p:nvPr/>
          </p:nvSpPr>
          <p:spPr>
            <a:xfrm>
              <a:off x="7871591" y="412756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7871591" y="412756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7925062" y="4093249"/>
              <a:ext cx="68622" cy="68622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9103521" y="412756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9103521" y="412756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9156992" y="4093249"/>
              <a:ext cx="68622" cy="68622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tx52"/>
            <p:cNvSpPr/>
            <p:nvPr/>
          </p:nvSpPr>
          <p:spPr>
            <a:xfrm>
              <a:off x="8145017" y="4057165"/>
              <a:ext cx="860643" cy="1141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Exp 2: no frame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9376947" y="4057165"/>
              <a:ext cx="1233308" cy="1141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Exp 3: Mondrian frame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6895506" y="1402443"/>
              <a:ext cx="3556749" cy="164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Does the frame change the slope? (experience)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548640" y="1371600"/>
            <a:ext cx="6583680" cy="4206240"/>
            <a:chOff x="548640" y="1371600"/>
            <a:chExt cx="6583680" cy="4206240"/>
          </a:xfrm>
        </p:grpSpPr>
        <p:sp>
          <p:nvSpPr>
            <p:cNvPr id="3" name="rc3"/>
            <p:cNvSpPr/>
            <p:nvPr/>
          </p:nvSpPr>
          <p:spPr>
            <a:xfrm>
              <a:off x="548640" y="1371600"/>
              <a:ext cx="6583680" cy="42062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43346" y="4159962"/>
              <a:ext cx="6013058" cy="0"/>
            </a:xfrm>
            <a:custGeom>
              <a:avLst/>
              <a:pathLst>
                <a:path w="6013058" h="0">
                  <a:moveTo>
                    <a:pt x="0" y="0"/>
                  </a:moveTo>
                  <a:lnTo>
                    <a:pt x="6013058" y="0"/>
                  </a:lnTo>
                  <a:lnTo>
                    <a:pt x="601305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43346" y="3363868"/>
              <a:ext cx="6013058" cy="0"/>
            </a:xfrm>
            <a:custGeom>
              <a:avLst/>
              <a:pathLst>
                <a:path w="6013058" h="0">
                  <a:moveTo>
                    <a:pt x="0" y="0"/>
                  </a:moveTo>
                  <a:lnTo>
                    <a:pt x="6013058" y="0"/>
                  </a:lnTo>
                  <a:lnTo>
                    <a:pt x="601305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43346" y="2567774"/>
              <a:ext cx="6013058" cy="0"/>
            </a:xfrm>
            <a:custGeom>
              <a:avLst/>
              <a:pathLst>
                <a:path w="6013058" h="0">
                  <a:moveTo>
                    <a:pt x="0" y="0"/>
                  </a:moveTo>
                  <a:lnTo>
                    <a:pt x="6013058" y="0"/>
                  </a:lnTo>
                  <a:lnTo>
                    <a:pt x="601305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43346" y="1771680"/>
              <a:ext cx="6013058" cy="0"/>
            </a:xfrm>
            <a:custGeom>
              <a:avLst/>
              <a:pathLst>
                <a:path w="6013058" h="0">
                  <a:moveTo>
                    <a:pt x="0" y="0"/>
                  </a:moveTo>
                  <a:lnTo>
                    <a:pt x="6013058" y="0"/>
                  </a:lnTo>
                  <a:lnTo>
                    <a:pt x="601305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20502" y="1679481"/>
              <a:ext cx="0" cy="2935601"/>
            </a:xfrm>
            <a:custGeom>
              <a:avLst/>
              <a:pathLst>
                <a:path w="0" h="2935601">
                  <a:moveTo>
                    <a:pt x="0" y="29356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63996" y="1679481"/>
              <a:ext cx="0" cy="2935601"/>
            </a:xfrm>
            <a:custGeom>
              <a:avLst/>
              <a:pathLst>
                <a:path w="0" h="2935601">
                  <a:moveTo>
                    <a:pt x="0" y="29356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407489" y="1679481"/>
              <a:ext cx="0" cy="2935601"/>
            </a:xfrm>
            <a:custGeom>
              <a:avLst/>
              <a:pathLst>
                <a:path w="0" h="2935601">
                  <a:moveTo>
                    <a:pt x="0" y="29356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850983" y="1679481"/>
              <a:ext cx="0" cy="2935601"/>
            </a:xfrm>
            <a:custGeom>
              <a:avLst/>
              <a:pathLst>
                <a:path w="0" h="2935601">
                  <a:moveTo>
                    <a:pt x="0" y="29356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43346" y="2567774"/>
              <a:ext cx="6013058" cy="0"/>
            </a:xfrm>
            <a:custGeom>
              <a:avLst/>
              <a:pathLst>
                <a:path w="6013058" h="0">
                  <a:moveTo>
                    <a:pt x="0" y="0"/>
                  </a:moveTo>
                  <a:lnTo>
                    <a:pt x="6013058" y="0"/>
                  </a:lnTo>
                  <a:lnTo>
                    <a:pt x="6013058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921443" y="3184862"/>
              <a:ext cx="2166200" cy="1296784"/>
            </a:xfrm>
            <a:custGeom>
              <a:avLst/>
              <a:pathLst>
                <a:path w="2166200" h="1296784">
                  <a:moveTo>
                    <a:pt x="0" y="295641"/>
                  </a:moveTo>
                  <a:lnTo>
                    <a:pt x="594230" y="765450"/>
                  </a:lnTo>
                  <a:lnTo>
                    <a:pt x="2164337" y="1296784"/>
                  </a:lnTo>
                  <a:lnTo>
                    <a:pt x="2166200" y="0"/>
                  </a:lnTo>
                </a:path>
              </a:pathLst>
            </a:custGeom>
            <a:ln w="2439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910102" y="3211672"/>
              <a:ext cx="2833836" cy="717950"/>
            </a:xfrm>
            <a:custGeom>
              <a:avLst/>
              <a:pathLst>
                <a:path w="2833836" h="717950">
                  <a:moveTo>
                    <a:pt x="0" y="0"/>
                  </a:moveTo>
                  <a:lnTo>
                    <a:pt x="2219133" y="353222"/>
                  </a:lnTo>
                  <a:lnTo>
                    <a:pt x="2833836" y="717950"/>
                  </a:lnTo>
                </a:path>
              </a:pathLst>
            </a:custGeom>
            <a:ln w="24391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46500" y="3474697"/>
              <a:ext cx="2815646" cy="681476"/>
            </a:xfrm>
            <a:custGeom>
              <a:avLst/>
              <a:pathLst>
                <a:path w="2815646" h="681476">
                  <a:moveTo>
                    <a:pt x="0" y="36847"/>
                  </a:moveTo>
                  <a:lnTo>
                    <a:pt x="2182736" y="0"/>
                  </a:lnTo>
                  <a:lnTo>
                    <a:pt x="2815646" y="681476"/>
                  </a:lnTo>
                </a:path>
              </a:pathLst>
            </a:custGeom>
            <a:ln w="2439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316666" y="1812918"/>
              <a:ext cx="5466416" cy="1901662"/>
            </a:xfrm>
            <a:custGeom>
              <a:avLst/>
              <a:pathLst>
                <a:path w="5466416" h="1901662">
                  <a:moveTo>
                    <a:pt x="0" y="0"/>
                  </a:moveTo>
                  <a:lnTo>
                    <a:pt x="2725824" y="1036972"/>
                  </a:lnTo>
                  <a:lnTo>
                    <a:pt x="5466416" y="1901662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2884421" y="3443482"/>
              <a:ext cx="74043" cy="74043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3478652" y="3913291"/>
              <a:ext cx="74043" cy="74043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5048759" y="4444625"/>
              <a:ext cx="74043" cy="74043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5050621" y="3147840"/>
              <a:ext cx="74043" cy="74043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873081" y="3174651"/>
              <a:ext cx="74043" cy="74043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5092215" y="3527873"/>
              <a:ext cx="74043" cy="74043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706918" y="3892601"/>
              <a:ext cx="74043" cy="74043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909478" y="3474523"/>
              <a:ext cx="74043" cy="74043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092215" y="3437676"/>
              <a:ext cx="74043" cy="74043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5725125" y="4119152"/>
              <a:ext cx="74043" cy="74043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279645" y="1775896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005470" y="2812869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6746062" y="3677559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2594094" y="3317925"/>
              <a:ext cx="266354" cy="1118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7F7F7F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3577318" y="3787211"/>
              <a:ext cx="266354" cy="1118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7F7F7F">
                      <a:alpha val="100000"/>
                    </a:srgbClr>
                  </a:solidFill>
                  <a:latin typeface="Calibri"/>
                  <a:cs typeface="Calibri"/>
                </a:rPr>
                <a:t>6 sq.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754517" y="4457441"/>
              <a:ext cx="266354" cy="1117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7F7F7F">
                      <a:alpha val="100000"/>
                    </a:srgbClr>
                  </a:solidFill>
                  <a:latin typeface="Calibri"/>
                  <a:cs typeface="Calibri"/>
                </a:rPr>
                <a:t>8 sq.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123705" y="3017720"/>
              <a:ext cx="334682" cy="1118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7F7F7F">
                      <a:alpha val="100000"/>
                    </a:srgbClr>
                  </a:solidFill>
                  <a:latin typeface="Calibri"/>
                  <a:cs typeface="Calibri"/>
                </a:rPr>
                <a:t>12 sq.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70952" y="3049007"/>
              <a:ext cx="266354" cy="1118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2C6E9B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4759145" y="3596107"/>
              <a:ext cx="334682" cy="1118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2C6E9B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779437" y="3762915"/>
              <a:ext cx="334682" cy="111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2C6E9B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007677" y="3538541"/>
              <a:ext cx="266354" cy="1118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2E7D4F">
                      <a:alpha val="100000"/>
                    </a:srgbClr>
                  </a:solidFill>
                  <a:latin typeface="Calibri"/>
                  <a:cs typeface="Calibri"/>
                </a:rPr>
                <a:t>2 sq.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165296" y="3307670"/>
              <a:ext cx="334682" cy="1118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2E7D4F">
                      <a:alpha val="100000"/>
                    </a:srgbClr>
                  </a:solidFill>
                  <a:latin typeface="Calibri"/>
                  <a:cs typeface="Calibri"/>
                </a:rPr>
                <a:t>20 sq.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392213" y="4187724"/>
              <a:ext cx="334682" cy="111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2E7D4F">
                      <a:alpha val="100000"/>
                    </a:srgbClr>
                  </a:solidFill>
                  <a:latin typeface="Calibri"/>
                  <a:cs typeface="Calibri"/>
                </a:rPr>
                <a:t>10 sq.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381870" y="1720377"/>
              <a:ext cx="273133" cy="931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SD 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103168" y="2704473"/>
              <a:ext cx="273133" cy="931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SD 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449578" y="3761910"/>
              <a:ext cx="273133" cy="931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B03A2E">
                      <a:alpha val="100000"/>
                    </a:srgbClr>
                  </a:solidFill>
                  <a:latin typeface="Calibri"/>
                  <a:cs typeface="Calibri"/>
                </a:rPr>
                <a:t>SD 7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05536" y="4115760"/>
              <a:ext cx="169485" cy="87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0.8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805536" y="3319845"/>
              <a:ext cx="169485" cy="87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0.9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805536" y="2523930"/>
              <a:ext cx="169485" cy="87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805536" y="1730515"/>
              <a:ext cx="169485" cy="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1.1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486599" y="4683168"/>
              <a:ext cx="67806" cy="876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3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930093" y="4685371"/>
              <a:ext cx="67806" cy="854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4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373586" y="4684895"/>
              <a:ext cx="67806" cy="859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5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5817080" y="4683049"/>
              <a:ext cx="67806" cy="87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Calibri"/>
                  <a:cs typeface="Calibri"/>
                </a:rPr>
                <a:t>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745359" y="4801701"/>
              <a:ext cx="2609031" cy="1433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Measured variance of the shades (SD)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-265064" y="3075844"/>
              <a:ext cx="1854993" cy="142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Forward slope (experience)</a:t>
              </a:r>
            </a:p>
          </p:txBody>
        </p:sp>
        <p:sp>
          <p:nvSpPr>
            <p:cNvPr id="53" name="pl53"/>
            <p:cNvSpPr/>
            <p:nvPr/>
          </p:nvSpPr>
          <p:spPr>
            <a:xfrm>
              <a:off x="1373384" y="531628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1424145" y="5279259"/>
              <a:ext cx="74043" cy="74043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652641" y="531628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2703402" y="5279259"/>
              <a:ext cx="74043" cy="74043"/>
            </a:xfrm>
            <a:prstGeom prst="ellipse">
              <a:avLst/>
            </a:prstGeom>
            <a:solidFill>
              <a:srgbClr val="2C6E9B">
                <a:alpha val="100000"/>
              </a:srgbClr>
            </a:solidFill>
            <a:ln w="9000" cap="rnd">
              <a:solidFill>
                <a:srgbClr val="2C6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931899" y="531628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982660" y="5279259"/>
              <a:ext cx="74043" cy="74043"/>
            </a:xfrm>
            <a:prstGeom prst="ellipse">
              <a:avLst/>
            </a:prstGeom>
            <a:solidFill>
              <a:srgbClr val="2E7D4F">
                <a:alpha val="100000"/>
              </a:srgbClr>
            </a:solidFill>
            <a:ln w="9000" cap="rnd">
              <a:solidFill>
                <a:srgbClr val="2E7D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350102" y="531628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5400863" y="5279259"/>
              <a:ext cx="74043" cy="74043"/>
            </a:xfrm>
            <a:prstGeom prst="ellipse">
              <a:avLst/>
            </a:prstGeom>
            <a:solidFill>
              <a:srgbClr val="B03A2E">
                <a:alpha val="100000"/>
              </a:srgbClr>
            </a:solidFill>
            <a:ln w="9000" cap="rnd">
              <a:solidFill>
                <a:srgbClr val="B03A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1646810" y="5246421"/>
              <a:ext cx="907970" cy="1135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Exp 1: array size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926067" y="5246421"/>
              <a:ext cx="907970" cy="1135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Exp 2: array size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4205324" y="5245885"/>
              <a:ext cx="1046916" cy="1141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Exp 3: size + frame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623528" y="5244754"/>
              <a:ext cx="1124783" cy="1152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Exp 4: variance (SD)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1043346" y="1404589"/>
              <a:ext cx="4335525" cy="1624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Calibri"/>
                  <a:cs typeface="Calibri"/>
                </a:rPr>
                <a:t>The slope follows the variance of the shades (experience)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zeevbenamos</cp:lastModifiedBy>
  <cp:revision>3</cp:revision>
  <dcterms:created xsi:type="dcterms:W3CDTF">2017-02-13T16:18:36Z</dcterms:created>
  <dcterms:modified xsi:type="dcterms:W3CDTF">2026-10-25T08:45:15Z</dcterms:modified>
  <cp:category/>
</cp:coreProperties>
</file>